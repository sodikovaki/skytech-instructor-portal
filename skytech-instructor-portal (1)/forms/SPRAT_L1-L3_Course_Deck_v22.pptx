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1"/>
  </p:notesMasterIdLst>
  <p:sldIdLst>
    <p:sldId id="256" r:id="rId2"/>
    <p:sldId id="257" r:id="rId3"/>
    <p:sldId id="258" r:id="rId4"/>
    <p:sldId id="262" r:id="rId5"/>
    <p:sldId id="265" r:id="rId6"/>
    <p:sldId id="266" r:id="rId7"/>
    <p:sldId id="267" r:id="rId8"/>
    <p:sldId id="260" r:id="rId9"/>
    <p:sldId id="261" r:id="rId10"/>
    <p:sldId id="263" r:id="rId11"/>
    <p:sldId id="264" r:id="rId12"/>
    <p:sldId id="401" r:id="rId13"/>
    <p:sldId id="268" r:id="rId14"/>
    <p:sldId id="402" r:id="rId15"/>
    <p:sldId id="269" r:id="rId16"/>
    <p:sldId id="270" r:id="rId17"/>
    <p:sldId id="403" r:id="rId18"/>
    <p:sldId id="322" r:id="rId19"/>
    <p:sldId id="471" r:id="rId20"/>
    <p:sldId id="472" r:id="rId21"/>
    <p:sldId id="271" r:id="rId22"/>
    <p:sldId id="323" r:id="rId23"/>
    <p:sldId id="273" r:id="rId24"/>
    <p:sldId id="404" r:id="rId25"/>
    <p:sldId id="274" r:id="rId26"/>
    <p:sldId id="275" r:id="rId27"/>
    <p:sldId id="276" r:id="rId28"/>
    <p:sldId id="277" r:id="rId29"/>
    <p:sldId id="278" r:id="rId30"/>
    <p:sldId id="279" r:id="rId31"/>
    <p:sldId id="280" r:id="rId32"/>
    <p:sldId id="320" r:id="rId33"/>
    <p:sldId id="321" r:id="rId34"/>
    <p:sldId id="283" r:id="rId35"/>
    <p:sldId id="421" r:id="rId36"/>
    <p:sldId id="422" r:id="rId37"/>
    <p:sldId id="284" r:id="rId38"/>
    <p:sldId id="285" r:id="rId39"/>
    <p:sldId id="286" r:id="rId40"/>
    <p:sldId id="324" r:id="rId41"/>
    <p:sldId id="287" r:id="rId42"/>
    <p:sldId id="325" r:id="rId43"/>
    <p:sldId id="288" r:id="rId44"/>
    <p:sldId id="289" r:id="rId45"/>
    <p:sldId id="440" r:id="rId46"/>
    <p:sldId id="441" r:id="rId47"/>
    <p:sldId id="290" r:id="rId48"/>
    <p:sldId id="291" r:id="rId49"/>
    <p:sldId id="292" r:id="rId50"/>
    <p:sldId id="293" r:id="rId51"/>
    <p:sldId id="425" r:id="rId52"/>
    <p:sldId id="480" r:id="rId53"/>
    <p:sldId id="481" r:id="rId54"/>
    <p:sldId id="294" r:id="rId55"/>
    <p:sldId id="295" r:id="rId56"/>
    <p:sldId id="326" r:id="rId57"/>
    <p:sldId id="460" r:id="rId58"/>
    <p:sldId id="296" r:id="rId59"/>
    <p:sldId id="297" r:id="rId60"/>
    <p:sldId id="426" r:id="rId61"/>
    <p:sldId id="298" r:id="rId62"/>
    <p:sldId id="490" r:id="rId63"/>
    <p:sldId id="491" r:id="rId64"/>
    <p:sldId id="492" r:id="rId65"/>
    <p:sldId id="493" r:id="rId66"/>
    <p:sldId id="299" r:id="rId67"/>
    <p:sldId id="428" r:id="rId68"/>
    <p:sldId id="327" r:id="rId69"/>
    <p:sldId id="442" r:id="rId70"/>
    <p:sldId id="300" r:id="rId71"/>
    <p:sldId id="443" r:id="rId72"/>
    <p:sldId id="301" r:id="rId73"/>
    <p:sldId id="444" r:id="rId74"/>
    <p:sldId id="302" r:id="rId75"/>
    <p:sldId id="303" r:id="rId76"/>
    <p:sldId id="304" r:id="rId77"/>
    <p:sldId id="305" r:id="rId78"/>
    <p:sldId id="445" r:id="rId79"/>
    <p:sldId id="306" r:id="rId80"/>
    <p:sldId id="430" r:id="rId81"/>
    <p:sldId id="431" r:id="rId82"/>
    <p:sldId id="446" r:id="rId83"/>
    <p:sldId id="307" r:id="rId84"/>
    <p:sldId id="461" r:id="rId85"/>
    <p:sldId id="308" r:id="rId86"/>
    <p:sldId id="309" r:id="rId87"/>
    <p:sldId id="432" r:id="rId88"/>
    <p:sldId id="310" r:id="rId89"/>
    <p:sldId id="311" r:id="rId90"/>
    <p:sldId id="312" r:id="rId91"/>
    <p:sldId id="400" r:id="rId92"/>
    <p:sldId id="313" r:id="rId93"/>
    <p:sldId id="314" r:id="rId94"/>
    <p:sldId id="315" r:id="rId95"/>
    <p:sldId id="316" r:id="rId96"/>
    <p:sldId id="317" r:id="rId97"/>
    <p:sldId id="259" r:id="rId98"/>
    <p:sldId id="318" r:id="rId99"/>
    <p:sldId id="319" r:id="rId10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63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SkyTech Academy Rope Access Training Curriculum. This is the instructor-ready teaching deck for our SPRAT Level 1–3 certification courses. It is built from our curriculum manual and the Day 1–4 training program, reorganized into a logical teaching order and substantially expanded: every technique now carries the why, the failure modes, and what the evaluator is watching for. Instructors: the speaker notes on each slide are your teaching script — including the questions students most often ask at that point in the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a full five-day SPRAT-aligned course. The architecture builds in five phases: Day 1 foundations, Day 2 core techniques, Day 3 rigging and rescue, Day 4 advanced work and consolidation, Day 5 assessment. Each phase depends on the one before — you cannot rig safely without load theory, and you cannot rescue without core movement. Walk the class through the arc so they see where every day is heading.</a:t>
            </a:r>
          </a:p>
          <a:p>
            <a:r>
              <a:rPr lang="en-US" dirty="0"/>
              <a:t>Sources: SkyTech course plan; SPRAT Rope Access Certification Requirements (CRC-01, v25A, Jan 2025) §3.2.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training day follows the same rhythm so trainees always know what comes next: start-up and JSA, one to two hours of guided classroom discussion, an instructor demonstration, the largest block for coached practice, a consolidation block for rescue and scenario work, and a debrief. Protect the classroom hour — it is where the why lives — but the bulk of the day is hands-on repetition. This predictable structure lowers anxiety and builds professional site habits.</a:t>
            </a:r>
          </a:p>
          <a:p>
            <a:r>
              <a:rPr lang="en-US" dirty="0"/>
              <a:t>Sources: SkyTech course plan.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philosophy — the standard behind the whole course. We prepare technicians not just to pass their certification, but to perform confidently and safely in real industrial environments across Houston's petrochemical, oil &amp; gas, construction and wind energy sectors. Four commitments define it: safety first (the training environment is a real worksite — daily JSA, mandatory PPE, zero shortcuts), competency-based (we certify demonstrated skill against objective criteria, not seat time), field-realistic (simulations mirror the refinery, tower and offshore conditions students will actually face), and work-ready (graduates leave able to perform the work and be productive from day one).</a:t>
            </a:r>
          </a:p>
          <a:p>
            <a:r>
              <a:rPr lang="en-US" dirty="0"/>
              <a:t>Sources: SkyTech Academy.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slide: why this training pipeline exists. Rope access serves petrochemical, infrastructure, telecom and commercial sectors — all requiring recurring at-height inspection and maintenance. The business driver for trainees to understand: every sector needs a steady supply of certified technicians, and every certification expires and must be renewed — SPRAT on a 3-year cycle — creating recurring, durable demand for the skills they are learning.</a:t>
            </a:r>
          </a:p>
          <a:p>
            <a:r>
              <a:rPr lang="en-US" dirty="0"/>
              <a:t>Sources: SPRAT Rope Access Certification Requirements (CRC-01, v25A, Jan 2025) §2.3.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and productivity context: the economic case that puts rope access on the worksite. A documented industrial refinery study found up to 62% lower total project cost versus scaffolding for the same scope. The savings come from four places — reduced material costs, smaller skilled teams, faster mobilization, and lower total exposure hours. Just as important, faster mobilization means less plant downtime, which for a refinery or platform can be worth more than the labor savings alone.</a:t>
            </a:r>
          </a:p>
          <a:p>
            <a:r>
              <a:rPr lang="en-US" dirty="0"/>
              <a:t>Sources: SOURCE NEEDED.</a:t>
            </a:r>
          </a:p>
          <a:p>
            <a:r>
              <a:rPr lang="en-US" dirty="0"/>
              <a:t>SOURCE NEEDED: the 62% cost figure and refinery case study have no citation. Confirm the study or remove the figure before delivery.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application context: rope access is the access method — professional competence comes from combining it with a trade discipline: inspection and NDT, maintenance, construction and installation, or coating and blasting. The case study makes it concrete: on a refinery turnaround, rope access crews completed inspection and maintenance scopes in a fraction of the time and cost of scaffold-based access, returning the unit to production faster — roughly 62% lower cost and mobilization measured in hours.</a:t>
            </a:r>
          </a:p>
          <a:p>
            <a:r>
              <a:rPr lang="en-US" dirty="0"/>
              <a:t>Sources: SOURCE NEEDED.</a:t>
            </a:r>
          </a:p>
          <a:p>
            <a:r>
              <a:rPr lang="en-US" dirty="0"/>
              <a:t>SOURCE NEEDED: the 62% cost figure and refinery case study have no citation. Confirm the study or remove the figure before delivery.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start-off slide. Set the theme for the day and run the morning JSA before any practical activity.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classroom agenda. Six 15–20 minute discussion blocks, each linked to a demonstration and practical station. The instructor note is important: the classroom hour is not filler — it is where hazard recognition and the why are built before anyone is exposed on rope.</a:t>
            </a:r>
          </a:p>
          <a:p>
            <a:r>
              <a:rPr lang="en-US" dirty="0"/>
              <a:t>Sources: SPRAT Rope Access Certification Requirements (CRC-01, v25A, Jan 2025) §3.2, §6.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and JSA. Confirm all paperwork, bay rules, stop-work authority and exclusion zones, then run the Job Safety Analysis. Teach the JSA as a living document reviewed whenever conditions change — signing means you read and understood it. The stop-work answer is the key takeaway: anyone can stop the job, make it safe, update the plan, then restart.</a:t>
            </a:r>
          </a:p>
          <a:p>
            <a:r>
              <a:rPr lang="en-US" dirty="0"/>
              <a:t>Sources: SPRAT Safe Practices for Rope Access Work; employer JSA procedure.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operating principles — redundancy, continuous 100% protection, and controlled movement — are the DNA of every technique in the course. Have trainees name the working system and independent backup at every step. The one-rope test: if cutting one line would drop the technician, the system is wrong. Hand strength is never protection.</a:t>
            </a:r>
          </a:p>
          <a:p>
            <a:r>
              <a:rPr lang="en-US" dirty="0"/>
              <a:t>Sources: SPRAT Rope Access Certification Requirements (CRC-01, v25A, Jan 2025) §4.2.3–4.2.4, §4.3.5.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photo before any equipment detail. Point to each label: two ropes (working + backup), backup device, ascenders, descender, lanyards and carabiners, harness. Ask: which part catches you if the working line fails? Image source: supplied by SkyTech — confirm usage rights before external distribution.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Equipment identification. Each attachment point and device has a specific function, rating and user range — teach to the markings and manufacturer instructions, not to generic rules. Ventral for positioning, sternal for backup and chest ascender, dorsal for fall arrest only, laterals in pairs. Cross-loading, unlocked gates and wrong rope diameter are the classic defeats.</a:t>
            </a:r>
          </a:p>
          <a:p>
            <a:r>
              <a:rPr lang="en-US" dirty="0"/>
              <a:t>Sources: Manufacturer instructions; ANSI/ASSP Z359.11; SPRAT Rope Access Certification Requirements (CRC-01, v25A, Jan 2025) §4.3.4.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numbered item, then hand the real equipment around. Every item must be within its service life, inspected and logged. Brands shown are examples only; SkyTech kit may differ. Image source: manufacturer product photo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attachment points. Hardware minimum breaking strength: D-rings 5,000 lb; buckles and adjusters 4,000 lb (ANSI/ASSP Z359.11). Ventral: main rope-access point, connector gate closed and locked. Sternal: chest ascender; fall arrest only if the harness label allows. Dorsal: fall arrest — the system limits body force to 1,800 lb; you can’t see it, so your buddy checks it. Laterals: work positioning, always both rings together. Confirm every value against your own harness label.</a:t>
            </a:r>
          </a:p>
          <a:p>
            <a:r>
              <a:rPr lang="en-US" dirty="0"/>
              <a:t>Sources: Harness manufacturer label and instructions; ANSI/ASSP Z359.11; OSHA 29 CFR 1926.502(d)(16).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and buddy checks. Three layers: pre-use by the user, formal documented inspection by a competent person, and retirement when in doubt. The buddy check exists because your own eyes forgive your own mistakes. When in doubt, out — quarantine suspect gear, never test it on rope.</a:t>
            </a:r>
          </a:p>
          <a:p>
            <a:r>
              <a:rPr lang="en-US" dirty="0"/>
              <a:t>Sources: Manufacturer inspection instructions; ANSI/ASSP Z359.2.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trainee kits up from the store against this list, then a partner checks every item. Faulty or untagged gear is quarantined, not swapped quietly. Image source: example kit photo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1 of 3 — ascenders and descenders. For each device, trainees check the four points, then function-test it on a rope at ground level: load, release, confirm it locks. Any doubt means quarantine. Sources: manufacturer instructions for each device; ANSI/ASSP Z359.</a:t>
            </a:r>
          </a:p>
          <a:p>
            <a:r>
              <a:rPr lang="en-US" dirty="0"/>
              <a:t>Sources: Manufacturer instructions for each device.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2 of 3 — harness, helmet and backup. The harness and helmet are soft goods and plastics: check age, UV damage and chemical contact as well as visible damage. The backup device must lock instantly — do a sharp downward jerk test before every use. Sources: manufacturer instructions; ANSI/ASSP Z359.11 (harness).</a:t>
            </a:r>
          </a:p>
          <a:p>
            <a:r>
              <a:rPr lang="en-US" dirty="0"/>
              <a:t>Sources: Manufacturer instructions for each device.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3 of 3 — connectors, rope and pulleys. Connectors: gate action and locking are the critical checks. Rope: run the full length through your hands, feeling for core damage, and record inspections in the rope log. Sources: manufacturer instructions; ANSI/ASSP Z359.12 (connectors).</a:t>
            </a:r>
          </a:p>
          <a:p>
            <a:r>
              <a:rPr lang="en-US" dirty="0"/>
              <a:t>Sources: Manufacturer instructions for each device.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Knots. Build, dress, set, inspect — a knot is the one piece of equipment you manufacture on site every time. Teach selection by function over a </a:t>
            </a:r>
          </a:p>
          <a:p>
            <a:r>
              <a:rPr lang="en-US" dirty="0"/>
              <a:t>Sources: SPRAT Rope Access Certification Requirements (CRC-01, v25A, Jan 2025) §6.9.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guide for the seven knots. The drawings show the shape of each knot. Tie each one in front of the class on real rope, and have trainees compare their own knot to the drawing and to your demo before the partner check. Reference to pair with the knots discussion. SPRAT Level 1 tests four knot functions: termination (figure 8, figure 9), middle (alpine butterfly), stop (stopper/barrel) and join (double fisherman’s). The Prusik and Munter are SkyTech course skills, not SPRAT test items. Every knot reduces rope strength; how much depends on the knot, rope and dressing — use manufacturer data, not a single percentage.</a:t>
            </a:r>
          </a:p>
          <a:p>
            <a:r>
              <a:rPr lang="en-US" dirty="0"/>
              <a:t>Sources: SPRAT Rope Access Certification Requirements (CRC-01, v25A, Jan 2025) §6.9.</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movement. Efficient ascent (stand in the footloop, legs not arms), controlled descent with brake-hand discipline, and the changeover — where device order determines whether you stay supported. Master this before any obstacle work. The evaluator wants smooth sequencing and the ability to stop safely at any point.</a:t>
            </a:r>
          </a:p>
          <a:p>
            <a:r>
              <a:rPr lang="en-US" dirty="0"/>
              <a:t>Sources: SPRAT Rope Access Certification Requirements (CRC-01, v25A, Jan 2025) §6.2.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name each device and its rope before trainees kit up for ascent. Stress that the backup device stays high, and that the descender stays on the working line ready for a changeover. Diagram labels use European terms (fall arrester = backup device). Image source: diagram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Logbooks and recertification. The logbook is the currency of progression — accurate, signed, promptly recorded. Upgrade eligibility and credibility both depend on auditable experience; reconstructing years from memory at upgrade time fails. Hour and month requirements come from the current official scheme document, not a remembered rule.</a:t>
            </a:r>
          </a:p>
          <a:p>
            <a:r>
              <a:rPr lang="en-US" dirty="0"/>
              <a:t>Sources: SPRAT Rope Access Certification Requirements (CRC-01, v25A, Jan 2025) §3.3.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Career development. Rope access is the access method, not the work — value comes from pairing it with a trade: inspection/NDT, mechanical, coatings, welding and fitting, or wind. In the Gulf Coast market those trades have the deepest demand. Never work outside your trade competence; the access cert does not qualify you for the trade.</a:t>
            </a:r>
          </a:p>
          <a:p>
            <a:r>
              <a:rPr lang="en-US" dirty="0"/>
              <a:t>Sources: SPRAT Rope Access Certification Requirements (CRC-01, v25A, Jan 2025) §1.3.2.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practical. Run inspection and buddy-check stations, then high-repetition knot work, then basic ascent, descent and changeovers, finishing with edge and start-position drills. End with a competency check — trainees must be stable on basic movement before Day 2 introduces obstacles.</a:t>
            </a:r>
          </a:p>
          <a:p>
            <a:r>
              <a:rPr lang="en-US" dirty="0"/>
              <a:t>Sources: SPRAT Rope Access Certification Requirements (CRC-01, v25A, Jan 2025) §6.</a:t>
            </a:r>
          </a:p>
          <a:p>
            <a:r>
              <a:rPr lang="en-US" dirty="0"/>
              <a:t>Discussion questions: Which inspection finding takes gear out of service? Which knot was hardest to dress? Where in a changeover are you most exposed?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start-off slide. Set the theme for the day and run the morning JSA before any practical activity.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classroom agenda: the regulatory framework, fall-protection systems, fall factor and clearance, then the core obstacle maneuvers — deviations, re-belays, knot passing and transfers. Theory in the morning, all four maneuvers practiced in the afternoon.</a:t>
            </a:r>
          </a:p>
          <a:p>
            <a:r>
              <a:rPr lang="en-US" dirty="0"/>
              <a:t>Sources: SPRAT Rope Access Certification Requirements (CRC-01, v25A, Jan 2025) §2–6.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regulatory framework. Keep the sources distinct: OSHA is law, ANSI is consensus best practice, SPRAT is the certification scheme, plus employer and manufacturer rules. Schemes never replace law. Teach trainees to say where a requirement comes from and when to escalate — memorizing a number without its source is dangerous.</a:t>
            </a:r>
          </a:p>
          <a:p>
            <a:r>
              <a:rPr lang="en-US" dirty="0"/>
              <a:t>Sources: OSHA 29 CFR 1910.140 and 1926 Subpart M; ANSI/ASSP Z359; SPRAT Safe Practices for Rope Access Work.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SPRAT reference. The Society of Professional Rope Access Technicians publishes Safe Practices for Rope Access Work, the Rope Access Certification Requirements and the Evaluation Guidelines. Three levels: L1 needs no experience; L2 needs 500 hours and 6 months as an L1; L3 needs 500 hours and 6 months as an L2. Every candidate is 18+, shows proof of ID, signs the evaluation affidavit and must be trained by a trainer within six months before initial certification at each level. Certificates are valid three years. One Fail or three Discrepancies fails the evaluation.</a:t>
            </a:r>
          </a:p>
          <a:p>
            <a:r>
              <a:rPr lang="en-US" dirty="0"/>
              <a:t>Sources: SPRAT Rope Access Certification Requirements (CRC-01, v25A, Jan 2025) §2–3; sprat.org.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SPRAT evaluation. A written test and a practical evaluation are both required, run by an independent evaluator under Evaluations Committee policy. Each exercise is graded Pass, Discrepancy or Fail against the performance principles; one Fail or three Discrepancies fails the evaluation, and the evaluator explains every D or F before the next exercise. Limits to drill: backup free fall ≤ 1.2 m (4 ft), should be ≤ 0.6 m (2 ft); main-system free fall ≤ 0.6 m (2 ft); swing fall ≤ 0.6 m (2 ft); helmet chinstrap fastened in the fall zone (above the next lower level or within 2 m of an unprotected edge).</a:t>
            </a:r>
          </a:p>
          <a:p>
            <a:r>
              <a:rPr lang="en-US" dirty="0"/>
              <a:t>Sources: SPRAT Rope Access Certification Requirements (CRC-01, v25A, Jan 2025) §2.1–2.2, §4, §5.</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SPRAT career path. L1: 18+, proof of ID, signed affidavit, no experience. L2: 500 documented hours at L1 and 6 months holding L1. L3: 500 documented hours at L2 and 6 months holding L2. Advancement is consecutive unless the Evaluations Committee approves otherwise. Hours worked without a valid certification do not count. Certificates last 3 years; recertifying in the last 6 months keeps the original anniversary. Training by a trainer within 6 months before initial certification is required. Many employers and evaluation hosts also ask L3 candidates for current First Aid/CPR — that is not in CRC-01 v25A, so present it as a host/employer requirement.</a:t>
            </a:r>
          </a:p>
          <a:p>
            <a:r>
              <a:rPr lang="en-US" dirty="0"/>
              <a:t>Sources: SPRAT Rope Access Certification Requirements (CRC-01, v25A, Jan 2025) §2.3, §3.</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fall-protection systems and the hierarchy: eliminate, restrain, position, and only arrest as a last resort. Rope access lives in work positioning with dual-rope redundancy. Teach trainees to name which system is controlling the hazard at any moment — a lanyard alone is not protection unless the whole system fits the exposure.</a:t>
            </a:r>
          </a:p>
          <a:p>
            <a:r>
              <a:rPr lang="en-US" dirty="0"/>
              <a:t>Sources: OSHA 29 CFR 1926.502(d); ANSI/ASSP Z359.2.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Worksite zones. Access Zone: where people can fall. Hazard Zone: below and around, exposed to falling objects — barricade and sign it before work starts. Safe Zone: outside both. Ask trainees to mark the three zones on a real SkyTech job photo. Sources: SPRAT Safe Practices for Rope Access Work; employer JSA procedure.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systems. Restraint eliminates the fall; work positioning (rope access) supports the worker on two ropes; fall arrest stops a fall already under way; a managed program wraps around all three. Sources: ANSI/ASSP Z359.2; OSHA 29 CFR 1910.140.</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 factor, clearance and suspension. Fall factor = fall distance ÷ rope length; keep the backup high to keep it near zero. Clearance is the total room a fall needs — free fall + absorber deployment + harness stretch + margin — often far more than trainees expect. Treat motionless suspension as an urgent rescue, and avoid the outdated universal </a:t>
            </a:r>
          </a:p>
          <a:p>
            <a:r>
              <a:rPr lang="en-US" dirty="0"/>
              <a:t>Sources: SPRAT Rope Access Certification Requirements (CRC-01, v25A, Jan 2025) §4.1.5, §4.2.5; OSHA 29 CFR 1926.502(d)(16); manufacturer clearance data.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to pair with fall protection. Hierarchy: eliminate, restrain, position (rope access), and arrest only as a last resort. OSHA limits a personal fall-arrest system with a body harness to 1,800 lbf maximum arrest force, 6 ft free fall and 3.5 ft deceleration distance. Front (sternal) fall-arrest use is limited by the harness standard and label — confirm the free-fall and force limits on each harness. An energy absorber lowers peak force by extending the stopping distance.</a:t>
            </a:r>
          </a:p>
          <a:p>
            <a:r>
              <a:rPr lang="en-US" dirty="0"/>
              <a:t>Sources: OSHA 29 CFR 1926.502(d)(16); ANSI/ASSP Z359.2, Z359.11; harness label.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 factor = free-fall distance ÷ lanyard length: with a 3-ft cowstail, backup above = 0, level = 3 ÷ 3 = 1, at the feet = 6 ÷ 3 = 2. SPRAT caps backup free fall at 4 ft. Clearance worked example for a 6-ft energy-absorbing lanyard: 6.0 ft free fall + 3.5 ft deceleration (OSHA maximum) + 5.0 ft D-ring to feet + 1.0 ft harness stretch and D-ring shift + 2.0 ft margin = 17.5 ft below the anchor. Have trainees redo the sum with their own lanyard label and height. Sources: OSHA 29 CFR 1926.502(d)(16); SPRAT CRC-01 v25A §4.2.5; manufacturer clearance data.</a:t>
            </a:r>
          </a:p>
          <a:p>
            <a:r>
              <a:rPr lang="en-US" dirty="0"/>
              <a:t>Sources: SPRAT Rope Access Certification Requirements (CRC-01, v25A, Jan 2025) §4.2.5; OSHA 29 CFR 1926.502(d)(16); manufacturer clearance data.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version of fall factor. FF 0: backup above the harness — no free fall. FF 1: backup level with the harness — the technician falls one lanyard length. FF 2: backup below the harness — the fall is twice the lanyard length and the shock is highest. Have trainees stand in each position on the practice structure.</a:t>
            </a:r>
          </a:p>
          <a:p>
            <a:r>
              <a:rPr lang="en-US" dirty="0"/>
              <a:t>Sources: SPRAT Rope Access Certification Requirements (CRC-01, v25A, Jan 2025) §4.2.5.</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Deviations redirect the rope path around a hazard or to improve geometry. Pass one connection at a time, never both off together, and control the swing. The key correction: a deviation is not a primary anchor — it redirects, it does not carry the system the way an independent anchor does.</a:t>
            </a:r>
          </a:p>
          <a:p>
            <a:r>
              <a:rPr lang="en-US" dirty="0"/>
              <a:t>Sources: SPRAT Rope Access Certification Requirements (CRC-01, v25A, Jan 2025) §6.4, §4.2.6.</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forces. The deflection angle is measured between the rope’s original line and its redirected line. Load on the deviation = 2 × sin(half the angle) × the rope load: about 17% at 10°, 52% at 30°, 100% at 60°, 141% at 90°. Keep deviations shallow unless the deviation anchor is rated as a primary anchor.</a:t>
            </a:r>
          </a:p>
          <a:p>
            <a:r>
              <a:rPr lang="en-US" dirty="0"/>
              <a:t>Sources: SPRAT Rope Access Certification Requirements (CRC-01, v25A, Jan 2025) §6.4; force = 2 × sin(½ angle) × load.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Re-belays / re-anchors transfer you past a new anchor station to isolate a rope section or manage an edge. Plan the whole sequence before arriving; keep one protected connection at all times. Trainees fixate on </a:t>
            </a:r>
          </a:p>
          <a:p>
            <a:r>
              <a:rPr lang="en-US" dirty="0"/>
              <a:t>Sources: SPRAT Rope Access Certification Requirements (CRC-01, v25A, Jan 2025) §6.7.</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Knot passing and rope-to-rope transfers. Establish the new support fully before unloading the old — mid-transfer you are on both systems, never fewer than two connections. Verify the destination ropes and anchors first. The recurring error is committing too early; the graded behavior is the ability to pause safely mid-transfer.</a:t>
            </a:r>
          </a:p>
          <a:p>
            <a:r>
              <a:rPr lang="en-US" dirty="0"/>
              <a:t>Sources: SPRAT Rope Access Certification Requirements (CRC-01, v25A, Jan 2025) §6.5–6.6.</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Knot-pass exercise. A knot in the working rope (a join or isolated damage) must be passed without ever having fewer than two attachments. Demonstrate at low height first; trainees call each step before doing it. Pair with the knot-passing diagram slide. Source: SPRAT CRC-01 v25A — Level 1 knot passing (verify section number).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Rope-to-rope transfer exercise, a SPRAT Level 1 maneuver. Point out that two independent attachments are kept throughout and that the new backup goes on before the old one comes off. Sources: SPRAT CRC-01 v25A §6.5.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practical. Each maneuver runs demo → coached → independent. Finish with a combined circuit under evaluator-style observation so trainees experience linking maneuvers without step-by-step prompting.</a:t>
            </a:r>
          </a:p>
          <a:p>
            <a:r>
              <a:rPr lang="en-US" dirty="0"/>
              <a:t>Sources: SPRAT Rope Access Certification Requirements (CRC-01, v25A, Jan 2025) §6.</a:t>
            </a:r>
          </a:p>
          <a:p>
            <a:r>
              <a:rPr lang="en-US" dirty="0"/>
              <a:t>Discussion questions: Which maneuver came closest to an unprotected moment? Where was your backup? How far could you have fallen?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start-off slide. Set the theme for the day and run the morning JSA before any practical activity.</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classroom agenda — seven topics, the densest day. Anchors and load physics come first because you cannot rig safely without them, then lowering/hauling and releasable rigging, then the Level 1 and Level 2 rescue progressions.</a:t>
            </a:r>
          </a:p>
          <a:p>
            <a:r>
              <a:rPr lang="en-US" dirty="0"/>
              <a:t>Sources: SPRAT Rope Access Certification Requirements (CRC-01, v25A, Jan 2025) §6–8.</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selection. No anchor, no safe system — anchor failure is total failure. Two independent anchors, verified structure, correct load direction, edge protection. The classic error is convenience anchoring to a handrail or pipe. A handrail is not an anchor until the approved process says it is.</a:t>
            </a:r>
          </a:p>
          <a:p>
            <a:r>
              <a:rPr lang="en-US" dirty="0"/>
              <a:t>Sources: SPRAT Rope Access Certification Requirements (CRC-01, v25A, Jan 2025) §4.2.2, §6.10, §7.5; OSHA 29 CFR 1926.502(d)(15).</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independence. Each rope gets its own verified structural anchor so one failure cannot drop both. Handrails, pipework and cable tray are not anchors unless verified. Sources: SPRAT Rope Access Certification Requirements (CRC-01, v25A, Jan 2025) §6.10; OSHA 29 CFR 1926.502(d)(15).</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steel load cases. Walk through each figure: midspan (load between two supports), cantilever (load on an overhang or side pull), tension (straight pull down the member). The span is measured differently in each case. Source: supplied steel-anchor chart — confirm the originating standard before teaching.</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Steel member chart. Have trainees find a member and span on the chart, then say whether it is acceptable for each load case. Point out the pattern: tension is strongest, cantilever weakest, and acceptability drops as span grows. Source: supplied chart, “acceptable per fall protection standard” — confirm which standard and edition. Planning aid only; a qualified person approves anchors.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angles. As the included angle widens, force per leg climbs sharply — near 90° each leg carries ~71%, at 120° a full 100%, beyond that it multiplies past the total load. Keep angles at or below 90°. Teach why flattening a bridle is dangerous, and that </a:t>
            </a:r>
          </a:p>
          <a:p>
            <a:r>
              <a:rPr lang="en-US" dirty="0"/>
              <a:t>Sources: Force per leg = load ÷ (2 × cos(½ angle)).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to pair with anchor angles. Force per leg by included angle: 0°→50%, 45°→54%, 90°→71%, 120°→100% (no sharing benefit), 150°→193%, 160°→288%. As legs flatten, each leg fights the other instead of holding the load. Keep ≤90°, never approach 120°. Worked: 220 lb at 90° ≈ 156 lbf/leg; at 160° ≈ 634 lbf/leg — nearly 3× the whole load per anchor. Flatter than a right angle? Re-rig with longer slings or a higher master point.</a:t>
            </a:r>
          </a:p>
          <a:p>
            <a:r>
              <a:rPr lang="en-US" dirty="0"/>
              <a:t>Sources: Force per leg = load ÷ (2 × cos(½ angle)).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version of included angles. Per-leg force = load ÷ (2 cos(angle/2)): 0° 50%, 60° 58%, 90° 71%, 120° 100%, 150° 193%. Build each on the training frame with a load cell if available so trainees see the numbers change.</a:t>
            </a:r>
          </a:p>
          <a:p>
            <a:r>
              <a:rPr lang="en-US" dirty="0"/>
              <a:t>Sources: Force per leg = load ÷ (2 × cos(½ angle)).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Y-hang. Two anchors share the load through a central knot. Link back to the anchor-angle table: at 60° each leg carries ~58%, at 90° ~71%, at 120° 100%. The working rope and backup rope each get their own anchor system. Sources: SPRAT CRC-01 v25A §6.3. Illustration: vRigger — keep the credit and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MBS versus working limits. MBS is the failure point — a reference, never an operating load. WLL is the safe working limit set by the manufacturer, standard or engineer. Teach trainees to read the governing value rather than apply a universal division rule; the safety factor depends on the component and the system, not a memorized fraction.</a:t>
            </a:r>
          </a:p>
          <a:p>
            <a:r>
              <a:rPr lang="en-US" dirty="0"/>
              <a:t>Sources: Manufacturer markings and instructions for use.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WLL vs MBS worked example. Convert each MBS to lbf (1 kN = 224.8 lbf), then divide by the example design factor: carabiner 27 kN = 6,070 lbf ÷ 5 = 1,214 lbf; rigging plate 36 kN = 8,093 ÷ 5 = 1,619; pulley 23 kN = 5,170 ÷ 5 = 1,034; rope 6,000 lbf × 0.70 knot loss = 4,200 ÷ 10 = 420; I’D 14 kN = 3,147 ÷ 10 = 315. The system WLL is the lowest value — 315 lbf. Stress that these factors are a teaching example; real WLLs come from the manufacturer and differ by product. Sources: manufacturer markings and instructions for use.</a:t>
            </a:r>
          </a:p>
          <a:p>
            <a:r>
              <a:rPr lang="en-US" dirty="0"/>
              <a:t>Sources: Manufacturer markings and instructions for use.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Weakest link. Using the previous slide’s example WLLs: plate 1,619, carabiner 1,214, pulley 1,034, rope with knot 420, I’D 315 lbf — the system is rated 315 lbf. Upgrading the plate changes nothing. Sources: manufacturer markings and instructions for use. Photos show each component; the rigging plate is a drawing — swap in a photo if available.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Lowering and hauling. Lower whenever the path is clear — gravity is reliable. Haul only when you must. Teach mechanical advantage with progress capture and backups, but stress that friction and redirects erode the theoretical ratio. More advantage is not </a:t>
            </a:r>
          </a:p>
          <a:p>
            <a:r>
              <a:rPr lang="en-US" dirty="0"/>
              <a:t>Sources: SPRAT Rope Access Certification Requirements (CRC-01, v25A, Jan 2025) §6.11, §7.7–7.9.</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 advantage basics. A fixed pulley redirects but gives no advantage; a pulley that moves with the load does. Counting lines: count the rope segments that support the moving pulley or load. Figures ignore friction — real systems need more effort. Diagrams: supplied by SkyTech, recolored.</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systems. Effort = load ÷ number of supporting lines. Note the anchor loads: top pulleys carry two lines each. Ask trainees to count lines before revealing the effort. Friction ignored. Diagrams: supplied by SkyTech, recolored.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compound system. Start with a 2:1, attach a rope grab to the haul line, then rig a second system onto that grab. The second system pulls on the grab as if it were the load, so the ratios multiply. Diagrams: supplied by SkyTech, recolored.</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Compound systems. T-method: give the haul line 1 unit, add units at every pulley and rope grab, and read the total at the load. 3:1 on 2:1 gives 6 units (6:1). The tall diagram is 10:1 — 10 kg of effort lifts 100 kg, with anchor loads shown in kg. Friction ignored. Diagrams: supplied by SkyTech, recolored.</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Releasable rigging and edge management. Rig with rescue in mind — a locked-off system can force rescuers to build complex alternatives while a casualty hangs. Protect every edge from abrasion. The principle: rescue compatibility is designed in at rigging time, never bolted on after an incident.</a:t>
            </a:r>
          </a:p>
          <a:p>
            <a:r>
              <a:rPr lang="en-US" dirty="0"/>
              <a:t>Sources: SPRAT Rope Access Certification Requirements (CRC-01, v25A, Jan 2025) §4.3.3.</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Releasable anchor: the working line runs through a descender locked off at the anchor with a rope reserve, so a stuck technician can be lowered without cutting. Edge management: protector at every edge contact. Sources: SPRAT Rope Access Certification Requirements (CRC-01, v25A, Jan 2025) §4.3.3, §6.11.</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Rope-protection hierarchy: identify, remove, avoid, protect, verify. Walk the rope path on the training structure and have each trainee name the hazard and the step that controls it. Stress that fabric protectors stop abrasion, not cutting.</a:t>
            </a:r>
          </a:p>
          <a:p>
            <a:r>
              <a:rPr lang="en-US" dirty="0"/>
              <a:t>Sources: SPRAT Rope Access Certification Requirements (CRC-01, v25A, Jan 2025) §4.3.3.</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transition exercise. Trainees rig the anchors and protectors themselves, and the instructor checks every contact point before the first descent. Sources: SPRAT CRC-01 v25A §4.3.3, §6.11.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fundamentals. The sequence: make safe, access, stabilize, transfer, move, handover. Rescue starts before you reach the casualty — the rescuer must never become the second casualty. Build competence on simple pick-offs before layering in obstacles. Prompt, never rushed; control is everything.</a:t>
            </a:r>
          </a:p>
          <a:p>
            <a:r>
              <a:rPr lang="en-US" dirty="0"/>
              <a:t>Sources: SPRAT Rope Access Certification Requirements (CRC-01, v25A, Jan 2025) §6.12.</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from ascent mode. Practice first at low height with a live casualty and a separate safety line. Have trainees describe each step before moving. Sources: SPRAT CRC-01 v25A §6.12.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through obstacles. SPRAT L2 rescues: same rope set with a rope-to-rope transfer, rescue from energy-absorbing lanyards, and a remote rescue (lowering) system. L3 adds rescue from two maneuvers — deviation, knot pass, rope-to-rope transfer, re-anchor or aid climbing. Plan the whole route before committing; a two-person load behaves very differently.</a:t>
            </a:r>
          </a:p>
          <a:p>
            <a:r>
              <a:rPr lang="en-US" dirty="0"/>
              <a:t>Sources: SPRAT Rope Access Certification Requirements (CRC-01, v25A, Jan 2025) §7.10–7.12, §8.7.</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from descent mode. Contrast with ascent-mode rescue: the casualty’s descender must be released under load, so the transfer is the critical step. Sources: SPRAT CRC-01 v25A §7.10–7.12.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practical. Anchor and rigging exercises, then angle/load demonstrations trainees critique, then lowering and hauling, releasable rigging, and the Level 1 and Level 2 rescue progressions. Rescue dominates the afternoon.</a:t>
            </a:r>
          </a:p>
          <a:p>
            <a:r>
              <a:rPr lang="en-US" dirty="0"/>
              <a:t>Sources: SPRAT Rope Access Certification Requirements (CRC-01, v25A, Jan 2025) §6–7.</a:t>
            </a:r>
          </a:p>
          <a:p>
            <a:r>
              <a:rPr lang="en-US" dirty="0"/>
              <a:t>Discussion questions: Which anchor would you reject, and why? What did the angle demo change in your rigging? What slowed your rescue?</a:t>
            </a:r>
          </a:p>
          <a:p>
            <a:r>
              <a:rPr lang="en-US" dirty="0"/>
              <a:t>Image: the previous photo was removed because it showed non-industrial rescue (helicopter short-haul / park search and rescue). Replace with a SkyTech photo of rigging or rescue practice on your own training structure.</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start-off slide. Set the theme for the day and run the morning JSA before any practical activity.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classroom agenda. The advanced day: complex rigging, horizontal and tensioned systems, complex casualty movement, Level 3 rescue command, SPRAT level distinctions, and a diagnostic mock evaluation. The theme is judgment under complexity — the simplest safe system wins.</a:t>
            </a:r>
          </a:p>
          <a:p>
            <a:r>
              <a:rPr lang="en-US" dirty="0"/>
              <a:t>Sources: SPRAT Rope Access Certification Requirements (CRC-01, v25A, Jan 2025) §7–8.</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rigging. Design the whole route before loading it — complex systems multiply the interactions between anchors, ropes, devices, edges and people. Advanced does not mean more components; it means harder geometry, loading and rescue decisions. Escalate engineered or high-load systems to a qualified authority.</a:t>
            </a:r>
          </a:p>
          <a:p>
            <a:r>
              <a:rPr lang="en-US" dirty="0"/>
              <a:t>Sources: SPRAT Rope Access Certification Requirements (CRC-01, v25A, Jan 2025) §8.4.</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 climbing exercise. SPRAT Level 1 aid-climbs 3 m horizontally; Level 2 aid-climbs 3 m vertically or at an angle. Keep two connections at all times. Sources: SPRAT CRC-01 v25A §6.8, §7.4, §4.2.5.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and tensioned systems and aid climbing. Lateral movement changes the direction and magnitude of anchor forces and creates larger swing paths. The critical warning: tensioning a line to remove sag can multiply anchor forces dramatically — never improvise high-tension rigging; follow the approved design.</a:t>
            </a:r>
          </a:p>
          <a:p>
            <a:r>
              <a:rPr lang="en-US" dirty="0"/>
              <a:t>Sources: SPRAT Rope Access Certification Requirements (CRC-01, v25A, Jan 2025) §6.8, §7.4, §8.6.</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Tensioned lines. Anchor force = load ÷ (2 × sin sag angle): 30° → 1.0×, 15° → 1.9×, 5° → 5.7× the load at each anchor. Next slide works the numbers. Sources: SPRAT Rope Access Certification Requirements (CRC-01, v25A, Jan 2025) §8.6.</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220 lb at 30°, 15°, 10°, 5° sag = 220, 425, 633, 1,262 lbf per anchor; a 440 lb two-person rescue load doubles each figure. Show the 10° calculation on the board: sin 10° = 0.174, × 2 = 0.347, 440 ÷ 0.347 = 1,267 lbf. Static values — dynamic loading is higher. Sources: SPRAT Rope Access Certification Requirements (CRC-01, v25A, Jan 2025) §8.6; force = load ÷ (2 × sin θ).</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Tensioned-line exercise, a SPRAT Level 3 skill. Have trainees estimate sag angle under load and calculate anchor force before anyone gets on the line. Sources: SPRAT CRC-01 v25A §8.6.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 casualty movement. Two-person loads through obstacles leave little margin — coordinate rescuer position, casualty orientation and every transfer. Use staged checkpoints: pause in stable positions before each obstacle. The danger is unplanned simultaneous action; one command controls the load.</a:t>
            </a:r>
          </a:p>
          <a:p>
            <a:r>
              <a:rPr lang="en-US" dirty="0"/>
              <a:t>Sources: SPRAT Rope Access Certification Requirements (CRC-01, v25A, Jan 2025) §7.11, §8.7.</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Cross-haul, a Level 3 complex casualty-movement technique. Two opposed hauling systems suspend the casualty from a central rigging plate; hauling one side while lowering the other moves the casualty horizontally to clear obstructions. Every line has progress capture and a backup. One person leads and calls each move. Sources: SPRAT CRC-01 v25A §8.10 (complex rescue). Image: supplied by SkyTech — confirm usage rights.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rescue management. Leadership is a technical skill: size up, command, plan A and B, execute, terminate. One rescue lead, closed-loop communication, commands confirmed before load movement. A perfect rope system still fails if command is weak. The supervisor manages and delegates — they do not do every task themselves.</a:t>
            </a:r>
          </a:p>
          <a:p>
            <a:r>
              <a:rPr lang="en-US" dirty="0"/>
              <a:t>Sources: SPRAT Safe Practices for Rope Access Work.</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SPRAT level distinctions. L1: ascent/descent and changeovers, edge with rope protection, ~20° deviation, knot pass, rope-to-rope transfer, re-anchor, 3 m horizontal aid climb, four knot functions, a simple two-rope system, raise/lower from the ground and an adjacent-rope pick-off rescue. L2 adds system analysis, vertical aid climbing, edge rigging on anchors 1–4 m apart, a retrievable system, raising/lowering while suspended, lowering a suspended load, cross-haul, a remote rescue system, same-rope rescue with transfer and rescue from fall-arrest lanyards. L3 adds rigging a deviation or re-anchor, raise/lower through a knot pass, a tensioned rope system and rescue from two maneuvers. Upgrades: 500 hours and 6 months at the current level.</a:t>
            </a:r>
          </a:p>
          <a:p>
            <a:r>
              <a:rPr lang="en-US" dirty="0"/>
              <a:t>Sources: SPRAT Rope Access Certification Requirements (CRC-01, v25A, Jan 2025) §3.3, §6–8.</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SPRAT levels on the rope. L1 works under L3 supervision and performs a pick-off rescue; L2 rigs, hauls and performs rescues under L3 supervision; L3 supervises the worksite, the rescue plan and system checks. Sources: SPRAT Rope Access Certification Requirements (CRC-01, v25A, Jan 2025) §3.</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evaluation. Simulate real assessment conditions — no step-by-step prompting — to diagnose who can perform independently. Resist the urge to coach through it; that hides the gaps. Use the results to target remediation, then send trainees to rest. Fatigue is not a training strategy.</a:t>
            </a:r>
          </a:p>
          <a:p>
            <a:r>
              <a:rPr lang="en-US" dirty="0"/>
              <a:t>Sources: SPRAT Rope Access Certification Requirements (CRC-01, v25A, Jan 2025) §5.</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practical. Advanced rigging, lateral-system drills, complex casualty movement, then a team rescue scenario with assigned command roles and a mid-scenario Plan A to Plan B change. Close with the mock evaluation and targeted remediation.</a:t>
            </a:r>
          </a:p>
          <a:p>
            <a:r>
              <a:rPr lang="en-US" dirty="0"/>
              <a:t>Sources: SPRAT Rope Access Certification Requirements (CRC-01, v25A, Jan 2025) §7–8.</a:t>
            </a:r>
          </a:p>
          <a:p>
            <a:r>
              <a:rPr lang="en-US" dirty="0"/>
              <a:t>Discussion questions: What made the scenario hard — technique or command? When did Plan B start? What will you practice tonight?</a:t>
            </a:r>
          </a:p>
          <a:p>
            <a:r>
              <a:rPr lang="en-US" dirty="0"/>
              <a:t>Image: the previous photo was removed because it showed non-industrial rescue (helicopter short-haul / park search and rescue). Replace with a SkyTech photo of rigging or rescue practice on your own training structure.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start-off slide — assessment, debrief and professional development. Frame the day: independent assessment, then a debrief and a clear development path.</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classroom agenda: the assessment day. Brief the order of the day, check every candidate’s ID, signed affidavit and (for upgrades) logbook, then hand over to the independent evaluator for the written test and practical evaluation. Instructors do not coach once the evaluation starts.</a:t>
            </a:r>
          </a:p>
          <a:p>
            <a:r>
              <a:rPr lang="en-US" dirty="0"/>
              <a:t>Sources: SPRAT Rope Access Certification Requirements (CRC-01, v25A, Jan 2025) §2.1–2.2, §3.1, §5.</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Assessment-day orientation. Assessment is independent evaluation by an assessor — not the instructor. Verify eligibility and documents, explain the boundaries, then step back. The separation of training and assessment is what makes the credential mean something; last-minute coaching compromises its validity.</a:t>
            </a:r>
          </a:p>
          <a:p>
            <a:r>
              <a:rPr lang="en-US" dirty="0"/>
              <a:t>Sources: SPRAT Rope Access Certification Requirements (CRC-01, v25A, Jan 2025) §2.1–2.2, §3.1.</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and verbal knowledge. The standard is explain, not recite — safe work requires judgment when the exact training rig is not in front of you. The professional answer to a number you do not recall is never to invent it, but to say where you would verify the controlling requirement. Knowing your limits is graded.</a:t>
            </a:r>
          </a:p>
          <a:p>
            <a:r>
              <a:rPr lang="en-US" dirty="0"/>
              <a:t>Sources: SPRAT Rope Access Certification Requirements (CRC-01, v25A, Jan 2025) §2.1.1.</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assessment behavior. The rhythm is plan, verify, move, re-verify. Slow is smooth — a deliberate pause to assess beats rushing into danger. The most common failure is panic after a small error, compounding it. Calm self-correction within the scheme rules is exactly what the evaluator is credited to see.</a:t>
            </a:r>
          </a:p>
          <a:p>
            <a:r>
              <a:rPr lang="en-US" dirty="0"/>
              <a:t>Sources: SPRAT Rope Access Certification Requirements (CRC-01, v25A, Jan 2025) §4, §5.</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 by your level, the employer and demonstrated competence.</a:t>
            </a:r>
          </a:p>
          <a:p>
            <a:r>
              <a:rPr lang="en-US" dirty="0"/>
              <a:t>Sources: SPRAT Rope Access Certification Requirements (CRC-01, v25A, Jan 2025) §2.2.4–2.2.5, §9.</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practical is the assessment itself: eligibility and equipment check, theory and verbal knowledge, practical maneuvers and rescue by candidate level, then results, debrief and the logbook and development closeout.</a:t>
            </a:r>
          </a:p>
          <a:p>
            <a:r>
              <a:rPr lang="en-US" dirty="0"/>
              <a:t>Sources: SPRAT Rope Access Certification Requirements (CRC-01, v25A, Jan 2025) §2.</a:t>
            </a:r>
          </a:p>
          <a:p>
            <a:r>
              <a:rPr lang="en-US" dirty="0"/>
              <a:t>Discussion questions: What did your result tell you? What goes in your logbook today? What does your next level require?</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is the instructor method that runs under every lesson: explain using the six teaching boxes, demonstrate the whole technique then break it into decision points, coach by correcting unsafe sequence immediately and asking trainees to explain the fix, repeat from assisted to independent without losing redundancy, evaluate the whole process not just the final position, and document participation and progression. Hold every instructor to this method so the course is consistent regardless of who delivers it.</a:t>
            </a:r>
          </a:p>
          <a:p>
            <a:r>
              <a:rPr lang="en-US" dirty="0"/>
              <a:t>Sources: SkyTech instructor method.</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every course cycle, verify the controlling documents: the current SPRAT syllabus for the candidates, the applicable OSHA requirements for the actual work environment, and the manufacturer instructions for every item of equipment. Confirm training structures and engineered systems are approved for the intended loads. Update lesson plans whenever official documents, standards, manufacturer instructions or equipment change, and keep revision control on this instructor edition. The source note is important for accreditation: this deck is organized from SkyTech's supplied material, and technical details must be verified against current official sources before formal delivery.</a:t>
            </a:r>
          </a:p>
          <a:p>
            <a:r>
              <a:rPr lang="en-US" dirty="0"/>
              <a:t>Sources: SPRAT Rope Access Certification Requirements (CRC-01, v25A, Jan 2025); OSHA 29 CFR 1910.140 / 1926 Subpart M; manufacturer instructions.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by returning to the three principles that underwrite every technique: redundancy, continuous protection, controlled movement — plus rescue readiness. The professional identity to leave them with: train the technician to understand the system, not merely memorize the maneuver. That is what makes a safe, employable, promotable rope access professional. Contact details are on screen for recertification, upgrades and employer placement support.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19.jpg"/><Relationship Id="rId7"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 Id="rId9" Type="http://schemas.openxmlformats.org/officeDocument/2006/relationships/image" Target="../media/image25.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48.jpg"/><Relationship Id="rId5" Type="http://schemas.openxmlformats.org/officeDocument/2006/relationships/image" Target="../media/image47.jpg"/><Relationship Id="rId4" Type="http://schemas.openxmlformats.org/officeDocument/2006/relationships/image" Target="../media/image46.jpg"/></Relationships>
</file>

<file path=ppt/slides/_rels/slide6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51.jpg"/><Relationship Id="rId4" Type="http://schemas.openxmlformats.org/officeDocument/2006/relationships/image" Target="../media/image50.jpg"/></Relationships>
</file>

<file path=ppt/slides/_rels/slide64.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55.jpg"/><Relationship Id="rId4" Type="http://schemas.openxmlformats.org/officeDocument/2006/relationships/image" Target="../media/image54.jp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609600"/>
            <a:ext cx="7293813"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PROGRAM ARCHITECTURE</a:t>
            </a:r>
            <a:endParaRPr lang="en-US" sz="975" dirty="0"/>
          </a:p>
        </p:txBody>
      </p:sp>
      <p:sp>
        <p:nvSpPr>
          <p:cNvPr id="3" name="Text 1"/>
          <p:cNvSpPr/>
          <p:nvPr/>
        </p:nvSpPr>
        <p:spPr>
          <a:xfrm>
            <a:off x="857250" y="885825"/>
            <a:ext cx="7598482"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0E2A47"/>
                </a:solidFill>
                <a:latin typeface="Arial" pitchFamily="34" charset="0"/>
                <a:ea typeface="Arial" pitchFamily="34" charset="-122"/>
                <a:cs typeface="Arial" pitchFamily="34" charset="-120"/>
              </a:rPr>
              <a:t>How the Five-Day Curriculum Works</a:t>
            </a:r>
            <a:endParaRPr lang="en-US" sz="3300" dirty="0"/>
          </a:p>
        </p:txBody>
      </p:sp>
      <p:sp>
        <p:nvSpPr>
          <p:cNvPr id="44" name="Shape 42"/>
          <p:cNvSpPr/>
          <p:nvPr/>
        </p:nvSpPr>
        <p:spPr>
          <a:xfrm>
            <a:off x="0" y="9753600"/>
            <a:ext cx="18288000" cy="9525"/>
          </a:xfrm>
          <a:prstGeom prst="rect">
            <a:avLst/>
          </a:prstGeom>
          <a:solidFill>
            <a:srgbClr val="E1E6EC"/>
          </a:solidFill>
          <a:ln/>
        </p:spPr>
        <p:txBody>
          <a:bodyPr/>
          <a:lstStyle/>
          <a:p>
            <a:endParaRPr lang="en-US"/>
          </a:p>
        </p:txBody>
      </p:sp>
      <p:sp>
        <p:nvSpPr>
          <p:cNvPr id="45" name="Text 43"/>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46" name="Text 44"/>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PROGRAM ARCHITECTURE</a:t>
            </a:r>
            <a:endParaRPr lang="en-US" sz="900" dirty="0"/>
          </a:p>
        </p:txBody>
      </p:sp>
      <p:sp>
        <p:nvSpPr>
          <p:cNvPr id="47" name="Text 45"/>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a:t>
            </a:r>
            <a:endParaRPr lang="en-US" sz="900" dirty="0"/>
          </a:p>
        </p:txBody>
      </p:sp>
      <p:sp>
        <p:nvSpPr>
          <p:cNvPr id="501" name="Shape 501"/>
          <p:cNvSpPr/>
          <p:nvPr/>
        </p:nvSpPr>
        <p:spPr>
          <a:xfrm>
            <a:off x="857250" y="7620000"/>
            <a:ext cx="3152140" cy="19050"/>
          </a:xfrm>
          <a:prstGeom prst="rect">
            <a:avLst/>
          </a:prstGeom>
          <a:solidFill>
            <a:srgbClr val="E2E7ED"/>
          </a:solidFill>
          <a:ln>
            <a:noFill/>
          </a:ln>
        </p:spPr>
        <p:txBody>
          <a:bodyPr/>
          <a:lstStyle/>
          <a:p>
            <a:endParaRPr lang="en-US"/>
          </a:p>
        </p:txBody>
      </p:sp>
      <p:sp>
        <p:nvSpPr>
          <p:cNvPr id="502" name="Shape 502"/>
          <p:cNvSpPr/>
          <p:nvPr/>
        </p:nvSpPr>
        <p:spPr>
          <a:xfrm>
            <a:off x="857250" y="2032000"/>
            <a:ext cx="3152140" cy="5588000"/>
          </a:xfrm>
          <a:prstGeom prst="rect">
            <a:avLst/>
          </a:prstGeom>
          <a:solidFill>
            <a:srgbClr val="FFFFFF"/>
          </a:solidFill>
          <a:ln>
            <a:noFill/>
          </a:ln>
        </p:spPr>
        <p:txBody>
          <a:bodyPr/>
          <a:lstStyle/>
          <a:p>
            <a:endParaRPr lang="en-US"/>
          </a:p>
        </p:txBody>
      </p:sp>
      <p:sp>
        <p:nvSpPr>
          <p:cNvPr id="503" name="Shape 503"/>
          <p:cNvSpPr/>
          <p:nvPr/>
        </p:nvSpPr>
        <p:spPr>
          <a:xfrm>
            <a:off x="857250" y="2032000"/>
            <a:ext cx="3152140" cy="63500"/>
          </a:xfrm>
          <a:prstGeom prst="rect">
            <a:avLst/>
          </a:prstGeom>
          <a:solidFill>
            <a:srgbClr val="F26A1B"/>
          </a:solidFill>
          <a:ln>
            <a:noFill/>
          </a:ln>
        </p:spPr>
        <p:txBody>
          <a:bodyPr/>
          <a:lstStyle/>
          <a:p>
            <a:endParaRPr lang="en-US"/>
          </a:p>
        </p:txBody>
      </p:sp>
      <p:sp>
        <p:nvSpPr>
          <p:cNvPr id="504" name="Text 504"/>
          <p:cNvSpPr txBox="1"/>
          <p:nvPr/>
        </p:nvSpPr>
        <p:spPr>
          <a:xfrm>
            <a:off x="1136650" y="2413000"/>
            <a:ext cx="2593340" cy="381000"/>
          </a:xfrm>
          <a:prstGeom prst="rect">
            <a:avLst/>
          </a:prstGeom>
          <a:noFill/>
          <a:ln>
            <a:noFill/>
          </a:ln>
        </p:spPr>
        <p:txBody>
          <a:bodyPr wrap="square" lIns="0" tIns="0" rIns="0" bIns="0" rtlCol="0" anchor="t">
            <a:noAutofit/>
          </a:bodyPr>
          <a:lstStyle/>
          <a:p>
            <a:pPr marL="0" indent="0" algn="l">
              <a:lnSpc>
                <a:spcPct val="112000"/>
              </a:lnSpc>
              <a:buNone/>
            </a:pPr>
            <a:r>
              <a:rPr lang="en-US" sz="1200" b="1" spc="150" dirty="0">
                <a:solidFill>
                  <a:srgbClr val="F26A1B"/>
                </a:solidFill>
                <a:latin typeface="Courier New"/>
                <a:cs typeface="Courier New"/>
              </a:rPr>
              <a:t>DAY 01</a:t>
            </a:r>
            <a:endParaRPr lang="en-US" sz="1200" dirty="0"/>
          </a:p>
        </p:txBody>
      </p:sp>
      <p:sp>
        <p:nvSpPr>
          <p:cNvPr id="505" name="Text 505"/>
          <p:cNvSpPr txBox="1"/>
          <p:nvPr/>
        </p:nvSpPr>
        <p:spPr>
          <a:xfrm>
            <a:off x="1136650" y="2819400"/>
            <a:ext cx="2593340" cy="889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Foundations</a:t>
            </a:r>
            <a:endParaRPr lang="en-US" sz="2200" dirty="0"/>
          </a:p>
        </p:txBody>
      </p:sp>
      <p:sp>
        <p:nvSpPr>
          <p:cNvPr id="506" name="Text 506"/>
          <p:cNvSpPr txBox="1"/>
          <p:nvPr/>
        </p:nvSpPr>
        <p:spPr>
          <a:xfrm>
            <a:off x="1136650" y="3937000"/>
            <a:ext cx="2593340" cy="4953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F26A1B"/>
                </a:solidFill>
                <a:latin typeface="Arial"/>
                <a:cs typeface="Arial"/>
              </a:rPr>
              <a:t>— </a:t>
            </a:r>
            <a:r>
              <a:rPr lang="en-US" sz="1800" dirty="0">
                <a:solidFill>
                  <a:srgbClr val="41505E"/>
                </a:solidFill>
                <a:latin typeface="Arial"/>
                <a:cs typeface="Arial"/>
              </a:rPr>
              <a:t>Orientation</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JSA</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equipment</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redundancy</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knots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basic movement</a:t>
            </a:r>
            <a:endParaRPr lang="en-US" sz="1800" dirty="0"/>
          </a:p>
        </p:txBody>
      </p:sp>
      <p:sp>
        <p:nvSpPr>
          <p:cNvPr id="507" name="Shape 507"/>
          <p:cNvSpPr/>
          <p:nvPr/>
        </p:nvSpPr>
        <p:spPr>
          <a:xfrm>
            <a:off x="4212590" y="7620000"/>
            <a:ext cx="3152140" cy="19050"/>
          </a:xfrm>
          <a:prstGeom prst="rect">
            <a:avLst/>
          </a:prstGeom>
          <a:solidFill>
            <a:srgbClr val="E2E7ED"/>
          </a:solidFill>
          <a:ln>
            <a:noFill/>
          </a:ln>
        </p:spPr>
        <p:txBody>
          <a:bodyPr/>
          <a:lstStyle/>
          <a:p>
            <a:endParaRPr lang="en-US"/>
          </a:p>
        </p:txBody>
      </p:sp>
      <p:sp>
        <p:nvSpPr>
          <p:cNvPr id="508" name="Shape 508"/>
          <p:cNvSpPr/>
          <p:nvPr/>
        </p:nvSpPr>
        <p:spPr>
          <a:xfrm>
            <a:off x="4212590" y="2032000"/>
            <a:ext cx="3152140" cy="5588000"/>
          </a:xfrm>
          <a:prstGeom prst="rect">
            <a:avLst/>
          </a:prstGeom>
          <a:solidFill>
            <a:srgbClr val="FFFFFF"/>
          </a:solidFill>
          <a:ln>
            <a:noFill/>
          </a:ln>
        </p:spPr>
        <p:txBody>
          <a:bodyPr/>
          <a:lstStyle/>
          <a:p>
            <a:endParaRPr lang="en-US"/>
          </a:p>
        </p:txBody>
      </p:sp>
      <p:sp>
        <p:nvSpPr>
          <p:cNvPr id="509" name="Shape 509"/>
          <p:cNvSpPr/>
          <p:nvPr/>
        </p:nvSpPr>
        <p:spPr>
          <a:xfrm>
            <a:off x="4212590" y="2032000"/>
            <a:ext cx="3152140" cy="63500"/>
          </a:xfrm>
          <a:prstGeom prst="rect">
            <a:avLst/>
          </a:prstGeom>
          <a:solidFill>
            <a:srgbClr val="F26A1B"/>
          </a:solidFill>
          <a:ln>
            <a:noFill/>
          </a:ln>
        </p:spPr>
        <p:txBody>
          <a:bodyPr/>
          <a:lstStyle/>
          <a:p>
            <a:endParaRPr lang="en-US"/>
          </a:p>
        </p:txBody>
      </p:sp>
      <p:sp>
        <p:nvSpPr>
          <p:cNvPr id="510" name="Text 510"/>
          <p:cNvSpPr txBox="1"/>
          <p:nvPr/>
        </p:nvSpPr>
        <p:spPr>
          <a:xfrm>
            <a:off x="4491990" y="2413000"/>
            <a:ext cx="2593340" cy="381000"/>
          </a:xfrm>
          <a:prstGeom prst="rect">
            <a:avLst/>
          </a:prstGeom>
          <a:noFill/>
          <a:ln>
            <a:noFill/>
          </a:ln>
        </p:spPr>
        <p:txBody>
          <a:bodyPr wrap="square" lIns="0" tIns="0" rIns="0" bIns="0" rtlCol="0" anchor="t">
            <a:noAutofit/>
          </a:bodyPr>
          <a:lstStyle/>
          <a:p>
            <a:pPr marL="0" indent="0" algn="l">
              <a:lnSpc>
                <a:spcPct val="112000"/>
              </a:lnSpc>
              <a:buNone/>
            </a:pPr>
            <a:r>
              <a:rPr lang="en-US" sz="1200" b="1" spc="150" dirty="0">
                <a:solidFill>
                  <a:srgbClr val="F26A1B"/>
                </a:solidFill>
                <a:latin typeface="Courier New"/>
                <a:cs typeface="Courier New"/>
              </a:rPr>
              <a:t>DAY 02</a:t>
            </a:r>
            <a:endParaRPr lang="en-US" sz="1200" dirty="0"/>
          </a:p>
        </p:txBody>
      </p:sp>
      <p:sp>
        <p:nvSpPr>
          <p:cNvPr id="511" name="Text 511"/>
          <p:cNvSpPr txBox="1"/>
          <p:nvPr/>
        </p:nvSpPr>
        <p:spPr>
          <a:xfrm>
            <a:off x="4491990" y="2819400"/>
            <a:ext cx="2593340" cy="889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Core Techniques</a:t>
            </a:r>
            <a:endParaRPr lang="en-US" sz="2200" dirty="0"/>
          </a:p>
        </p:txBody>
      </p:sp>
      <p:sp>
        <p:nvSpPr>
          <p:cNvPr id="512" name="Text 512"/>
          <p:cNvSpPr txBox="1"/>
          <p:nvPr/>
        </p:nvSpPr>
        <p:spPr>
          <a:xfrm>
            <a:off x="4491990" y="3937000"/>
            <a:ext cx="2593340" cy="4953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F26A1B"/>
                </a:solidFill>
                <a:latin typeface="Arial"/>
                <a:cs typeface="Arial"/>
              </a:rPr>
              <a:t>— </a:t>
            </a:r>
            <a:r>
              <a:rPr lang="en-US" sz="1800" dirty="0">
                <a:solidFill>
                  <a:srgbClr val="41505E"/>
                </a:solidFill>
                <a:latin typeface="Arial"/>
                <a:cs typeface="Arial"/>
              </a:rPr>
              <a:t>Regulations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fall protection</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SPRAT certification &amp; grading</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knot passing</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deviations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re-anchors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transfers</a:t>
            </a:r>
            <a:endParaRPr lang="en-US" sz="1800" dirty="0"/>
          </a:p>
        </p:txBody>
      </p:sp>
      <p:sp>
        <p:nvSpPr>
          <p:cNvPr id="513" name="Shape 513"/>
          <p:cNvSpPr/>
          <p:nvPr/>
        </p:nvSpPr>
        <p:spPr>
          <a:xfrm>
            <a:off x="7567930" y="7620000"/>
            <a:ext cx="3152140" cy="19050"/>
          </a:xfrm>
          <a:prstGeom prst="rect">
            <a:avLst/>
          </a:prstGeom>
          <a:solidFill>
            <a:srgbClr val="E2E7ED"/>
          </a:solidFill>
          <a:ln>
            <a:noFill/>
          </a:ln>
        </p:spPr>
        <p:txBody>
          <a:bodyPr/>
          <a:lstStyle/>
          <a:p>
            <a:endParaRPr lang="en-US"/>
          </a:p>
        </p:txBody>
      </p:sp>
      <p:sp>
        <p:nvSpPr>
          <p:cNvPr id="514" name="Shape 514"/>
          <p:cNvSpPr/>
          <p:nvPr/>
        </p:nvSpPr>
        <p:spPr>
          <a:xfrm>
            <a:off x="7567930" y="2032000"/>
            <a:ext cx="3152140" cy="5588000"/>
          </a:xfrm>
          <a:prstGeom prst="rect">
            <a:avLst/>
          </a:prstGeom>
          <a:solidFill>
            <a:srgbClr val="FFFFFF"/>
          </a:solidFill>
          <a:ln>
            <a:noFill/>
          </a:ln>
        </p:spPr>
        <p:txBody>
          <a:bodyPr/>
          <a:lstStyle/>
          <a:p>
            <a:endParaRPr lang="en-US"/>
          </a:p>
        </p:txBody>
      </p:sp>
      <p:sp>
        <p:nvSpPr>
          <p:cNvPr id="515" name="Shape 515"/>
          <p:cNvSpPr/>
          <p:nvPr/>
        </p:nvSpPr>
        <p:spPr>
          <a:xfrm>
            <a:off x="7567930" y="2032000"/>
            <a:ext cx="3152140" cy="63500"/>
          </a:xfrm>
          <a:prstGeom prst="rect">
            <a:avLst/>
          </a:prstGeom>
          <a:solidFill>
            <a:srgbClr val="F26A1B"/>
          </a:solidFill>
          <a:ln>
            <a:noFill/>
          </a:ln>
        </p:spPr>
        <p:txBody>
          <a:bodyPr/>
          <a:lstStyle/>
          <a:p>
            <a:endParaRPr lang="en-US"/>
          </a:p>
        </p:txBody>
      </p:sp>
      <p:sp>
        <p:nvSpPr>
          <p:cNvPr id="516" name="Text 516"/>
          <p:cNvSpPr txBox="1"/>
          <p:nvPr/>
        </p:nvSpPr>
        <p:spPr>
          <a:xfrm>
            <a:off x="7847330" y="2413000"/>
            <a:ext cx="2593340" cy="381000"/>
          </a:xfrm>
          <a:prstGeom prst="rect">
            <a:avLst/>
          </a:prstGeom>
          <a:noFill/>
          <a:ln>
            <a:noFill/>
          </a:ln>
        </p:spPr>
        <p:txBody>
          <a:bodyPr wrap="square" lIns="0" tIns="0" rIns="0" bIns="0" rtlCol="0" anchor="t">
            <a:noAutofit/>
          </a:bodyPr>
          <a:lstStyle/>
          <a:p>
            <a:pPr marL="0" indent="0" algn="l">
              <a:lnSpc>
                <a:spcPct val="112000"/>
              </a:lnSpc>
              <a:buNone/>
            </a:pPr>
            <a:r>
              <a:rPr lang="en-US" sz="1200" b="1" spc="150" dirty="0">
                <a:solidFill>
                  <a:srgbClr val="F26A1B"/>
                </a:solidFill>
                <a:latin typeface="Courier New"/>
                <a:cs typeface="Courier New"/>
              </a:rPr>
              <a:t>DAY 03</a:t>
            </a:r>
            <a:endParaRPr lang="en-US" sz="1200" dirty="0"/>
          </a:p>
        </p:txBody>
      </p:sp>
      <p:sp>
        <p:nvSpPr>
          <p:cNvPr id="517" name="Text 517"/>
          <p:cNvSpPr txBox="1"/>
          <p:nvPr/>
        </p:nvSpPr>
        <p:spPr>
          <a:xfrm>
            <a:off x="7847330" y="2819400"/>
            <a:ext cx="2593340" cy="889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Rigging &amp; Rescue</a:t>
            </a:r>
            <a:endParaRPr lang="en-US" sz="2200" dirty="0"/>
          </a:p>
        </p:txBody>
      </p:sp>
      <p:sp>
        <p:nvSpPr>
          <p:cNvPr id="518" name="Text 518"/>
          <p:cNvSpPr txBox="1"/>
          <p:nvPr/>
        </p:nvSpPr>
        <p:spPr>
          <a:xfrm>
            <a:off x="7847330" y="3937000"/>
            <a:ext cx="2593340" cy="4953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F26A1B"/>
                </a:solidFill>
                <a:latin typeface="Arial"/>
                <a:cs typeface="Arial"/>
              </a:rPr>
              <a:t>— </a:t>
            </a:r>
            <a:r>
              <a:rPr lang="en-US" sz="1800" dirty="0">
                <a:solidFill>
                  <a:srgbClr val="41505E"/>
                </a:solidFill>
                <a:latin typeface="Arial"/>
                <a:cs typeface="Arial"/>
              </a:rPr>
              <a:t>Anchors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load physics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hauling / lowering</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rescue progressions</a:t>
            </a:r>
            <a:endParaRPr lang="en-US" sz="1800" dirty="0"/>
          </a:p>
        </p:txBody>
      </p:sp>
      <p:sp>
        <p:nvSpPr>
          <p:cNvPr id="519" name="Shape 519"/>
          <p:cNvSpPr/>
          <p:nvPr/>
        </p:nvSpPr>
        <p:spPr>
          <a:xfrm>
            <a:off x="10923270" y="7620000"/>
            <a:ext cx="3152140" cy="19050"/>
          </a:xfrm>
          <a:prstGeom prst="rect">
            <a:avLst/>
          </a:prstGeom>
          <a:solidFill>
            <a:srgbClr val="E2E7ED"/>
          </a:solidFill>
          <a:ln>
            <a:noFill/>
          </a:ln>
        </p:spPr>
        <p:txBody>
          <a:bodyPr/>
          <a:lstStyle/>
          <a:p>
            <a:endParaRPr lang="en-US"/>
          </a:p>
        </p:txBody>
      </p:sp>
      <p:sp>
        <p:nvSpPr>
          <p:cNvPr id="520" name="Shape 520"/>
          <p:cNvSpPr/>
          <p:nvPr/>
        </p:nvSpPr>
        <p:spPr>
          <a:xfrm>
            <a:off x="10923270" y="2032000"/>
            <a:ext cx="3152140" cy="5588000"/>
          </a:xfrm>
          <a:prstGeom prst="rect">
            <a:avLst/>
          </a:prstGeom>
          <a:solidFill>
            <a:srgbClr val="FFFFFF"/>
          </a:solidFill>
          <a:ln>
            <a:noFill/>
          </a:ln>
        </p:spPr>
        <p:txBody>
          <a:bodyPr/>
          <a:lstStyle/>
          <a:p>
            <a:endParaRPr lang="en-US"/>
          </a:p>
        </p:txBody>
      </p:sp>
      <p:sp>
        <p:nvSpPr>
          <p:cNvPr id="521" name="Shape 521"/>
          <p:cNvSpPr/>
          <p:nvPr/>
        </p:nvSpPr>
        <p:spPr>
          <a:xfrm>
            <a:off x="10923270" y="2032000"/>
            <a:ext cx="3152140" cy="63500"/>
          </a:xfrm>
          <a:prstGeom prst="rect">
            <a:avLst/>
          </a:prstGeom>
          <a:solidFill>
            <a:srgbClr val="F26A1B"/>
          </a:solidFill>
          <a:ln>
            <a:noFill/>
          </a:ln>
        </p:spPr>
        <p:txBody>
          <a:bodyPr/>
          <a:lstStyle/>
          <a:p>
            <a:endParaRPr lang="en-US"/>
          </a:p>
        </p:txBody>
      </p:sp>
      <p:sp>
        <p:nvSpPr>
          <p:cNvPr id="522" name="Text 522"/>
          <p:cNvSpPr txBox="1"/>
          <p:nvPr/>
        </p:nvSpPr>
        <p:spPr>
          <a:xfrm>
            <a:off x="11202670" y="2413000"/>
            <a:ext cx="2593340" cy="381000"/>
          </a:xfrm>
          <a:prstGeom prst="rect">
            <a:avLst/>
          </a:prstGeom>
          <a:noFill/>
          <a:ln>
            <a:noFill/>
          </a:ln>
        </p:spPr>
        <p:txBody>
          <a:bodyPr wrap="square" lIns="0" tIns="0" rIns="0" bIns="0" rtlCol="0" anchor="t">
            <a:noAutofit/>
          </a:bodyPr>
          <a:lstStyle/>
          <a:p>
            <a:pPr marL="0" indent="0" algn="l">
              <a:lnSpc>
                <a:spcPct val="112000"/>
              </a:lnSpc>
              <a:buNone/>
            </a:pPr>
            <a:r>
              <a:rPr lang="en-US" sz="1200" b="1" spc="150" dirty="0">
                <a:solidFill>
                  <a:srgbClr val="F26A1B"/>
                </a:solidFill>
                <a:latin typeface="Courier New"/>
                <a:cs typeface="Courier New"/>
              </a:rPr>
              <a:t>DAY 04</a:t>
            </a:r>
            <a:endParaRPr lang="en-US" sz="1200" dirty="0"/>
          </a:p>
        </p:txBody>
      </p:sp>
      <p:sp>
        <p:nvSpPr>
          <p:cNvPr id="523" name="Text 523"/>
          <p:cNvSpPr txBox="1"/>
          <p:nvPr/>
        </p:nvSpPr>
        <p:spPr>
          <a:xfrm>
            <a:off x="11202670" y="2819400"/>
            <a:ext cx="2593340" cy="889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Advanced &amp; Consolidation</a:t>
            </a:r>
            <a:endParaRPr lang="en-US" sz="2200" dirty="0"/>
          </a:p>
        </p:txBody>
      </p:sp>
      <p:sp>
        <p:nvSpPr>
          <p:cNvPr id="524" name="Text 524"/>
          <p:cNvSpPr txBox="1"/>
          <p:nvPr/>
        </p:nvSpPr>
        <p:spPr>
          <a:xfrm>
            <a:off x="11202670" y="3937000"/>
            <a:ext cx="2593340" cy="4953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F26A1B"/>
                </a:solidFill>
                <a:latin typeface="Arial"/>
                <a:cs typeface="Arial"/>
              </a:rPr>
              <a:t>— </a:t>
            </a:r>
            <a:r>
              <a:rPr lang="en-US" sz="1800" dirty="0">
                <a:solidFill>
                  <a:srgbClr val="41505E"/>
                </a:solidFill>
                <a:latin typeface="Arial"/>
                <a:cs typeface="Arial"/>
              </a:rPr>
              <a:t>L2 / L3 rigging</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complex rescue</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scenarios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41505E"/>
                </a:solidFill>
                <a:latin typeface="Arial"/>
                <a:cs typeface="Arial"/>
              </a:rPr>
              <a:t>mock evaluation</a:t>
            </a:r>
            <a:endParaRPr lang="en-US" sz="1800" dirty="0"/>
          </a:p>
        </p:txBody>
      </p:sp>
      <p:sp>
        <p:nvSpPr>
          <p:cNvPr id="525" name="Shape 525"/>
          <p:cNvSpPr/>
          <p:nvPr/>
        </p:nvSpPr>
        <p:spPr>
          <a:xfrm>
            <a:off x="14278610" y="7620000"/>
            <a:ext cx="3152140" cy="19050"/>
          </a:xfrm>
          <a:prstGeom prst="rect">
            <a:avLst/>
          </a:prstGeom>
          <a:solidFill>
            <a:srgbClr val="E2E7ED"/>
          </a:solidFill>
          <a:ln>
            <a:noFill/>
          </a:ln>
        </p:spPr>
        <p:txBody>
          <a:bodyPr/>
          <a:lstStyle/>
          <a:p>
            <a:endParaRPr lang="en-US"/>
          </a:p>
        </p:txBody>
      </p:sp>
      <p:sp>
        <p:nvSpPr>
          <p:cNvPr id="526" name="Shape 526"/>
          <p:cNvSpPr/>
          <p:nvPr/>
        </p:nvSpPr>
        <p:spPr>
          <a:xfrm>
            <a:off x="14278610" y="2032000"/>
            <a:ext cx="3152140" cy="5588000"/>
          </a:xfrm>
          <a:prstGeom prst="rect">
            <a:avLst/>
          </a:prstGeom>
          <a:solidFill>
            <a:srgbClr val="0E2A47"/>
          </a:solidFill>
          <a:ln>
            <a:noFill/>
          </a:ln>
        </p:spPr>
        <p:txBody>
          <a:bodyPr/>
          <a:lstStyle/>
          <a:p>
            <a:endParaRPr lang="en-US"/>
          </a:p>
        </p:txBody>
      </p:sp>
      <p:sp>
        <p:nvSpPr>
          <p:cNvPr id="527" name="Shape 527"/>
          <p:cNvSpPr/>
          <p:nvPr/>
        </p:nvSpPr>
        <p:spPr>
          <a:xfrm>
            <a:off x="14278610" y="2032000"/>
            <a:ext cx="3152140" cy="63500"/>
          </a:xfrm>
          <a:prstGeom prst="rect">
            <a:avLst/>
          </a:prstGeom>
          <a:solidFill>
            <a:srgbClr val="F26A1B"/>
          </a:solidFill>
          <a:ln>
            <a:noFill/>
          </a:ln>
        </p:spPr>
        <p:txBody>
          <a:bodyPr/>
          <a:lstStyle/>
          <a:p>
            <a:endParaRPr lang="en-US"/>
          </a:p>
        </p:txBody>
      </p:sp>
      <p:sp>
        <p:nvSpPr>
          <p:cNvPr id="528" name="Text 528"/>
          <p:cNvSpPr txBox="1"/>
          <p:nvPr/>
        </p:nvSpPr>
        <p:spPr>
          <a:xfrm>
            <a:off x="14558010" y="2413000"/>
            <a:ext cx="2593340" cy="381000"/>
          </a:xfrm>
          <a:prstGeom prst="rect">
            <a:avLst/>
          </a:prstGeom>
          <a:noFill/>
          <a:ln>
            <a:noFill/>
          </a:ln>
        </p:spPr>
        <p:txBody>
          <a:bodyPr wrap="square" lIns="0" tIns="0" rIns="0" bIns="0" rtlCol="0" anchor="t">
            <a:noAutofit/>
          </a:bodyPr>
          <a:lstStyle/>
          <a:p>
            <a:pPr marL="0" indent="0" algn="l">
              <a:lnSpc>
                <a:spcPct val="112000"/>
              </a:lnSpc>
              <a:buNone/>
            </a:pPr>
            <a:r>
              <a:rPr lang="en-US" sz="1200" b="1" spc="150" dirty="0">
                <a:solidFill>
                  <a:srgbClr val="F26A1B"/>
                </a:solidFill>
                <a:latin typeface="Courier New"/>
                <a:cs typeface="Courier New"/>
              </a:rPr>
              <a:t>DAY 05</a:t>
            </a:r>
            <a:endParaRPr lang="en-US" sz="1200" dirty="0"/>
          </a:p>
        </p:txBody>
      </p:sp>
      <p:sp>
        <p:nvSpPr>
          <p:cNvPr id="529" name="Text 529"/>
          <p:cNvSpPr txBox="1"/>
          <p:nvPr/>
        </p:nvSpPr>
        <p:spPr>
          <a:xfrm>
            <a:off x="14558010" y="2819400"/>
            <a:ext cx="2593340" cy="889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FFFFFF"/>
                </a:solidFill>
                <a:latin typeface="Arial"/>
                <a:cs typeface="Arial"/>
              </a:rPr>
              <a:t>Assessment</a:t>
            </a:r>
            <a:endParaRPr lang="en-US" sz="2200" dirty="0"/>
          </a:p>
        </p:txBody>
      </p:sp>
      <p:sp>
        <p:nvSpPr>
          <p:cNvPr id="530" name="Text 530"/>
          <p:cNvSpPr txBox="1"/>
          <p:nvPr/>
        </p:nvSpPr>
        <p:spPr>
          <a:xfrm>
            <a:off x="14558010" y="3937000"/>
            <a:ext cx="2593340" cy="4953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F26A1B"/>
                </a:solidFill>
                <a:latin typeface="Arial"/>
                <a:cs typeface="Arial"/>
              </a:rPr>
              <a:t>— </a:t>
            </a:r>
            <a:r>
              <a:rPr lang="en-US" sz="1800" dirty="0">
                <a:solidFill>
                  <a:srgbClr val="C7D4E1"/>
                </a:solidFill>
                <a:latin typeface="Arial"/>
                <a:cs typeface="Arial"/>
              </a:rPr>
              <a:t>Theory checks</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C7D4E1"/>
                </a:solidFill>
                <a:latin typeface="Arial"/>
                <a:cs typeface="Arial"/>
              </a:rPr>
              <a:t>practical assessment</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C7D4E1"/>
                </a:solidFill>
                <a:latin typeface="Arial"/>
                <a:cs typeface="Arial"/>
              </a:rPr>
              <a:t>debrief</a:t>
            </a:r>
            <a:endParaRPr lang="en-US" sz="1800" dirty="0"/>
          </a:p>
          <a:p>
            <a:pPr marL="0" indent="0" algn="l">
              <a:lnSpc>
                <a:spcPct val="112000"/>
              </a:lnSpc>
              <a:spcBef>
                <a:spcPts val="800"/>
              </a:spcBef>
              <a:buNone/>
            </a:pPr>
            <a:r>
              <a:rPr lang="en-US" sz="1800" b="1" dirty="0">
                <a:solidFill>
                  <a:srgbClr val="F26A1B"/>
                </a:solidFill>
                <a:latin typeface="Arial"/>
                <a:cs typeface="Arial"/>
              </a:rPr>
              <a:t>— </a:t>
            </a:r>
            <a:r>
              <a:rPr lang="en-US" sz="1800" dirty="0">
                <a:solidFill>
                  <a:srgbClr val="C7D4E1"/>
                </a:solidFill>
                <a:latin typeface="Arial"/>
                <a:cs typeface="Arial"/>
              </a:rPr>
              <a:t>next-step development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609600"/>
            <a:ext cx="9363611"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PROGRAM ARCHITECTURE</a:t>
            </a:r>
            <a:endParaRPr lang="en-US" sz="975" dirty="0"/>
          </a:p>
        </p:txBody>
      </p:sp>
      <p:sp>
        <p:nvSpPr>
          <p:cNvPr id="3" name="Text 1"/>
          <p:cNvSpPr/>
          <p:nvPr/>
        </p:nvSpPr>
        <p:spPr>
          <a:xfrm>
            <a:off x="857250" y="885825"/>
            <a:ext cx="9690360"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0E2A47"/>
                </a:solidFill>
                <a:latin typeface="Arial" pitchFamily="34" charset="0"/>
                <a:ea typeface="Arial" pitchFamily="34" charset="-122"/>
                <a:cs typeface="Arial" pitchFamily="34" charset="-120"/>
              </a:rPr>
              <a:t>Every Day Follows the Same Learning Rhythm</a:t>
            </a:r>
            <a:endParaRPr lang="en-US" sz="3300" dirty="0"/>
          </a:p>
        </p:txBody>
      </p:sp>
      <p:sp>
        <p:nvSpPr>
          <p:cNvPr id="4" name="Shape 2"/>
          <p:cNvSpPr/>
          <p:nvPr/>
        </p:nvSpPr>
        <p:spPr>
          <a:xfrm>
            <a:off x="857250" y="1987550"/>
            <a:ext cx="16573500" cy="807245"/>
          </a:xfrm>
          <a:prstGeom prst="roundRect">
            <a:avLst>
              <a:gd name="adj" fmla="val 7080"/>
            </a:avLst>
          </a:prstGeom>
          <a:solidFill>
            <a:srgbClr val="FFFFFF"/>
          </a:solidFill>
          <a:ln/>
        </p:spPr>
        <p:txBody>
          <a:bodyPr/>
          <a:lstStyle/>
          <a:p>
            <a:endParaRPr lang="en-US"/>
          </a:p>
        </p:txBody>
      </p:sp>
      <p:sp>
        <p:nvSpPr>
          <p:cNvPr id="5" name="Shape 3"/>
          <p:cNvSpPr/>
          <p:nvPr/>
        </p:nvSpPr>
        <p:spPr>
          <a:xfrm>
            <a:off x="857250" y="2780507"/>
            <a:ext cx="16573500" cy="14288"/>
          </a:xfrm>
          <a:prstGeom prst="rect">
            <a:avLst/>
          </a:prstGeom>
          <a:solidFill>
            <a:srgbClr val="E2E7ED"/>
          </a:solidFill>
          <a:ln/>
        </p:spPr>
        <p:txBody>
          <a:bodyPr/>
          <a:lstStyle/>
          <a:p>
            <a:endParaRPr lang="en-US"/>
          </a:p>
        </p:txBody>
      </p:sp>
      <p:sp>
        <p:nvSpPr>
          <p:cNvPr id="6" name="Shape 4"/>
          <p:cNvSpPr/>
          <p:nvPr/>
        </p:nvSpPr>
        <p:spPr>
          <a:xfrm>
            <a:off x="857250" y="1987550"/>
            <a:ext cx="16573500" cy="14288"/>
          </a:xfrm>
          <a:prstGeom prst="rect">
            <a:avLst/>
          </a:prstGeom>
          <a:solidFill>
            <a:srgbClr val="E2E7ED"/>
          </a:solidFill>
          <a:ln/>
        </p:spPr>
        <p:txBody>
          <a:bodyPr/>
          <a:lstStyle/>
          <a:p>
            <a:endParaRPr lang="en-US"/>
          </a:p>
        </p:txBody>
      </p:sp>
      <p:sp>
        <p:nvSpPr>
          <p:cNvPr id="7" name="Shape 5"/>
          <p:cNvSpPr/>
          <p:nvPr/>
        </p:nvSpPr>
        <p:spPr>
          <a:xfrm>
            <a:off x="857250" y="1987550"/>
            <a:ext cx="38100" cy="807245"/>
          </a:xfrm>
          <a:prstGeom prst="rect">
            <a:avLst/>
          </a:prstGeom>
          <a:solidFill>
            <a:srgbClr val="F26A1B"/>
          </a:solidFill>
          <a:ln/>
        </p:spPr>
        <p:txBody>
          <a:bodyPr/>
          <a:lstStyle/>
          <a:p>
            <a:endParaRPr lang="en-US"/>
          </a:p>
        </p:txBody>
      </p:sp>
      <p:sp>
        <p:nvSpPr>
          <p:cNvPr id="8" name="Shape 6"/>
          <p:cNvSpPr/>
          <p:nvPr/>
        </p:nvSpPr>
        <p:spPr>
          <a:xfrm>
            <a:off x="17421225" y="1987550"/>
            <a:ext cx="9525" cy="807245"/>
          </a:xfrm>
          <a:prstGeom prst="rect">
            <a:avLst/>
          </a:prstGeom>
          <a:solidFill>
            <a:srgbClr val="E2E7ED"/>
          </a:solidFill>
          <a:ln/>
        </p:spPr>
        <p:txBody>
          <a:bodyPr/>
          <a:lstStyle/>
          <a:p>
            <a:endParaRPr lang="en-US"/>
          </a:p>
        </p:txBody>
      </p:sp>
      <p:sp>
        <p:nvSpPr>
          <p:cNvPr id="9" name="Text 7"/>
          <p:cNvSpPr/>
          <p:nvPr/>
        </p:nvSpPr>
        <p:spPr>
          <a:xfrm>
            <a:off x="1162050" y="2259013"/>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07:30–08:00</a:t>
            </a:r>
            <a:endParaRPr lang="en-US" sz="1470" dirty="0"/>
          </a:p>
        </p:txBody>
      </p:sp>
      <p:sp>
        <p:nvSpPr>
          <p:cNvPr id="10" name="Text 8"/>
          <p:cNvSpPr/>
          <p:nvPr/>
        </p:nvSpPr>
        <p:spPr>
          <a:xfrm>
            <a:off x="2838450" y="2230438"/>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0E2A47"/>
                </a:solidFill>
                <a:latin typeface="Arial" pitchFamily="34" charset="0"/>
                <a:ea typeface="Arial" pitchFamily="34" charset="-122"/>
                <a:cs typeface="Arial" pitchFamily="34" charset="-120"/>
              </a:rPr>
              <a:t>Start-Up</a:t>
            </a:r>
            <a:endParaRPr lang="en-US" sz="1837" dirty="0"/>
          </a:p>
        </p:txBody>
      </p:sp>
      <p:sp>
        <p:nvSpPr>
          <p:cNvPr id="11" name="Text 9"/>
          <p:cNvSpPr/>
          <p:nvPr/>
        </p:nvSpPr>
        <p:spPr>
          <a:xfrm>
            <a:off x="5086350" y="2236912"/>
            <a:ext cx="3937007"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5B6B7B"/>
                </a:solidFill>
                <a:latin typeface="Arial" pitchFamily="34" charset="0"/>
                <a:ea typeface="Arial" pitchFamily="34" charset="-122"/>
                <a:cs typeface="Arial" pitchFamily="34" charset="-120"/>
              </a:rPr>
              <a:t>Check-in · equipment readiness · JSA / hazard review</a:t>
            </a:r>
            <a:endParaRPr lang="en-US" sz="1470" dirty="0"/>
          </a:p>
        </p:txBody>
      </p:sp>
      <p:sp>
        <p:nvSpPr>
          <p:cNvPr id="12" name="Shape 10"/>
          <p:cNvSpPr/>
          <p:nvPr/>
        </p:nvSpPr>
        <p:spPr>
          <a:xfrm>
            <a:off x="857250" y="2980532"/>
            <a:ext cx="16573500" cy="807245"/>
          </a:xfrm>
          <a:prstGeom prst="roundRect">
            <a:avLst>
              <a:gd name="adj" fmla="val 7080"/>
            </a:avLst>
          </a:prstGeom>
          <a:solidFill>
            <a:srgbClr val="0E2A47"/>
          </a:solidFill>
          <a:ln w="9525">
            <a:solidFill>
              <a:srgbClr val="E2E7ED"/>
            </a:solidFill>
            <a:prstDash val="solid"/>
          </a:ln>
        </p:spPr>
        <p:txBody>
          <a:bodyPr/>
          <a:lstStyle/>
          <a:p>
            <a:endParaRPr lang="en-US"/>
          </a:p>
        </p:txBody>
      </p:sp>
      <p:sp>
        <p:nvSpPr>
          <p:cNvPr id="13" name="Text 11"/>
          <p:cNvSpPr/>
          <p:nvPr/>
        </p:nvSpPr>
        <p:spPr>
          <a:xfrm>
            <a:off x="1133475" y="3251995"/>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08:00–10:00</a:t>
            </a:r>
            <a:endParaRPr lang="en-US" sz="1470" dirty="0"/>
          </a:p>
        </p:txBody>
      </p:sp>
      <p:sp>
        <p:nvSpPr>
          <p:cNvPr id="14" name="Text 12"/>
          <p:cNvSpPr/>
          <p:nvPr/>
        </p:nvSpPr>
        <p:spPr>
          <a:xfrm>
            <a:off x="2809875" y="3223420"/>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FFFFFF"/>
                </a:solidFill>
                <a:latin typeface="Arial" pitchFamily="34" charset="0"/>
                <a:ea typeface="Arial" pitchFamily="34" charset="-122"/>
                <a:cs typeface="Arial" pitchFamily="34" charset="-120"/>
              </a:rPr>
              <a:t>Classroom</a:t>
            </a:r>
            <a:endParaRPr lang="en-US" sz="1837" dirty="0"/>
          </a:p>
        </p:txBody>
      </p:sp>
      <p:sp>
        <p:nvSpPr>
          <p:cNvPr id="15" name="Text 13"/>
          <p:cNvSpPr/>
          <p:nvPr/>
        </p:nvSpPr>
        <p:spPr>
          <a:xfrm>
            <a:off x="5057775" y="3229894"/>
            <a:ext cx="5643079"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C7D4E1"/>
                </a:solidFill>
                <a:latin typeface="Arial" pitchFamily="34" charset="0"/>
                <a:ea typeface="Arial" pitchFamily="34" charset="-122"/>
                <a:cs typeface="Arial" pitchFamily="34" charset="-120"/>
              </a:rPr>
              <a:t>1–2 hr guided discussion: what / how · why · when · failures · evaluator · Q&amp;A</a:t>
            </a:r>
            <a:endParaRPr lang="en-US" sz="1470" dirty="0"/>
          </a:p>
        </p:txBody>
      </p:sp>
      <p:sp>
        <p:nvSpPr>
          <p:cNvPr id="16" name="Shape 14"/>
          <p:cNvSpPr/>
          <p:nvPr/>
        </p:nvSpPr>
        <p:spPr>
          <a:xfrm>
            <a:off x="857250" y="3973513"/>
            <a:ext cx="16573500" cy="807245"/>
          </a:xfrm>
          <a:prstGeom prst="roundRect">
            <a:avLst>
              <a:gd name="adj" fmla="val 7080"/>
            </a:avLst>
          </a:prstGeom>
          <a:solidFill>
            <a:srgbClr val="FFFFFF"/>
          </a:solidFill>
          <a:ln/>
        </p:spPr>
        <p:txBody>
          <a:bodyPr/>
          <a:lstStyle/>
          <a:p>
            <a:endParaRPr lang="en-US"/>
          </a:p>
        </p:txBody>
      </p:sp>
      <p:sp>
        <p:nvSpPr>
          <p:cNvPr id="17" name="Shape 15"/>
          <p:cNvSpPr/>
          <p:nvPr/>
        </p:nvSpPr>
        <p:spPr>
          <a:xfrm>
            <a:off x="857250" y="4766470"/>
            <a:ext cx="16573500" cy="14288"/>
          </a:xfrm>
          <a:prstGeom prst="rect">
            <a:avLst/>
          </a:prstGeom>
          <a:solidFill>
            <a:srgbClr val="E2E7ED"/>
          </a:solidFill>
          <a:ln/>
        </p:spPr>
        <p:txBody>
          <a:bodyPr/>
          <a:lstStyle/>
          <a:p>
            <a:endParaRPr lang="en-US"/>
          </a:p>
        </p:txBody>
      </p:sp>
      <p:sp>
        <p:nvSpPr>
          <p:cNvPr id="18" name="Shape 16"/>
          <p:cNvSpPr/>
          <p:nvPr/>
        </p:nvSpPr>
        <p:spPr>
          <a:xfrm>
            <a:off x="857250" y="3973513"/>
            <a:ext cx="16573500" cy="14288"/>
          </a:xfrm>
          <a:prstGeom prst="rect">
            <a:avLst/>
          </a:prstGeom>
          <a:solidFill>
            <a:srgbClr val="E2E7ED"/>
          </a:solidFill>
          <a:ln/>
        </p:spPr>
        <p:txBody>
          <a:bodyPr/>
          <a:lstStyle/>
          <a:p>
            <a:endParaRPr lang="en-US"/>
          </a:p>
        </p:txBody>
      </p:sp>
      <p:sp>
        <p:nvSpPr>
          <p:cNvPr id="19" name="Shape 17"/>
          <p:cNvSpPr/>
          <p:nvPr/>
        </p:nvSpPr>
        <p:spPr>
          <a:xfrm>
            <a:off x="857250" y="3973513"/>
            <a:ext cx="38100" cy="807245"/>
          </a:xfrm>
          <a:prstGeom prst="rect">
            <a:avLst/>
          </a:prstGeom>
          <a:solidFill>
            <a:srgbClr val="F26A1B"/>
          </a:solidFill>
          <a:ln/>
        </p:spPr>
        <p:txBody>
          <a:bodyPr/>
          <a:lstStyle/>
          <a:p>
            <a:endParaRPr lang="en-US"/>
          </a:p>
        </p:txBody>
      </p:sp>
      <p:sp>
        <p:nvSpPr>
          <p:cNvPr id="20" name="Shape 18"/>
          <p:cNvSpPr/>
          <p:nvPr/>
        </p:nvSpPr>
        <p:spPr>
          <a:xfrm>
            <a:off x="17421225" y="3973513"/>
            <a:ext cx="9525" cy="807245"/>
          </a:xfrm>
          <a:prstGeom prst="rect">
            <a:avLst/>
          </a:prstGeom>
          <a:solidFill>
            <a:srgbClr val="E2E7ED"/>
          </a:solidFill>
          <a:ln/>
        </p:spPr>
        <p:txBody>
          <a:bodyPr/>
          <a:lstStyle/>
          <a:p>
            <a:endParaRPr lang="en-US"/>
          </a:p>
        </p:txBody>
      </p:sp>
      <p:sp>
        <p:nvSpPr>
          <p:cNvPr id="21" name="Text 19"/>
          <p:cNvSpPr/>
          <p:nvPr/>
        </p:nvSpPr>
        <p:spPr>
          <a:xfrm>
            <a:off x="1162050" y="4244975"/>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10:15–12:00</a:t>
            </a:r>
            <a:endParaRPr lang="en-US" sz="1470" dirty="0"/>
          </a:p>
        </p:txBody>
      </p:sp>
      <p:sp>
        <p:nvSpPr>
          <p:cNvPr id="22" name="Text 20"/>
          <p:cNvSpPr/>
          <p:nvPr/>
        </p:nvSpPr>
        <p:spPr>
          <a:xfrm>
            <a:off x="2838450" y="4216400"/>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0E2A47"/>
                </a:solidFill>
                <a:latin typeface="Arial" pitchFamily="34" charset="0"/>
                <a:ea typeface="Arial" pitchFamily="34" charset="-122"/>
                <a:cs typeface="Arial" pitchFamily="34" charset="-120"/>
              </a:rPr>
              <a:t>Demonstration</a:t>
            </a:r>
            <a:endParaRPr lang="en-US" sz="1837" dirty="0"/>
          </a:p>
        </p:txBody>
      </p:sp>
      <p:sp>
        <p:nvSpPr>
          <p:cNvPr id="23" name="Text 21"/>
          <p:cNvSpPr/>
          <p:nvPr/>
        </p:nvSpPr>
        <p:spPr>
          <a:xfrm>
            <a:off x="5086350" y="4222874"/>
            <a:ext cx="4356485"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5B6B7B"/>
                </a:solidFill>
                <a:latin typeface="Arial" pitchFamily="34" charset="0"/>
                <a:ea typeface="Arial" pitchFamily="34" charset="-122"/>
                <a:cs typeface="Arial" pitchFamily="34" charset="-120"/>
              </a:rPr>
              <a:t>Instructor models the day’s techniques and decision-making</a:t>
            </a:r>
            <a:endParaRPr lang="en-US" sz="1470" dirty="0"/>
          </a:p>
        </p:txBody>
      </p:sp>
      <p:sp>
        <p:nvSpPr>
          <p:cNvPr id="24" name="Shape 22"/>
          <p:cNvSpPr/>
          <p:nvPr/>
        </p:nvSpPr>
        <p:spPr>
          <a:xfrm>
            <a:off x="857250" y="4966493"/>
            <a:ext cx="16573500" cy="807245"/>
          </a:xfrm>
          <a:prstGeom prst="roundRect">
            <a:avLst>
              <a:gd name="adj" fmla="val 7080"/>
            </a:avLst>
          </a:prstGeom>
          <a:solidFill>
            <a:srgbClr val="FFFFFF"/>
          </a:solidFill>
          <a:ln/>
        </p:spPr>
        <p:txBody>
          <a:bodyPr/>
          <a:lstStyle/>
          <a:p>
            <a:endParaRPr lang="en-US"/>
          </a:p>
        </p:txBody>
      </p:sp>
      <p:sp>
        <p:nvSpPr>
          <p:cNvPr id="25" name="Shape 23"/>
          <p:cNvSpPr/>
          <p:nvPr/>
        </p:nvSpPr>
        <p:spPr>
          <a:xfrm>
            <a:off x="857250" y="5759450"/>
            <a:ext cx="16573500" cy="14288"/>
          </a:xfrm>
          <a:prstGeom prst="rect">
            <a:avLst/>
          </a:prstGeom>
          <a:solidFill>
            <a:srgbClr val="E2E7ED"/>
          </a:solidFill>
          <a:ln/>
        </p:spPr>
        <p:txBody>
          <a:bodyPr/>
          <a:lstStyle/>
          <a:p>
            <a:endParaRPr lang="en-US"/>
          </a:p>
        </p:txBody>
      </p:sp>
      <p:sp>
        <p:nvSpPr>
          <p:cNvPr id="26" name="Shape 24"/>
          <p:cNvSpPr/>
          <p:nvPr/>
        </p:nvSpPr>
        <p:spPr>
          <a:xfrm>
            <a:off x="857250" y="4966493"/>
            <a:ext cx="16573500" cy="14288"/>
          </a:xfrm>
          <a:prstGeom prst="rect">
            <a:avLst/>
          </a:prstGeom>
          <a:solidFill>
            <a:srgbClr val="E2E7ED"/>
          </a:solidFill>
          <a:ln/>
        </p:spPr>
        <p:txBody>
          <a:bodyPr/>
          <a:lstStyle/>
          <a:p>
            <a:endParaRPr lang="en-US"/>
          </a:p>
        </p:txBody>
      </p:sp>
      <p:sp>
        <p:nvSpPr>
          <p:cNvPr id="27" name="Shape 25"/>
          <p:cNvSpPr/>
          <p:nvPr/>
        </p:nvSpPr>
        <p:spPr>
          <a:xfrm>
            <a:off x="857250" y="4966493"/>
            <a:ext cx="38100" cy="807245"/>
          </a:xfrm>
          <a:prstGeom prst="rect">
            <a:avLst/>
          </a:prstGeom>
          <a:solidFill>
            <a:srgbClr val="F26A1B"/>
          </a:solidFill>
          <a:ln/>
        </p:spPr>
        <p:txBody>
          <a:bodyPr/>
          <a:lstStyle/>
          <a:p>
            <a:endParaRPr lang="en-US"/>
          </a:p>
        </p:txBody>
      </p:sp>
      <p:sp>
        <p:nvSpPr>
          <p:cNvPr id="28" name="Shape 26"/>
          <p:cNvSpPr/>
          <p:nvPr/>
        </p:nvSpPr>
        <p:spPr>
          <a:xfrm>
            <a:off x="17421225" y="4966493"/>
            <a:ext cx="9525" cy="807245"/>
          </a:xfrm>
          <a:prstGeom prst="rect">
            <a:avLst/>
          </a:prstGeom>
          <a:solidFill>
            <a:srgbClr val="E2E7ED"/>
          </a:solidFill>
          <a:ln/>
        </p:spPr>
        <p:txBody>
          <a:bodyPr/>
          <a:lstStyle/>
          <a:p>
            <a:endParaRPr lang="en-US"/>
          </a:p>
        </p:txBody>
      </p:sp>
      <p:sp>
        <p:nvSpPr>
          <p:cNvPr id="29" name="Text 27"/>
          <p:cNvSpPr/>
          <p:nvPr/>
        </p:nvSpPr>
        <p:spPr>
          <a:xfrm>
            <a:off x="1162050" y="5237957"/>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12:45–15:30</a:t>
            </a:r>
            <a:endParaRPr lang="en-US" sz="1470" dirty="0"/>
          </a:p>
        </p:txBody>
      </p:sp>
      <p:sp>
        <p:nvSpPr>
          <p:cNvPr id="30" name="Text 28"/>
          <p:cNvSpPr/>
          <p:nvPr/>
        </p:nvSpPr>
        <p:spPr>
          <a:xfrm>
            <a:off x="2838450" y="5209382"/>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0E2A47"/>
                </a:solidFill>
                <a:latin typeface="Arial" pitchFamily="34" charset="0"/>
                <a:ea typeface="Arial" pitchFamily="34" charset="-122"/>
                <a:cs typeface="Arial" pitchFamily="34" charset="-120"/>
              </a:rPr>
              <a:t>Practice</a:t>
            </a:r>
            <a:endParaRPr lang="en-US" sz="1837" dirty="0"/>
          </a:p>
        </p:txBody>
      </p:sp>
      <p:sp>
        <p:nvSpPr>
          <p:cNvPr id="31" name="Text 29"/>
          <p:cNvSpPr/>
          <p:nvPr/>
        </p:nvSpPr>
        <p:spPr>
          <a:xfrm>
            <a:off x="5086350" y="5215856"/>
            <a:ext cx="4709554"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5B6B7B"/>
                </a:solidFill>
                <a:latin typeface="Arial" pitchFamily="34" charset="0"/>
                <a:ea typeface="Arial" pitchFamily="34" charset="-122"/>
                <a:cs typeface="Arial" pitchFamily="34" charset="-120"/>
              </a:rPr>
              <a:t>Progressive coached stations; repetition until safe and controlled</a:t>
            </a:r>
            <a:endParaRPr lang="en-US" sz="1470" dirty="0"/>
          </a:p>
        </p:txBody>
      </p:sp>
      <p:sp>
        <p:nvSpPr>
          <p:cNvPr id="32" name="Shape 30"/>
          <p:cNvSpPr/>
          <p:nvPr/>
        </p:nvSpPr>
        <p:spPr>
          <a:xfrm>
            <a:off x="857250" y="5959475"/>
            <a:ext cx="16573500" cy="807245"/>
          </a:xfrm>
          <a:prstGeom prst="roundRect">
            <a:avLst>
              <a:gd name="adj" fmla="val 7080"/>
            </a:avLst>
          </a:prstGeom>
          <a:solidFill>
            <a:srgbClr val="FFFFFF"/>
          </a:solidFill>
          <a:ln/>
        </p:spPr>
        <p:txBody>
          <a:bodyPr/>
          <a:lstStyle/>
          <a:p>
            <a:endParaRPr lang="en-US"/>
          </a:p>
        </p:txBody>
      </p:sp>
      <p:sp>
        <p:nvSpPr>
          <p:cNvPr id="33" name="Shape 31"/>
          <p:cNvSpPr/>
          <p:nvPr/>
        </p:nvSpPr>
        <p:spPr>
          <a:xfrm>
            <a:off x="857250" y="6752432"/>
            <a:ext cx="16573500" cy="14288"/>
          </a:xfrm>
          <a:prstGeom prst="rect">
            <a:avLst/>
          </a:prstGeom>
          <a:solidFill>
            <a:srgbClr val="E2E7ED"/>
          </a:solidFill>
          <a:ln/>
        </p:spPr>
        <p:txBody>
          <a:bodyPr/>
          <a:lstStyle/>
          <a:p>
            <a:endParaRPr lang="en-US"/>
          </a:p>
        </p:txBody>
      </p:sp>
      <p:sp>
        <p:nvSpPr>
          <p:cNvPr id="34" name="Shape 32"/>
          <p:cNvSpPr/>
          <p:nvPr/>
        </p:nvSpPr>
        <p:spPr>
          <a:xfrm>
            <a:off x="857250" y="5959475"/>
            <a:ext cx="16573500" cy="14288"/>
          </a:xfrm>
          <a:prstGeom prst="rect">
            <a:avLst/>
          </a:prstGeom>
          <a:solidFill>
            <a:srgbClr val="E2E7ED"/>
          </a:solidFill>
          <a:ln/>
        </p:spPr>
        <p:txBody>
          <a:bodyPr/>
          <a:lstStyle/>
          <a:p>
            <a:endParaRPr lang="en-US"/>
          </a:p>
        </p:txBody>
      </p:sp>
      <p:sp>
        <p:nvSpPr>
          <p:cNvPr id="35" name="Shape 33"/>
          <p:cNvSpPr/>
          <p:nvPr/>
        </p:nvSpPr>
        <p:spPr>
          <a:xfrm>
            <a:off x="857250" y="5959475"/>
            <a:ext cx="38100" cy="807245"/>
          </a:xfrm>
          <a:prstGeom prst="rect">
            <a:avLst/>
          </a:prstGeom>
          <a:solidFill>
            <a:srgbClr val="F26A1B"/>
          </a:solidFill>
          <a:ln/>
        </p:spPr>
        <p:txBody>
          <a:bodyPr/>
          <a:lstStyle/>
          <a:p>
            <a:endParaRPr lang="en-US"/>
          </a:p>
        </p:txBody>
      </p:sp>
      <p:sp>
        <p:nvSpPr>
          <p:cNvPr id="36" name="Shape 34"/>
          <p:cNvSpPr/>
          <p:nvPr/>
        </p:nvSpPr>
        <p:spPr>
          <a:xfrm>
            <a:off x="17421225" y="5959475"/>
            <a:ext cx="9525" cy="807245"/>
          </a:xfrm>
          <a:prstGeom prst="rect">
            <a:avLst/>
          </a:prstGeom>
          <a:solidFill>
            <a:srgbClr val="E2E7ED"/>
          </a:solidFill>
          <a:ln/>
        </p:spPr>
        <p:txBody>
          <a:bodyPr/>
          <a:lstStyle/>
          <a:p>
            <a:endParaRPr lang="en-US"/>
          </a:p>
        </p:txBody>
      </p:sp>
      <p:sp>
        <p:nvSpPr>
          <p:cNvPr id="37" name="Text 35"/>
          <p:cNvSpPr/>
          <p:nvPr/>
        </p:nvSpPr>
        <p:spPr>
          <a:xfrm>
            <a:off x="1162050" y="6230938"/>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15:45–16:45</a:t>
            </a:r>
            <a:endParaRPr lang="en-US" sz="1470" dirty="0"/>
          </a:p>
        </p:txBody>
      </p:sp>
      <p:sp>
        <p:nvSpPr>
          <p:cNvPr id="38" name="Text 36"/>
          <p:cNvSpPr/>
          <p:nvPr/>
        </p:nvSpPr>
        <p:spPr>
          <a:xfrm>
            <a:off x="2838450" y="6202363"/>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0E2A47"/>
                </a:solidFill>
                <a:latin typeface="Arial" pitchFamily="34" charset="0"/>
                <a:ea typeface="Arial" pitchFamily="34" charset="-122"/>
                <a:cs typeface="Arial" pitchFamily="34" charset="-120"/>
              </a:rPr>
              <a:t>Consolidation</a:t>
            </a:r>
            <a:endParaRPr lang="en-US" sz="1837" dirty="0"/>
          </a:p>
        </p:txBody>
      </p:sp>
      <p:sp>
        <p:nvSpPr>
          <p:cNvPr id="39" name="Text 37"/>
          <p:cNvSpPr/>
          <p:nvPr/>
        </p:nvSpPr>
        <p:spPr>
          <a:xfrm>
            <a:off x="5086350" y="6208837"/>
            <a:ext cx="4781248"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5B6B7B"/>
                </a:solidFill>
                <a:latin typeface="Arial" pitchFamily="34" charset="0"/>
                <a:ea typeface="Arial" pitchFamily="34" charset="-122"/>
                <a:cs typeface="Arial" pitchFamily="34" charset="-120"/>
              </a:rPr>
              <a:t>Rescue / scenario work, remediation and evaluation-style practice</a:t>
            </a:r>
            <a:endParaRPr lang="en-US" sz="1470" dirty="0"/>
          </a:p>
        </p:txBody>
      </p:sp>
      <p:sp>
        <p:nvSpPr>
          <p:cNvPr id="40" name="Shape 38"/>
          <p:cNvSpPr/>
          <p:nvPr/>
        </p:nvSpPr>
        <p:spPr>
          <a:xfrm>
            <a:off x="857250" y="6952457"/>
            <a:ext cx="16573500" cy="807245"/>
          </a:xfrm>
          <a:prstGeom prst="roundRect">
            <a:avLst>
              <a:gd name="adj" fmla="val 7080"/>
            </a:avLst>
          </a:prstGeom>
          <a:solidFill>
            <a:srgbClr val="FFFFFF"/>
          </a:solidFill>
          <a:ln/>
        </p:spPr>
        <p:txBody>
          <a:bodyPr/>
          <a:lstStyle/>
          <a:p>
            <a:endParaRPr lang="en-US"/>
          </a:p>
        </p:txBody>
      </p:sp>
      <p:sp>
        <p:nvSpPr>
          <p:cNvPr id="41" name="Shape 39"/>
          <p:cNvSpPr/>
          <p:nvPr/>
        </p:nvSpPr>
        <p:spPr>
          <a:xfrm>
            <a:off x="857250" y="7745413"/>
            <a:ext cx="16573500" cy="14288"/>
          </a:xfrm>
          <a:prstGeom prst="rect">
            <a:avLst/>
          </a:prstGeom>
          <a:solidFill>
            <a:srgbClr val="E2E7ED"/>
          </a:solidFill>
          <a:ln/>
        </p:spPr>
        <p:txBody>
          <a:bodyPr/>
          <a:lstStyle/>
          <a:p>
            <a:endParaRPr lang="en-US"/>
          </a:p>
        </p:txBody>
      </p:sp>
      <p:sp>
        <p:nvSpPr>
          <p:cNvPr id="42" name="Shape 40"/>
          <p:cNvSpPr/>
          <p:nvPr/>
        </p:nvSpPr>
        <p:spPr>
          <a:xfrm>
            <a:off x="857250" y="6952457"/>
            <a:ext cx="16573500" cy="14288"/>
          </a:xfrm>
          <a:prstGeom prst="rect">
            <a:avLst/>
          </a:prstGeom>
          <a:solidFill>
            <a:srgbClr val="E2E7ED"/>
          </a:solidFill>
          <a:ln/>
        </p:spPr>
        <p:txBody>
          <a:bodyPr/>
          <a:lstStyle/>
          <a:p>
            <a:endParaRPr lang="en-US"/>
          </a:p>
        </p:txBody>
      </p:sp>
      <p:sp>
        <p:nvSpPr>
          <p:cNvPr id="43" name="Shape 41"/>
          <p:cNvSpPr/>
          <p:nvPr/>
        </p:nvSpPr>
        <p:spPr>
          <a:xfrm>
            <a:off x="857250" y="6952457"/>
            <a:ext cx="38100" cy="807245"/>
          </a:xfrm>
          <a:prstGeom prst="rect">
            <a:avLst/>
          </a:prstGeom>
          <a:solidFill>
            <a:srgbClr val="F26A1B"/>
          </a:solidFill>
          <a:ln/>
        </p:spPr>
        <p:txBody>
          <a:bodyPr/>
          <a:lstStyle/>
          <a:p>
            <a:endParaRPr lang="en-US"/>
          </a:p>
        </p:txBody>
      </p:sp>
      <p:sp>
        <p:nvSpPr>
          <p:cNvPr id="44" name="Shape 42"/>
          <p:cNvSpPr/>
          <p:nvPr/>
        </p:nvSpPr>
        <p:spPr>
          <a:xfrm>
            <a:off x="17421225" y="6952457"/>
            <a:ext cx="9525" cy="807245"/>
          </a:xfrm>
          <a:prstGeom prst="rect">
            <a:avLst/>
          </a:prstGeom>
          <a:solidFill>
            <a:srgbClr val="E2E7ED"/>
          </a:solidFill>
          <a:ln/>
        </p:spPr>
        <p:txBody>
          <a:bodyPr/>
          <a:lstStyle/>
          <a:p>
            <a:endParaRPr lang="en-US"/>
          </a:p>
        </p:txBody>
      </p:sp>
      <p:sp>
        <p:nvSpPr>
          <p:cNvPr id="45" name="Text 43"/>
          <p:cNvSpPr/>
          <p:nvPr/>
        </p:nvSpPr>
        <p:spPr>
          <a:xfrm>
            <a:off x="1162050" y="7223919"/>
            <a:ext cx="1571625" cy="321469"/>
          </a:xfrm>
          <a:prstGeom prst="rect">
            <a:avLst/>
          </a:prstGeom>
          <a:noFill/>
          <a:ln/>
        </p:spPr>
        <p:txBody>
          <a:bodyPr wrap="square" lIns="25400" tIns="25400" rIns="25400" bIns="25400" rtlCol="0" anchor="t">
            <a:normAutofit/>
          </a:bodyPr>
          <a:lstStyle/>
          <a:p>
            <a:pPr marL="0" indent="0" algn="l">
              <a:buNone/>
            </a:pPr>
            <a:r>
              <a:rPr lang="en-US" sz="1470" b="1" dirty="0">
                <a:solidFill>
                  <a:srgbClr val="F26A1B"/>
                </a:solidFill>
                <a:latin typeface="Courier New" pitchFamily="34" charset="0"/>
                <a:ea typeface="Courier New" pitchFamily="34" charset="-122"/>
                <a:cs typeface="Courier New" pitchFamily="34" charset="-120"/>
              </a:rPr>
              <a:t>16:45–17:00</a:t>
            </a:r>
            <a:endParaRPr lang="en-US" sz="1470" dirty="0"/>
          </a:p>
        </p:txBody>
      </p:sp>
      <p:sp>
        <p:nvSpPr>
          <p:cNvPr id="46" name="Text 44"/>
          <p:cNvSpPr/>
          <p:nvPr/>
        </p:nvSpPr>
        <p:spPr>
          <a:xfrm>
            <a:off x="2838450" y="7195344"/>
            <a:ext cx="2200275"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0E2A47"/>
                </a:solidFill>
                <a:latin typeface="Arial" pitchFamily="34" charset="0"/>
                <a:ea typeface="Arial" pitchFamily="34" charset="-122"/>
                <a:cs typeface="Arial" pitchFamily="34" charset="-120"/>
              </a:rPr>
              <a:t>Debrief</a:t>
            </a:r>
            <a:endParaRPr lang="en-US" sz="1837" dirty="0"/>
          </a:p>
        </p:txBody>
      </p:sp>
      <p:sp>
        <p:nvSpPr>
          <p:cNvPr id="47" name="Text 45"/>
          <p:cNvSpPr/>
          <p:nvPr/>
        </p:nvSpPr>
        <p:spPr>
          <a:xfrm>
            <a:off x="5086350" y="7201819"/>
            <a:ext cx="4350490" cy="365670"/>
          </a:xfrm>
          <a:prstGeom prst="rect">
            <a:avLst/>
          </a:prstGeom>
          <a:noFill/>
          <a:ln/>
        </p:spPr>
        <p:txBody>
          <a:bodyPr wrap="square" lIns="25400" tIns="25400" rIns="25400" bIns="25400" rtlCol="0" anchor="t">
            <a:normAutofit/>
          </a:bodyPr>
          <a:lstStyle/>
          <a:p>
            <a:pPr marL="0" indent="0" algn="l">
              <a:lnSpc>
                <a:spcPct val="116757"/>
              </a:lnSpc>
              <a:buNone/>
            </a:pPr>
            <a:r>
              <a:rPr lang="en-US" sz="1470" dirty="0">
                <a:solidFill>
                  <a:srgbClr val="5B6B7B"/>
                </a:solidFill>
                <a:latin typeface="Arial" pitchFamily="34" charset="0"/>
                <a:ea typeface="Arial" pitchFamily="34" charset="-122"/>
                <a:cs typeface="Arial" pitchFamily="34" charset="-120"/>
              </a:rPr>
              <a:t>Questions · equipment accountability · next-day preparation</a:t>
            </a:r>
            <a:endParaRPr lang="en-US" sz="1470" dirty="0"/>
          </a:p>
        </p:txBody>
      </p:sp>
      <p:sp>
        <p:nvSpPr>
          <p:cNvPr id="48" name="Shape 46"/>
          <p:cNvSpPr/>
          <p:nvPr/>
        </p:nvSpPr>
        <p:spPr>
          <a:xfrm>
            <a:off x="0" y="9753600"/>
            <a:ext cx="18288000" cy="9525"/>
          </a:xfrm>
          <a:prstGeom prst="rect">
            <a:avLst/>
          </a:prstGeom>
          <a:solidFill>
            <a:srgbClr val="E1E6EC"/>
          </a:solidFill>
          <a:ln/>
        </p:spPr>
        <p:txBody>
          <a:bodyPr/>
          <a:lstStyle/>
          <a:p>
            <a:endParaRPr lang="en-US"/>
          </a:p>
        </p:txBody>
      </p:sp>
      <p:sp>
        <p:nvSpPr>
          <p:cNvPr id="49" name="Text 47"/>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0" name="Text 48"/>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PROGRAM ARCHITECTURE</a:t>
            </a:r>
            <a:endParaRPr lang="en-US" sz="900" dirty="0"/>
          </a:p>
        </p:txBody>
      </p:sp>
      <p:sp>
        <p:nvSpPr>
          <p:cNvPr id="51" name="Text 49"/>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666750"/>
            <a:ext cx="603283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TRAINING PHILOSOPHY</a:t>
            </a:r>
            <a:endParaRPr lang="en-US" sz="975" dirty="0"/>
          </a:p>
        </p:txBody>
      </p:sp>
      <p:sp>
        <p:nvSpPr>
          <p:cNvPr id="3" name="Text 1"/>
          <p:cNvSpPr/>
          <p:nvPr/>
        </p:nvSpPr>
        <p:spPr>
          <a:xfrm>
            <a:off x="857250" y="942975"/>
            <a:ext cx="6284085" cy="538163"/>
          </a:xfrm>
          <a:prstGeom prst="rect">
            <a:avLst/>
          </a:prstGeom>
          <a:noFill/>
          <a:ln/>
        </p:spPr>
        <p:txBody>
          <a:bodyPr wrap="square" lIns="25400" tIns="25400" rIns="25400" bIns="25400" rtlCol="0" anchor="t">
            <a:normAutofit/>
          </a:bodyPr>
          <a:lstStyle/>
          <a:p>
            <a:pPr marL="0" indent="0" algn="l">
              <a:buNone/>
            </a:pPr>
            <a:r>
              <a:rPr lang="en-US" sz="3450" b="1" kern="0" spc="-34" dirty="0">
                <a:solidFill>
                  <a:srgbClr val="0E2A47"/>
                </a:solidFill>
                <a:latin typeface="Arial" pitchFamily="34" charset="0"/>
                <a:ea typeface="Arial" pitchFamily="34" charset="-122"/>
                <a:cs typeface="Arial" pitchFamily="34" charset="-120"/>
              </a:rPr>
              <a:t>Safety Through Competence</a:t>
            </a:r>
            <a:endParaRPr lang="en-US" sz="3450" dirty="0"/>
          </a:p>
        </p:txBody>
      </p:sp>
      <p:sp>
        <p:nvSpPr>
          <p:cNvPr id="4" name="Shape 2"/>
          <p:cNvSpPr/>
          <p:nvPr/>
        </p:nvSpPr>
        <p:spPr>
          <a:xfrm>
            <a:off x="857250" y="1892300"/>
            <a:ext cx="16573500" cy="2012975"/>
          </a:xfrm>
          <a:prstGeom prst="roundRect">
            <a:avLst>
              <a:gd name="adj" fmla="val 4259"/>
            </a:avLst>
          </a:prstGeom>
          <a:solidFill>
            <a:srgbClr val="0E2A47"/>
          </a:solidFill>
          <a:ln/>
        </p:spPr>
        <p:txBody>
          <a:bodyPr/>
          <a:lstStyle/>
          <a:p>
            <a:endParaRPr lang="en-US"/>
          </a:p>
        </p:txBody>
      </p:sp>
      <p:sp>
        <p:nvSpPr>
          <p:cNvPr id="5" name="Text 3"/>
          <p:cNvSpPr/>
          <p:nvPr/>
        </p:nvSpPr>
        <p:spPr>
          <a:xfrm>
            <a:off x="1238250" y="2378075"/>
            <a:ext cx="16285845" cy="1098575"/>
          </a:xfrm>
          <a:prstGeom prst="rect">
            <a:avLst/>
          </a:prstGeom>
          <a:noFill/>
          <a:ln/>
        </p:spPr>
        <p:txBody>
          <a:bodyPr wrap="square" lIns="25400" tIns="25400" rIns="25400" bIns="25400" rtlCol="0" anchor="t">
            <a:normAutofit/>
          </a:bodyPr>
          <a:lstStyle/>
          <a:p>
            <a:pPr marL="0" indent="0" algn="l">
              <a:lnSpc>
                <a:spcPct val="117581"/>
              </a:lnSpc>
              <a:buNone/>
            </a:pPr>
            <a:r>
              <a:rPr lang="en-US" sz="2480" b="1" dirty="0">
                <a:solidFill>
                  <a:srgbClr val="FFFFFF"/>
                </a:solidFill>
                <a:latin typeface="Arial" pitchFamily="34" charset="0"/>
                <a:ea typeface="Arial" pitchFamily="34" charset="-122"/>
                <a:cs typeface="Arial" pitchFamily="34" charset="-120"/>
              </a:rPr>
              <a:t>"We prepare technicians not just to pass their certification, but to perform </a:t>
            </a:r>
            <a:r>
              <a:rPr lang="en-US" sz="2480" b="1" dirty="0">
                <a:solidFill>
                  <a:srgbClr val="F26A1B"/>
                </a:solidFill>
                <a:latin typeface="Arial" pitchFamily="34" charset="0"/>
                <a:ea typeface="Arial" pitchFamily="34" charset="-122"/>
                <a:cs typeface="Arial" pitchFamily="34" charset="-120"/>
              </a:rPr>
              <a:t>confidently and safely in real industrial environments </a:t>
            </a:r>
            <a:r>
              <a:rPr lang="en-US" sz="2480" b="1" dirty="0">
                <a:solidFill>
                  <a:srgbClr val="FFFFFF"/>
                </a:solidFill>
                <a:latin typeface="Arial" pitchFamily="34" charset="0"/>
                <a:ea typeface="Arial" pitchFamily="34" charset="-122"/>
                <a:cs typeface="Arial" pitchFamily="34" charset="-120"/>
              </a:rPr>
              <a:t>across Houston's petrochemical, oil &amp; gas, construction, and wind energy sectors."</a:t>
            </a:r>
            <a:endParaRPr lang="en-US" sz="2480" dirty="0"/>
          </a:p>
        </p:txBody>
      </p:sp>
      <p:sp>
        <p:nvSpPr>
          <p:cNvPr id="6" name="Shape 4"/>
          <p:cNvSpPr/>
          <p:nvPr/>
        </p:nvSpPr>
        <p:spPr>
          <a:xfrm>
            <a:off x="857250" y="4219600"/>
            <a:ext cx="4000500" cy="2071688"/>
          </a:xfrm>
          <a:prstGeom prst="roundRect">
            <a:avLst>
              <a:gd name="adj" fmla="val 2759"/>
            </a:avLst>
          </a:prstGeom>
          <a:solidFill>
            <a:srgbClr val="FFFFFF"/>
          </a:solidFill>
          <a:ln/>
        </p:spPr>
        <p:txBody>
          <a:bodyPr/>
          <a:lstStyle/>
          <a:p>
            <a:endParaRPr lang="en-US"/>
          </a:p>
        </p:txBody>
      </p:sp>
      <p:sp>
        <p:nvSpPr>
          <p:cNvPr id="7" name="Shape 5"/>
          <p:cNvSpPr/>
          <p:nvPr/>
        </p:nvSpPr>
        <p:spPr>
          <a:xfrm>
            <a:off x="857250" y="6277000"/>
            <a:ext cx="4000500" cy="14288"/>
          </a:xfrm>
          <a:prstGeom prst="rect">
            <a:avLst/>
          </a:prstGeom>
          <a:solidFill>
            <a:srgbClr val="E2E7ED"/>
          </a:solidFill>
          <a:ln/>
        </p:spPr>
        <p:txBody>
          <a:bodyPr/>
          <a:lstStyle/>
          <a:p>
            <a:endParaRPr lang="en-US"/>
          </a:p>
        </p:txBody>
      </p:sp>
      <p:sp>
        <p:nvSpPr>
          <p:cNvPr id="8" name="Shape 6"/>
          <p:cNvSpPr/>
          <p:nvPr/>
        </p:nvSpPr>
        <p:spPr>
          <a:xfrm>
            <a:off x="857250" y="4219600"/>
            <a:ext cx="4000500" cy="57150"/>
          </a:xfrm>
          <a:prstGeom prst="rect">
            <a:avLst/>
          </a:prstGeom>
          <a:solidFill>
            <a:srgbClr val="F26A1B"/>
          </a:solidFill>
          <a:ln/>
        </p:spPr>
        <p:txBody>
          <a:bodyPr/>
          <a:lstStyle/>
          <a:p>
            <a:endParaRPr lang="en-US"/>
          </a:p>
        </p:txBody>
      </p:sp>
      <p:sp>
        <p:nvSpPr>
          <p:cNvPr id="9" name="Shape 7"/>
          <p:cNvSpPr/>
          <p:nvPr/>
        </p:nvSpPr>
        <p:spPr>
          <a:xfrm>
            <a:off x="857250" y="4219600"/>
            <a:ext cx="9525" cy="2071688"/>
          </a:xfrm>
          <a:prstGeom prst="rect">
            <a:avLst/>
          </a:prstGeom>
          <a:solidFill>
            <a:srgbClr val="E2E7ED"/>
          </a:solidFill>
          <a:ln/>
        </p:spPr>
        <p:txBody>
          <a:bodyPr/>
          <a:lstStyle/>
          <a:p>
            <a:endParaRPr lang="en-US"/>
          </a:p>
        </p:txBody>
      </p:sp>
      <p:sp>
        <p:nvSpPr>
          <p:cNvPr id="10" name="Shape 8"/>
          <p:cNvSpPr/>
          <p:nvPr/>
        </p:nvSpPr>
        <p:spPr>
          <a:xfrm>
            <a:off x="4848225" y="4219600"/>
            <a:ext cx="9525" cy="2071688"/>
          </a:xfrm>
          <a:prstGeom prst="rect">
            <a:avLst/>
          </a:prstGeom>
          <a:solidFill>
            <a:srgbClr val="E2E7ED"/>
          </a:solidFill>
          <a:ln/>
        </p:spPr>
        <p:txBody>
          <a:bodyPr/>
          <a:lstStyle/>
          <a:p>
            <a:endParaRPr lang="en-US"/>
          </a:p>
        </p:txBody>
      </p:sp>
      <p:sp>
        <p:nvSpPr>
          <p:cNvPr id="11" name="Text 9"/>
          <p:cNvSpPr/>
          <p:nvPr/>
        </p:nvSpPr>
        <p:spPr>
          <a:xfrm>
            <a:off x="1114425" y="4676800"/>
            <a:ext cx="3834765"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0E2A47"/>
                </a:solidFill>
                <a:latin typeface="Arial" pitchFamily="34" charset="0"/>
                <a:ea typeface="Arial" pitchFamily="34" charset="-122"/>
                <a:cs typeface="Arial" pitchFamily="34" charset="-120"/>
              </a:rPr>
              <a:t>Safety First</a:t>
            </a:r>
            <a:endParaRPr lang="en-US" sz="1929" dirty="0"/>
          </a:p>
        </p:txBody>
      </p:sp>
      <p:sp>
        <p:nvSpPr>
          <p:cNvPr id="12" name="Text 10"/>
          <p:cNvSpPr/>
          <p:nvPr/>
        </p:nvSpPr>
        <p:spPr>
          <a:xfrm>
            <a:off x="1114425" y="5191150"/>
            <a:ext cx="3590735" cy="742950"/>
          </a:xfrm>
          <a:prstGeom prst="rect">
            <a:avLst/>
          </a:prstGeom>
          <a:noFill/>
          <a:ln/>
        </p:spPr>
        <p:txBody>
          <a:bodyPr wrap="square" lIns="25400" tIns="25400" rIns="25400" bIns="25400" rtlCol="0" anchor="t">
            <a:normAutofit/>
          </a:bodyPr>
          <a:lstStyle/>
          <a:p>
            <a:pPr marL="0" indent="0" algn="l">
              <a:lnSpc>
                <a:spcPct val="129730"/>
              </a:lnSpc>
              <a:buNone/>
            </a:pPr>
            <a:r>
              <a:rPr lang="en-US" sz="1470" dirty="0">
                <a:solidFill>
                  <a:srgbClr val="5B6B7B"/>
                </a:solidFill>
                <a:latin typeface="Arial" pitchFamily="34" charset="0"/>
                <a:ea typeface="Arial" pitchFamily="34" charset="-122"/>
                <a:cs typeface="Arial" pitchFamily="34" charset="-120"/>
              </a:rPr>
              <a:t>The training environment is treated as a real worksite — daily JSA, mandatory PPE, zero shortcuts.</a:t>
            </a:r>
            <a:endParaRPr lang="en-US" sz="1470" dirty="0"/>
          </a:p>
        </p:txBody>
      </p:sp>
      <p:sp>
        <p:nvSpPr>
          <p:cNvPr id="13" name="Shape 11"/>
          <p:cNvSpPr/>
          <p:nvPr/>
        </p:nvSpPr>
        <p:spPr>
          <a:xfrm>
            <a:off x="5048250" y="4219600"/>
            <a:ext cx="4000500" cy="2071688"/>
          </a:xfrm>
          <a:prstGeom prst="roundRect">
            <a:avLst>
              <a:gd name="adj" fmla="val 2759"/>
            </a:avLst>
          </a:prstGeom>
          <a:solidFill>
            <a:srgbClr val="FFFFFF"/>
          </a:solidFill>
          <a:ln/>
        </p:spPr>
        <p:txBody>
          <a:bodyPr/>
          <a:lstStyle/>
          <a:p>
            <a:endParaRPr lang="en-US"/>
          </a:p>
        </p:txBody>
      </p:sp>
      <p:sp>
        <p:nvSpPr>
          <p:cNvPr id="14" name="Shape 12"/>
          <p:cNvSpPr/>
          <p:nvPr/>
        </p:nvSpPr>
        <p:spPr>
          <a:xfrm>
            <a:off x="5048250" y="6277000"/>
            <a:ext cx="4000500" cy="14288"/>
          </a:xfrm>
          <a:prstGeom prst="rect">
            <a:avLst/>
          </a:prstGeom>
          <a:solidFill>
            <a:srgbClr val="E2E7ED"/>
          </a:solidFill>
          <a:ln/>
        </p:spPr>
        <p:txBody>
          <a:bodyPr/>
          <a:lstStyle/>
          <a:p>
            <a:endParaRPr lang="en-US"/>
          </a:p>
        </p:txBody>
      </p:sp>
      <p:sp>
        <p:nvSpPr>
          <p:cNvPr id="15" name="Shape 13"/>
          <p:cNvSpPr/>
          <p:nvPr/>
        </p:nvSpPr>
        <p:spPr>
          <a:xfrm>
            <a:off x="5048250" y="4219600"/>
            <a:ext cx="4000500" cy="57150"/>
          </a:xfrm>
          <a:prstGeom prst="rect">
            <a:avLst/>
          </a:prstGeom>
          <a:solidFill>
            <a:srgbClr val="F26A1B"/>
          </a:solidFill>
          <a:ln/>
        </p:spPr>
        <p:txBody>
          <a:bodyPr/>
          <a:lstStyle/>
          <a:p>
            <a:endParaRPr lang="en-US"/>
          </a:p>
        </p:txBody>
      </p:sp>
      <p:sp>
        <p:nvSpPr>
          <p:cNvPr id="16" name="Shape 14"/>
          <p:cNvSpPr/>
          <p:nvPr/>
        </p:nvSpPr>
        <p:spPr>
          <a:xfrm>
            <a:off x="5048250" y="4219600"/>
            <a:ext cx="9525" cy="2071688"/>
          </a:xfrm>
          <a:prstGeom prst="rect">
            <a:avLst/>
          </a:prstGeom>
          <a:solidFill>
            <a:srgbClr val="E2E7ED"/>
          </a:solidFill>
          <a:ln/>
        </p:spPr>
        <p:txBody>
          <a:bodyPr/>
          <a:lstStyle/>
          <a:p>
            <a:endParaRPr lang="en-US"/>
          </a:p>
        </p:txBody>
      </p:sp>
      <p:sp>
        <p:nvSpPr>
          <p:cNvPr id="17" name="Shape 15"/>
          <p:cNvSpPr/>
          <p:nvPr/>
        </p:nvSpPr>
        <p:spPr>
          <a:xfrm>
            <a:off x="9039225" y="4219600"/>
            <a:ext cx="9525" cy="2071688"/>
          </a:xfrm>
          <a:prstGeom prst="rect">
            <a:avLst/>
          </a:prstGeom>
          <a:solidFill>
            <a:srgbClr val="E2E7ED"/>
          </a:solidFill>
          <a:ln/>
        </p:spPr>
        <p:txBody>
          <a:bodyPr/>
          <a:lstStyle/>
          <a:p>
            <a:endParaRPr lang="en-US"/>
          </a:p>
        </p:txBody>
      </p:sp>
      <p:sp>
        <p:nvSpPr>
          <p:cNvPr id="18" name="Text 16"/>
          <p:cNvSpPr/>
          <p:nvPr/>
        </p:nvSpPr>
        <p:spPr>
          <a:xfrm>
            <a:off x="5305425" y="4676800"/>
            <a:ext cx="3834765"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0E2A47"/>
                </a:solidFill>
                <a:latin typeface="Arial" pitchFamily="34" charset="0"/>
                <a:ea typeface="Arial" pitchFamily="34" charset="-122"/>
                <a:cs typeface="Arial" pitchFamily="34" charset="-120"/>
              </a:rPr>
              <a:t>Competency-Based</a:t>
            </a:r>
            <a:endParaRPr lang="en-US" sz="1929" dirty="0"/>
          </a:p>
        </p:txBody>
      </p:sp>
      <p:sp>
        <p:nvSpPr>
          <p:cNvPr id="19" name="Text 17"/>
          <p:cNvSpPr/>
          <p:nvPr/>
        </p:nvSpPr>
        <p:spPr>
          <a:xfrm>
            <a:off x="5305425" y="5191150"/>
            <a:ext cx="3590735" cy="742950"/>
          </a:xfrm>
          <a:prstGeom prst="rect">
            <a:avLst/>
          </a:prstGeom>
          <a:noFill/>
          <a:ln/>
        </p:spPr>
        <p:txBody>
          <a:bodyPr wrap="square" lIns="25400" tIns="25400" rIns="25400" bIns="25400" rtlCol="0" anchor="t">
            <a:normAutofit/>
          </a:bodyPr>
          <a:lstStyle/>
          <a:p>
            <a:pPr marL="0" indent="0" algn="l">
              <a:lnSpc>
                <a:spcPct val="129730"/>
              </a:lnSpc>
              <a:buNone/>
            </a:pPr>
            <a:r>
              <a:rPr lang="en-US" sz="1470" dirty="0">
                <a:solidFill>
                  <a:srgbClr val="5B6B7B"/>
                </a:solidFill>
                <a:latin typeface="Arial" pitchFamily="34" charset="0"/>
                <a:ea typeface="Arial" pitchFamily="34" charset="-122"/>
                <a:cs typeface="Arial" pitchFamily="34" charset="-120"/>
              </a:rPr>
              <a:t>We certify demonstrated skill against objective criteria — not hours spent in a seat.</a:t>
            </a:r>
            <a:endParaRPr lang="en-US" sz="1470" dirty="0"/>
          </a:p>
        </p:txBody>
      </p:sp>
      <p:sp>
        <p:nvSpPr>
          <p:cNvPr id="20" name="Shape 18"/>
          <p:cNvSpPr/>
          <p:nvPr/>
        </p:nvSpPr>
        <p:spPr>
          <a:xfrm>
            <a:off x="9239250" y="4219600"/>
            <a:ext cx="4000500" cy="2071688"/>
          </a:xfrm>
          <a:prstGeom prst="roundRect">
            <a:avLst>
              <a:gd name="adj" fmla="val 2759"/>
            </a:avLst>
          </a:prstGeom>
          <a:solidFill>
            <a:srgbClr val="FFFFFF"/>
          </a:solidFill>
          <a:ln/>
        </p:spPr>
        <p:txBody>
          <a:bodyPr/>
          <a:lstStyle/>
          <a:p>
            <a:endParaRPr lang="en-US"/>
          </a:p>
        </p:txBody>
      </p:sp>
      <p:sp>
        <p:nvSpPr>
          <p:cNvPr id="21" name="Shape 19"/>
          <p:cNvSpPr/>
          <p:nvPr/>
        </p:nvSpPr>
        <p:spPr>
          <a:xfrm>
            <a:off x="9239250" y="6277000"/>
            <a:ext cx="4000500" cy="14288"/>
          </a:xfrm>
          <a:prstGeom prst="rect">
            <a:avLst/>
          </a:prstGeom>
          <a:solidFill>
            <a:srgbClr val="E2E7ED"/>
          </a:solidFill>
          <a:ln/>
        </p:spPr>
        <p:txBody>
          <a:bodyPr/>
          <a:lstStyle/>
          <a:p>
            <a:endParaRPr lang="en-US"/>
          </a:p>
        </p:txBody>
      </p:sp>
      <p:sp>
        <p:nvSpPr>
          <p:cNvPr id="22" name="Shape 20"/>
          <p:cNvSpPr/>
          <p:nvPr/>
        </p:nvSpPr>
        <p:spPr>
          <a:xfrm>
            <a:off x="9239250" y="4219600"/>
            <a:ext cx="4000500" cy="57150"/>
          </a:xfrm>
          <a:prstGeom prst="rect">
            <a:avLst/>
          </a:prstGeom>
          <a:solidFill>
            <a:srgbClr val="F26A1B"/>
          </a:solidFill>
          <a:ln/>
        </p:spPr>
        <p:txBody>
          <a:bodyPr/>
          <a:lstStyle/>
          <a:p>
            <a:endParaRPr lang="en-US"/>
          </a:p>
        </p:txBody>
      </p:sp>
      <p:sp>
        <p:nvSpPr>
          <p:cNvPr id="23" name="Shape 21"/>
          <p:cNvSpPr/>
          <p:nvPr/>
        </p:nvSpPr>
        <p:spPr>
          <a:xfrm>
            <a:off x="9239250" y="4219600"/>
            <a:ext cx="9525" cy="2071688"/>
          </a:xfrm>
          <a:prstGeom prst="rect">
            <a:avLst/>
          </a:prstGeom>
          <a:solidFill>
            <a:srgbClr val="E2E7ED"/>
          </a:solidFill>
          <a:ln/>
        </p:spPr>
        <p:txBody>
          <a:bodyPr/>
          <a:lstStyle/>
          <a:p>
            <a:endParaRPr lang="en-US"/>
          </a:p>
        </p:txBody>
      </p:sp>
      <p:sp>
        <p:nvSpPr>
          <p:cNvPr id="24" name="Shape 22"/>
          <p:cNvSpPr/>
          <p:nvPr/>
        </p:nvSpPr>
        <p:spPr>
          <a:xfrm>
            <a:off x="13230225" y="4219600"/>
            <a:ext cx="9525" cy="2071688"/>
          </a:xfrm>
          <a:prstGeom prst="rect">
            <a:avLst/>
          </a:prstGeom>
          <a:solidFill>
            <a:srgbClr val="E2E7ED"/>
          </a:solidFill>
          <a:ln/>
        </p:spPr>
        <p:txBody>
          <a:bodyPr/>
          <a:lstStyle/>
          <a:p>
            <a:endParaRPr lang="en-US"/>
          </a:p>
        </p:txBody>
      </p:sp>
      <p:sp>
        <p:nvSpPr>
          <p:cNvPr id="25" name="Text 23"/>
          <p:cNvSpPr/>
          <p:nvPr/>
        </p:nvSpPr>
        <p:spPr>
          <a:xfrm>
            <a:off x="9496425" y="4676800"/>
            <a:ext cx="3834765"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0E2A47"/>
                </a:solidFill>
                <a:latin typeface="Arial" pitchFamily="34" charset="0"/>
                <a:ea typeface="Arial" pitchFamily="34" charset="-122"/>
                <a:cs typeface="Arial" pitchFamily="34" charset="-120"/>
              </a:rPr>
              <a:t>Field-Realistic</a:t>
            </a:r>
            <a:endParaRPr lang="en-US" sz="1929" dirty="0"/>
          </a:p>
        </p:txBody>
      </p:sp>
      <p:sp>
        <p:nvSpPr>
          <p:cNvPr id="26" name="Text 24"/>
          <p:cNvSpPr/>
          <p:nvPr/>
        </p:nvSpPr>
        <p:spPr>
          <a:xfrm>
            <a:off x="9496425" y="5191150"/>
            <a:ext cx="3590735" cy="742950"/>
          </a:xfrm>
          <a:prstGeom prst="rect">
            <a:avLst/>
          </a:prstGeom>
          <a:noFill/>
          <a:ln/>
        </p:spPr>
        <p:txBody>
          <a:bodyPr wrap="square" lIns="25400" tIns="25400" rIns="25400" bIns="25400" rtlCol="0" anchor="t">
            <a:normAutofit/>
          </a:bodyPr>
          <a:lstStyle/>
          <a:p>
            <a:pPr marL="0" indent="0" algn="l">
              <a:lnSpc>
                <a:spcPct val="129730"/>
              </a:lnSpc>
              <a:buNone/>
            </a:pPr>
            <a:r>
              <a:rPr lang="en-US" sz="1470" dirty="0">
                <a:solidFill>
                  <a:srgbClr val="5B6B7B"/>
                </a:solidFill>
                <a:latin typeface="Arial" pitchFamily="34" charset="0"/>
                <a:ea typeface="Arial" pitchFamily="34" charset="-122"/>
                <a:cs typeface="Arial" pitchFamily="34" charset="-120"/>
              </a:rPr>
              <a:t>Simulations mirror refinery, tower and offshore conditions students will actually face.</a:t>
            </a:r>
            <a:endParaRPr lang="en-US" sz="1470" dirty="0"/>
          </a:p>
        </p:txBody>
      </p:sp>
      <p:sp>
        <p:nvSpPr>
          <p:cNvPr id="27" name="Shape 25"/>
          <p:cNvSpPr/>
          <p:nvPr/>
        </p:nvSpPr>
        <p:spPr>
          <a:xfrm>
            <a:off x="13430250" y="4219600"/>
            <a:ext cx="4000500" cy="2071688"/>
          </a:xfrm>
          <a:prstGeom prst="roundRect">
            <a:avLst>
              <a:gd name="adj" fmla="val 2759"/>
            </a:avLst>
          </a:prstGeom>
          <a:solidFill>
            <a:srgbClr val="FFFFFF"/>
          </a:solidFill>
          <a:ln/>
        </p:spPr>
        <p:txBody>
          <a:bodyPr/>
          <a:lstStyle/>
          <a:p>
            <a:endParaRPr lang="en-US"/>
          </a:p>
        </p:txBody>
      </p:sp>
      <p:sp>
        <p:nvSpPr>
          <p:cNvPr id="28" name="Shape 26"/>
          <p:cNvSpPr/>
          <p:nvPr/>
        </p:nvSpPr>
        <p:spPr>
          <a:xfrm>
            <a:off x="13430250" y="6277000"/>
            <a:ext cx="4000500" cy="14288"/>
          </a:xfrm>
          <a:prstGeom prst="rect">
            <a:avLst/>
          </a:prstGeom>
          <a:solidFill>
            <a:srgbClr val="E2E7ED"/>
          </a:solidFill>
          <a:ln/>
        </p:spPr>
        <p:txBody>
          <a:bodyPr/>
          <a:lstStyle/>
          <a:p>
            <a:endParaRPr lang="en-US"/>
          </a:p>
        </p:txBody>
      </p:sp>
      <p:sp>
        <p:nvSpPr>
          <p:cNvPr id="29" name="Shape 27"/>
          <p:cNvSpPr/>
          <p:nvPr/>
        </p:nvSpPr>
        <p:spPr>
          <a:xfrm>
            <a:off x="13430250" y="4219600"/>
            <a:ext cx="4000500" cy="57150"/>
          </a:xfrm>
          <a:prstGeom prst="rect">
            <a:avLst/>
          </a:prstGeom>
          <a:solidFill>
            <a:srgbClr val="F26A1B"/>
          </a:solidFill>
          <a:ln/>
        </p:spPr>
        <p:txBody>
          <a:bodyPr/>
          <a:lstStyle/>
          <a:p>
            <a:endParaRPr lang="en-US"/>
          </a:p>
        </p:txBody>
      </p:sp>
      <p:sp>
        <p:nvSpPr>
          <p:cNvPr id="30" name="Shape 28"/>
          <p:cNvSpPr/>
          <p:nvPr/>
        </p:nvSpPr>
        <p:spPr>
          <a:xfrm>
            <a:off x="13430250" y="4219600"/>
            <a:ext cx="9525" cy="2071688"/>
          </a:xfrm>
          <a:prstGeom prst="rect">
            <a:avLst/>
          </a:prstGeom>
          <a:solidFill>
            <a:srgbClr val="E2E7ED"/>
          </a:solidFill>
          <a:ln/>
        </p:spPr>
        <p:txBody>
          <a:bodyPr/>
          <a:lstStyle/>
          <a:p>
            <a:endParaRPr lang="en-US"/>
          </a:p>
        </p:txBody>
      </p:sp>
      <p:sp>
        <p:nvSpPr>
          <p:cNvPr id="31" name="Shape 29"/>
          <p:cNvSpPr/>
          <p:nvPr/>
        </p:nvSpPr>
        <p:spPr>
          <a:xfrm>
            <a:off x="17421225" y="4219600"/>
            <a:ext cx="9525" cy="2071688"/>
          </a:xfrm>
          <a:prstGeom prst="rect">
            <a:avLst/>
          </a:prstGeom>
          <a:solidFill>
            <a:srgbClr val="E2E7ED"/>
          </a:solidFill>
          <a:ln/>
        </p:spPr>
        <p:txBody>
          <a:bodyPr/>
          <a:lstStyle/>
          <a:p>
            <a:endParaRPr lang="en-US"/>
          </a:p>
        </p:txBody>
      </p:sp>
      <p:sp>
        <p:nvSpPr>
          <p:cNvPr id="32" name="Text 30"/>
          <p:cNvSpPr/>
          <p:nvPr/>
        </p:nvSpPr>
        <p:spPr>
          <a:xfrm>
            <a:off x="13687425" y="4676800"/>
            <a:ext cx="3834765"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0E2A47"/>
                </a:solidFill>
                <a:latin typeface="Arial" pitchFamily="34" charset="0"/>
                <a:ea typeface="Arial" pitchFamily="34" charset="-122"/>
                <a:cs typeface="Arial" pitchFamily="34" charset="-120"/>
              </a:rPr>
              <a:t>Work-Ready</a:t>
            </a:r>
            <a:endParaRPr lang="en-US" sz="1929" dirty="0"/>
          </a:p>
        </p:txBody>
      </p:sp>
      <p:sp>
        <p:nvSpPr>
          <p:cNvPr id="33" name="Text 31"/>
          <p:cNvSpPr/>
          <p:nvPr/>
        </p:nvSpPr>
        <p:spPr>
          <a:xfrm>
            <a:off x="13687425" y="5191150"/>
            <a:ext cx="3590735" cy="742950"/>
          </a:xfrm>
          <a:prstGeom prst="rect">
            <a:avLst/>
          </a:prstGeom>
          <a:noFill/>
          <a:ln/>
        </p:spPr>
        <p:txBody>
          <a:bodyPr wrap="square" lIns="25400" tIns="25400" rIns="25400" bIns="25400" rtlCol="0" anchor="t">
            <a:normAutofit/>
          </a:bodyPr>
          <a:lstStyle/>
          <a:p>
            <a:pPr marL="0" indent="0" algn="l">
              <a:lnSpc>
                <a:spcPct val="129730"/>
              </a:lnSpc>
              <a:buNone/>
            </a:pPr>
            <a:r>
              <a:rPr lang="en-US" sz="1470" dirty="0">
                <a:solidFill>
                  <a:srgbClr val="5B6B7B"/>
                </a:solidFill>
                <a:latin typeface="Arial" pitchFamily="34" charset="0"/>
                <a:ea typeface="Arial" pitchFamily="34" charset="-122"/>
                <a:cs typeface="Arial" pitchFamily="34" charset="-120"/>
              </a:rPr>
              <a:t>Graduates leave able to perform the work — and to be productive from day one.</a:t>
            </a:r>
            <a:endParaRPr lang="en-US" sz="1470" dirty="0"/>
          </a:p>
        </p:txBody>
      </p:sp>
      <p:sp>
        <p:nvSpPr>
          <p:cNvPr id="34" name="Shape 32"/>
          <p:cNvSpPr/>
          <p:nvPr/>
        </p:nvSpPr>
        <p:spPr>
          <a:xfrm>
            <a:off x="0" y="9753600"/>
            <a:ext cx="18288000" cy="9525"/>
          </a:xfrm>
          <a:prstGeom prst="rect">
            <a:avLst/>
          </a:prstGeom>
          <a:solidFill>
            <a:srgbClr val="E1E6EC"/>
          </a:solidFill>
          <a:ln/>
        </p:spPr>
        <p:txBody>
          <a:bodyPr/>
          <a:lstStyle/>
          <a:p>
            <a:endParaRPr lang="en-US"/>
          </a:p>
        </p:txBody>
      </p:sp>
      <p:sp>
        <p:nvSpPr>
          <p:cNvPr id="35" name="Text 33"/>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36" name="Text 34"/>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TRAINING PHILOSOPHY</a:t>
            </a:r>
            <a:endParaRPr lang="en-US" sz="900" dirty="0"/>
          </a:p>
        </p:txBody>
      </p:sp>
      <p:sp>
        <p:nvSpPr>
          <p:cNvPr id="37" name="Text 35"/>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Text 1"/>
          <p:cNvSpPr/>
          <p:nvPr/>
        </p:nvSpPr>
        <p:spPr>
          <a:xfrm>
            <a:off x="857250" y="666750"/>
            <a:ext cx="9700282"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INDUSTRY OVERVIEW</a:t>
            </a:r>
            <a:endParaRPr lang="en-US" sz="975" dirty="0"/>
          </a:p>
        </p:txBody>
      </p:sp>
      <p:sp>
        <p:nvSpPr>
          <p:cNvPr id="4" name="Text 2"/>
          <p:cNvSpPr/>
          <p:nvPr/>
        </p:nvSpPr>
        <p:spPr>
          <a:xfrm>
            <a:off x="857250" y="942975"/>
            <a:ext cx="10145305" cy="538163"/>
          </a:xfrm>
          <a:prstGeom prst="rect">
            <a:avLst/>
          </a:prstGeom>
          <a:noFill/>
          <a:ln/>
        </p:spPr>
        <p:txBody>
          <a:bodyPr wrap="square" lIns="25400" tIns="25400" rIns="25400" bIns="25400" rtlCol="0" anchor="t">
            <a:normAutofit/>
          </a:bodyPr>
          <a:lstStyle/>
          <a:p>
            <a:pPr marL="0" indent="0" algn="l">
              <a:buNone/>
            </a:pPr>
            <a:r>
              <a:rPr lang="en-US" sz="3450" b="1" kern="0" spc="-34" dirty="0">
                <a:solidFill>
                  <a:srgbClr val="FFFFFF"/>
                </a:solidFill>
                <a:latin typeface="Arial" pitchFamily="34" charset="0"/>
                <a:ea typeface="Arial" pitchFamily="34" charset="-122"/>
                <a:cs typeface="Arial" pitchFamily="34" charset="-120"/>
              </a:rPr>
              <a:t>Inspection, Maintenance &amp; Market Opportunity</a:t>
            </a:r>
            <a:endParaRPr lang="en-US" sz="3450" dirty="0"/>
          </a:p>
        </p:txBody>
      </p:sp>
      <p:sp>
        <p:nvSpPr>
          <p:cNvPr id="5" name="Shape 3"/>
          <p:cNvSpPr/>
          <p:nvPr/>
        </p:nvSpPr>
        <p:spPr>
          <a:xfrm>
            <a:off x="857250" y="2025650"/>
            <a:ext cx="4014788" cy="1798662"/>
          </a:xfrm>
          <a:prstGeom prst="roundRect">
            <a:avLst>
              <a:gd name="adj" fmla="val 3177"/>
            </a:avLst>
          </a:prstGeom>
          <a:solidFill>
            <a:srgbClr val="0E2A47"/>
          </a:solidFill>
          <a:ln/>
        </p:spPr>
        <p:txBody>
          <a:bodyPr/>
          <a:lstStyle/>
          <a:p>
            <a:endParaRPr lang="en-US"/>
          </a:p>
        </p:txBody>
      </p:sp>
      <p:sp>
        <p:nvSpPr>
          <p:cNvPr id="6" name="Text 4"/>
          <p:cNvSpPr/>
          <p:nvPr/>
        </p:nvSpPr>
        <p:spPr>
          <a:xfrm>
            <a:off x="1104900" y="2397125"/>
            <a:ext cx="3871436"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F26A1B"/>
                </a:solidFill>
                <a:latin typeface="Arial" pitchFamily="34" charset="0"/>
                <a:ea typeface="Arial" pitchFamily="34" charset="-122"/>
                <a:cs typeface="Arial" pitchFamily="34" charset="-120"/>
              </a:rPr>
              <a:t>Petrochemical</a:t>
            </a:r>
            <a:endParaRPr lang="en-US" sz="1837" dirty="0"/>
          </a:p>
        </p:txBody>
      </p:sp>
      <p:sp>
        <p:nvSpPr>
          <p:cNvPr id="7" name="Text 5"/>
          <p:cNvSpPr/>
          <p:nvPr/>
        </p:nvSpPr>
        <p:spPr>
          <a:xfrm>
            <a:off x="1104900" y="2832895"/>
            <a:ext cx="3625072" cy="677094"/>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Tanks, stacks, columns &amp; vessels — continuous turnaround cycles.</a:t>
            </a:r>
            <a:endParaRPr lang="en-US" sz="1424" dirty="0"/>
          </a:p>
        </p:txBody>
      </p:sp>
      <p:sp>
        <p:nvSpPr>
          <p:cNvPr id="8" name="Shape 6"/>
          <p:cNvSpPr/>
          <p:nvPr/>
        </p:nvSpPr>
        <p:spPr>
          <a:xfrm>
            <a:off x="5043488" y="2025650"/>
            <a:ext cx="4014788" cy="1798662"/>
          </a:xfrm>
          <a:prstGeom prst="roundRect">
            <a:avLst>
              <a:gd name="adj" fmla="val 3177"/>
            </a:avLst>
          </a:prstGeom>
          <a:solidFill>
            <a:srgbClr val="0E2A47"/>
          </a:solidFill>
          <a:ln/>
        </p:spPr>
        <p:txBody>
          <a:bodyPr/>
          <a:lstStyle/>
          <a:p>
            <a:endParaRPr lang="en-US"/>
          </a:p>
        </p:txBody>
      </p:sp>
      <p:sp>
        <p:nvSpPr>
          <p:cNvPr id="9" name="Text 7"/>
          <p:cNvSpPr/>
          <p:nvPr/>
        </p:nvSpPr>
        <p:spPr>
          <a:xfrm>
            <a:off x="5291138" y="2397125"/>
            <a:ext cx="3871436"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F26A1B"/>
                </a:solidFill>
                <a:latin typeface="Arial" pitchFamily="34" charset="0"/>
                <a:ea typeface="Arial" pitchFamily="34" charset="-122"/>
                <a:cs typeface="Arial" pitchFamily="34" charset="-120"/>
              </a:rPr>
              <a:t>Infrastructure</a:t>
            </a:r>
            <a:endParaRPr lang="en-US" sz="1837" dirty="0"/>
          </a:p>
        </p:txBody>
      </p:sp>
      <p:sp>
        <p:nvSpPr>
          <p:cNvPr id="10" name="Text 8"/>
          <p:cNvSpPr/>
          <p:nvPr/>
        </p:nvSpPr>
        <p:spPr>
          <a:xfrm>
            <a:off x="5291138" y="2832895"/>
            <a:ext cx="3625072" cy="677094"/>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Bridges, dams &amp; transport structures requiring periodic inspection.</a:t>
            </a:r>
            <a:endParaRPr lang="en-US" sz="1424" dirty="0"/>
          </a:p>
        </p:txBody>
      </p:sp>
      <p:sp>
        <p:nvSpPr>
          <p:cNvPr id="11" name="Shape 9"/>
          <p:cNvSpPr/>
          <p:nvPr/>
        </p:nvSpPr>
        <p:spPr>
          <a:xfrm>
            <a:off x="9229725" y="2025650"/>
            <a:ext cx="4014788" cy="1798662"/>
          </a:xfrm>
          <a:prstGeom prst="roundRect">
            <a:avLst>
              <a:gd name="adj" fmla="val 3177"/>
            </a:avLst>
          </a:prstGeom>
          <a:solidFill>
            <a:srgbClr val="0E2A47"/>
          </a:solidFill>
          <a:ln/>
        </p:spPr>
        <p:txBody>
          <a:bodyPr/>
          <a:lstStyle/>
          <a:p>
            <a:endParaRPr lang="en-US"/>
          </a:p>
        </p:txBody>
      </p:sp>
      <p:sp>
        <p:nvSpPr>
          <p:cNvPr id="12" name="Text 10"/>
          <p:cNvSpPr/>
          <p:nvPr/>
        </p:nvSpPr>
        <p:spPr>
          <a:xfrm>
            <a:off x="9477375" y="2397125"/>
            <a:ext cx="3871436"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F26A1B"/>
                </a:solidFill>
                <a:latin typeface="Arial" pitchFamily="34" charset="0"/>
                <a:ea typeface="Arial" pitchFamily="34" charset="-122"/>
                <a:cs typeface="Arial" pitchFamily="34" charset="-120"/>
              </a:rPr>
              <a:t>Telecom &amp; Towers</a:t>
            </a:r>
            <a:endParaRPr lang="en-US" sz="1837" dirty="0"/>
          </a:p>
        </p:txBody>
      </p:sp>
      <p:sp>
        <p:nvSpPr>
          <p:cNvPr id="13" name="Text 11"/>
          <p:cNvSpPr/>
          <p:nvPr/>
        </p:nvSpPr>
        <p:spPr>
          <a:xfrm>
            <a:off x="9477375" y="2832895"/>
            <a:ext cx="3625072" cy="677094"/>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Communication masts &amp; high structures needing at-height service.</a:t>
            </a:r>
            <a:endParaRPr lang="en-US" sz="1424" dirty="0"/>
          </a:p>
        </p:txBody>
      </p:sp>
      <p:sp>
        <p:nvSpPr>
          <p:cNvPr id="14" name="Shape 12"/>
          <p:cNvSpPr/>
          <p:nvPr/>
        </p:nvSpPr>
        <p:spPr>
          <a:xfrm>
            <a:off x="13415963" y="2025650"/>
            <a:ext cx="4014788" cy="1798662"/>
          </a:xfrm>
          <a:prstGeom prst="roundRect">
            <a:avLst>
              <a:gd name="adj" fmla="val 3177"/>
            </a:avLst>
          </a:prstGeom>
          <a:solidFill>
            <a:srgbClr val="0E2A47"/>
          </a:solidFill>
          <a:ln/>
        </p:spPr>
        <p:txBody>
          <a:bodyPr/>
          <a:lstStyle/>
          <a:p>
            <a:endParaRPr lang="en-US"/>
          </a:p>
        </p:txBody>
      </p:sp>
      <p:sp>
        <p:nvSpPr>
          <p:cNvPr id="15" name="Text 13"/>
          <p:cNvSpPr/>
          <p:nvPr/>
        </p:nvSpPr>
        <p:spPr>
          <a:xfrm>
            <a:off x="13663613" y="2397125"/>
            <a:ext cx="3871436" cy="378619"/>
          </a:xfrm>
          <a:prstGeom prst="rect">
            <a:avLst/>
          </a:prstGeom>
          <a:noFill/>
          <a:ln/>
        </p:spPr>
        <p:txBody>
          <a:bodyPr wrap="square" lIns="25400" tIns="25400" rIns="25400" bIns="25400" rtlCol="0" anchor="t">
            <a:normAutofit/>
          </a:bodyPr>
          <a:lstStyle/>
          <a:p>
            <a:pPr marL="0" indent="0" algn="l">
              <a:buNone/>
            </a:pPr>
            <a:r>
              <a:rPr lang="en-US" sz="1837" b="1" dirty="0">
                <a:solidFill>
                  <a:srgbClr val="F26A1B"/>
                </a:solidFill>
                <a:latin typeface="Arial" pitchFamily="34" charset="0"/>
                <a:ea typeface="Arial" pitchFamily="34" charset="-122"/>
                <a:cs typeface="Arial" pitchFamily="34" charset="-120"/>
              </a:rPr>
              <a:t>Commercial</a:t>
            </a:r>
            <a:endParaRPr lang="en-US" sz="1837" dirty="0"/>
          </a:p>
        </p:txBody>
      </p:sp>
      <p:sp>
        <p:nvSpPr>
          <p:cNvPr id="16" name="Text 14"/>
          <p:cNvSpPr/>
          <p:nvPr/>
        </p:nvSpPr>
        <p:spPr>
          <a:xfrm>
            <a:off x="13663613" y="2832895"/>
            <a:ext cx="3625072" cy="677094"/>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Stadiums, high-rise façades &amp; large venues across the region.</a:t>
            </a:r>
            <a:endParaRPr lang="en-US" sz="1424" dirty="0"/>
          </a:p>
        </p:txBody>
      </p:sp>
      <p:sp>
        <p:nvSpPr>
          <p:cNvPr id="17" name="Shape 15"/>
          <p:cNvSpPr/>
          <p:nvPr/>
        </p:nvSpPr>
        <p:spPr>
          <a:xfrm>
            <a:off x="857250" y="5168900"/>
            <a:ext cx="16573500" cy="2028825"/>
          </a:xfrm>
          <a:prstGeom prst="roundRect">
            <a:avLst>
              <a:gd name="adj" fmla="val 2817"/>
            </a:avLst>
          </a:prstGeom>
          <a:solidFill>
            <a:srgbClr val="F26A1B"/>
          </a:solidFill>
          <a:ln/>
        </p:spPr>
        <p:txBody>
          <a:bodyPr/>
          <a:lstStyle/>
          <a:p>
            <a:endParaRPr lang="en-US"/>
          </a:p>
        </p:txBody>
      </p:sp>
      <p:sp>
        <p:nvSpPr>
          <p:cNvPr id="18" name="Text 16"/>
          <p:cNvSpPr/>
          <p:nvPr/>
        </p:nvSpPr>
        <p:spPr>
          <a:xfrm>
            <a:off x="1276350" y="5683250"/>
            <a:ext cx="8427817" cy="1057275"/>
          </a:xfrm>
          <a:prstGeom prst="rect">
            <a:avLst/>
          </a:prstGeom>
          <a:noFill/>
          <a:ln/>
        </p:spPr>
        <p:txBody>
          <a:bodyPr wrap="square" lIns="25400" tIns="25400" rIns="25400" bIns="25400" rtlCol="0" anchor="t">
            <a:normAutofit/>
          </a:bodyPr>
          <a:lstStyle/>
          <a:p>
            <a:pPr marL="0" indent="0" algn="l">
              <a:lnSpc>
                <a:spcPct val="107692"/>
              </a:lnSpc>
              <a:buNone/>
            </a:pPr>
            <a:r>
              <a:rPr lang="en-US" sz="2572" b="1" dirty="0">
                <a:solidFill>
                  <a:srgbClr val="0A1B2E"/>
                </a:solidFill>
                <a:latin typeface="Arial" pitchFamily="34" charset="0"/>
                <a:ea typeface="Arial" pitchFamily="34" charset="-122"/>
                <a:cs typeface="Arial" pitchFamily="34" charset="-120"/>
              </a:rPr>
              <a:t>Every sector needs a steady supply of certified technicians — and every certification expires and must be renewed.</a:t>
            </a:r>
            <a:endParaRPr lang="en-US" sz="2572" dirty="0"/>
          </a:p>
        </p:txBody>
      </p:sp>
      <p:sp>
        <p:nvSpPr>
          <p:cNvPr id="19" name="Text 17"/>
          <p:cNvSpPr/>
          <p:nvPr/>
        </p:nvSpPr>
        <p:spPr>
          <a:xfrm>
            <a:off x="9934947" y="5704682"/>
            <a:ext cx="2427097" cy="714375"/>
          </a:xfrm>
          <a:prstGeom prst="rect">
            <a:avLst/>
          </a:prstGeom>
          <a:noFill/>
          <a:ln/>
        </p:spPr>
        <p:txBody>
          <a:bodyPr wrap="square" lIns="25400" tIns="25400" rIns="25400" bIns="25400" rtlCol="0" anchor="t">
            <a:normAutofit/>
          </a:bodyPr>
          <a:lstStyle/>
          <a:p>
            <a:pPr marL="0" indent="0" algn="l">
              <a:lnSpc>
                <a:spcPct val="87619"/>
              </a:lnSpc>
              <a:buNone/>
            </a:pPr>
            <a:r>
              <a:rPr lang="en-US" sz="3465" b="1" dirty="0">
                <a:solidFill>
                  <a:srgbClr val="0A1B2E"/>
                </a:solidFill>
                <a:latin typeface="Arial" pitchFamily="34" charset="0"/>
                <a:ea typeface="Arial" pitchFamily="34" charset="-122"/>
                <a:cs typeface="Arial" pitchFamily="34" charset="-120"/>
              </a:rPr>
              <a:t>3 yr</a:t>
            </a:r>
            <a:endParaRPr lang="en-US" sz="3465" dirty="0"/>
          </a:p>
        </p:txBody>
      </p:sp>
      <p:sp>
        <p:nvSpPr>
          <p:cNvPr id="20" name="Text 18"/>
          <p:cNvSpPr/>
          <p:nvPr/>
        </p:nvSpPr>
        <p:spPr>
          <a:xfrm>
            <a:off x="9934947" y="6419057"/>
            <a:ext cx="2427097" cy="300038"/>
          </a:xfrm>
          <a:prstGeom prst="rect">
            <a:avLst/>
          </a:prstGeom>
          <a:noFill/>
          <a:ln/>
        </p:spPr>
        <p:txBody>
          <a:bodyPr wrap="square" lIns="25400" tIns="25400" rIns="25400" bIns="25400" rtlCol="0" anchor="t">
            <a:normAutofit/>
          </a:bodyPr>
          <a:lstStyle/>
          <a:p>
            <a:pPr marL="0" indent="0" algn="l">
              <a:buNone/>
            </a:pPr>
            <a:r>
              <a:rPr lang="en-US" sz="1378" b="1" dirty="0">
                <a:solidFill>
                  <a:srgbClr val="3A1F0C"/>
                </a:solidFill>
                <a:latin typeface="Arial" pitchFamily="34" charset="0"/>
                <a:ea typeface="Arial" pitchFamily="34" charset="-122"/>
                <a:cs typeface="Arial" pitchFamily="34" charset="-120"/>
              </a:rPr>
              <a:t>SPRAT cert cycle</a:t>
            </a:r>
            <a:endParaRPr lang="en-US" sz="1378" dirty="0"/>
          </a:p>
        </p:txBody>
      </p:sp>
      <p:sp>
        <p:nvSpPr>
          <p:cNvPr id="21" name="Text 19"/>
          <p:cNvSpPr/>
          <p:nvPr/>
        </p:nvSpPr>
        <p:spPr>
          <a:xfrm>
            <a:off x="12369998" y="5704682"/>
            <a:ext cx="2427178" cy="714375"/>
          </a:xfrm>
          <a:prstGeom prst="rect">
            <a:avLst/>
          </a:prstGeom>
          <a:noFill/>
          <a:ln/>
        </p:spPr>
        <p:txBody>
          <a:bodyPr wrap="square" lIns="25400" tIns="25400" rIns="25400" bIns="25400" rtlCol="0" anchor="t">
            <a:normAutofit/>
          </a:bodyPr>
          <a:lstStyle/>
          <a:p>
            <a:pPr marL="0" indent="0" algn="l">
              <a:lnSpc>
                <a:spcPct val="87619"/>
              </a:lnSpc>
              <a:buNone/>
            </a:pPr>
            <a:r>
              <a:rPr lang="en-US" sz="3465" b="1" dirty="0">
                <a:solidFill>
                  <a:srgbClr val="0A1B2E"/>
                </a:solidFill>
                <a:latin typeface="Arial" pitchFamily="34" charset="0"/>
                <a:ea typeface="Arial" pitchFamily="34" charset="-122"/>
                <a:cs typeface="Arial" pitchFamily="34" charset="-120"/>
              </a:rPr>
              <a:t>L1–L3</a:t>
            </a:r>
            <a:endParaRPr lang="en-US" sz="3465" dirty="0"/>
          </a:p>
        </p:txBody>
      </p:sp>
      <p:sp>
        <p:nvSpPr>
          <p:cNvPr id="22" name="Text 20"/>
          <p:cNvSpPr/>
          <p:nvPr/>
        </p:nvSpPr>
        <p:spPr>
          <a:xfrm>
            <a:off x="12369998" y="6419057"/>
            <a:ext cx="2427178" cy="300038"/>
          </a:xfrm>
          <a:prstGeom prst="rect">
            <a:avLst/>
          </a:prstGeom>
          <a:noFill/>
          <a:ln/>
        </p:spPr>
        <p:txBody>
          <a:bodyPr wrap="square" lIns="25400" tIns="25400" rIns="25400" bIns="25400" rtlCol="0" anchor="t">
            <a:normAutofit/>
          </a:bodyPr>
          <a:lstStyle/>
          <a:p>
            <a:pPr marL="0" indent="0" algn="l">
              <a:buNone/>
            </a:pPr>
            <a:r>
              <a:rPr lang="en-US" sz="1378" b="1" dirty="0">
                <a:solidFill>
                  <a:srgbClr val="3A1F0C"/>
                </a:solidFill>
                <a:latin typeface="Arial" pitchFamily="34" charset="0"/>
                <a:ea typeface="Arial" pitchFamily="34" charset="-122"/>
                <a:cs typeface="Arial" pitchFamily="34" charset="-120"/>
              </a:rPr>
              <a:t>SPRAT levels</a:t>
            </a:r>
            <a:endParaRPr lang="en-US" sz="1378" dirty="0"/>
          </a:p>
        </p:txBody>
      </p:sp>
      <p:sp>
        <p:nvSpPr>
          <p:cNvPr id="23" name="Text 21"/>
          <p:cNvSpPr/>
          <p:nvPr/>
        </p:nvSpPr>
        <p:spPr>
          <a:xfrm>
            <a:off x="14805124" y="5704682"/>
            <a:ext cx="2762581" cy="714375"/>
          </a:xfrm>
          <a:prstGeom prst="rect">
            <a:avLst/>
          </a:prstGeom>
          <a:noFill/>
          <a:ln/>
        </p:spPr>
        <p:txBody>
          <a:bodyPr wrap="square" lIns="25400" tIns="25400" rIns="25400" bIns="25400" rtlCol="0" anchor="t">
            <a:normAutofit/>
          </a:bodyPr>
          <a:lstStyle/>
          <a:p>
            <a:pPr marL="0" indent="0" algn="l">
              <a:lnSpc>
                <a:spcPct val="87619"/>
              </a:lnSpc>
              <a:buNone/>
            </a:pPr>
            <a:r>
              <a:rPr lang="en-US" sz="3465" b="1" dirty="0">
                <a:solidFill>
                  <a:srgbClr val="0A1B2E"/>
                </a:solidFill>
                <a:latin typeface="Arial" pitchFamily="34" charset="0"/>
                <a:ea typeface="Arial" pitchFamily="34" charset="-122"/>
                <a:cs typeface="Arial" pitchFamily="34" charset="-120"/>
              </a:rPr>
              <a:t>Recurring</a:t>
            </a:r>
            <a:endParaRPr lang="en-US" sz="3465" dirty="0"/>
          </a:p>
        </p:txBody>
      </p:sp>
      <p:sp>
        <p:nvSpPr>
          <p:cNvPr id="24" name="Text 22"/>
          <p:cNvSpPr/>
          <p:nvPr/>
        </p:nvSpPr>
        <p:spPr>
          <a:xfrm>
            <a:off x="14805124" y="6419057"/>
            <a:ext cx="2427097" cy="300038"/>
          </a:xfrm>
          <a:prstGeom prst="rect">
            <a:avLst/>
          </a:prstGeom>
          <a:noFill/>
          <a:ln/>
        </p:spPr>
        <p:txBody>
          <a:bodyPr wrap="square" lIns="25400" tIns="25400" rIns="25400" bIns="25400" rtlCol="0" anchor="t">
            <a:normAutofit/>
          </a:bodyPr>
          <a:lstStyle/>
          <a:p>
            <a:pPr marL="0" indent="0" algn="l">
              <a:buNone/>
            </a:pPr>
            <a:r>
              <a:rPr lang="en-US" sz="1378" b="1" dirty="0">
                <a:solidFill>
                  <a:srgbClr val="3A1F0C"/>
                </a:solidFill>
                <a:latin typeface="Arial" pitchFamily="34" charset="0"/>
                <a:ea typeface="Arial" pitchFamily="34" charset="-122"/>
                <a:cs typeface="Arial" pitchFamily="34" charset="-120"/>
              </a:rPr>
              <a:t>Refresher demand</a:t>
            </a:r>
            <a:endParaRPr lang="en-US" sz="1378" dirty="0"/>
          </a:p>
        </p:txBody>
      </p:sp>
      <p:sp>
        <p:nvSpPr>
          <p:cNvPr id="25" name="Shape 23"/>
          <p:cNvSpPr/>
          <p:nvPr/>
        </p:nvSpPr>
        <p:spPr>
          <a:xfrm>
            <a:off x="0" y="9753600"/>
            <a:ext cx="18288000" cy="9525"/>
          </a:xfrm>
          <a:prstGeom prst="rect">
            <a:avLst/>
          </a:prstGeom>
          <a:solidFill>
            <a:srgbClr val="1C3551"/>
          </a:solidFill>
          <a:ln/>
        </p:spPr>
        <p:txBody>
          <a:bodyPr/>
          <a:lstStyle/>
          <a:p>
            <a:endParaRPr lang="en-US"/>
          </a:p>
        </p:txBody>
      </p:sp>
      <p:sp>
        <p:nvSpPr>
          <p:cNvPr id="26" name="Text 2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7" name="Text 2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INDUSTRY OVERVIEW</a:t>
            </a:r>
            <a:endParaRPr lang="en-US" sz="900" dirty="0"/>
          </a:p>
        </p:txBody>
      </p:sp>
      <p:sp>
        <p:nvSpPr>
          <p:cNvPr id="28" name="Text 2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Text 1"/>
          <p:cNvSpPr/>
          <p:nvPr/>
        </p:nvSpPr>
        <p:spPr>
          <a:xfrm>
            <a:off x="857250" y="666750"/>
            <a:ext cx="578971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WHY ROPE ACCESS</a:t>
            </a:r>
            <a:endParaRPr lang="en-US" sz="975" dirty="0"/>
          </a:p>
        </p:txBody>
      </p:sp>
      <p:sp>
        <p:nvSpPr>
          <p:cNvPr id="4" name="Text 2"/>
          <p:cNvSpPr/>
          <p:nvPr/>
        </p:nvSpPr>
        <p:spPr>
          <a:xfrm>
            <a:off x="857250" y="942975"/>
            <a:ext cx="6172201" cy="538163"/>
          </a:xfrm>
          <a:prstGeom prst="rect">
            <a:avLst/>
          </a:prstGeom>
          <a:noFill/>
          <a:ln/>
        </p:spPr>
        <p:txBody>
          <a:bodyPr wrap="square" lIns="25400" tIns="25400" rIns="25400" bIns="25400" rtlCol="0" anchor="t">
            <a:normAutofit/>
          </a:bodyPr>
          <a:lstStyle/>
          <a:p>
            <a:pPr marL="0" indent="0" algn="l">
              <a:buNone/>
            </a:pPr>
            <a:r>
              <a:rPr lang="en-US" sz="3450" b="1" kern="0" spc="-34" dirty="0">
                <a:solidFill>
                  <a:srgbClr val="FFFFFF"/>
                </a:solidFill>
                <a:latin typeface="Arial" pitchFamily="34" charset="0"/>
                <a:ea typeface="Arial" pitchFamily="34" charset="-122"/>
                <a:cs typeface="Arial" pitchFamily="34" charset="-120"/>
              </a:rPr>
              <a:t>Cost Savings &amp; Productivity</a:t>
            </a:r>
            <a:endParaRPr lang="en-US" sz="3450" dirty="0"/>
          </a:p>
        </p:txBody>
      </p:sp>
      <p:sp>
        <p:nvSpPr>
          <p:cNvPr id="5" name="Shape 3"/>
          <p:cNvSpPr/>
          <p:nvPr/>
        </p:nvSpPr>
        <p:spPr>
          <a:xfrm>
            <a:off x="857250" y="2025650"/>
            <a:ext cx="7315200" cy="3166020"/>
          </a:xfrm>
          <a:prstGeom prst="roundRect">
            <a:avLst>
              <a:gd name="adj" fmla="val 2708"/>
            </a:avLst>
          </a:prstGeom>
          <a:solidFill>
            <a:srgbClr val="F26A1B"/>
          </a:solidFill>
          <a:ln/>
        </p:spPr>
        <p:txBody>
          <a:bodyPr/>
          <a:lstStyle/>
          <a:p>
            <a:endParaRPr lang="en-US"/>
          </a:p>
        </p:txBody>
      </p:sp>
      <p:sp>
        <p:nvSpPr>
          <p:cNvPr id="6" name="Text 4"/>
          <p:cNvSpPr/>
          <p:nvPr/>
        </p:nvSpPr>
        <p:spPr>
          <a:xfrm>
            <a:off x="1238250" y="2568575"/>
            <a:ext cx="7208520" cy="1222920"/>
          </a:xfrm>
          <a:prstGeom prst="rect">
            <a:avLst/>
          </a:prstGeom>
          <a:noFill/>
          <a:ln/>
        </p:spPr>
        <p:txBody>
          <a:bodyPr wrap="square" lIns="25400" tIns="25400" rIns="25400" bIns="25400" rtlCol="0" anchor="t">
            <a:normAutofit/>
          </a:bodyPr>
          <a:lstStyle/>
          <a:p>
            <a:pPr marL="0" indent="0" algn="l">
              <a:lnSpc>
                <a:spcPct val="73846"/>
              </a:lnSpc>
              <a:buNone/>
            </a:pPr>
            <a:r>
              <a:rPr lang="en-US" sz="8818" b="1" dirty="0">
                <a:solidFill>
                  <a:srgbClr val="0A1B2E"/>
                </a:solidFill>
                <a:latin typeface="Arial" pitchFamily="34" charset="0"/>
                <a:ea typeface="Arial" pitchFamily="34" charset="-122"/>
                <a:cs typeface="Arial" pitchFamily="34" charset="-120"/>
              </a:rPr>
              <a:t>62%</a:t>
            </a:r>
            <a:endParaRPr lang="en-US" sz="8818" dirty="0"/>
          </a:p>
        </p:txBody>
      </p:sp>
      <p:sp>
        <p:nvSpPr>
          <p:cNvPr id="7" name="Text 5"/>
          <p:cNvSpPr/>
          <p:nvPr/>
        </p:nvSpPr>
        <p:spPr>
          <a:xfrm>
            <a:off x="1238250" y="3905795"/>
            <a:ext cx="7208520"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0A1B2E"/>
                </a:solidFill>
                <a:latin typeface="Arial" pitchFamily="34" charset="0"/>
                <a:ea typeface="Arial" pitchFamily="34" charset="-122"/>
                <a:cs typeface="Arial" pitchFamily="34" charset="-120"/>
              </a:rPr>
              <a:t>lower total project cost</a:t>
            </a:r>
            <a:endParaRPr lang="en-US" sz="2021" dirty="0"/>
          </a:p>
        </p:txBody>
      </p:sp>
      <p:sp>
        <p:nvSpPr>
          <p:cNvPr id="8" name="Text 6"/>
          <p:cNvSpPr/>
          <p:nvPr/>
        </p:nvSpPr>
        <p:spPr>
          <a:xfrm>
            <a:off x="1238250" y="4348708"/>
            <a:ext cx="7208520" cy="357188"/>
          </a:xfrm>
          <a:prstGeom prst="rect">
            <a:avLst/>
          </a:prstGeom>
          <a:noFill/>
          <a:ln/>
        </p:spPr>
        <p:txBody>
          <a:bodyPr wrap="square" lIns="25400" tIns="25400" rIns="25400" bIns="25400" rtlCol="0" anchor="t">
            <a:normAutofit/>
          </a:bodyPr>
          <a:lstStyle/>
          <a:p>
            <a:pPr marL="0" indent="0" algn="l">
              <a:lnSpc>
                <a:spcPct val="123529"/>
              </a:lnSpc>
              <a:buNone/>
            </a:pPr>
            <a:r>
              <a:rPr lang="en-US" sz="1378" dirty="0">
                <a:solidFill>
                  <a:srgbClr val="3A1F0C"/>
                </a:solidFill>
                <a:latin typeface="Arial" pitchFamily="34" charset="0"/>
                <a:ea typeface="Arial" pitchFamily="34" charset="-122"/>
                <a:cs typeface="Arial" pitchFamily="34" charset="-120"/>
              </a:rPr>
              <a:t>Documented industrial refinery study, rope access vs. scaffolding for the same scope of work.</a:t>
            </a:r>
            <a:endParaRPr lang="en-US" sz="1378" dirty="0"/>
          </a:p>
        </p:txBody>
      </p:sp>
      <p:sp>
        <p:nvSpPr>
          <p:cNvPr id="9" name="Text 7"/>
          <p:cNvSpPr/>
          <p:nvPr/>
        </p:nvSpPr>
        <p:spPr>
          <a:xfrm>
            <a:off x="857250" y="5505995"/>
            <a:ext cx="7534656" cy="854347"/>
          </a:xfrm>
          <a:prstGeom prst="rect">
            <a:avLst/>
          </a:prstGeom>
          <a:noFill/>
          <a:ln/>
        </p:spPr>
        <p:txBody>
          <a:bodyPr wrap="square" lIns="25400" tIns="25400" rIns="25400" bIns="25400" rtlCol="0" anchor="t">
            <a:normAutofit/>
          </a:bodyPr>
          <a:lstStyle/>
          <a:p>
            <a:pPr marL="0" indent="0" algn="l">
              <a:lnSpc>
                <a:spcPct val="132857"/>
              </a:lnSpc>
              <a:buNone/>
            </a:pPr>
            <a:r>
              <a:rPr lang="en-US" sz="1653" dirty="0">
                <a:solidFill>
                  <a:srgbClr val="A9BACB"/>
                </a:solidFill>
                <a:latin typeface="Arial" pitchFamily="34" charset="0"/>
                <a:ea typeface="Arial" pitchFamily="34" charset="-122"/>
                <a:cs typeface="Arial" pitchFamily="34" charset="-120"/>
              </a:rPr>
              <a:t>Faster mobilization also means less plant downtime — often worth more than the labor savings alone.</a:t>
            </a:r>
            <a:endParaRPr lang="en-US" sz="1653" dirty="0"/>
          </a:p>
        </p:txBody>
      </p:sp>
      <p:sp>
        <p:nvSpPr>
          <p:cNvPr id="10" name="Text 8"/>
          <p:cNvSpPr/>
          <p:nvPr/>
        </p:nvSpPr>
        <p:spPr>
          <a:xfrm>
            <a:off x="8286750" y="2025650"/>
            <a:ext cx="10058400" cy="314325"/>
          </a:xfrm>
          <a:prstGeom prst="rect">
            <a:avLst/>
          </a:prstGeom>
          <a:noFill/>
          <a:ln/>
        </p:spPr>
        <p:txBody>
          <a:bodyPr wrap="square" lIns="25400" tIns="25400" rIns="25400" bIns="25400" rtlCol="0" anchor="t">
            <a:normAutofit/>
          </a:bodyPr>
          <a:lstStyle/>
          <a:p>
            <a:pPr marL="0" indent="0" algn="l">
              <a:buNone/>
            </a:pPr>
            <a:r>
              <a:rPr lang="en-US" sz="1102" kern="0" spc="144" dirty="0">
                <a:solidFill>
                  <a:srgbClr val="8FA6BC"/>
                </a:solidFill>
                <a:latin typeface="Courier New" pitchFamily="34" charset="0"/>
                <a:ea typeface="Courier New" pitchFamily="34" charset="-122"/>
                <a:cs typeface="Courier New" pitchFamily="34" charset="-120"/>
              </a:rPr>
              <a:t>WHERE THE SAVINGS COME FROM</a:t>
            </a:r>
            <a:endParaRPr lang="en-US" sz="1102" dirty="0"/>
          </a:p>
        </p:txBody>
      </p:sp>
      <p:sp>
        <p:nvSpPr>
          <p:cNvPr id="11" name="Shape 9"/>
          <p:cNvSpPr/>
          <p:nvPr/>
        </p:nvSpPr>
        <p:spPr>
          <a:xfrm>
            <a:off x="8286750" y="2540000"/>
            <a:ext cx="9144000" cy="1334430"/>
          </a:xfrm>
          <a:prstGeom prst="roundRect">
            <a:avLst>
              <a:gd name="adj" fmla="val 4283"/>
            </a:avLst>
          </a:prstGeom>
          <a:solidFill>
            <a:srgbClr val="0E2A47"/>
          </a:solidFill>
          <a:ln/>
        </p:spPr>
        <p:txBody>
          <a:bodyPr/>
          <a:lstStyle/>
          <a:p>
            <a:endParaRPr lang="en-US"/>
          </a:p>
        </p:txBody>
      </p:sp>
      <p:sp>
        <p:nvSpPr>
          <p:cNvPr id="12" name="Text 10"/>
          <p:cNvSpPr/>
          <p:nvPr/>
        </p:nvSpPr>
        <p:spPr>
          <a:xfrm>
            <a:off x="8534400" y="3021422"/>
            <a:ext cx="394376" cy="428625"/>
          </a:xfrm>
          <a:prstGeom prst="rect">
            <a:avLst/>
          </a:prstGeom>
          <a:noFill/>
          <a:ln/>
        </p:spPr>
        <p:txBody>
          <a:bodyPr wrap="square" lIns="25400" tIns="25400" rIns="25400" bIns="25400" rtlCol="0" anchor="t">
            <a:normAutofit/>
          </a:bodyPr>
          <a:lstStyle/>
          <a:p>
            <a:pPr marL="0" indent="0" algn="l">
              <a:lnSpc>
                <a:spcPct val="86667"/>
              </a:lnSpc>
              <a:buNone/>
            </a:pPr>
            <a:r>
              <a:rPr lang="en-US" sz="2388" dirty="0">
                <a:solidFill>
                  <a:srgbClr val="F26A1B"/>
                </a:solidFill>
                <a:latin typeface="Arial" pitchFamily="34" charset="0"/>
                <a:ea typeface="Arial" pitchFamily="34" charset="-122"/>
                <a:cs typeface="Arial" pitchFamily="34" charset="-120"/>
              </a:rPr>
              <a:t>▼</a:t>
            </a:r>
            <a:endParaRPr lang="en-US" sz="2388" dirty="0"/>
          </a:p>
        </p:txBody>
      </p:sp>
      <p:sp>
        <p:nvSpPr>
          <p:cNvPr id="13" name="Text 11"/>
          <p:cNvSpPr/>
          <p:nvPr/>
        </p:nvSpPr>
        <p:spPr>
          <a:xfrm>
            <a:off x="8986689" y="2854325"/>
            <a:ext cx="4623361"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FFFFFF"/>
                </a:solidFill>
                <a:latin typeface="Arial" pitchFamily="34" charset="0"/>
                <a:ea typeface="Arial" pitchFamily="34" charset="-122"/>
                <a:cs typeface="Arial" pitchFamily="34" charset="-120"/>
              </a:rPr>
              <a:t>Reduced material costs</a:t>
            </a:r>
            <a:endParaRPr lang="en-US" sz="1929" dirty="0"/>
          </a:p>
        </p:txBody>
      </p:sp>
      <p:sp>
        <p:nvSpPr>
          <p:cNvPr id="14" name="Text 12"/>
          <p:cNvSpPr/>
          <p:nvPr/>
        </p:nvSpPr>
        <p:spPr>
          <a:xfrm>
            <a:off x="8986689" y="3240088"/>
            <a:ext cx="4623361" cy="377168"/>
          </a:xfrm>
          <a:prstGeom prst="rect">
            <a:avLst/>
          </a:prstGeom>
          <a:noFill/>
          <a:ln/>
        </p:spPr>
        <p:txBody>
          <a:bodyPr wrap="square" lIns="25400" tIns="25400" rIns="25400" bIns="25400" rtlCol="0" anchor="t">
            <a:normAutofit/>
          </a:bodyPr>
          <a:lstStyle/>
          <a:p>
            <a:pPr marL="0" indent="0" algn="l">
              <a:lnSpc>
                <a:spcPct val="121081"/>
              </a:lnSpc>
              <a:buNone/>
            </a:pPr>
            <a:r>
              <a:rPr lang="en-US" sz="1470" dirty="0">
                <a:solidFill>
                  <a:srgbClr val="A9BACB"/>
                </a:solidFill>
                <a:latin typeface="Arial" pitchFamily="34" charset="0"/>
                <a:ea typeface="Arial" pitchFamily="34" charset="-122"/>
                <a:cs typeface="Arial" pitchFamily="34" charset="-120"/>
              </a:rPr>
              <a:t>No scaffold tubes, boards, or fittings to buy, transport and store.</a:t>
            </a:r>
            <a:endParaRPr lang="en-US" sz="1470" dirty="0"/>
          </a:p>
        </p:txBody>
      </p:sp>
      <p:sp>
        <p:nvSpPr>
          <p:cNvPr id="15" name="Shape 13"/>
          <p:cNvSpPr/>
          <p:nvPr/>
        </p:nvSpPr>
        <p:spPr>
          <a:xfrm>
            <a:off x="8286750" y="4088742"/>
            <a:ext cx="9144000" cy="1334430"/>
          </a:xfrm>
          <a:prstGeom prst="roundRect">
            <a:avLst>
              <a:gd name="adj" fmla="val 4283"/>
            </a:avLst>
          </a:prstGeom>
          <a:solidFill>
            <a:srgbClr val="0E2A47"/>
          </a:solidFill>
          <a:ln/>
        </p:spPr>
        <p:txBody>
          <a:bodyPr/>
          <a:lstStyle/>
          <a:p>
            <a:endParaRPr lang="en-US"/>
          </a:p>
        </p:txBody>
      </p:sp>
      <p:sp>
        <p:nvSpPr>
          <p:cNvPr id="16" name="Text 14"/>
          <p:cNvSpPr/>
          <p:nvPr/>
        </p:nvSpPr>
        <p:spPr>
          <a:xfrm>
            <a:off x="8534400" y="4570164"/>
            <a:ext cx="394376" cy="428625"/>
          </a:xfrm>
          <a:prstGeom prst="rect">
            <a:avLst/>
          </a:prstGeom>
          <a:noFill/>
          <a:ln/>
        </p:spPr>
        <p:txBody>
          <a:bodyPr wrap="square" lIns="25400" tIns="25400" rIns="25400" bIns="25400" rtlCol="0" anchor="t">
            <a:normAutofit/>
          </a:bodyPr>
          <a:lstStyle/>
          <a:p>
            <a:pPr marL="0" indent="0" algn="l">
              <a:lnSpc>
                <a:spcPct val="86667"/>
              </a:lnSpc>
              <a:buNone/>
            </a:pPr>
            <a:r>
              <a:rPr lang="en-US" sz="2388" dirty="0">
                <a:solidFill>
                  <a:srgbClr val="F26A1B"/>
                </a:solidFill>
                <a:latin typeface="Arial" pitchFamily="34" charset="0"/>
                <a:ea typeface="Arial" pitchFamily="34" charset="-122"/>
                <a:cs typeface="Arial" pitchFamily="34" charset="-120"/>
              </a:rPr>
              <a:t>▼</a:t>
            </a:r>
            <a:endParaRPr lang="en-US" sz="2388" dirty="0"/>
          </a:p>
        </p:txBody>
      </p:sp>
      <p:sp>
        <p:nvSpPr>
          <p:cNvPr id="17" name="Text 15"/>
          <p:cNvSpPr/>
          <p:nvPr/>
        </p:nvSpPr>
        <p:spPr>
          <a:xfrm>
            <a:off x="8986689" y="4403067"/>
            <a:ext cx="4727153"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FFFFFF"/>
                </a:solidFill>
                <a:latin typeface="Arial" pitchFamily="34" charset="0"/>
                <a:ea typeface="Arial" pitchFamily="34" charset="-122"/>
                <a:cs typeface="Arial" pitchFamily="34" charset="-120"/>
              </a:rPr>
              <a:t>Smaller, skilled teams</a:t>
            </a:r>
            <a:endParaRPr lang="en-US" sz="1929" dirty="0"/>
          </a:p>
        </p:txBody>
      </p:sp>
      <p:sp>
        <p:nvSpPr>
          <p:cNvPr id="18" name="Text 16"/>
          <p:cNvSpPr/>
          <p:nvPr/>
        </p:nvSpPr>
        <p:spPr>
          <a:xfrm>
            <a:off x="8986689" y="4788830"/>
            <a:ext cx="4727153" cy="377168"/>
          </a:xfrm>
          <a:prstGeom prst="rect">
            <a:avLst/>
          </a:prstGeom>
          <a:noFill/>
          <a:ln/>
        </p:spPr>
        <p:txBody>
          <a:bodyPr wrap="square" lIns="25400" tIns="25400" rIns="25400" bIns="25400" rtlCol="0" anchor="t">
            <a:normAutofit/>
          </a:bodyPr>
          <a:lstStyle/>
          <a:p>
            <a:pPr marL="0" indent="0" algn="l">
              <a:lnSpc>
                <a:spcPct val="121081"/>
              </a:lnSpc>
              <a:buNone/>
            </a:pPr>
            <a:r>
              <a:rPr lang="en-US" sz="1470" dirty="0">
                <a:solidFill>
                  <a:srgbClr val="A9BACB"/>
                </a:solidFill>
                <a:latin typeface="Arial" pitchFamily="34" charset="0"/>
                <a:ea typeface="Arial" pitchFamily="34" charset="-122"/>
                <a:cs typeface="Arial" pitchFamily="34" charset="-120"/>
              </a:rPr>
              <a:t>A handful of certified technicians replace large scaffolding crews.</a:t>
            </a:r>
            <a:endParaRPr lang="en-US" sz="1470" dirty="0"/>
          </a:p>
        </p:txBody>
      </p:sp>
      <p:sp>
        <p:nvSpPr>
          <p:cNvPr id="19" name="Shape 17"/>
          <p:cNvSpPr/>
          <p:nvPr/>
        </p:nvSpPr>
        <p:spPr>
          <a:xfrm>
            <a:off x="8286750" y="5637485"/>
            <a:ext cx="9144000" cy="1334430"/>
          </a:xfrm>
          <a:prstGeom prst="roundRect">
            <a:avLst>
              <a:gd name="adj" fmla="val 4283"/>
            </a:avLst>
          </a:prstGeom>
          <a:solidFill>
            <a:srgbClr val="0E2A47"/>
          </a:solidFill>
          <a:ln/>
        </p:spPr>
        <p:txBody>
          <a:bodyPr/>
          <a:lstStyle/>
          <a:p>
            <a:endParaRPr lang="en-US"/>
          </a:p>
        </p:txBody>
      </p:sp>
      <p:sp>
        <p:nvSpPr>
          <p:cNvPr id="20" name="Text 18"/>
          <p:cNvSpPr/>
          <p:nvPr/>
        </p:nvSpPr>
        <p:spPr>
          <a:xfrm>
            <a:off x="8534400" y="6118907"/>
            <a:ext cx="394376" cy="428625"/>
          </a:xfrm>
          <a:prstGeom prst="rect">
            <a:avLst/>
          </a:prstGeom>
          <a:noFill/>
          <a:ln/>
        </p:spPr>
        <p:txBody>
          <a:bodyPr wrap="square" lIns="25400" tIns="25400" rIns="25400" bIns="25400" rtlCol="0" anchor="t">
            <a:normAutofit/>
          </a:bodyPr>
          <a:lstStyle/>
          <a:p>
            <a:pPr marL="0" indent="0" algn="l">
              <a:lnSpc>
                <a:spcPct val="86667"/>
              </a:lnSpc>
              <a:buNone/>
            </a:pPr>
            <a:r>
              <a:rPr lang="en-US" sz="2388" dirty="0">
                <a:solidFill>
                  <a:srgbClr val="F26A1B"/>
                </a:solidFill>
                <a:latin typeface="Arial" pitchFamily="34" charset="0"/>
                <a:ea typeface="Arial" pitchFamily="34" charset="-122"/>
                <a:cs typeface="Arial" pitchFamily="34" charset="-120"/>
              </a:rPr>
              <a:t>▼</a:t>
            </a:r>
            <a:endParaRPr lang="en-US" sz="2388" dirty="0"/>
          </a:p>
        </p:txBody>
      </p:sp>
      <p:sp>
        <p:nvSpPr>
          <p:cNvPr id="21" name="Text 19"/>
          <p:cNvSpPr/>
          <p:nvPr/>
        </p:nvSpPr>
        <p:spPr>
          <a:xfrm>
            <a:off x="8986689" y="5951810"/>
            <a:ext cx="4208844"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FFFFFF"/>
                </a:solidFill>
                <a:latin typeface="Arial" pitchFamily="34" charset="0"/>
                <a:ea typeface="Arial" pitchFamily="34" charset="-122"/>
                <a:cs typeface="Arial" pitchFamily="34" charset="-120"/>
              </a:rPr>
              <a:t>Faster mobilization</a:t>
            </a:r>
            <a:endParaRPr lang="en-US" sz="1929" dirty="0"/>
          </a:p>
        </p:txBody>
      </p:sp>
      <p:sp>
        <p:nvSpPr>
          <p:cNvPr id="22" name="Text 20"/>
          <p:cNvSpPr/>
          <p:nvPr/>
        </p:nvSpPr>
        <p:spPr>
          <a:xfrm>
            <a:off x="8986689" y="6337573"/>
            <a:ext cx="4332427" cy="377168"/>
          </a:xfrm>
          <a:prstGeom prst="rect">
            <a:avLst/>
          </a:prstGeom>
          <a:noFill/>
          <a:ln/>
        </p:spPr>
        <p:txBody>
          <a:bodyPr wrap="square" lIns="25400" tIns="25400" rIns="25400" bIns="25400" rtlCol="0" anchor="t">
            <a:normAutofit/>
          </a:bodyPr>
          <a:lstStyle/>
          <a:p>
            <a:pPr marL="0" indent="0" algn="l">
              <a:lnSpc>
                <a:spcPct val="121081"/>
              </a:lnSpc>
              <a:buNone/>
            </a:pPr>
            <a:r>
              <a:rPr lang="en-US" sz="1470" dirty="0">
                <a:solidFill>
                  <a:srgbClr val="A9BACB"/>
                </a:solidFill>
                <a:latin typeface="Arial" pitchFamily="34" charset="0"/>
                <a:ea typeface="Arial" pitchFamily="34" charset="-122"/>
                <a:cs typeface="Arial" pitchFamily="34" charset="-120"/>
              </a:rPr>
              <a:t>Setup in hours, not days — work starts and finishes sooner.</a:t>
            </a:r>
            <a:endParaRPr lang="en-US" sz="1470" dirty="0"/>
          </a:p>
        </p:txBody>
      </p:sp>
      <p:sp>
        <p:nvSpPr>
          <p:cNvPr id="23" name="Shape 21"/>
          <p:cNvSpPr/>
          <p:nvPr/>
        </p:nvSpPr>
        <p:spPr>
          <a:xfrm>
            <a:off x="8286750" y="7186227"/>
            <a:ext cx="9144000" cy="1334430"/>
          </a:xfrm>
          <a:prstGeom prst="roundRect">
            <a:avLst>
              <a:gd name="adj" fmla="val 4283"/>
            </a:avLst>
          </a:prstGeom>
          <a:solidFill>
            <a:srgbClr val="0E2A47"/>
          </a:solidFill>
          <a:ln/>
        </p:spPr>
        <p:txBody>
          <a:bodyPr/>
          <a:lstStyle/>
          <a:p>
            <a:endParaRPr lang="en-US"/>
          </a:p>
        </p:txBody>
      </p:sp>
      <p:sp>
        <p:nvSpPr>
          <p:cNvPr id="24" name="Text 22"/>
          <p:cNvSpPr/>
          <p:nvPr/>
        </p:nvSpPr>
        <p:spPr>
          <a:xfrm>
            <a:off x="8534400" y="7667650"/>
            <a:ext cx="394376" cy="428625"/>
          </a:xfrm>
          <a:prstGeom prst="rect">
            <a:avLst/>
          </a:prstGeom>
          <a:noFill/>
          <a:ln/>
        </p:spPr>
        <p:txBody>
          <a:bodyPr wrap="square" lIns="25400" tIns="25400" rIns="25400" bIns="25400" rtlCol="0" anchor="t">
            <a:normAutofit/>
          </a:bodyPr>
          <a:lstStyle/>
          <a:p>
            <a:pPr marL="0" indent="0" algn="l">
              <a:lnSpc>
                <a:spcPct val="86667"/>
              </a:lnSpc>
              <a:buNone/>
            </a:pPr>
            <a:r>
              <a:rPr lang="en-US" sz="2388" dirty="0">
                <a:solidFill>
                  <a:srgbClr val="F26A1B"/>
                </a:solidFill>
                <a:latin typeface="Arial" pitchFamily="34" charset="0"/>
                <a:ea typeface="Arial" pitchFamily="34" charset="-122"/>
                <a:cs typeface="Arial" pitchFamily="34" charset="-120"/>
              </a:rPr>
              <a:t>▼</a:t>
            </a:r>
            <a:endParaRPr lang="en-US" sz="2388" dirty="0"/>
          </a:p>
        </p:txBody>
      </p:sp>
      <p:sp>
        <p:nvSpPr>
          <p:cNvPr id="25" name="Text 23"/>
          <p:cNvSpPr/>
          <p:nvPr/>
        </p:nvSpPr>
        <p:spPr>
          <a:xfrm>
            <a:off x="8986689" y="7500552"/>
            <a:ext cx="4470700" cy="400050"/>
          </a:xfrm>
          <a:prstGeom prst="rect">
            <a:avLst/>
          </a:prstGeom>
          <a:noFill/>
          <a:ln/>
        </p:spPr>
        <p:txBody>
          <a:bodyPr wrap="square" lIns="25400" tIns="25400" rIns="25400" bIns="25400" rtlCol="0" anchor="t">
            <a:normAutofit/>
          </a:bodyPr>
          <a:lstStyle/>
          <a:p>
            <a:pPr marL="0" indent="0" algn="l">
              <a:buNone/>
            </a:pPr>
            <a:r>
              <a:rPr lang="en-US" sz="1929" b="1" dirty="0">
                <a:solidFill>
                  <a:srgbClr val="FFFFFF"/>
                </a:solidFill>
                <a:latin typeface="Arial" pitchFamily="34" charset="0"/>
                <a:ea typeface="Arial" pitchFamily="34" charset="-122"/>
                <a:cs typeface="Arial" pitchFamily="34" charset="-120"/>
              </a:rPr>
              <a:t>Lower exposure hours</a:t>
            </a:r>
            <a:endParaRPr lang="en-US" sz="1929" dirty="0"/>
          </a:p>
        </p:txBody>
      </p:sp>
      <p:sp>
        <p:nvSpPr>
          <p:cNvPr id="26" name="Text 24"/>
          <p:cNvSpPr/>
          <p:nvPr/>
        </p:nvSpPr>
        <p:spPr>
          <a:xfrm>
            <a:off x="8986689" y="7886315"/>
            <a:ext cx="4520869" cy="377168"/>
          </a:xfrm>
          <a:prstGeom prst="rect">
            <a:avLst/>
          </a:prstGeom>
          <a:noFill/>
          <a:ln/>
        </p:spPr>
        <p:txBody>
          <a:bodyPr wrap="square" lIns="25400" tIns="25400" rIns="25400" bIns="25400" rtlCol="0" anchor="t">
            <a:normAutofit/>
          </a:bodyPr>
          <a:lstStyle/>
          <a:p>
            <a:pPr marL="0" indent="0" algn="l">
              <a:lnSpc>
                <a:spcPct val="121081"/>
              </a:lnSpc>
              <a:buNone/>
            </a:pPr>
            <a:r>
              <a:rPr lang="en-US" sz="1470" dirty="0">
                <a:solidFill>
                  <a:srgbClr val="A9BACB"/>
                </a:solidFill>
                <a:latin typeface="Arial" pitchFamily="34" charset="0"/>
                <a:ea typeface="Arial" pitchFamily="34" charset="-122"/>
                <a:cs typeface="Arial" pitchFamily="34" charset="-120"/>
              </a:rPr>
              <a:t>Fewer total worker-hours at height reduces risk and overhead.</a:t>
            </a:r>
            <a:endParaRPr lang="en-US" sz="1470" dirty="0"/>
          </a:p>
        </p:txBody>
      </p:sp>
      <p:sp>
        <p:nvSpPr>
          <p:cNvPr id="27" name="Shape 25"/>
          <p:cNvSpPr/>
          <p:nvPr/>
        </p:nvSpPr>
        <p:spPr>
          <a:xfrm>
            <a:off x="0" y="9753600"/>
            <a:ext cx="18288000" cy="9525"/>
          </a:xfrm>
          <a:prstGeom prst="rect">
            <a:avLst/>
          </a:prstGeom>
          <a:solidFill>
            <a:srgbClr val="1C3551"/>
          </a:solidFill>
          <a:ln/>
        </p:spPr>
        <p:txBody>
          <a:bodyPr/>
          <a:lstStyle/>
          <a:p>
            <a:endParaRPr lang="en-US"/>
          </a:p>
        </p:txBody>
      </p:sp>
      <p:sp>
        <p:nvSpPr>
          <p:cNvPr id="28" name="Text 26"/>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9" name="Text 27"/>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WHY ROPE ACCESS</a:t>
            </a:r>
            <a:endParaRPr lang="en-US" sz="900" dirty="0"/>
          </a:p>
        </p:txBody>
      </p:sp>
      <p:sp>
        <p:nvSpPr>
          <p:cNvPr id="30" name="Text 28"/>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Text 1"/>
          <p:cNvSpPr/>
          <p:nvPr/>
        </p:nvSpPr>
        <p:spPr>
          <a:xfrm>
            <a:off x="857250" y="666750"/>
            <a:ext cx="49968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WHY ROPE ACCESS</a:t>
            </a:r>
            <a:endParaRPr lang="en-US" sz="975" dirty="0"/>
          </a:p>
        </p:txBody>
      </p:sp>
      <p:sp>
        <p:nvSpPr>
          <p:cNvPr id="4" name="Text 2"/>
          <p:cNvSpPr/>
          <p:nvPr/>
        </p:nvSpPr>
        <p:spPr>
          <a:xfrm>
            <a:off x="857250" y="942975"/>
            <a:ext cx="5329664" cy="538163"/>
          </a:xfrm>
          <a:prstGeom prst="rect">
            <a:avLst/>
          </a:prstGeom>
          <a:noFill/>
          <a:ln/>
        </p:spPr>
        <p:txBody>
          <a:bodyPr wrap="square" lIns="25400" tIns="25400" rIns="25400" bIns="25400" rtlCol="0" anchor="t">
            <a:normAutofit/>
          </a:bodyPr>
          <a:lstStyle/>
          <a:p>
            <a:pPr marL="0" indent="0" algn="l">
              <a:buNone/>
            </a:pPr>
            <a:r>
              <a:rPr lang="en-US" sz="3450" b="1" kern="0" spc="-34" dirty="0">
                <a:solidFill>
                  <a:srgbClr val="FFFFFF"/>
                </a:solidFill>
                <a:latin typeface="Arial" pitchFamily="34" charset="0"/>
                <a:ea typeface="Arial" pitchFamily="34" charset="-122"/>
                <a:cs typeface="Arial" pitchFamily="34" charset="-120"/>
              </a:rPr>
              <a:t>Real-World Applications</a:t>
            </a:r>
            <a:endParaRPr lang="en-US" sz="3450" dirty="0"/>
          </a:p>
        </p:txBody>
      </p:sp>
      <p:sp>
        <p:nvSpPr>
          <p:cNvPr id="5" name="Text 3"/>
          <p:cNvSpPr/>
          <p:nvPr/>
        </p:nvSpPr>
        <p:spPr>
          <a:xfrm>
            <a:off x="857250" y="2039189"/>
            <a:ext cx="9779000" cy="483776"/>
          </a:xfrm>
          <a:prstGeom prst="rect">
            <a:avLst/>
          </a:prstGeom>
          <a:noFill/>
          <a:ln/>
        </p:spPr>
        <p:txBody>
          <a:bodyPr wrap="square" lIns="25400" tIns="25400" rIns="25400" bIns="25400" rtlCol="0" anchor="t">
            <a:normAutofit/>
          </a:bodyPr>
          <a:lstStyle/>
          <a:p>
            <a:pPr marL="0" indent="0" algn="l">
              <a:lnSpc>
                <a:spcPct val="131250"/>
              </a:lnSpc>
              <a:buNone/>
            </a:pPr>
            <a:r>
              <a:rPr lang="en-US" sz="1858" dirty="0">
                <a:solidFill>
                  <a:srgbClr val="C7D4E1"/>
                </a:solidFill>
                <a:latin typeface="Arial" pitchFamily="34" charset="0"/>
                <a:ea typeface="Arial" pitchFamily="34" charset="-122"/>
                <a:cs typeface="Arial" pitchFamily="34" charset="-120"/>
              </a:rPr>
              <a:t>Rope access is the </a:t>
            </a:r>
            <a:r>
              <a:rPr lang="en-US" sz="1858" b="1" dirty="0">
                <a:solidFill>
                  <a:srgbClr val="FFFFFF"/>
                </a:solidFill>
                <a:latin typeface="Arial" pitchFamily="34" charset="0"/>
                <a:ea typeface="Arial" pitchFamily="34" charset="-122"/>
                <a:cs typeface="Arial" pitchFamily="34" charset="-120"/>
              </a:rPr>
              <a:t>access method </a:t>
            </a:r>
            <a:r>
              <a:rPr lang="en-US" sz="1858" dirty="0">
                <a:solidFill>
                  <a:srgbClr val="C7D4E1"/>
                </a:solidFill>
                <a:latin typeface="Arial" pitchFamily="34" charset="0"/>
                <a:ea typeface="Arial" pitchFamily="34" charset="-122"/>
                <a:cs typeface="Arial" pitchFamily="34" charset="-120"/>
              </a:rPr>
              <a:t>— professional competence comes from combining it with a trade discipline.</a:t>
            </a:r>
            <a:endParaRPr lang="en-US" sz="1858" dirty="0"/>
          </a:p>
        </p:txBody>
      </p:sp>
      <p:sp>
        <p:nvSpPr>
          <p:cNvPr id="6" name="Shape 4"/>
          <p:cNvSpPr/>
          <p:nvPr/>
        </p:nvSpPr>
        <p:spPr>
          <a:xfrm>
            <a:off x="857250" y="2814556"/>
            <a:ext cx="4861545" cy="1235222"/>
          </a:xfrm>
          <a:prstGeom prst="roundRect">
            <a:avLst>
              <a:gd name="adj" fmla="val 4292"/>
            </a:avLst>
          </a:prstGeom>
          <a:solidFill>
            <a:srgbClr val="0E2A47"/>
          </a:solidFill>
          <a:ln/>
        </p:spPr>
        <p:txBody>
          <a:bodyPr/>
          <a:lstStyle/>
          <a:p>
            <a:endParaRPr lang="en-US"/>
          </a:p>
        </p:txBody>
      </p:sp>
      <p:sp>
        <p:nvSpPr>
          <p:cNvPr id="7" name="Text 5"/>
          <p:cNvSpPr/>
          <p:nvPr/>
        </p:nvSpPr>
        <p:spPr>
          <a:xfrm>
            <a:off x="1085850" y="3106147"/>
            <a:ext cx="4844780" cy="337981"/>
          </a:xfrm>
          <a:prstGeom prst="rect">
            <a:avLst/>
          </a:prstGeom>
          <a:noFill/>
          <a:ln/>
        </p:spPr>
        <p:txBody>
          <a:bodyPr wrap="square" lIns="25400" tIns="25400" rIns="25400" bIns="25400" rtlCol="0" anchor="t">
            <a:normAutofit/>
          </a:bodyPr>
          <a:lstStyle/>
          <a:p>
            <a:pPr marL="0" indent="0" algn="l">
              <a:buNone/>
            </a:pPr>
            <a:r>
              <a:rPr lang="en-US" sz="1681" b="1" dirty="0">
                <a:solidFill>
                  <a:srgbClr val="F26A1B"/>
                </a:solidFill>
                <a:latin typeface="Arial" pitchFamily="34" charset="0"/>
                <a:ea typeface="Arial" pitchFamily="34" charset="-122"/>
                <a:cs typeface="Arial" pitchFamily="34" charset="-120"/>
              </a:rPr>
              <a:t>Inspection &amp; NDT</a:t>
            </a:r>
            <a:endParaRPr lang="en-US" sz="1681" dirty="0"/>
          </a:p>
        </p:txBody>
      </p:sp>
      <p:sp>
        <p:nvSpPr>
          <p:cNvPr id="8" name="Text 6"/>
          <p:cNvSpPr/>
          <p:nvPr/>
        </p:nvSpPr>
        <p:spPr>
          <a:xfrm>
            <a:off x="1085850" y="3470634"/>
            <a:ext cx="4844780" cy="340569"/>
          </a:xfrm>
          <a:prstGeom prst="rect">
            <a:avLst/>
          </a:prstGeom>
          <a:noFill/>
          <a:ln/>
        </p:spPr>
        <p:txBody>
          <a:bodyPr wrap="square" lIns="25400" tIns="25400" rIns="25400" bIns="25400" rtlCol="0" anchor="t">
            <a:normAutofit/>
          </a:bodyPr>
          <a:lstStyle/>
          <a:p>
            <a:pPr marL="0" indent="0" algn="l">
              <a:lnSpc>
                <a:spcPct val="120556"/>
              </a:lnSpc>
              <a:buNone/>
            </a:pPr>
            <a:r>
              <a:rPr lang="en-US" sz="1372" dirty="0">
                <a:solidFill>
                  <a:srgbClr val="A9BACB"/>
                </a:solidFill>
                <a:latin typeface="Arial" pitchFamily="34" charset="0"/>
                <a:ea typeface="Arial" pitchFamily="34" charset="-122"/>
                <a:cs typeface="Arial" pitchFamily="34" charset="-120"/>
              </a:rPr>
              <a:t>Visual, ultrasonic &amp; non-destructive testing of assets at height.</a:t>
            </a:r>
            <a:endParaRPr lang="en-US" sz="1372" dirty="0"/>
          </a:p>
        </p:txBody>
      </p:sp>
      <p:sp>
        <p:nvSpPr>
          <p:cNvPr id="9" name="Shape 7"/>
          <p:cNvSpPr/>
          <p:nvPr/>
        </p:nvSpPr>
        <p:spPr>
          <a:xfrm>
            <a:off x="5871195" y="2814556"/>
            <a:ext cx="4861545" cy="1235222"/>
          </a:xfrm>
          <a:prstGeom prst="roundRect">
            <a:avLst>
              <a:gd name="adj" fmla="val 4292"/>
            </a:avLst>
          </a:prstGeom>
          <a:solidFill>
            <a:srgbClr val="0E2A47"/>
          </a:solidFill>
          <a:ln/>
        </p:spPr>
        <p:txBody>
          <a:bodyPr/>
          <a:lstStyle/>
          <a:p>
            <a:endParaRPr lang="en-US"/>
          </a:p>
        </p:txBody>
      </p:sp>
      <p:sp>
        <p:nvSpPr>
          <p:cNvPr id="10" name="Text 8"/>
          <p:cNvSpPr/>
          <p:nvPr/>
        </p:nvSpPr>
        <p:spPr>
          <a:xfrm>
            <a:off x="6099795" y="3106147"/>
            <a:ext cx="4844780" cy="337981"/>
          </a:xfrm>
          <a:prstGeom prst="rect">
            <a:avLst/>
          </a:prstGeom>
          <a:noFill/>
          <a:ln/>
        </p:spPr>
        <p:txBody>
          <a:bodyPr wrap="square" lIns="25400" tIns="25400" rIns="25400" bIns="25400" rtlCol="0" anchor="t">
            <a:normAutofit/>
          </a:bodyPr>
          <a:lstStyle/>
          <a:p>
            <a:pPr marL="0" indent="0" algn="l">
              <a:buNone/>
            </a:pPr>
            <a:r>
              <a:rPr lang="en-US" sz="1681" b="1" dirty="0">
                <a:solidFill>
                  <a:srgbClr val="F26A1B"/>
                </a:solidFill>
                <a:latin typeface="Arial" pitchFamily="34" charset="0"/>
                <a:ea typeface="Arial" pitchFamily="34" charset="-122"/>
                <a:cs typeface="Arial" pitchFamily="34" charset="-120"/>
              </a:rPr>
              <a:t>Maintenance</a:t>
            </a:r>
            <a:endParaRPr lang="en-US" sz="1681" dirty="0"/>
          </a:p>
        </p:txBody>
      </p:sp>
      <p:sp>
        <p:nvSpPr>
          <p:cNvPr id="11" name="Text 9"/>
          <p:cNvSpPr/>
          <p:nvPr/>
        </p:nvSpPr>
        <p:spPr>
          <a:xfrm>
            <a:off x="6099795" y="3470634"/>
            <a:ext cx="4844780" cy="340569"/>
          </a:xfrm>
          <a:prstGeom prst="rect">
            <a:avLst/>
          </a:prstGeom>
          <a:noFill/>
          <a:ln/>
        </p:spPr>
        <p:txBody>
          <a:bodyPr wrap="square" lIns="25400" tIns="25400" rIns="25400" bIns="25400" rtlCol="0" anchor="t">
            <a:normAutofit/>
          </a:bodyPr>
          <a:lstStyle/>
          <a:p>
            <a:pPr marL="0" indent="0" algn="l">
              <a:lnSpc>
                <a:spcPct val="120556"/>
              </a:lnSpc>
              <a:buNone/>
            </a:pPr>
            <a:r>
              <a:rPr lang="en-US" sz="1372" dirty="0">
                <a:solidFill>
                  <a:srgbClr val="A9BACB"/>
                </a:solidFill>
                <a:latin typeface="Arial" pitchFamily="34" charset="0"/>
                <a:ea typeface="Arial" pitchFamily="34" charset="-122"/>
                <a:cs typeface="Arial" pitchFamily="34" charset="-120"/>
              </a:rPr>
              <a:t>Mechanical &amp; structural maintenance in hard-to-reach locations.</a:t>
            </a:r>
            <a:endParaRPr lang="en-US" sz="1372" dirty="0"/>
          </a:p>
        </p:txBody>
      </p:sp>
      <p:sp>
        <p:nvSpPr>
          <p:cNvPr id="12" name="Shape 10"/>
          <p:cNvSpPr/>
          <p:nvPr/>
        </p:nvSpPr>
        <p:spPr>
          <a:xfrm>
            <a:off x="857250" y="4261844"/>
            <a:ext cx="4861545" cy="1235222"/>
          </a:xfrm>
          <a:prstGeom prst="roundRect">
            <a:avLst>
              <a:gd name="adj" fmla="val 4292"/>
            </a:avLst>
          </a:prstGeom>
          <a:solidFill>
            <a:srgbClr val="0E2A47"/>
          </a:solidFill>
          <a:ln/>
        </p:spPr>
        <p:txBody>
          <a:bodyPr/>
          <a:lstStyle/>
          <a:p>
            <a:endParaRPr lang="en-US"/>
          </a:p>
        </p:txBody>
      </p:sp>
      <p:sp>
        <p:nvSpPr>
          <p:cNvPr id="13" name="Text 11"/>
          <p:cNvSpPr/>
          <p:nvPr/>
        </p:nvSpPr>
        <p:spPr>
          <a:xfrm>
            <a:off x="1085850" y="4553435"/>
            <a:ext cx="4844780" cy="337981"/>
          </a:xfrm>
          <a:prstGeom prst="rect">
            <a:avLst/>
          </a:prstGeom>
          <a:noFill/>
          <a:ln/>
        </p:spPr>
        <p:txBody>
          <a:bodyPr wrap="square" lIns="25400" tIns="25400" rIns="25400" bIns="25400" rtlCol="0" anchor="t">
            <a:normAutofit/>
          </a:bodyPr>
          <a:lstStyle/>
          <a:p>
            <a:pPr marL="0" indent="0" algn="l">
              <a:buNone/>
            </a:pPr>
            <a:r>
              <a:rPr lang="en-US" sz="1681" b="1" dirty="0">
                <a:solidFill>
                  <a:srgbClr val="F26A1B"/>
                </a:solidFill>
                <a:latin typeface="Arial" pitchFamily="34" charset="0"/>
                <a:ea typeface="Arial" pitchFamily="34" charset="-122"/>
                <a:cs typeface="Arial" pitchFamily="34" charset="-120"/>
              </a:rPr>
              <a:t>Construction &amp; Install</a:t>
            </a:r>
            <a:endParaRPr lang="en-US" sz="1681" dirty="0"/>
          </a:p>
        </p:txBody>
      </p:sp>
      <p:sp>
        <p:nvSpPr>
          <p:cNvPr id="14" name="Text 12"/>
          <p:cNvSpPr/>
          <p:nvPr/>
        </p:nvSpPr>
        <p:spPr>
          <a:xfrm>
            <a:off x="1085850" y="4917923"/>
            <a:ext cx="4844780" cy="340569"/>
          </a:xfrm>
          <a:prstGeom prst="rect">
            <a:avLst/>
          </a:prstGeom>
          <a:noFill/>
          <a:ln/>
        </p:spPr>
        <p:txBody>
          <a:bodyPr wrap="square" lIns="25400" tIns="25400" rIns="25400" bIns="25400" rtlCol="0" anchor="t">
            <a:normAutofit/>
          </a:bodyPr>
          <a:lstStyle/>
          <a:p>
            <a:pPr marL="0" indent="0" algn="l">
              <a:lnSpc>
                <a:spcPct val="120556"/>
              </a:lnSpc>
              <a:buNone/>
            </a:pPr>
            <a:r>
              <a:rPr lang="en-US" sz="1372" dirty="0">
                <a:solidFill>
                  <a:srgbClr val="A9BACB"/>
                </a:solidFill>
                <a:latin typeface="Arial" pitchFamily="34" charset="0"/>
                <a:ea typeface="Arial" pitchFamily="34" charset="-122"/>
                <a:cs typeface="Arial" pitchFamily="34" charset="-120"/>
              </a:rPr>
              <a:t>Installation and assembly tasks on complex structures.</a:t>
            </a:r>
            <a:endParaRPr lang="en-US" sz="1372" dirty="0"/>
          </a:p>
        </p:txBody>
      </p:sp>
      <p:sp>
        <p:nvSpPr>
          <p:cNvPr id="15" name="Shape 13"/>
          <p:cNvSpPr/>
          <p:nvPr/>
        </p:nvSpPr>
        <p:spPr>
          <a:xfrm>
            <a:off x="5871195" y="4261844"/>
            <a:ext cx="4861545" cy="1235222"/>
          </a:xfrm>
          <a:prstGeom prst="roundRect">
            <a:avLst>
              <a:gd name="adj" fmla="val 4292"/>
            </a:avLst>
          </a:prstGeom>
          <a:solidFill>
            <a:srgbClr val="0E2A47"/>
          </a:solidFill>
          <a:ln/>
        </p:spPr>
        <p:txBody>
          <a:bodyPr/>
          <a:lstStyle/>
          <a:p>
            <a:endParaRPr lang="en-US"/>
          </a:p>
        </p:txBody>
      </p:sp>
      <p:sp>
        <p:nvSpPr>
          <p:cNvPr id="16" name="Text 14"/>
          <p:cNvSpPr/>
          <p:nvPr/>
        </p:nvSpPr>
        <p:spPr>
          <a:xfrm>
            <a:off x="6099795" y="4553435"/>
            <a:ext cx="4844780" cy="337981"/>
          </a:xfrm>
          <a:prstGeom prst="rect">
            <a:avLst/>
          </a:prstGeom>
          <a:noFill/>
          <a:ln/>
        </p:spPr>
        <p:txBody>
          <a:bodyPr wrap="square" lIns="25400" tIns="25400" rIns="25400" bIns="25400" rtlCol="0" anchor="t">
            <a:normAutofit/>
          </a:bodyPr>
          <a:lstStyle/>
          <a:p>
            <a:pPr marL="0" indent="0" algn="l">
              <a:buNone/>
            </a:pPr>
            <a:r>
              <a:rPr lang="en-US" sz="1681" b="1" dirty="0">
                <a:solidFill>
                  <a:srgbClr val="F26A1B"/>
                </a:solidFill>
                <a:latin typeface="Arial" pitchFamily="34" charset="0"/>
                <a:ea typeface="Arial" pitchFamily="34" charset="-122"/>
                <a:cs typeface="Arial" pitchFamily="34" charset="-120"/>
              </a:rPr>
              <a:t>Coating &amp; Blasting</a:t>
            </a:r>
            <a:endParaRPr lang="en-US" sz="1681" dirty="0"/>
          </a:p>
        </p:txBody>
      </p:sp>
      <p:sp>
        <p:nvSpPr>
          <p:cNvPr id="17" name="Text 15"/>
          <p:cNvSpPr/>
          <p:nvPr/>
        </p:nvSpPr>
        <p:spPr>
          <a:xfrm>
            <a:off x="6099795" y="4917923"/>
            <a:ext cx="4844780" cy="340569"/>
          </a:xfrm>
          <a:prstGeom prst="rect">
            <a:avLst/>
          </a:prstGeom>
          <a:noFill/>
          <a:ln/>
        </p:spPr>
        <p:txBody>
          <a:bodyPr wrap="square" lIns="25400" tIns="25400" rIns="25400" bIns="25400" rtlCol="0" anchor="t">
            <a:normAutofit/>
          </a:bodyPr>
          <a:lstStyle/>
          <a:p>
            <a:pPr marL="0" indent="0" algn="l">
              <a:lnSpc>
                <a:spcPct val="120556"/>
              </a:lnSpc>
              <a:buNone/>
            </a:pPr>
            <a:r>
              <a:rPr lang="en-US" sz="1372" dirty="0">
                <a:solidFill>
                  <a:srgbClr val="A9BACB"/>
                </a:solidFill>
                <a:latin typeface="Arial" pitchFamily="34" charset="0"/>
                <a:ea typeface="Arial" pitchFamily="34" charset="-122"/>
                <a:cs typeface="Arial" pitchFamily="34" charset="-120"/>
              </a:rPr>
              <a:t>Surface preparation, painting &amp; protective coating support.</a:t>
            </a:r>
            <a:endParaRPr lang="en-US" sz="1372" dirty="0"/>
          </a:p>
        </p:txBody>
      </p:sp>
      <p:sp>
        <p:nvSpPr>
          <p:cNvPr id="18" name="Shape 16"/>
          <p:cNvSpPr/>
          <p:nvPr/>
        </p:nvSpPr>
        <p:spPr>
          <a:xfrm>
            <a:off x="10847115" y="2039189"/>
            <a:ext cx="6583635" cy="7422311"/>
          </a:xfrm>
          <a:prstGeom prst="roundRect">
            <a:avLst>
              <a:gd name="adj" fmla="val 1071"/>
            </a:avLst>
          </a:prstGeom>
          <a:solidFill>
            <a:srgbClr val="F26A1B"/>
          </a:solidFill>
          <a:ln/>
        </p:spPr>
        <p:txBody>
          <a:bodyPr/>
          <a:lstStyle/>
          <a:p>
            <a:endParaRPr lang="en-US"/>
          </a:p>
        </p:txBody>
      </p:sp>
      <p:sp>
        <p:nvSpPr>
          <p:cNvPr id="19" name="Text 17"/>
          <p:cNvSpPr/>
          <p:nvPr/>
        </p:nvSpPr>
        <p:spPr>
          <a:xfrm>
            <a:off x="11209065" y="2489829"/>
            <a:ext cx="6445709" cy="231948"/>
          </a:xfrm>
          <a:prstGeom prst="rect">
            <a:avLst/>
          </a:prstGeom>
          <a:noFill/>
          <a:ln/>
        </p:spPr>
        <p:txBody>
          <a:bodyPr wrap="square" lIns="25400" tIns="25400" rIns="25400" bIns="25400" rtlCol="0" anchor="t">
            <a:normAutofit/>
          </a:bodyPr>
          <a:lstStyle/>
          <a:p>
            <a:pPr marL="0" indent="0" algn="l">
              <a:buNone/>
            </a:pPr>
            <a:r>
              <a:rPr lang="en-US" sz="1062" b="1" kern="0" spc="162" dirty="0">
                <a:solidFill>
                  <a:srgbClr val="3A1F0C"/>
                </a:solidFill>
                <a:latin typeface="Courier New" pitchFamily="34" charset="0"/>
                <a:ea typeface="Courier New" pitchFamily="34" charset="-122"/>
                <a:cs typeface="Courier New" pitchFamily="34" charset="-120"/>
              </a:rPr>
              <a:t>CASE STUDY</a:t>
            </a:r>
            <a:endParaRPr lang="en-US" sz="1062" dirty="0"/>
          </a:p>
        </p:txBody>
      </p:sp>
      <p:sp>
        <p:nvSpPr>
          <p:cNvPr id="20" name="Text 18"/>
          <p:cNvSpPr/>
          <p:nvPr/>
        </p:nvSpPr>
        <p:spPr>
          <a:xfrm>
            <a:off x="11209065" y="2854318"/>
            <a:ext cx="6445709" cy="530165"/>
          </a:xfrm>
          <a:prstGeom prst="rect">
            <a:avLst/>
          </a:prstGeom>
          <a:noFill/>
          <a:ln/>
        </p:spPr>
        <p:txBody>
          <a:bodyPr wrap="square" lIns="25400" tIns="25400" rIns="25400" bIns="25400" rtlCol="0" anchor="t">
            <a:normAutofit/>
          </a:bodyPr>
          <a:lstStyle/>
          <a:p>
            <a:pPr marL="0" indent="0" algn="l">
              <a:lnSpc>
                <a:spcPct val="104348"/>
              </a:lnSpc>
              <a:buNone/>
            </a:pPr>
            <a:r>
              <a:rPr lang="en-US" sz="2654" b="1" dirty="0">
                <a:solidFill>
                  <a:srgbClr val="0A1B2E"/>
                </a:solidFill>
                <a:latin typeface="Arial" pitchFamily="34" charset="0"/>
                <a:ea typeface="Arial" pitchFamily="34" charset="-122"/>
                <a:cs typeface="Arial" pitchFamily="34" charset="-120"/>
              </a:rPr>
              <a:t>Refinery Turnaround</a:t>
            </a:r>
            <a:endParaRPr lang="en-US" sz="2654" dirty="0"/>
          </a:p>
        </p:txBody>
      </p:sp>
      <p:sp>
        <p:nvSpPr>
          <p:cNvPr id="21" name="Text 19"/>
          <p:cNvSpPr/>
          <p:nvPr/>
        </p:nvSpPr>
        <p:spPr>
          <a:xfrm>
            <a:off x="11209065" y="3570041"/>
            <a:ext cx="6035527" cy="1162325"/>
          </a:xfrm>
          <a:prstGeom prst="rect">
            <a:avLst/>
          </a:prstGeom>
          <a:noFill/>
          <a:ln/>
        </p:spPr>
        <p:txBody>
          <a:bodyPr wrap="square" lIns="25400" tIns="25400" rIns="25400" bIns="25400" rtlCol="0" anchor="t">
            <a:normAutofit/>
          </a:bodyPr>
          <a:lstStyle/>
          <a:p>
            <a:pPr marL="0" indent="0" algn="l">
              <a:lnSpc>
                <a:spcPct val="132857"/>
              </a:lnSpc>
              <a:buNone/>
            </a:pPr>
            <a:r>
              <a:rPr lang="en-US" sz="1592" dirty="0">
                <a:solidFill>
                  <a:srgbClr val="3A1F0C"/>
                </a:solidFill>
                <a:latin typeface="Arial" pitchFamily="34" charset="0"/>
                <a:ea typeface="Arial" pitchFamily="34" charset="-122"/>
                <a:cs typeface="Arial" pitchFamily="34" charset="-120"/>
              </a:rPr>
              <a:t>Rope access crews completed inspection &amp; maintenance scopes in a fraction of the time and cost of scaffold-based access — returning the unit to production faster.</a:t>
            </a:r>
            <a:endParaRPr lang="en-US" sz="1592" dirty="0"/>
          </a:p>
        </p:txBody>
      </p:sp>
      <p:sp>
        <p:nvSpPr>
          <p:cNvPr id="22" name="Shape 20"/>
          <p:cNvSpPr/>
          <p:nvPr/>
        </p:nvSpPr>
        <p:spPr>
          <a:xfrm>
            <a:off x="11209065" y="7990292"/>
            <a:ext cx="5859735" cy="13254"/>
          </a:xfrm>
          <a:prstGeom prst="rect">
            <a:avLst/>
          </a:prstGeom>
          <a:solidFill>
            <a:srgbClr val="0A1B2E">
              <a:alpha val="25000"/>
            </a:srgbClr>
          </a:solidFill>
          <a:ln/>
        </p:spPr>
        <p:txBody>
          <a:bodyPr/>
          <a:lstStyle/>
          <a:p>
            <a:endParaRPr lang="en-US"/>
          </a:p>
        </p:txBody>
      </p:sp>
      <p:sp>
        <p:nvSpPr>
          <p:cNvPr id="23" name="Text 21"/>
          <p:cNvSpPr/>
          <p:nvPr/>
        </p:nvSpPr>
        <p:spPr>
          <a:xfrm>
            <a:off x="11209065" y="8295137"/>
            <a:ext cx="3128516" cy="556673"/>
          </a:xfrm>
          <a:prstGeom prst="rect">
            <a:avLst/>
          </a:prstGeom>
          <a:noFill/>
          <a:ln/>
        </p:spPr>
        <p:txBody>
          <a:bodyPr wrap="square" lIns="25400" tIns="25400" rIns="25400" bIns="25400" rtlCol="0" anchor="t">
            <a:normAutofit/>
          </a:bodyPr>
          <a:lstStyle/>
          <a:p>
            <a:pPr marL="0" indent="0" algn="l">
              <a:lnSpc>
                <a:spcPct val="87356"/>
              </a:lnSpc>
              <a:buNone/>
            </a:pPr>
            <a:r>
              <a:rPr lang="en-US" sz="3362" b="1" dirty="0">
                <a:solidFill>
                  <a:srgbClr val="0A1B2E"/>
                </a:solidFill>
                <a:latin typeface="Arial" pitchFamily="34" charset="0"/>
                <a:ea typeface="Arial" pitchFamily="34" charset="-122"/>
                <a:cs typeface="Arial" pitchFamily="34" charset="-120"/>
              </a:rPr>
              <a:t>62%</a:t>
            </a:r>
            <a:endParaRPr lang="en-US" sz="3362" dirty="0"/>
          </a:p>
        </p:txBody>
      </p:sp>
      <p:sp>
        <p:nvSpPr>
          <p:cNvPr id="24" name="Text 22"/>
          <p:cNvSpPr/>
          <p:nvPr/>
        </p:nvSpPr>
        <p:spPr>
          <a:xfrm>
            <a:off x="11209065" y="8798794"/>
            <a:ext cx="3128516" cy="265083"/>
          </a:xfrm>
          <a:prstGeom prst="rect">
            <a:avLst/>
          </a:prstGeom>
          <a:noFill/>
          <a:ln/>
        </p:spPr>
        <p:txBody>
          <a:bodyPr wrap="square" lIns="25400" tIns="25400" rIns="25400" bIns="25400" rtlCol="0" anchor="t">
            <a:normAutofit/>
          </a:bodyPr>
          <a:lstStyle/>
          <a:p>
            <a:pPr marL="0" indent="0" algn="l">
              <a:buNone/>
            </a:pPr>
            <a:r>
              <a:rPr lang="en-US" sz="1239" b="1" dirty="0">
                <a:solidFill>
                  <a:srgbClr val="3A1F0C"/>
                </a:solidFill>
                <a:latin typeface="Arial" pitchFamily="34" charset="0"/>
                <a:ea typeface="Arial" pitchFamily="34" charset="-122"/>
                <a:cs typeface="Arial" pitchFamily="34" charset="-120"/>
              </a:rPr>
              <a:t>lower cost</a:t>
            </a:r>
            <a:endParaRPr lang="en-US" sz="1239" dirty="0"/>
          </a:p>
        </p:txBody>
      </p:sp>
      <p:sp>
        <p:nvSpPr>
          <p:cNvPr id="25" name="Text 23"/>
          <p:cNvSpPr/>
          <p:nvPr/>
        </p:nvSpPr>
        <p:spPr>
          <a:xfrm>
            <a:off x="14224620" y="8295137"/>
            <a:ext cx="3128598" cy="556673"/>
          </a:xfrm>
          <a:prstGeom prst="rect">
            <a:avLst/>
          </a:prstGeom>
          <a:noFill/>
          <a:ln/>
        </p:spPr>
        <p:txBody>
          <a:bodyPr wrap="square" lIns="25400" tIns="25400" rIns="25400" bIns="25400" rtlCol="0" anchor="t">
            <a:normAutofit/>
          </a:bodyPr>
          <a:lstStyle/>
          <a:p>
            <a:pPr marL="0" indent="0" algn="l">
              <a:lnSpc>
                <a:spcPct val="87356"/>
              </a:lnSpc>
              <a:buNone/>
            </a:pPr>
            <a:r>
              <a:rPr lang="en-US" sz="3362" b="1" dirty="0">
                <a:solidFill>
                  <a:srgbClr val="0A1B2E"/>
                </a:solidFill>
                <a:latin typeface="Arial" pitchFamily="34" charset="0"/>
                <a:ea typeface="Arial" pitchFamily="34" charset="-122"/>
                <a:cs typeface="Arial" pitchFamily="34" charset="-120"/>
              </a:rPr>
              <a:t>Hours</a:t>
            </a:r>
            <a:endParaRPr lang="en-US" sz="3362" dirty="0"/>
          </a:p>
        </p:txBody>
      </p:sp>
      <p:sp>
        <p:nvSpPr>
          <p:cNvPr id="26" name="Text 24"/>
          <p:cNvSpPr/>
          <p:nvPr/>
        </p:nvSpPr>
        <p:spPr>
          <a:xfrm>
            <a:off x="14224620" y="8798794"/>
            <a:ext cx="3128598" cy="265083"/>
          </a:xfrm>
          <a:prstGeom prst="rect">
            <a:avLst/>
          </a:prstGeom>
          <a:noFill/>
          <a:ln/>
        </p:spPr>
        <p:txBody>
          <a:bodyPr wrap="square" lIns="25400" tIns="25400" rIns="25400" bIns="25400" rtlCol="0" anchor="t">
            <a:normAutofit/>
          </a:bodyPr>
          <a:lstStyle/>
          <a:p>
            <a:pPr marL="0" indent="0" algn="l">
              <a:buNone/>
            </a:pPr>
            <a:r>
              <a:rPr lang="en-US" sz="1239" b="1" dirty="0">
                <a:solidFill>
                  <a:srgbClr val="3A1F0C"/>
                </a:solidFill>
                <a:latin typeface="Arial" pitchFamily="34" charset="0"/>
                <a:ea typeface="Arial" pitchFamily="34" charset="-122"/>
                <a:cs typeface="Arial" pitchFamily="34" charset="-120"/>
              </a:rPr>
              <a:t>to mobilize</a:t>
            </a:r>
            <a:endParaRPr lang="en-US" sz="1239" dirty="0"/>
          </a:p>
        </p:txBody>
      </p:sp>
      <p:sp>
        <p:nvSpPr>
          <p:cNvPr id="27" name="Shape 25"/>
          <p:cNvSpPr/>
          <p:nvPr/>
        </p:nvSpPr>
        <p:spPr>
          <a:xfrm>
            <a:off x="0" y="9753600"/>
            <a:ext cx="18288000" cy="9525"/>
          </a:xfrm>
          <a:prstGeom prst="rect">
            <a:avLst/>
          </a:prstGeom>
          <a:solidFill>
            <a:srgbClr val="1C3551"/>
          </a:solidFill>
          <a:ln/>
        </p:spPr>
        <p:txBody>
          <a:bodyPr/>
          <a:lstStyle/>
          <a:p>
            <a:endParaRPr lang="en-US"/>
          </a:p>
        </p:txBody>
      </p:sp>
      <p:sp>
        <p:nvSpPr>
          <p:cNvPr id="28" name="Text 26"/>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9" name="Text 27"/>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WHY ROPE ACCESS</a:t>
            </a:r>
            <a:endParaRPr lang="en-US" sz="900" dirty="0"/>
          </a:p>
        </p:txBody>
      </p:sp>
      <p:sp>
        <p:nvSpPr>
          <p:cNvPr id="30" name="Text 28"/>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52450"/>
            <a:ext cx="11272071"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CLASSROOM</a:t>
            </a:r>
            <a:endParaRPr lang="en-US" sz="975" dirty="0"/>
          </a:p>
        </p:txBody>
      </p:sp>
      <p:sp>
        <p:nvSpPr>
          <p:cNvPr id="3" name="Text 1"/>
          <p:cNvSpPr/>
          <p:nvPr/>
        </p:nvSpPr>
        <p:spPr>
          <a:xfrm>
            <a:off x="857250" y="819150"/>
            <a:ext cx="11702711"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1–2 Hour Classroom — Foundations, Equipment &amp; Basic Rope Skills</a:t>
            </a:r>
            <a:endParaRPr lang="en-US" sz="2700" dirty="0"/>
          </a:p>
        </p:txBody>
      </p:sp>
      <p:sp>
        <p:nvSpPr>
          <p:cNvPr id="52" name="Shape 50"/>
          <p:cNvSpPr/>
          <p:nvPr/>
        </p:nvSpPr>
        <p:spPr>
          <a:xfrm>
            <a:off x="857250" y="9115425"/>
            <a:ext cx="16573500" cy="485775"/>
          </a:xfrm>
          <a:prstGeom prst="roundRect">
            <a:avLst>
              <a:gd name="adj" fmla="val 7843"/>
            </a:avLst>
          </a:prstGeom>
          <a:solidFill>
            <a:srgbClr val="0E2A47"/>
          </a:solidFill>
          <a:ln/>
        </p:spPr>
        <p:txBody>
          <a:bodyPr/>
          <a:lstStyle/>
          <a:p>
            <a:endParaRPr lang="en-US"/>
          </a:p>
        </p:txBody>
      </p:sp>
      <p:sp>
        <p:nvSpPr>
          <p:cNvPr id="53" name="Text 51"/>
          <p:cNvSpPr/>
          <p:nvPr/>
        </p:nvSpPr>
        <p:spPr>
          <a:xfrm>
            <a:off x="1104900" y="9298781"/>
            <a:ext cx="1310155" cy="157163"/>
          </a:xfrm>
          <a:prstGeom prst="rect">
            <a:avLst/>
          </a:prstGeom>
          <a:noFill/>
          <a:ln/>
        </p:spPr>
        <p:txBody>
          <a:bodyPr wrap="non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INSTRUCTOR NOTE</a:t>
            </a:r>
            <a:endParaRPr lang="en-US" sz="825" dirty="0"/>
          </a:p>
        </p:txBody>
      </p:sp>
      <p:sp>
        <p:nvSpPr>
          <p:cNvPr id="54" name="Text 52"/>
          <p:cNvSpPr/>
          <p:nvPr/>
        </p:nvSpPr>
        <p:spPr>
          <a:xfrm>
            <a:off x="2458566" y="9258300"/>
            <a:ext cx="9236162" cy="238125"/>
          </a:xfrm>
          <a:prstGeom prst="rect">
            <a:avLst/>
          </a:prstGeom>
          <a:noFill/>
          <a:ln/>
        </p:spPr>
        <p:txBody>
          <a:bodyPr wrap="square" lIns="25400" tIns="25400" rIns="25400" bIns="25400" rtlCol="0" anchor="t">
            <a:normAutofit/>
          </a:bodyPr>
          <a:lstStyle/>
          <a:p>
            <a:pPr marL="0" indent="0" algn="l">
              <a:lnSpc>
                <a:spcPct val="123529"/>
              </a:lnSpc>
              <a:buNone/>
            </a:pPr>
            <a:r>
              <a:rPr lang="en-US" sz="1125" dirty="0">
                <a:solidFill>
                  <a:srgbClr val="C7D4E1"/>
                </a:solidFill>
                <a:latin typeface="Arial" pitchFamily="34" charset="0"/>
                <a:ea typeface="Arial" pitchFamily="34" charset="-122"/>
                <a:cs typeface="Arial" pitchFamily="34" charset="-120"/>
              </a:rPr>
              <a:t>Do not rush the classroom portion. Use trainee questions and site examples to connect each concept to the practical stations that follow.</a:t>
            </a:r>
            <a:endParaRPr lang="en-US" sz="1125" dirty="0"/>
          </a:p>
        </p:txBody>
      </p:sp>
      <p:sp>
        <p:nvSpPr>
          <p:cNvPr id="55" name="Shape 53"/>
          <p:cNvSpPr/>
          <p:nvPr/>
        </p:nvSpPr>
        <p:spPr>
          <a:xfrm>
            <a:off x="0" y="9753600"/>
            <a:ext cx="18288000" cy="9525"/>
          </a:xfrm>
          <a:prstGeom prst="rect">
            <a:avLst/>
          </a:prstGeom>
          <a:solidFill>
            <a:srgbClr val="E1E6EC"/>
          </a:solidFill>
          <a:ln/>
        </p:spPr>
        <p:txBody>
          <a:bodyPr/>
          <a:lstStyle/>
          <a:p>
            <a:endParaRPr lang="en-US"/>
          </a:p>
        </p:txBody>
      </p:sp>
      <p:sp>
        <p:nvSpPr>
          <p:cNvPr id="56" name="Text 5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7" name="Text 5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 · AGENDA</a:t>
            </a:r>
            <a:endParaRPr lang="en-US" sz="900" dirty="0"/>
          </a:p>
        </p:txBody>
      </p:sp>
      <p:sp>
        <p:nvSpPr>
          <p:cNvPr id="58" name="Text 5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a:t>
            </a:r>
            <a:endParaRPr lang="en-US" sz="900" dirty="0"/>
          </a:p>
        </p:txBody>
      </p:sp>
      <p:sp>
        <p:nvSpPr>
          <p:cNvPr id="701" name="Shape 701"/>
          <p:cNvSpPr/>
          <p:nvPr/>
        </p:nvSpPr>
        <p:spPr>
          <a:xfrm>
            <a:off x="857250" y="4132527"/>
            <a:ext cx="8159750" cy="19050"/>
          </a:xfrm>
          <a:prstGeom prst="rect">
            <a:avLst/>
          </a:prstGeom>
          <a:solidFill>
            <a:srgbClr val="E2E7ED"/>
          </a:solidFill>
          <a:ln>
            <a:noFill/>
          </a:ln>
        </p:spPr>
        <p:txBody>
          <a:bodyPr/>
          <a:lstStyle/>
          <a:p>
            <a:endParaRPr lang="en-US"/>
          </a:p>
        </p:txBody>
      </p:sp>
      <p:sp>
        <p:nvSpPr>
          <p:cNvPr id="702" name="Shape 702"/>
          <p:cNvSpPr/>
          <p:nvPr/>
        </p:nvSpPr>
        <p:spPr>
          <a:xfrm>
            <a:off x="857250" y="1905000"/>
            <a:ext cx="8159750" cy="2227527"/>
          </a:xfrm>
          <a:prstGeom prst="rect">
            <a:avLst/>
          </a:prstGeom>
          <a:solidFill>
            <a:srgbClr val="FFFFFF"/>
          </a:solidFill>
          <a:ln>
            <a:noFill/>
          </a:ln>
        </p:spPr>
        <p:txBody>
          <a:bodyPr/>
          <a:lstStyle/>
          <a:p>
            <a:endParaRPr lang="en-US"/>
          </a:p>
        </p:txBody>
      </p:sp>
      <p:sp>
        <p:nvSpPr>
          <p:cNvPr id="703" name="Shape 703"/>
          <p:cNvSpPr/>
          <p:nvPr/>
        </p:nvSpPr>
        <p:spPr>
          <a:xfrm>
            <a:off x="857250" y="1905000"/>
            <a:ext cx="76200" cy="2227527"/>
          </a:xfrm>
          <a:prstGeom prst="rect">
            <a:avLst/>
          </a:prstGeom>
          <a:solidFill>
            <a:srgbClr val="F26A1B"/>
          </a:solidFill>
          <a:ln>
            <a:noFill/>
          </a:ln>
        </p:spPr>
        <p:txBody>
          <a:bodyPr/>
          <a:lstStyle/>
          <a:p>
            <a:endParaRPr lang="en-US"/>
          </a:p>
        </p:txBody>
      </p:sp>
      <p:sp>
        <p:nvSpPr>
          <p:cNvPr id="704" name="Text 704"/>
          <p:cNvSpPr txBox="1"/>
          <p:nvPr/>
        </p:nvSpPr>
        <p:spPr>
          <a:xfrm>
            <a:off x="121285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01</a:t>
            </a:r>
          </a:p>
        </p:txBody>
      </p:sp>
      <p:sp>
        <p:nvSpPr>
          <p:cNvPr id="705" name="Text 705"/>
          <p:cNvSpPr txBox="1"/>
          <p:nvPr/>
        </p:nvSpPr>
        <p:spPr>
          <a:xfrm>
            <a:off x="207645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Course orientation &amp; JSA</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Who can stop the work — and when?</a:t>
            </a:r>
          </a:p>
        </p:txBody>
      </p:sp>
      <p:sp>
        <p:nvSpPr>
          <p:cNvPr id="706" name="Shape 706"/>
          <p:cNvSpPr/>
          <p:nvPr/>
        </p:nvSpPr>
        <p:spPr>
          <a:xfrm>
            <a:off x="9271000" y="4132527"/>
            <a:ext cx="8159750" cy="19050"/>
          </a:xfrm>
          <a:prstGeom prst="rect">
            <a:avLst/>
          </a:prstGeom>
          <a:solidFill>
            <a:srgbClr val="E2E7ED"/>
          </a:solidFill>
          <a:ln>
            <a:noFill/>
          </a:ln>
        </p:spPr>
        <p:txBody>
          <a:bodyPr/>
          <a:lstStyle/>
          <a:p>
            <a:endParaRPr lang="en-US"/>
          </a:p>
        </p:txBody>
      </p:sp>
      <p:sp>
        <p:nvSpPr>
          <p:cNvPr id="707" name="Shape 707"/>
          <p:cNvSpPr/>
          <p:nvPr/>
        </p:nvSpPr>
        <p:spPr>
          <a:xfrm>
            <a:off x="9271000" y="1905000"/>
            <a:ext cx="8159750" cy="2227527"/>
          </a:xfrm>
          <a:prstGeom prst="rect">
            <a:avLst/>
          </a:prstGeom>
          <a:solidFill>
            <a:srgbClr val="FFFFFF"/>
          </a:solidFill>
          <a:ln>
            <a:noFill/>
          </a:ln>
        </p:spPr>
        <p:txBody>
          <a:bodyPr/>
          <a:lstStyle/>
          <a:p>
            <a:endParaRPr lang="en-US"/>
          </a:p>
        </p:txBody>
      </p:sp>
      <p:sp>
        <p:nvSpPr>
          <p:cNvPr id="708" name="Shape 708"/>
          <p:cNvSpPr/>
          <p:nvPr/>
        </p:nvSpPr>
        <p:spPr>
          <a:xfrm>
            <a:off x="9271000" y="1905000"/>
            <a:ext cx="76200" cy="2227527"/>
          </a:xfrm>
          <a:prstGeom prst="rect">
            <a:avLst/>
          </a:prstGeom>
          <a:solidFill>
            <a:srgbClr val="F26A1B"/>
          </a:solidFill>
          <a:ln>
            <a:noFill/>
          </a:ln>
        </p:spPr>
        <p:txBody>
          <a:bodyPr/>
          <a:lstStyle/>
          <a:p>
            <a:endParaRPr lang="en-US"/>
          </a:p>
        </p:txBody>
      </p:sp>
      <p:sp>
        <p:nvSpPr>
          <p:cNvPr id="709" name="Text 709"/>
          <p:cNvSpPr txBox="1"/>
          <p:nvPr/>
        </p:nvSpPr>
        <p:spPr>
          <a:xfrm>
            <a:off x="962660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02</a:t>
            </a:r>
          </a:p>
        </p:txBody>
      </p:sp>
      <p:sp>
        <p:nvSpPr>
          <p:cNvPr id="710" name="Text 710"/>
          <p:cNvSpPr txBox="1"/>
          <p:nvPr/>
        </p:nvSpPr>
        <p:spPr>
          <a:xfrm>
            <a:off x="1049020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Rope-access foundations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fails if one rope is cut?</a:t>
            </a:r>
          </a:p>
        </p:txBody>
      </p:sp>
      <p:sp>
        <p:nvSpPr>
          <p:cNvPr id="711" name="Shape 711"/>
          <p:cNvSpPr/>
          <p:nvPr/>
        </p:nvSpPr>
        <p:spPr>
          <a:xfrm>
            <a:off x="857250" y="6563254"/>
            <a:ext cx="8159750" cy="19050"/>
          </a:xfrm>
          <a:prstGeom prst="rect">
            <a:avLst/>
          </a:prstGeom>
          <a:solidFill>
            <a:srgbClr val="E2E7ED"/>
          </a:solidFill>
          <a:ln>
            <a:noFill/>
          </a:ln>
        </p:spPr>
        <p:txBody>
          <a:bodyPr/>
          <a:lstStyle/>
          <a:p>
            <a:endParaRPr lang="en-US"/>
          </a:p>
        </p:txBody>
      </p:sp>
      <p:sp>
        <p:nvSpPr>
          <p:cNvPr id="712" name="Shape 712"/>
          <p:cNvSpPr/>
          <p:nvPr/>
        </p:nvSpPr>
        <p:spPr>
          <a:xfrm>
            <a:off x="857250" y="4335727"/>
            <a:ext cx="8159750" cy="2227527"/>
          </a:xfrm>
          <a:prstGeom prst="rect">
            <a:avLst/>
          </a:prstGeom>
          <a:solidFill>
            <a:srgbClr val="FFFFFF"/>
          </a:solidFill>
          <a:ln>
            <a:noFill/>
          </a:ln>
        </p:spPr>
        <p:txBody>
          <a:bodyPr/>
          <a:lstStyle/>
          <a:p>
            <a:endParaRPr lang="en-US"/>
          </a:p>
        </p:txBody>
      </p:sp>
      <p:sp>
        <p:nvSpPr>
          <p:cNvPr id="713" name="Shape 713"/>
          <p:cNvSpPr/>
          <p:nvPr/>
        </p:nvSpPr>
        <p:spPr>
          <a:xfrm>
            <a:off x="857250" y="4335727"/>
            <a:ext cx="76200" cy="2227527"/>
          </a:xfrm>
          <a:prstGeom prst="rect">
            <a:avLst/>
          </a:prstGeom>
          <a:solidFill>
            <a:srgbClr val="F26A1B"/>
          </a:solidFill>
          <a:ln>
            <a:noFill/>
          </a:ln>
        </p:spPr>
        <p:txBody>
          <a:bodyPr/>
          <a:lstStyle/>
          <a:p>
            <a:endParaRPr lang="en-US"/>
          </a:p>
        </p:txBody>
      </p:sp>
      <p:sp>
        <p:nvSpPr>
          <p:cNvPr id="714" name="Text 714"/>
          <p:cNvSpPr txBox="1"/>
          <p:nvPr/>
        </p:nvSpPr>
        <p:spPr>
          <a:xfrm>
            <a:off x="121285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03</a:t>
            </a:r>
          </a:p>
        </p:txBody>
      </p:sp>
      <p:sp>
        <p:nvSpPr>
          <p:cNvPr id="715" name="Text 715"/>
          <p:cNvSpPr txBox="1"/>
          <p:nvPr/>
        </p:nvSpPr>
        <p:spPr>
          <a:xfrm>
            <a:off x="207645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Harness, connectors &amp; devices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Which harness point is for what?</a:t>
            </a:r>
          </a:p>
        </p:txBody>
      </p:sp>
      <p:sp>
        <p:nvSpPr>
          <p:cNvPr id="716" name="Shape 716"/>
          <p:cNvSpPr/>
          <p:nvPr/>
        </p:nvSpPr>
        <p:spPr>
          <a:xfrm>
            <a:off x="9271000" y="6563254"/>
            <a:ext cx="8159750" cy="19050"/>
          </a:xfrm>
          <a:prstGeom prst="rect">
            <a:avLst/>
          </a:prstGeom>
          <a:solidFill>
            <a:srgbClr val="E2E7ED"/>
          </a:solidFill>
          <a:ln>
            <a:noFill/>
          </a:ln>
        </p:spPr>
        <p:txBody>
          <a:bodyPr/>
          <a:lstStyle/>
          <a:p>
            <a:endParaRPr lang="en-US"/>
          </a:p>
        </p:txBody>
      </p:sp>
      <p:sp>
        <p:nvSpPr>
          <p:cNvPr id="717" name="Shape 717"/>
          <p:cNvSpPr/>
          <p:nvPr/>
        </p:nvSpPr>
        <p:spPr>
          <a:xfrm>
            <a:off x="9271000" y="4335727"/>
            <a:ext cx="8159750" cy="2227527"/>
          </a:xfrm>
          <a:prstGeom prst="rect">
            <a:avLst/>
          </a:prstGeom>
          <a:solidFill>
            <a:srgbClr val="FFFFFF"/>
          </a:solidFill>
          <a:ln>
            <a:noFill/>
          </a:ln>
        </p:spPr>
        <p:txBody>
          <a:bodyPr/>
          <a:lstStyle/>
          <a:p>
            <a:endParaRPr lang="en-US"/>
          </a:p>
        </p:txBody>
      </p:sp>
      <p:sp>
        <p:nvSpPr>
          <p:cNvPr id="718" name="Shape 718"/>
          <p:cNvSpPr/>
          <p:nvPr/>
        </p:nvSpPr>
        <p:spPr>
          <a:xfrm>
            <a:off x="9271000" y="4335727"/>
            <a:ext cx="76200" cy="2227527"/>
          </a:xfrm>
          <a:prstGeom prst="rect">
            <a:avLst/>
          </a:prstGeom>
          <a:solidFill>
            <a:srgbClr val="F26A1B"/>
          </a:solidFill>
          <a:ln>
            <a:noFill/>
          </a:ln>
        </p:spPr>
        <p:txBody>
          <a:bodyPr/>
          <a:lstStyle/>
          <a:p>
            <a:endParaRPr lang="en-US"/>
          </a:p>
        </p:txBody>
      </p:sp>
      <p:sp>
        <p:nvSpPr>
          <p:cNvPr id="719" name="Text 719"/>
          <p:cNvSpPr txBox="1"/>
          <p:nvPr/>
        </p:nvSpPr>
        <p:spPr>
          <a:xfrm>
            <a:off x="962660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04</a:t>
            </a:r>
          </a:p>
        </p:txBody>
      </p:sp>
      <p:sp>
        <p:nvSpPr>
          <p:cNvPr id="720" name="Text 720"/>
          <p:cNvSpPr txBox="1"/>
          <p:nvPr/>
        </p:nvSpPr>
        <p:spPr>
          <a:xfrm>
            <a:off x="1049020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Inspection, kitting &amp; buddy checks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takes gear out of service?</a:t>
            </a:r>
          </a:p>
        </p:txBody>
      </p:sp>
      <p:sp>
        <p:nvSpPr>
          <p:cNvPr id="721" name="Shape 721"/>
          <p:cNvSpPr/>
          <p:nvPr/>
        </p:nvSpPr>
        <p:spPr>
          <a:xfrm>
            <a:off x="857250" y="8993981"/>
            <a:ext cx="8159750" cy="19050"/>
          </a:xfrm>
          <a:prstGeom prst="rect">
            <a:avLst/>
          </a:prstGeom>
          <a:solidFill>
            <a:srgbClr val="E2E7ED"/>
          </a:solidFill>
          <a:ln>
            <a:noFill/>
          </a:ln>
        </p:spPr>
        <p:txBody>
          <a:bodyPr/>
          <a:lstStyle/>
          <a:p>
            <a:endParaRPr lang="en-US"/>
          </a:p>
        </p:txBody>
      </p:sp>
      <p:sp>
        <p:nvSpPr>
          <p:cNvPr id="722" name="Shape 722"/>
          <p:cNvSpPr/>
          <p:nvPr/>
        </p:nvSpPr>
        <p:spPr>
          <a:xfrm>
            <a:off x="857250" y="6766454"/>
            <a:ext cx="8159750" cy="2227527"/>
          </a:xfrm>
          <a:prstGeom prst="rect">
            <a:avLst/>
          </a:prstGeom>
          <a:solidFill>
            <a:srgbClr val="FFFFFF"/>
          </a:solidFill>
          <a:ln>
            <a:noFill/>
          </a:ln>
        </p:spPr>
        <p:txBody>
          <a:bodyPr/>
          <a:lstStyle/>
          <a:p>
            <a:endParaRPr lang="en-US"/>
          </a:p>
        </p:txBody>
      </p:sp>
      <p:sp>
        <p:nvSpPr>
          <p:cNvPr id="723" name="Shape 723"/>
          <p:cNvSpPr/>
          <p:nvPr/>
        </p:nvSpPr>
        <p:spPr>
          <a:xfrm>
            <a:off x="857250" y="6766454"/>
            <a:ext cx="76200" cy="2227527"/>
          </a:xfrm>
          <a:prstGeom prst="rect">
            <a:avLst/>
          </a:prstGeom>
          <a:solidFill>
            <a:srgbClr val="F26A1B"/>
          </a:solidFill>
          <a:ln>
            <a:noFill/>
          </a:ln>
        </p:spPr>
        <p:txBody>
          <a:bodyPr/>
          <a:lstStyle/>
          <a:p>
            <a:endParaRPr lang="en-US"/>
          </a:p>
        </p:txBody>
      </p:sp>
      <p:sp>
        <p:nvSpPr>
          <p:cNvPr id="724" name="Text 724"/>
          <p:cNvSpPr txBox="1"/>
          <p:nvPr/>
        </p:nvSpPr>
        <p:spPr>
          <a:xfrm>
            <a:off x="121285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05</a:t>
            </a:r>
          </a:p>
        </p:txBody>
      </p:sp>
      <p:sp>
        <p:nvSpPr>
          <p:cNvPr id="725" name="Text 725"/>
          <p:cNvSpPr txBox="1"/>
          <p:nvPr/>
        </p:nvSpPr>
        <p:spPr>
          <a:xfrm>
            <a:off x="207645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Knots &amp; terminations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Which knot for which function?</a:t>
            </a:r>
          </a:p>
        </p:txBody>
      </p:sp>
      <p:sp>
        <p:nvSpPr>
          <p:cNvPr id="726" name="Shape 726"/>
          <p:cNvSpPr/>
          <p:nvPr/>
        </p:nvSpPr>
        <p:spPr>
          <a:xfrm>
            <a:off x="9271000" y="8993981"/>
            <a:ext cx="8159750" cy="19050"/>
          </a:xfrm>
          <a:prstGeom prst="rect">
            <a:avLst/>
          </a:prstGeom>
          <a:solidFill>
            <a:srgbClr val="E2E7ED"/>
          </a:solidFill>
          <a:ln>
            <a:noFill/>
          </a:ln>
        </p:spPr>
        <p:txBody>
          <a:bodyPr/>
          <a:lstStyle/>
          <a:p>
            <a:endParaRPr lang="en-US"/>
          </a:p>
        </p:txBody>
      </p:sp>
      <p:sp>
        <p:nvSpPr>
          <p:cNvPr id="727" name="Shape 727"/>
          <p:cNvSpPr/>
          <p:nvPr/>
        </p:nvSpPr>
        <p:spPr>
          <a:xfrm>
            <a:off x="9271000" y="6766454"/>
            <a:ext cx="8159750" cy="2227527"/>
          </a:xfrm>
          <a:prstGeom prst="rect">
            <a:avLst/>
          </a:prstGeom>
          <a:solidFill>
            <a:srgbClr val="FFFFFF"/>
          </a:solidFill>
          <a:ln>
            <a:noFill/>
          </a:ln>
        </p:spPr>
        <p:txBody>
          <a:bodyPr/>
          <a:lstStyle/>
          <a:p>
            <a:endParaRPr lang="en-US"/>
          </a:p>
        </p:txBody>
      </p:sp>
      <p:sp>
        <p:nvSpPr>
          <p:cNvPr id="728" name="Shape 728"/>
          <p:cNvSpPr/>
          <p:nvPr/>
        </p:nvSpPr>
        <p:spPr>
          <a:xfrm>
            <a:off x="9271000" y="6766454"/>
            <a:ext cx="76200" cy="2227527"/>
          </a:xfrm>
          <a:prstGeom prst="rect">
            <a:avLst/>
          </a:prstGeom>
          <a:solidFill>
            <a:srgbClr val="F26A1B"/>
          </a:solidFill>
          <a:ln>
            <a:noFill/>
          </a:ln>
        </p:spPr>
        <p:txBody>
          <a:bodyPr/>
          <a:lstStyle/>
          <a:p>
            <a:endParaRPr lang="en-US"/>
          </a:p>
        </p:txBody>
      </p:sp>
      <p:sp>
        <p:nvSpPr>
          <p:cNvPr id="729" name="Text 729"/>
          <p:cNvSpPr txBox="1"/>
          <p:nvPr/>
        </p:nvSpPr>
        <p:spPr>
          <a:xfrm>
            <a:off x="962660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06</a:t>
            </a:r>
          </a:p>
        </p:txBody>
      </p:sp>
      <p:sp>
        <p:nvSpPr>
          <p:cNvPr id="730" name="Text 730"/>
          <p:cNvSpPr txBox="1"/>
          <p:nvPr/>
        </p:nvSpPr>
        <p:spPr>
          <a:xfrm>
            <a:off x="1049020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Basic ascent, descent &amp; changeover</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holds you during a changeover?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22824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452349"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Course Orientation &amp; JSA</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Start the course correctly</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Confirm paperwork, training-bay rules, stop-work authority, exclusion zones and the day’s Job Safety Analysis before any practical activity. Walk the exclusion-zone boundary physically and confirm every trainee has signed and dated the JSA.</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The classroom comes first</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Rope-access competence starts with hazard recognition and planning — not with getting on rope. The JSA gives the team a shared mental model before exposure. Most incidents trace to a hazard spotted too late — the JSA moves that recognition to before anyone is on rope.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it every training day</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Review hazards whenever tasks, equipment, weather, personnel or rigging change. Never treat the JSA as a one-time signature exercise. Re-brief after every break and any time the crew composition changes.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Paperwork without understanding</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Trainees sign without participating, miss changed hazards, or assume the instructor owns all safety decisions. A signature without participation is the most common paperwork failure on real sites.</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What to observe</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 the trainee identify hazards, controls and stop-work triggers in their own words before approaching the system? Listen for specific named hazards and controls — not vague answers like “be careful.”</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55372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if I see something unsafe after we signed?”</a:t>
            </a:r>
            <a:endParaRPr lang="en-US" sz="1650" dirty="0"/>
          </a:p>
        </p:txBody>
      </p:sp>
      <p:sp>
        <p:nvSpPr>
          <p:cNvPr id="49" name="Text 47"/>
          <p:cNvSpPr/>
          <p:nvPr/>
        </p:nvSpPr>
        <p:spPr>
          <a:xfrm>
            <a:off x="12249100" y="6798945"/>
            <a:ext cx="5003850"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Stop the activity, make the area safe, update the JSA / control plan and communicate the change before restarting. Stop-work authority belongs to everyone, including the newest trainee.</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33719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577023"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Rope-Access Foundations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Three operating principles</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Teach redundancy, continuous 100% protection during transitions, and controlled movement. Have trainees identify the working system and the independent backup at each step. Redundancy, continuous 100% attachment and control are the three principles every later maneuver is built on.</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redundancy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The system is designed so one foreseeable failure does not automatically become a fall. Redundancy only works when the backup is truly independent and correctly managed. Independent means a separate rope, separate anchor and separate attachment — no shared failure point.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Every maneuver, every transition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Apply before releasing any connection, during transfers, obstacle passage, rescues and edge transitions. Never trade redundancy for speed. Apply the one-rope test constantly: if cutting one line would drop you, the system is wrong.</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Single-point moments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Disconnecting too early, both systems sharing a common weak point, slack backups and uncontrolled loading. Each of these is automatic-failure territory on assessment day.</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The trainee maintains protection without prompting and recognizes when a proposed sequence creates a single-point failure.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disconnect briefly if I’m holding on?”</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Hand strength or body position is never a substitute for the required protection system. Grip fails first in a fall or a faint — the system must hold without you.</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SEE IT</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The Rope Access System at a Glance</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SEE IT · THE ROPE ACCESS SYSTEM</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12</a:t>
            </a:r>
            <a:endParaRPr lang="en-US" sz="900" dirty="0"/>
          </a:p>
        </p:txBody>
      </p:sp>
      <p:sp>
        <p:nvSpPr>
          <p:cNvPr id="801" name="Shape 801"/>
          <p:cNvSpPr/>
          <p:nvPr/>
        </p:nvSpPr>
        <p:spPr>
          <a:xfrm>
            <a:off x="1524000" y="1778000"/>
            <a:ext cx="15240000" cy="6945313"/>
          </a:xfrm>
          <a:prstGeom prst="rect">
            <a:avLst/>
          </a:prstGeom>
          <a:solidFill>
            <a:srgbClr val="0E2A47"/>
          </a:solidFill>
          <a:ln>
            <a:noFill/>
          </a:ln>
        </p:spPr>
        <p:txBody>
          <a:bodyPr/>
          <a:lstStyle/>
          <a:p>
            <a:endParaRPr lang="en-US"/>
          </a:p>
        </p:txBody>
      </p:sp>
      <p:pic>
        <p:nvPicPr>
          <p:cNvPr id="802" name="Picture 802"/>
          <p:cNvPicPr>
            <a:picLocks noChangeAspect="1"/>
          </p:cNvPicPr>
          <p:nvPr/>
        </p:nvPicPr>
        <p:blipFill>
          <a:blip r:embed="rId3"/>
          <a:stretch>
            <a:fillRect/>
          </a:stretch>
        </p:blipFill>
        <p:spPr>
          <a:xfrm>
            <a:off x="1524000" y="1778000"/>
            <a:ext cx="15240000" cy="6945313"/>
          </a:xfrm>
          <a:prstGeom prst="rect">
            <a:avLst/>
          </a:prstGeom>
        </p:spPr>
      </p:pic>
      <p:sp>
        <p:nvSpPr>
          <p:cNvPr id="803" name="Shape 803"/>
          <p:cNvSpPr/>
          <p:nvPr/>
        </p:nvSpPr>
        <p:spPr>
          <a:xfrm>
            <a:off x="1524000" y="8723313"/>
            <a:ext cx="15240000" cy="736600"/>
          </a:xfrm>
          <a:prstGeom prst="rect">
            <a:avLst/>
          </a:prstGeom>
          <a:solidFill>
            <a:srgbClr val="0E2A47"/>
          </a:solidFill>
          <a:ln>
            <a:noFill/>
          </a:ln>
        </p:spPr>
        <p:txBody>
          <a:bodyPr/>
          <a:lstStyle/>
          <a:p>
            <a:endParaRPr lang="en-US"/>
          </a:p>
        </p:txBody>
      </p:sp>
      <p:sp>
        <p:nvSpPr>
          <p:cNvPr id="804" name="Text 804"/>
          <p:cNvSpPr txBox="1"/>
          <p:nvPr/>
        </p:nvSpPr>
        <p:spPr>
          <a:xfrm>
            <a:off x="1879600" y="8723313"/>
            <a:ext cx="14528800" cy="736600"/>
          </a:xfrm>
          <a:prstGeom prst="rect">
            <a:avLst/>
          </a:prstGeom>
          <a:noFill/>
        </p:spPr>
        <p:txBody>
          <a:bodyPr wrap="square" lIns="0" tIns="0" rIns="0" bIns="0" anchor="ctr">
            <a:noAutofit/>
          </a:bodyPr>
          <a:lstStyle/>
          <a:p>
            <a:pPr marL="0" indent="0" algn="l">
              <a:lnSpc>
                <a:spcPct val="110000"/>
              </a:lnSpc>
              <a:buNone/>
            </a:pPr>
            <a:r>
              <a:rPr lang="en-US" sz="1800" b="1" dirty="0">
                <a:solidFill>
                  <a:srgbClr val="FFFFFF"/>
                </a:solidFill>
                <a:latin typeface="Arial"/>
                <a:cs typeface="Arial"/>
              </a:rPr>
              <a:t>Two independent ropes, always. </a:t>
            </a:r>
            <a:r>
              <a:rPr lang="en-US" sz="1700" dirty="0">
                <a:solidFill>
                  <a:srgbClr val="C7D4E1"/>
                </a:solidFill>
                <a:latin typeface="Arial"/>
                <a:cs typeface="Arial"/>
              </a:rPr>
              <a:t>A working line carries the technician; a separate backup line with its own device catches a failure.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23629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465497"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Harness, Connectors &amp; Devices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Know the specific equipment</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Identify harness attachment points, connectors, descenders, ascenders and backup devices. Teach use according to markings and manufacturer instructions. Cover the ventral, sternal, dorsal and lateral points and what each is rated and intended to do.</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generic rules are dangerous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Attachment-point ratings, device compatibility and user ranges vary by model and standard. Correct identification prevents misloading and incompatible combinations. Rope diameter, connector shape and device model must all be verified as a compatible set.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only as designed</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Match each device and attachment point to its intended function. Do not improvise uses because a component “looks strong enough.” Dorsal is fall-arrest only; ventral and sternal carry the working rope-access load.</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Misorientation &amp; incompatibility</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Cross-loaded connectors, unlocked gates, reversed devices, incorrect rope diameter and wrong attachment points can defeat the system. Cross-loading a carabiner across its minor axis can cut its strength by more than half.</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Correct selection, orientation, locking, rope path, function check and self / buddy verification. Gates locked, devices correctly oriented, and rope threaded the correct way through each one.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55372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“Are all harness D-rings the same strength / use?”</a:t>
            </a:r>
            <a:endParaRPr lang="en-US" sz="1650" dirty="0"/>
          </a:p>
        </p:txBody>
      </p:sp>
      <p:sp>
        <p:nvSpPr>
          <p:cNvPr id="49" name="Text 47"/>
          <p:cNvSpPr/>
          <p:nvPr/>
        </p:nvSpPr>
        <p:spPr>
          <a:xfrm>
            <a:off x="12249100" y="6798945"/>
            <a:ext cx="5003850"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Use the harness markings and manufacturer instructions; never assume identical function or rating. Lateral D-rings are used as a pair for positioning, never singly.</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EQUIPMENT</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Personal Rope Access Kit — What Each Item Does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EQUIPMENT · PERSONAL KIT</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14</a:t>
            </a:r>
            <a:endParaRPr lang="en-US" sz="900" dirty="0"/>
          </a:p>
        </p:txBody>
      </p:sp>
      <p:sp>
        <p:nvSpPr>
          <p:cNvPr id="805" name="Shape 805"/>
          <p:cNvSpPr/>
          <p:nvPr/>
        </p:nvSpPr>
        <p:spPr>
          <a:xfrm>
            <a:off x="857250" y="1778000"/>
            <a:ext cx="7620000" cy="7620000"/>
          </a:xfrm>
          <a:prstGeom prst="rect">
            <a:avLst/>
          </a:prstGeom>
          <a:solidFill>
            <a:srgbClr val="FFFFFF"/>
          </a:solidFill>
          <a:ln>
            <a:noFill/>
          </a:ln>
        </p:spPr>
        <p:txBody>
          <a:bodyPr/>
          <a:lstStyle/>
          <a:p>
            <a:endParaRPr lang="en-US"/>
          </a:p>
        </p:txBody>
      </p:sp>
      <p:pic>
        <p:nvPicPr>
          <p:cNvPr id="806" name="Picture 806"/>
          <p:cNvPicPr>
            <a:picLocks noChangeAspect="1"/>
          </p:cNvPicPr>
          <p:nvPr/>
        </p:nvPicPr>
        <p:blipFill>
          <a:blip r:embed="rId3"/>
          <a:stretch>
            <a:fillRect/>
          </a:stretch>
        </p:blipFill>
        <p:spPr>
          <a:xfrm>
            <a:off x="984250" y="1905000"/>
            <a:ext cx="7366000" cy="7366000"/>
          </a:xfrm>
          <a:prstGeom prst="rect">
            <a:avLst/>
          </a:prstGeom>
        </p:spPr>
      </p:pic>
      <p:sp>
        <p:nvSpPr>
          <p:cNvPr id="807" name="Text 807"/>
          <p:cNvSpPr txBox="1"/>
          <p:nvPr/>
        </p:nvSpPr>
        <p:spPr>
          <a:xfrm>
            <a:off x="9042400" y="1905000"/>
            <a:ext cx="83820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YOUR PERSONAL KIT — SIX CORE ITEMS</a:t>
            </a:r>
          </a:p>
        </p:txBody>
      </p:sp>
      <p:sp>
        <p:nvSpPr>
          <p:cNvPr id="808" name="Shape 808"/>
          <p:cNvSpPr/>
          <p:nvPr/>
        </p:nvSpPr>
        <p:spPr>
          <a:xfrm>
            <a:off x="9042400" y="2387600"/>
            <a:ext cx="431800" cy="431800"/>
          </a:xfrm>
          <a:prstGeom prst="ellipse">
            <a:avLst/>
          </a:prstGeom>
          <a:solidFill>
            <a:srgbClr val="0E2A47"/>
          </a:solidFill>
          <a:ln>
            <a:noFill/>
          </a:ln>
        </p:spPr>
        <p:txBody>
          <a:bodyPr/>
          <a:lstStyle/>
          <a:p>
            <a:endParaRPr lang="en-US"/>
          </a:p>
        </p:txBody>
      </p:sp>
      <p:sp>
        <p:nvSpPr>
          <p:cNvPr id="809" name="Text 809"/>
          <p:cNvSpPr txBox="1"/>
          <p:nvPr/>
        </p:nvSpPr>
        <p:spPr>
          <a:xfrm>
            <a:off x="904240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810" name="Text 810"/>
          <p:cNvSpPr txBox="1"/>
          <p:nvPr/>
        </p:nvSpPr>
        <p:spPr>
          <a:xfrm>
            <a:off x="9677400" y="23622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Full-body harness</a:t>
            </a:r>
          </a:p>
          <a:p>
            <a:pPr marL="0" indent="0" algn="l">
              <a:lnSpc>
                <a:spcPct val="110000"/>
              </a:lnSpc>
              <a:spcBef>
                <a:spcPts val="300"/>
              </a:spcBef>
              <a:buNone/>
            </a:pPr>
            <a:r>
              <a:rPr lang="en-US" sz="1500" dirty="0">
                <a:solidFill>
                  <a:srgbClr val="41505E"/>
                </a:solidFill>
                <a:latin typeface="Arial"/>
                <a:cs typeface="Arial"/>
              </a:rPr>
              <a:t>Ventral, sternal, dorsal and lateral attachment points</a:t>
            </a:r>
          </a:p>
        </p:txBody>
      </p:sp>
      <p:sp>
        <p:nvSpPr>
          <p:cNvPr id="811" name="Shape 811"/>
          <p:cNvSpPr/>
          <p:nvPr/>
        </p:nvSpPr>
        <p:spPr>
          <a:xfrm>
            <a:off x="9042400" y="3479800"/>
            <a:ext cx="431800" cy="431800"/>
          </a:xfrm>
          <a:prstGeom prst="ellipse">
            <a:avLst/>
          </a:prstGeom>
          <a:solidFill>
            <a:srgbClr val="0E2A47"/>
          </a:solidFill>
          <a:ln>
            <a:noFill/>
          </a:ln>
        </p:spPr>
        <p:txBody>
          <a:bodyPr/>
          <a:lstStyle/>
          <a:p>
            <a:endParaRPr lang="en-US"/>
          </a:p>
        </p:txBody>
      </p:sp>
      <p:sp>
        <p:nvSpPr>
          <p:cNvPr id="812" name="Text 812"/>
          <p:cNvSpPr txBox="1"/>
          <p:nvPr/>
        </p:nvSpPr>
        <p:spPr>
          <a:xfrm>
            <a:off x="9042400" y="3479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813" name="Text 813"/>
          <p:cNvSpPr txBox="1"/>
          <p:nvPr/>
        </p:nvSpPr>
        <p:spPr>
          <a:xfrm>
            <a:off x="9677400" y="34544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Hand ascender</a:t>
            </a:r>
          </a:p>
          <a:p>
            <a:pPr marL="0" indent="0" algn="l">
              <a:lnSpc>
                <a:spcPct val="110000"/>
              </a:lnSpc>
              <a:spcBef>
                <a:spcPts val="300"/>
              </a:spcBef>
              <a:buNone/>
            </a:pPr>
            <a:r>
              <a:rPr lang="en-US" sz="1500" dirty="0">
                <a:solidFill>
                  <a:srgbClr val="41505E"/>
                </a:solidFill>
                <a:latin typeface="Arial"/>
                <a:cs typeface="Arial"/>
              </a:rPr>
              <a:t>Grips the working line going up — never alone as backup</a:t>
            </a:r>
          </a:p>
        </p:txBody>
      </p:sp>
      <p:sp>
        <p:nvSpPr>
          <p:cNvPr id="814" name="Shape 814"/>
          <p:cNvSpPr/>
          <p:nvPr/>
        </p:nvSpPr>
        <p:spPr>
          <a:xfrm>
            <a:off x="9042400" y="4572000"/>
            <a:ext cx="431800" cy="431800"/>
          </a:xfrm>
          <a:prstGeom prst="ellipse">
            <a:avLst/>
          </a:prstGeom>
          <a:solidFill>
            <a:srgbClr val="0E2A47"/>
          </a:solidFill>
          <a:ln>
            <a:noFill/>
          </a:ln>
        </p:spPr>
        <p:txBody>
          <a:bodyPr/>
          <a:lstStyle/>
          <a:p>
            <a:endParaRPr lang="en-US"/>
          </a:p>
        </p:txBody>
      </p:sp>
      <p:sp>
        <p:nvSpPr>
          <p:cNvPr id="815" name="Text 815"/>
          <p:cNvSpPr txBox="1"/>
          <p:nvPr/>
        </p:nvSpPr>
        <p:spPr>
          <a:xfrm>
            <a:off x="9042400" y="4572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816" name="Text 816"/>
          <p:cNvSpPr txBox="1"/>
          <p:nvPr/>
        </p:nvSpPr>
        <p:spPr>
          <a:xfrm>
            <a:off x="9677400" y="45466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Helmet with chinstrap</a:t>
            </a:r>
          </a:p>
          <a:p>
            <a:pPr marL="0" indent="0" algn="l">
              <a:lnSpc>
                <a:spcPct val="110000"/>
              </a:lnSpc>
              <a:spcBef>
                <a:spcPts val="300"/>
              </a:spcBef>
              <a:buNone/>
            </a:pPr>
            <a:r>
              <a:rPr lang="en-US" sz="1500" dirty="0">
                <a:solidFill>
                  <a:srgbClr val="41505E"/>
                </a:solidFill>
                <a:latin typeface="Arial"/>
                <a:cs typeface="Arial"/>
              </a:rPr>
              <a:t>Chinstrap fastened in the fall zone</a:t>
            </a:r>
          </a:p>
        </p:txBody>
      </p:sp>
      <p:sp>
        <p:nvSpPr>
          <p:cNvPr id="817" name="Shape 817"/>
          <p:cNvSpPr/>
          <p:nvPr/>
        </p:nvSpPr>
        <p:spPr>
          <a:xfrm>
            <a:off x="9042400" y="5664200"/>
            <a:ext cx="431800" cy="431800"/>
          </a:xfrm>
          <a:prstGeom prst="ellipse">
            <a:avLst/>
          </a:prstGeom>
          <a:solidFill>
            <a:srgbClr val="0E2A47"/>
          </a:solidFill>
          <a:ln>
            <a:noFill/>
          </a:ln>
        </p:spPr>
        <p:txBody>
          <a:bodyPr/>
          <a:lstStyle/>
          <a:p>
            <a:endParaRPr lang="en-US"/>
          </a:p>
        </p:txBody>
      </p:sp>
      <p:sp>
        <p:nvSpPr>
          <p:cNvPr id="818" name="Text 818"/>
          <p:cNvSpPr txBox="1"/>
          <p:nvPr/>
        </p:nvSpPr>
        <p:spPr>
          <a:xfrm>
            <a:off x="9042400" y="5664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819" name="Text 819"/>
          <p:cNvSpPr txBox="1"/>
          <p:nvPr/>
        </p:nvSpPr>
        <p:spPr>
          <a:xfrm>
            <a:off x="9677400" y="56388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Energy-absorbing lanyard</a:t>
            </a:r>
          </a:p>
          <a:p>
            <a:pPr marL="0" indent="0" algn="l">
              <a:lnSpc>
                <a:spcPct val="110000"/>
              </a:lnSpc>
              <a:spcBef>
                <a:spcPts val="300"/>
              </a:spcBef>
              <a:buNone/>
            </a:pPr>
            <a:r>
              <a:rPr lang="en-US" sz="1500" dirty="0">
                <a:solidFill>
                  <a:srgbClr val="41505E"/>
                </a:solidFill>
                <a:latin typeface="Arial"/>
                <a:cs typeface="Arial"/>
              </a:rPr>
              <a:t>Connects the backup device; limits arrest force</a:t>
            </a:r>
          </a:p>
        </p:txBody>
      </p:sp>
      <p:sp>
        <p:nvSpPr>
          <p:cNvPr id="820" name="Shape 820"/>
          <p:cNvSpPr/>
          <p:nvPr/>
        </p:nvSpPr>
        <p:spPr>
          <a:xfrm>
            <a:off x="9042400" y="6756400"/>
            <a:ext cx="431800" cy="431800"/>
          </a:xfrm>
          <a:prstGeom prst="ellipse">
            <a:avLst/>
          </a:prstGeom>
          <a:solidFill>
            <a:srgbClr val="0E2A47"/>
          </a:solidFill>
          <a:ln>
            <a:noFill/>
          </a:ln>
        </p:spPr>
        <p:txBody>
          <a:bodyPr/>
          <a:lstStyle/>
          <a:p>
            <a:endParaRPr lang="en-US"/>
          </a:p>
        </p:txBody>
      </p:sp>
      <p:sp>
        <p:nvSpPr>
          <p:cNvPr id="821" name="Text 821"/>
          <p:cNvSpPr txBox="1"/>
          <p:nvPr/>
        </p:nvSpPr>
        <p:spPr>
          <a:xfrm>
            <a:off x="9042400" y="6756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822" name="Text 822"/>
          <p:cNvSpPr txBox="1"/>
          <p:nvPr/>
        </p:nvSpPr>
        <p:spPr>
          <a:xfrm>
            <a:off x="9677400" y="67310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Locking connectors</a:t>
            </a:r>
          </a:p>
          <a:p>
            <a:pPr marL="0" indent="0" algn="l">
              <a:lnSpc>
                <a:spcPct val="110000"/>
              </a:lnSpc>
              <a:spcBef>
                <a:spcPts val="300"/>
              </a:spcBef>
              <a:buNone/>
            </a:pPr>
            <a:r>
              <a:rPr lang="en-US" sz="1500" dirty="0">
                <a:solidFill>
                  <a:srgbClr val="41505E"/>
                </a:solidFill>
                <a:latin typeface="Arial"/>
                <a:cs typeface="Arial"/>
              </a:rPr>
              <a:t>Screw-gate or auto-lock; gate closed and locked</a:t>
            </a:r>
          </a:p>
        </p:txBody>
      </p:sp>
      <p:sp>
        <p:nvSpPr>
          <p:cNvPr id="823" name="Shape 823"/>
          <p:cNvSpPr/>
          <p:nvPr/>
        </p:nvSpPr>
        <p:spPr>
          <a:xfrm>
            <a:off x="9042400" y="7848600"/>
            <a:ext cx="431800" cy="431800"/>
          </a:xfrm>
          <a:prstGeom prst="ellipse">
            <a:avLst/>
          </a:prstGeom>
          <a:solidFill>
            <a:srgbClr val="0E2A47"/>
          </a:solidFill>
          <a:ln>
            <a:noFill/>
          </a:ln>
        </p:spPr>
        <p:txBody>
          <a:bodyPr/>
          <a:lstStyle/>
          <a:p>
            <a:endParaRPr lang="en-US"/>
          </a:p>
        </p:txBody>
      </p:sp>
      <p:sp>
        <p:nvSpPr>
          <p:cNvPr id="824" name="Text 824"/>
          <p:cNvSpPr txBox="1"/>
          <p:nvPr/>
        </p:nvSpPr>
        <p:spPr>
          <a:xfrm>
            <a:off x="9042400" y="7848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6</a:t>
            </a:r>
          </a:p>
        </p:txBody>
      </p:sp>
      <p:sp>
        <p:nvSpPr>
          <p:cNvPr id="825" name="Text 825"/>
          <p:cNvSpPr txBox="1"/>
          <p:nvPr/>
        </p:nvSpPr>
        <p:spPr>
          <a:xfrm>
            <a:off x="9677400" y="7823200"/>
            <a:ext cx="7747000" cy="1016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Descender</a:t>
            </a:r>
          </a:p>
          <a:p>
            <a:pPr marL="0" indent="0" algn="l">
              <a:lnSpc>
                <a:spcPct val="110000"/>
              </a:lnSpc>
              <a:spcBef>
                <a:spcPts val="300"/>
              </a:spcBef>
              <a:buNone/>
            </a:pPr>
            <a:r>
              <a:rPr lang="en-US" sz="1500" dirty="0">
                <a:solidFill>
                  <a:srgbClr val="41505E"/>
                </a:solidFill>
                <a:latin typeface="Arial"/>
                <a:cs typeface="Arial"/>
              </a:rPr>
              <a:t>Auto-locking, with panic function where fitted</a:t>
            </a:r>
          </a:p>
        </p:txBody>
      </p:sp>
      <p:sp>
        <p:nvSpPr>
          <p:cNvPr id="826" name="Shape 826"/>
          <p:cNvSpPr/>
          <p:nvPr/>
        </p:nvSpPr>
        <p:spPr>
          <a:xfrm>
            <a:off x="9042400" y="9017000"/>
            <a:ext cx="8382000" cy="19050"/>
          </a:xfrm>
          <a:prstGeom prst="rect">
            <a:avLst/>
          </a:prstGeom>
          <a:solidFill>
            <a:srgbClr val="E2E7ED"/>
          </a:solidFill>
          <a:ln>
            <a:noFill/>
          </a:ln>
        </p:spPr>
        <p:txBody>
          <a:bodyPr/>
          <a:lstStyle/>
          <a:p>
            <a:endParaRPr lang="en-US"/>
          </a:p>
        </p:txBody>
      </p:sp>
      <p:sp>
        <p:nvSpPr>
          <p:cNvPr id="827" name="Text 827"/>
          <p:cNvSpPr txBox="1"/>
          <p:nvPr/>
        </p:nvSpPr>
        <p:spPr>
          <a:xfrm>
            <a:off x="9042400" y="9093200"/>
            <a:ext cx="8382000" cy="279400"/>
          </a:xfrm>
          <a:prstGeom prst="rect">
            <a:avLst/>
          </a:prstGeom>
          <a:noFill/>
        </p:spPr>
        <p:txBody>
          <a:bodyPr wrap="square" lIns="0" tIns="0" rIns="0" bIns="0" anchor="t">
            <a:noAutofit/>
          </a:bodyPr>
          <a:lstStyle/>
          <a:p>
            <a:pPr marL="0" indent="0" algn="l">
              <a:lnSpc>
                <a:spcPct val="110000"/>
              </a:lnSpc>
              <a:buNone/>
            </a:pPr>
            <a:r>
              <a:rPr lang="en-US" sz="1300" dirty="0">
                <a:solidFill>
                  <a:srgbClr val="8593A2"/>
                </a:solidFill>
                <a:latin typeface="Arial"/>
                <a:cs typeface="Arial"/>
              </a:rPr>
              <a:t>Example equipment shown. Use the makes and models listed in SkyTech’s kit register.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EQUIPMENT REFERENCE</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Harness Attachment Points — Four Points, Four Jobs</a:t>
            </a:r>
            <a:endParaRPr lang="en-US" sz="3000" dirty="0"/>
          </a:p>
        </p:txBody>
      </p:sp>
      <p:sp>
        <p:nvSpPr>
          <p:cNvPr id="4" name="Shape 2"/>
          <p:cNvSpPr/>
          <p:nvPr/>
        </p:nvSpPr>
        <p:spPr>
          <a:xfrm>
            <a:off x="857250" y="1701800"/>
            <a:ext cx="16573500" cy="3664745"/>
          </a:xfrm>
          <a:prstGeom prst="roundRect">
            <a:avLst>
              <a:gd name="adj" fmla="val 1559"/>
            </a:avLst>
          </a:prstGeom>
          <a:solidFill>
            <a:srgbClr val="FFFFFF"/>
          </a:solidFill>
          <a:ln w="9525">
            <a:solidFill>
              <a:srgbClr val="E2E7ED"/>
            </a:solidFill>
            <a:prstDash val="solid"/>
          </a:ln>
        </p:spPr>
        <p:txBody>
          <a:bodyPr/>
          <a:lstStyle/>
          <a:p>
            <a:endParaRPr lang="en-US"/>
          </a:p>
        </p:txBody>
      </p:sp>
      <p:sp>
        <p:nvSpPr>
          <p:cNvPr id="5" name="Shape 3"/>
          <p:cNvSpPr/>
          <p:nvPr/>
        </p:nvSpPr>
        <p:spPr>
          <a:xfrm>
            <a:off x="866775" y="1716088"/>
            <a:ext cx="16554450" cy="635795"/>
          </a:xfrm>
          <a:prstGeom prst="rect">
            <a:avLst/>
          </a:prstGeom>
          <a:solidFill>
            <a:srgbClr val="0E2A47"/>
          </a:solidFill>
          <a:ln/>
        </p:spPr>
        <p:txBody>
          <a:bodyPr/>
          <a:lstStyle/>
          <a:p>
            <a:endParaRPr lang="en-US"/>
          </a:p>
        </p:txBody>
      </p:sp>
      <p:sp>
        <p:nvSpPr>
          <p:cNvPr id="6" name="Text 4"/>
          <p:cNvSpPr/>
          <p:nvPr/>
        </p:nvSpPr>
        <p:spPr>
          <a:xfrm>
            <a:off x="1057275" y="1916113"/>
            <a:ext cx="2103090" cy="292895"/>
          </a:xfrm>
          <a:prstGeom prst="rect">
            <a:avLst/>
          </a:prstGeom>
          <a:noFill/>
          <a:ln/>
        </p:spPr>
        <p:txBody>
          <a:bodyPr wrap="square" lIns="25400" tIns="25400" rIns="25400" bIns="25400" rtlCol="0" anchor="t">
            <a:normAutofit/>
          </a:bodyPr>
          <a:lstStyle/>
          <a:p>
            <a:pPr marL="0" indent="0" algn="l">
              <a:buNone/>
            </a:pPr>
            <a:r>
              <a:rPr lang="en-US" sz="1100" kern="0" spc="83" dirty="0">
                <a:solidFill>
                  <a:srgbClr val="8FA6BC"/>
                </a:solidFill>
                <a:latin typeface="Courier New" pitchFamily="34" charset="0"/>
                <a:ea typeface="Courier New" pitchFamily="34" charset="-122"/>
                <a:cs typeface="Courier New" pitchFamily="34" charset="-120"/>
              </a:rPr>
              <a:t>POINT</a:t>
            </a:r>
            <a:endParaRPr lang="en-US" sz="1010" dirty="0"/>
          </a:p>
        </p:txBody>
      </p:sp>
      <p:sp>
        <p:nvSpPr>
          <p:cNvPr id="7" name="Text 5"/>
          <p:cNvSpPr/>
          <p:nvPr/>
        </p:nvSpPr>
        <p:spPr>
          <a:xfrm>
            <a:off x="3465165" y="1916113"/>
            <a:ext cx="2409162" cy="292895"/>
          </a:xfrm>
          <a:prstGeom prst="rect">
            <a:avLst/>
          </a:prstGeom>
          <a:noFill/>
          <a:ln/>
        </p:spPr>
        <p:txBody>
          <a:bodyPr wrap="square" lIns="25400" tIns="25400" rIns="25400" bIns="25400" rtlCol="0" anchor="t">
            <a:normAutofit/>
          </a:bodyPr>
          <a:lstStyle/>
          <a:p>
            <a:pPr marL="0" indent="0" algn="l">
              <a:buNone/>
            </a:pPr>
            <a:r>
              <a:rPr lang="en-US" sz="1100" kern="0" spc="83" dirty="0">
                <a:solidFill>
                  <a:srgbClr val="8FA6BC"/>
                </a:solidFill>
                <a:latin typeface="Courier New" pitchFamily="34" charset="0"/>
                <a:ea typeface="Courier New" pitchFamily="34" charset="-122"/>
                <a:cs typeface="Courier New" pitchFamily="34" charset="-120"/>
              </a:rPr>
              <a:t>LOCATION</a:t>
            </a:r>
            <a:endParaRPr lang="en-US" sz="1010" dirty="0"/>
          </a:p>
        </p:txBody>
      </p:sp>
      <p:sp>
        <p:nvSpPr>
          <p:cNvPr id="8" name="Text 6"/>
          <p:cNvSpPr/>
          <p:nvPr/>
        </p:nvSpPr>
        <p:spPr>
          <a:xfrm>
            <a:off x="6174060" y="1916113"/>
            <a:ext cx="4269296" cy="292895"/>
          </a:xfrm>
          <a:prstGeom prst="rect">
            <a:avLst/>
          </a:prstGeom>
          <a:noFill/>
          <a:ln/>
        </p:spPr>
        <p:txBody>
          <a:bodyPr wrap="square" lIns="25400" tIns="25400" rIns="25400" bIns="25400" rtlCol="0" anchor="t">
            <a:normAutofit/>
          </a:bodyPr>
          <a:lstStyle/>
          <a:p>
            <a:pPr marL="0" indent="0" algn="l">
              <a:buNone/>
            </a:pPr>
            <a:r>
              <a:rPr lang="en-US" sz="1100" kern="0" spc="83" dirty="0">
                <a:solidFill>
                  <a:srgbClr val="8FA6BC"/>
                </a:solidFill>
                <a:latin typeface="Courier New" pitchFamily="34" charset="0"/>
                <a:ea typeface="Courier New" pitchFamily="34" charset="-122"/>
                <a:cs typeface="Courier New" pitchFamily="34" charset="-120"/>
              </a:rPr>
              <a:t>PRIMARY USE</a:t>
            </a:r>
            <a:endParaRPr lang="en-US" sz="1010" dirty="0"/>
          </a:p>
        </p:txBody>
      </p:sp>
      <p:sp>
        <p:nvSpPr>
          <p:cNvPr id="9" name="Text 7"/>
          <p:cNvSpPr/>
          <p:nvPr/>
        </p:nvSpPr>
        <p:spPr>
          <a:xfrm>
            <a:off x="10688910" y="1916113"/>
            <a:ext cx="2103165" cy="292895"/>
          </a:xfrm>
          <a:prstGeom prst="rect">
            <a:avLst/>
          </a:prstGeom>
          <a:noFill/>
          <a:ln/>
        </p:spPr>
        <p:txBody>
          <a:bodyPr wrap="square" lIns="25400" tIns="25400" rIns="25400" bIns="25400" rtlCol="0" anchor="t">
            <a:normAutofit/>
          </a:bodyPr>
          <a:lstStyle/>
          <a:p>
            <a:pPr marL="0" indent="0" algn="l">
              <a:buNone/>
            </a:pPr>
            <a:r>
              <a:rPr lang="en-US" sz="1100" kern="0" spc="83" dirty="0">
                <a:solidFill>
                  <a:srgbClr val="8FA6BC"/>
                </a:solidFill>
                <a:latin typeface="Courier New" pitchFamily="34" charset="0"/>
                <a:ea typeface="Courier New" pitchFamily="34" charset="-122"/>
                <a:cs typeface="Courier New" pitchFamily="34" charset="-120"/>
              </a:rPr>
              <a:t>MBS</a:t>
            </a:r>
            <a:endParaRPr lang="en-US" sz="1010" dirty="0"/>
          </a:p>
        </p:txBody>
      </p:sp>
      <p:sp>
        <p:nvSpPr>
          <p:cNvPr id="10" name="Text 8"/>
          <p:cNvSpPr/>
          <p:nvPr/>
        </p:nvSpPr>
        <p:spPr>
          <a:xfrm>
            <a:off x="13096875" y="1916113"/>
            <a:ext cx="4269296" cy="292895"/>
          </a:xfrm>
          <a:prstGeom prst="rect">
            <a:avLst/>
          </a:prstGeom>
          <a:noFill/>
          <a:ln/>
        </p:spPr>
        <p:txBody>
          <a:bodyPr wrap="square" lIns="25400" tIns="25400" rIns="25400" bIns="25400" rtlCol="0" anchor="t">
            <a:normAutofit/>
          </a:bodyPr>
          <a:lstStyle/>
          <a:p>
            <a:pPr marL="0" indent="0" algn="l">
              <a:buNone/>
            </a:pPr>
            <a:r>
              <a:rPr lang="en-US" sz="1100" kern="0" spc="83" dirty="0">
                <a:solidFill>
                  <a:srgbClr val="8FA6BC"/>
                </a:solidFill>
                <a:latin typeface="Courier New" pitchFamily="34" charset="0"/>
                <a:ea typeface="Courier New" pitchFamily="34" charset="-122"/>
                <a:cs typeface="Courier New" pitchFamily="34" charset="-120"/>
              </a:rPr>
              <a:t>KEY CHECK</a:t>
            </a:r>
            <a:endParaRPr lang="en-US" sz="1010" dirty="0"/>
          </a:p>
        </p:txBody>
      </p:sp>
      <p:sp>
        <p:nvSpPr>
          <p:cNvPr id="11" name="Shape 9"/>
          <p:cNvSpPr/>
          <p:nvPr/>
        </p:nvSpPr>
        <p:spPr>
          <a:xfrm>
            <a:off x="866775" y="2351882"/>
            <a:ext cx="16554450" cy="750095"/>
          </a:xfrm>
          <a:prstGeom prst="rect">
            <a:avLst/>
          </a:prstGeom>
          <a:solidFill>
            <a:srgbClr val="FFFFFF"/>
          </a:solidFill>
          <a:ln/>
        </p:spPr>
        <p:txBody>
          <a:bodyPr/>
          <a:lstStyle/>
          <a:p>
            <a:endParaRPr lang="en-US"/>
          </a:p>
        </p:txBody>
      </p:sp>
      <p:sp>
        <p:nvSpPr>
          <p:cNvPr id="12" name="Shape 10"/>
          <p:cNvSpPr/>
          <p:nvPr/>
        </p:nvSpPr>
        <p:spPr>
          <a:xfrm>
            <a:off x="866775" y="2351882"/>
            <a:ext cx="16554450" cy="14288"/>
          </a:xfrm>
          <a:prstGeom prst="rect">
            <a:avLst/>
          </a:prstGeom>
          <a:solidFill>
            <a:srgbClr val="EDF1F4"/>
          </a:solidFill>
          <a:ln/>
        </p:spPr>
        <p:txBody>
          <a:bodyPr/>
          <a:lstStyle/>
          <a:p>
            <a:endParaRPr lang="en-US"/>
          </a:p>
        </p:txBody>
      </p:sp>
      <p:sp>
        <p:nvSpPr>
          <p:cNvPr id="13" name="Text 11"/>
          <p:cNvSpPr/>
          <p:nvPr/>
        </p:nvSpPr>
        <p:spPr>
          <a:xfrm>
            <a:off x="1057275" y="2594770"/>
            <a:ext cx="2103090" cy="335757"/>
          </a:xfrm>
          <a:prstGeom prst="rect">
            <a:avLst/>
          </a:prstGeom>
          <a:noFill/>
          <a:ln/>
        </p:spPr>
        <p:txBody>
          <a:bodyPr wrap="square" lIns="25400" tIns="25400" rIns="25400" bIns="25400" rtlCol="0" anchor="t">
            <a:normAutofit/>
          </a:bodyPr>
          <a:lstStyle/>
          <a:p>
            <a:pPr marL="0" indent="0" algn="l">
              <a:buNone/>
            </a:pPr>
            <a:r>
              <a:rPr lang="en-US" sz="1562" b="1" dirty="0">
                <a:solidFill>
                  <a:srgbClr val="F26A1B"/>
                </a:solidFill>
                <a:latin typeface="Arial" pitchFamily="34" charset="0"/>
                <a:ea typeface="Arial" pitchFamily="34" charset="-122"/>
                <a:cs typeface="Arial" pitchFamily="34" charset="-120"/>
              </a:rPr>
              <a:t>Ventral</a:t>
            </a:r>
            <a:endParaRPr lang="en-US" sz="1562" dirty="0"/>
          </a:p>
        </p:txBody>
      </p:sp>
      <p:sp>
        <p:nvSpPr>
          <p:cNvPr id="14" name="Text 12"/>
          <p:cNvSpPr/>
          <p:nvPr/>
        </p:nvSpPr>
        <p:spPr>
          <a:xfrm>
            <a:off x="3465165" y="2594770"/>
            <a:ext cx="2409162"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Front waist</a:t>
            </a:r>
            <a:endParaRPr lang="en-US" sz="1424" dirty="0"/>
          </a:p>
        </p:txBody>
      </p:sp>
      <p:sp>
        <p:nvSpPr>
          <p:cNvPr id="15" name="Text 13"/>
          <p:cNvSpPr/>
          <p:nvPr/>
        </p:nvSpPr>
        <p:spPr>
          <a:xfrm>
            <a:off x="6174060" y="2594770"/>
            <a:ext cx="4269296"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Rope access / positioning — where you live</a:t>
            </a:r>
            <a:endParaRPr lang="en-US" sz="1424" dirty="0"/>
          </a:p>
        </p:txBody>
      </p:sp>
      <p:sp>
        <p:nvSpPr>
          <p:cNvPr id="16" name="Text 14"/>
          <p:cNvSpPr/>
          <p:nvPr/>
        </p:nvSpPr>
        <p:spPr>
          <a:xfrm>
            <a:off x="10688910" y="2594770"/>
            <a:ext cx="2103165" cy="335757"/>
          </a:xfrm>
          <a:prstGeom prst="rect">
            <a:avLst/>
          </a:prstGeom>
          <a:noFill/>
          <a:ln/>
        </p:spPr>
        <p:txBody>
          <a:bodyPr wrap="square" lIns="25400" tIns="25400" rIns="25400" bIns="25400" rtlCol="0" anchor="t">
            <a:normAutofit/>
          </a:bodyPr>
          <a:lstStyle/>
          <a:p>
            <a:pPr marL="0" indent="0" algn="l">
              <a:buNone/>
            </a:pPr>
            <a:r>
              <a:rPr lang="en-US" sz="1424" b="1" dirty="0">
                <a:solidFill>
                  <a:srgbClr val="33424F"/>
                </a:solidFill>
                <a:latin typeface="Arial" pitchFamily="34" charset="0"/>
                <a:ea typeface="Arial" pitchFamily="34" charset="-122"/>
                <a:cs typeface="Arial" pitchFamily="34" charset="-120"/>
              </a:rPr>
              <a:t>5,000 lb</a:t>
            </a:r>
            <a:endParaRPr lang="en-US" sz="1424" dirty="0"/>
          </a:p>
        </p:txBody>
      </p:sp>
      <p:sp>
        <p:nvSpPr>
          <p:cNvPr id="17" name="Text 15"/>
          <p:cNvSpPr/>
          <p:nvPr/>
        </p:nvSpPr>
        <p:spPr>
          <a:xfrm>
            <a:off x="13096875" y="2594770"/>
            <a:ext cx="4269296" cy="335757"/>
          </a:xfrm>
          <a:prstGeom prst="rect">
            <a:avLst/>
          </a:prstGeom>
          <a:noFill/>
          <a:ln/>
        </p:spPr>
        <p:txBody>
          <a:bodyPr wrap="square" lIns="25400" tIns="25400" rIns="25400" bIns="25400" rtlCol="0" anchor="t">
            <a:normAutofit/>
          </a:bodyPr>
          <a:lstStyle/>
          <a:p>
            <a:pPr marL="0" indent="0" algn="l">
              <a:buNone/>
            </a:pPr>
            <a:r>
              <a:rPr lang="en-US" sz="1333" dirty="0">
                <a:solidFill>
                  <a:srgbClr val="0E2A47"/>
                </a:solidFill>
                <a:latin typeface="Arial" pitchFamily="34" charset="0"/>
                <a:ea typeface="Arial" pitchFamily="34" charset="-122"/>
                <a:cs typeface="Arial" pitchFamily="34" charset="-120"/>
              </a:rPr>
              <a:t>Gate closed and locked</a:t>
            </a:r>
            <a:endParaRPr lang="en-US" sz="1333" dirty="0"/>
          </a:p>
        </p:txBody>
      </p:sp>
      <p:sp>
        <p:nvSpPr>
          <p:cNvPr id="18" name="Shape 16"/>
          <p:cNvSpPr/>
          <p:nvPr/>
        </p:nvSpPr>
        <p:spPr>
          <a:xfrm>
            <a:off x="866775" y="3101975"/>
            <a:ext cx="16554450" cy="750095"/>
          </a:xfrm>
          <a:prstGeom prst="rect">
            <a:avLst/>
          </a:prstGeom>
          <a:solidFill>
            <a:srgbClr val="FAFBFC"/>
          </a:solidFill>
          <a:ln/>
        </p:spPr>
        <p:txBody>
          <a:bodyPr/>
          <a:lstStyle/>
          <a:p>
            <a:endParaRPr lang="en-US"/>
          </a:p>
        </p:txBody>
      </p:sp>
      <p:sp>
        <p:nvSpPr>
          <p:cNvPr id="19" name="Shape 17"/>
          <p:cNvSpPr/>
          <p:nvPr/>
        </p:nvSpPr>
        <p:spPr>
          <a:xfrm>
            <a:off x="866775" y="3101975"/>
            <a:ext cx="16554450" cy="14288"/>
          </a:xfrm>
          <a:prstGeom prst="rect">
            <a:avLst/>
          </a:prstGeom>
          <a:solidFill>
            <a:srgbClr val="EDF1F4"/>
          </a:solidFill>
          <a:ln/>
        </p:spPr>
        <p:txBody>
          <a:bodyPr/>
          <a:lstStyle/>
          <a:p>
            <a:endParaRPr lang="en-US"/>
          </a:p>
        </p:txBody>
      </p:sp>
      <p:sp>
        <p:nvSpPr>
          <p:cNvPr id="20" name="Text 18"/>
          <p:cNvSpPr/>
          <p:nvPr/>
        </p:nvSpPr>
        <p:spPr>
          <a:xfrm>
            <a:off x="1057275" y="3344863"/>
            <a:ext cx="2103090" cy="335757"/>
          </a:xfrm>
          <a:prstGeom prst="rect">
            <a:avLst/>
          </a:prstGeom>
          <a:noFill/>
          <a:ln/>
        </p:spPr>
        <p:txBody>
          <a:bodyPr wrap="square" lIns="25400" tIns="25400" rIns="25400" bIns="25400" rtlCol="0" anchor="t">
            <a:normAutofit/>
          </a:bodyPr>
          <a:lstStyle/>
          <a:p>
            <a:pPr marL="0" indent="0" algn="l">
              <a:buNone/>
            </a:pPr>
            <a:r>
              <a:rPr lang="en-US" sz="1562" b="1" dirty="0">
                <a:solidFill>
                  <a:srgbClr val="F26A1B"/>
                </a:solidFill>
                <a:latin typeface="Arial" pitchFamily="34" charset="0"/>
                <a:ea typeface="Arial" pitchFamily="34" charset="-122"/>
                <a:cs typeface="Arial" pitchFamily="34" charset="-120"/>
              </a:rPr>
              <a:t>Sternal</a:t>
            </a:r>
            <a:endParaRPr lang="en-US" sz="1562" dirty="0"/>
          </a:p>
        </p:txBody>
      </p:sp>
      <p:sp>
        <p:nvSpPr>
          <p:cNvPr id="21" name="Text 19"/>
          <p:cNvSpPr/>
          <p:nvPr/>
        </p:nvSpPr>
        <p:spPr>
          <a:xfrm>
            <a:off x="3465165" y="3344863"/>
            <a:ext cx="2409162"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Chest</a:t>
            </a:r>
            <a:endParaRPr lang="en-US" sz="1424" dirty="0"/>
          </a:p>
        </p:txBody>
      </p:sp>
      <p:sp>
        <p:nvSpPr>
          <p:cNvPr id="22" name="Text 20"/>
          <p:cNvSpPr/>
          <p:nvPr/>
        </p:nvSpPr>
        <p:spPr>
          <a:xfrm>
            <a:off x="6174060" y="3344863"/>
            <a:ext cx="4359278"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Backup device · chest ascender · limited fall arrest</a:t>
            </a:r>
            <a:endParaRPr lang="en-US" sz="1424" dirty="0"/>
          </a:p>
        </p:txBody>
      </p:sp>
      <p:sp>
        <p:nvSpPr>
          <p:cNvPr id="23" name="Text 21"/>
          <p:cNvSpPr/>
          <p:nvPr/>
        </p:nvSpPr>
        <p:spPr>
          <a:xfrm>
            <a:off x="10688910" y="3344863"/>
            <a:ext cx="2103165" cy="335757"/>
          </a:xfrm>
          <a:prstGeom prst="rect">
            <a:avLst/>
          </a:prstGeom>
          <a:noFill/>
          <a:ln/>
        </p:spPr>
        <p:txBody>
          <a:bodyPr wrap="square" lIns="25400" tIns="25400" rIns="25400" bIns="25400" rtlCol="0" anchor="t">
            <a:normAutofit/>
          </a:bodyPr>
          <a:lstStyle/>
          <a:p>
            <a:pPr marL="0" indent="0" algn="l">
              <a:buNone/>
            </a:pPr>
            <a:r>
              <a:rPr lang="en-US" sz="1424" b="1" dirty="0">
                <a:solidFill>
                  <a:srgbClr val="33424F"/>
                </a:solidFill>
                <a:latin typeface="Arial" pitchFamily="34" charset="0"/>
                <a:ea typeface="Arial" pitchFamily="34" charset="-122"/>
                <a:cs typeface="Arial" pitchFamily="34" charset="-120"/>
              </a:rPr>
              <a:t>5,000 lb</a:t>
            </a:r>
            <a:endParaRPr lang="en-US" sz="1424" dirty="0"/>
          </a:p>
        </p:txBody>
      </p:sp>
      <p:sp>
        <p:nvSpPr>
          <p:cNvPr id="24" name="Text 22"/>
          <p:cNvSpPr/>
          <p:nvPr/>
        </p:nvSpPr>
        <p:spPr>
          <a:xfrm>
            <a:off x="13096875" y="3344863"/>
            <a:ext cx="4269296" cy="335757"/>
          </a:xfrm>
          <a:prstGeom prst="rect">
            <a:avLst/>
          </a:prstGeom>
          <a:noFill/>
          <a:ln/>
        </p:spPr>
        <p:txBody>
          <a:bodyPr wrap="square" lIns="25400" tIns="25400" rIns="25400" bIns="25400" rtlCol="0" anchor="t">
            <a:normAutofit/>
          </a:bodyPr>
          <a:lstStyle/>
          <a:p>
            <a:pPr marL="0" indent="0" algn="l">
              <a:buNone/>
            </a:pPr>
            <a:r>
              <a:rPr lang="en-US" sz="1333" dirty="0">
                <a:solidFill>
                  <a:srgbClr val="0E2A47"/>
                </a:solidFill>
                <a:latin typeface="Arial" pitchFamily="34" charset="0"/>
                <a:ea typeface="Arial" pitchFamily="34" charset="-122"/>
                <a:cs typeface="Arial" pitchFamily="34" charset="-120"/>
              </a:rPr>
              <a:t>Arrest use only if labeled</a:t>
            </a:r>
            <a:endParaRPr lang="en-US" sz="1333" dirty="0"/>
          </a:p>
        </p:txBody>
      </p:sp>
      <p:sp>
        <p:nvSpPr>
          <p:cNvPr id="25" name="Shape 23"/>
          <p:cNvSpPr/>
          <p:nvPr/>
        </p:nvSpPr>
        <p:spPr>
          <a:xfrm>
            <a:off x="866775" y="3852070"/>
            <a:ext cx="16554450" cy="750095"/>
          </a:xfrm>
          <a:prstGeom prst="rect">
            <a:avLst/>
          </a:prstGeom>
          <a:solidFill>
            <a:srgbClr val="FFFFFF"/>
          </a:solidFill>
          <a:ln/>
        </p:spPr>
        <p:txBody>
          <a:bodyPr/>
          <a:lstStyle/>
          <a:p>
            <a:endParaRPr lang="en-US"/>
          </a:p>
        </p:txBody>
      </p:sp>
      <p:sp>
        <p:nvSpPr>
          <p:cNvPr id="26" name="Shape 24"/>
          <p:cNvSpPr/>
          <p:nvPr/>
        </p:nvSpPr>
        <p:spPr>
          <a:xfrm>
            <a:off x="866775" y="3852070"/>
            <a:ext cx="16554450" cy="14288"/>
          </a:xfrm>
          <a:prstGeom prst="rect">
            <a:avLst/>
          </a:prstGeom>
          <a:solidFill>
            <a:srgbClr val="EDF1F4"/>
          </a:solidFill>
          <a:ln/>
        </p:spPr>
        <p:txBody>
          <a:bodyPr/>
          <a:lstStyle/>
          <a:p>
            <a:endParaRPr lang="en-US"/>
          </a:p>
        </p:txBody>
      </p:sp>
      <p:sp>
        <p:nvSpPr>
          <p:cNvPr id="27" name="Text 25"/>
          <p:cNvSpPr/>
          <p:nvPr/>
        </p:nvSpPr>
        <p:spPr>
          <a:xfrm>
            <a:off x="1057275" y="4094957"/>
            <a:ext cx="2103090" cy="335757"/>
          </a:xfrm>
          <a:prstGeom prst="rect">
            <a:avLst/>
          </a:prstGeom>
          <a:noFill/>
          <a:ln/>
        </p:spPr>
        <p:txBody>
          <a:bodyPr wrap="square" lIns="25400" tIns="25400" rIns="25400" bIns="25400" rtlCol="0" anchor="t">
            <a:normAutofit/>
          </a:bodyPr>
          <a:lstStyle/>
          <a:p>
            <a:pPr marL="0" indent="0" algn="l">
              <a:buNone/>
            </a:pPr>
            <a:r>
              <a:rPr lang="en-US" sz="1562" b="1" dirty="0">
                <a:solidFill>
                  <a:srgbClr val="F26A1B"/>
                </a:solidFill>
                <a:latin typeface="Arial" pitchFamily="34" charset="0"/>
                <a:ea typeface="Arial" pitchFamily="34" charset="-122"/>
                <a:cs typeface="Arial" pitchFamily="34" charset="-120"/>
              </a:rPr>
              <a:t>Dorsal</a:t>
            </a:r>
            <a:endParaRPr lang="en-US" sz="1562" dirty="0"/>
          </a:p>
        </p:txBody>
      </p:sp>
      <p:sp>
        <p:nvSpPr>
          <p:cNvPr id="28" name="Text 26"/>
          <p:cNvSpPr/>
          <p:nvPr/>
        </p:nvSpPr>
        <p:spPr>
          <a:xfrm>
            <a:off x="3465165" y="4094957"/>
            <a:ext cx="2409162"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Between shoulder blades</a:t>
            </a:r>
            <a:endParaRPr lang="en-US" sz="1424" dirty="0"/>
          </a:p>
        </p:txBody>
      </p:sp>
      <p:sp>
        <p:nvSpPr>
          <p:cNvPr id="29" name="Text 27"/>
          <p:cNvSpPr/>
          <p:nvPr/>
        </p:nvSpPr>
        <p:spPr>
          <a:xfrm>
            <a:off x="6174060" y="4094957"/>
            <a:ext cx="4269296"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FALL ARREST ONLY</a:t>
            </a:r>
            <a:endParaRPr lang="en-US" sz="1424" dirty="0"/>
          </a:p>
        </p:txBody>
      </p:sp>
      <p:sp>
        <p:nvSpPr>
          <p:cNvPr id="30" name="Text 28"/>
          <p:cNvSpPr/>
          <p:nvPr/>
        </p:nvSpPr>
        <p:spPr>
          <a:xfrm>
            <a:off x="10688910" y="4094957"/>
            <a:ext cx="2103165" cy="335757"/>
          </a:xfrm>
          <a:prstGeom prst="rect">
            <a:avLst/>
          </a:prstGeom>
          <a:noFill/>
          <a:ln/>
        </p:spPr>
        <p:txBody>
          <a:bodyPr wrap="square" lIns="25400" tIns="25400" rIns="25400" bIns="25400" rtlCol="0" anchor="t">
            <a:normAutofit/>
          </a:bodyPr>
          <a:lstStyle/>
          <a:p>
            <a:pPr marL="0" indent="0" algn="l">
              <a:buNone/>
            </a:pPr>
            <a:r>
              <a:rPr lang="en-US" sz="1424" b="1" dirty="0">
                <a:solidFill>
                  <a:srgbClr val="33424F"/>
                </a:solidFill>
                <a:latin typeface="Arial" pitchFamily="34" charset="0"/>
                <a:ea typeface="Arial" pitchFamily="34" charset="-122"/>
                <a:cs typeface="Arial" pitchFamily="34" charset="-120"/>
              </a:rPr>
              <a:t>5,000 lb</a:t>
            </a:r>
            <a:endParaRPr lang="en-US" sz="1424" dirty="0"/>
          </a:p>
        </p:txBody>
      </p:sp>
      <p:sp>
        <p:nvSpPr>
          <p:cNvPr id="31" name="Text 29"/>
          <p:cNvSpPr/>
          <p:nvPr/>
        </p:nvSpPr>
        <p:spPr>
          <a:xfrm>
            <a:off x="13096875" y="4094957"/>
            <a:ext cx="4269296" cy="335757"/>
          </a:xfrm>
          <a:prstGeom prst="rect">
            <a:avLst/>
          </a:prstGeom>
          <a:noFill/>
          <a:ln/>
        </p:spPr>
        <p:txBody>
          <a:bodyPr wrap="square" lIns="25400" tIns="25400" rIns="25400" bIns="25400" rtlCol="0" anchor="t">
            <a:normAutofit/>
          </a:bodyPr>
          <a:lstStyle/>
          <a:p>
            <a:pPr marL="0" indent="0" algn="l">
              <a:buNone/>
            </a:pPr>
            <a:r>
              <a:rPr lang="en-US" sz="1333" dirty="0">
                <a:solidFill>
                  <a:srgbClr val="0E2A47"/>
                </a:solidFill>
                <a:latin typeface="Arial" pitchFamily="34" charset="0"/>
                <a:ea typeface="Arial" pitchFamily="34" charset="-122"/>
                <a:cs typeface="Arial" pitchFamily="34" charset="-120"/>
              </a:rPr>
              <a:t>Buddy checks it for you</a:t>
            </a:r>
            <a:endParaRPr lang="en-US" sz="1333" dirty="0"/>
          </a:p>
        </p:txBody>
      </p:sp>
      <p:sp>
        <p:nvSpPr>
          <p:cNvPr id="32" name="Shape 30"/>
          <p:cNvSpPr/>
          <p:nvPr/>
        </p:nvSpPr>
        <p:spPr>
          <a:xfrm>
            <a:off x="866775" y="4602163"/>
            <a:ext cx="16554450" cy="750095"/>
          </a:xfrm>
          <a:prstGeom prst="rect">
            <a:avLst/>
          </a:prstGeom>
          <a:solidFill>
            <a:srgbClr val="FAFBFC"/>
          </a:solidFill>
          <a:ln/>
        </p:spPr>
        <p:txBody>
          <a:bodyPr/>
          <a:lstStyle/>
          <a:p>
            <a:endParaRPr lang="en-US"/>
          </a:p>
        </p:txBody>
      </p:sp>
      <p:sp>
        <p:nvSpPr>
          <p:cNvPr id="33" name="Shape 31"/>
          <p:cNvSpPr/>
          <p:nvPr/>
        </p:nvSpPr>
        <p:spPr>
          <a:xfrm>
            <a:off x="866775" y="4602163"/>
            <a:ext cx="16554450" cy="14288"/>
          </a:xfrm>
          <a:prstGeom prst="rect">
            <a:avLst/>
          </a:prstGeom>
          <a:solidFill>
            <a:srgbClr val="EDF1F4"/>
          </a:solidFill>
          <a:ln/>
        </p:spPr>
        <p:txBody>
          <a:bodyPr/>
          <a:lstStyle/>
          <a:p>
            <a:endParaRPr lang="en-US"/>
          </a:p>
        </p:txBody>
      </p:sp>
      <p:sp>
        <p:nvSpPr>
          <p:cNvPr id="34" name="Text 32"/>
          <p:cNvSpPr/>
          <p:nvPr/>
        </p:nvSpPr>
        <p:spPr>
          <a:xfrm>
            <a:off x="1057275" y="4845050"/>
            <a:ext cx="2103090" cy="335757"/>
          </a:xfrm>
          <a:prstGeom prst="rect">
            <a:avLst/>
          </a:prstGeom>
          <a:noFill/>
          <a:ln/>
        </p:spPr>
        <p:txBody>
          <a:bodyPr wrap="square" lIns="25400" tIns="25400" rIns="25400" bIns="25400" rtlCol="0" anchor="t">
            <a:normAutofit/>
          </a:bodyPr>
          <a:lstStyle/>
          <a:p>
            <a:pPr marL="0" indent="0" algn="l">
              <a:buNone/>
            </a:pPr>
            <a:r>
              <a:rPr lang="en-US" sz="1562" b="1" dirty="0">
                <a:solidFill>
                  <a:srgbClr val="F26A1B"/>
                </a:solidFill>
                <a:latin typeface="Arial" pitchFamily="34" charset="0"/>
                <a:ea typeface="Arial" pitchFamily="34" charset="-122"/>
                <a:cs typeface="Arial" pitchFamily="34" charset="-120"/>
              </a:rPr>
              <a:t>Lateral</a:t>
            </a:r>
            <a:endParaRPr lang="en-US" sz="1562" dirty="0"/>
          </a:p>
        </p:txBody>
      </p:sp>
      <p:sp>
        <p:nvSpPr>
          <p:cNvPr id="35" name="Text 33"/>
          <p:cNvSpPr/>
          <p:nvPr/>
        </p:nvSpPr>
        <p:spPr>
          <a:xfrm>
            <a:off x="3465165" y="4845050"/>
            <a:ext cx="2409162"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Side D-rings</a:t>
            </a:r>
            <a:endParaRPr lang="en-US" sz="1424" dirty="0"/>
          </a:p>
        </p:txBody>
      </p:sp>
      <p:sp>
        <p:nvSpPr>
          <p:cNvPr id="36" name="Text 34"/>
          <p:cNvSpPr/>
          <p:nvPr/>
        </p:nvSpPr>
        <p:spPr>
          <a:xfrm>
            <a:off x="6174060" y="4845050"/>
            <a:ext cx="4269296" cy="335757"/>
          </a:xfrm>
          <a:prstGeom prst="rect">
            <a:avLst/>
          </a:prstGeom>
          <a:noFill/>
          <a:ln/>
        </p:spPr>
        <p:txBody>
          <a:bodyPr wrap="square" lIns="25400" tIns="25400" rIns="25400" bIns="25400" rtlCol="0" anchor="t">
            <a:normAutofit/>
          </a:bodyPr>
          <a:lstStyle/>
          <a:p>
            <a:pPr marL="0" indent="0" algn="l">
              <a:buNone/>
            </a:pPr>
            <a:r>
              <a:rPr lang="en-US" sz="1424" dirty="0">
                <a:solidFill>
                  <a:srgbClr val="33424F"/>
                </a:solidFill>
                <a:latin typeface="Arial" pitchFamily="34" charset="0"/>
                <a:ea typeface="Arial" pitchFamily="34" charset="-122"/>
                <a:cs typeface="Arial" pitchFamily="34" charset="-120"/>
              </a:rPr>
              <a:t>Work positioning — always in pairs</a:t>
            </a:r>
            <a:endParaRPr lang="en-US" sz="1424" dirty="0"/>
          </a:p>
        </p:txBody>
      </p:sp>
      <p:sp>
        <p:nvSpPr>
          <p:cNvPr id="37" name="Text 35"/>
          <p:cNvSpPr/>
          <p:nvPr/>
        </p:nvSpPr>
        <p:spPr>
          <a:xfrm>
            <a:off x="10688910" y="4845050"/>
            <a:ext cx="2103165" cy="335757"/>
          </a:xfrm>
          <a:prstGeom prst="rect">
            <a:avLst/>
          </a:prstGeom>
          <a:noFill/>
          <a:ln/>
        </p:spPr>
        <p:txBody>
          <a:bodyPr wrap="square" lIns="25400" tIns="25400" rIns="25400" bIns="25400" rtlCol="0" anchor="t">
            <a:normAutofit/>
          </a:bodyPr>
          <a:lstStyle/>
          <a:p>
            <a:pPr marL="0" indent="0" algn="l">
              <a:buNone/>
            </a:pPr>
            <a:r>
              <a:rPr lang="en-US" sz="1424" b="1" dirty="0">
                <a:solidFill>
                  <a:srgbClr val="33424F"/>
                </a:solidFill>
                <a:latin typeface="Arial" pitchFamily="34" charset="0"/>
                <a:ea typeface="Arial" pitchFamily="34" charset="-122"/>
                <a:cs typeface="Arial" pitchFamily="34" charset="-120"/>
              </a:rPr>
              <a:t>5,000 lb</a:t>
            </a:r>
            <a:endParaRPr lang="en-US" sz="1424" dirty="0"/>
          </a:p>
        </p:txBody>
      </p:sp>
      <p:sp>
        <p:nvSpPr>
          <p:cNvPr id="38" name="Text 36"/>
          <p:cNvSpPr/>
          <p:nvPr/>
        </p:nvSpPr>
        <p:spPr>
          <a:xfrm>
            <a:off x="13096875" y="4845050"/>
            <a:ext cx="4269296" cy="335757"/>
          </a:xfrm>
          <a:prstGeom prst="rect">
            <a:avLst/>
          </a:prstGeom>
          <a:noFill/>
          <a:ln/>
        </p:spPr>
        <p:txBody>
          <a:bodyPr wrap="square" lIns="25400" tIns="25400" rIns="25400" bIns="25400" rtlCol="0" anchor="t">
            <a:normAutofit/>
          </a:bodyPr>
          <a:lstStyle/>
          <a:p>
            <a:pPr marL="0" indent="0" algn="l">
              <a:buNone/>
            </a:pPr>
            <a:r>
              <a:rPr lang="en-US" sz="1333" dirty="0">
                <a:solidFill>
                  <a:srgbClr val="0E2A47"/>
                </a:solidFill>
                <a:latin typeface="Arial" pitchFamily="34" charset="0"/>
                <a:ea typeface="Arial" pitchFamily="34" charset="-122"/>
                <a:cs typeface="Arial" pitchFamily="34" charset="-120"/>
              </a:rPr>
              <a:t>Clip both rings together</a:t>
            </a:r>
            <a:endParaRPr lang="en-US" sz="1333" dirty="0"/>
          </a:p>
        </p:txBody>
      </p:sp>
      <p:sp>
        <p:nvSpPr>
          <p:cNvPr id="39" name="Shape 37"/>
          <p:cNvSpPr/>
          <p:nvPr/>
        </p:nvSpPr>
        <p:spPr>
          <a:xfrm>
            <a:off x="8650000" y="5600000"/>
            <a:ext cx="8780750" cy="1825000"/>
          </a:xfrm>
          <a:prstGeom prst="roundRect">
            <a:avLst>
              <a:gd name="adj" fmla="val 3850"/>
            </a:avLst>
          </a:prstGeom>
          <a:solidFill>
            <a:srgbClr val="FDF1EF"/>
          </a:solidFill>
          <a:ln/>
        </p:spPr>
        <p:txBody>
          <a:bodyPr/>
          <a:lstStyle/>
          <a:p>
            <a:endParaRPr lang="en-US"/>
          </a:p>
        </p:txBody>
      </p:sp>
      <p:sp>
        <p:nvSpPr>
          <p:cNvPr id="40" name="Shape 38"/>
          <p:cNvSpPr/>
          <p:nvPr/>
        </p:nvSpPr>
        <p:spPr>
          <a:xfrm>
            <a:off x="8650000" y="7410712"/>
            <a:ext cx="8780750" cy="14288"/>
          </a:xfrm>
          <a:prstGeom prst="rect">
            <a:avLst/>
          </a:prstGeom>
          <a:solidFill>
            <a:srgbClr val="F2D5CF"/>
          </a:solidFill>
          <a:ln/>
        </p:spPr>
        <p:txBody>
          <a:bodyPr/>
          <a:lstStyle/>
          <a:p>
            <a:endParaRPr lang="en-US"/>
          </a:p>
        </p:txBody>
      </p:sp>
      <p:sp>
        <p:nvSpPr>
          <p:cNvPr id="41" name="Shape 39"/>
          <p:cNvSpPr/>
          <p:nvPr/>
        </p:nvSpPr>
        <p:spPr>
          <a:xfrm>
            <a:off x="8650000" y="5600000"/>
            <a:ext cx="8780750" cy="14288"/>
          </a:xfrm>
          <a:prstGeom prst="rect">
            <a:avLst/>
          </a:prstGeom>
          <a:solidFill>
            <a:srgbClr val="F2D5CF"/>
          </a:solidFill>
          <a:ln/>
        </p:spPr>
        <p:txBody>
          <a:bodyPr/>
          <a:lstStyle/>
          <a:p>
            <a:endParaRPr lang="en-US"/>
          </a:p>
        </p:txBody>
      </p:sp>
      <p:sp>
        <p:nvSpPr>
          <p:cNvPr id="42" name="Shape 40"/>
          <p:cNvSpPr/>
          <p:nvPr/>
        </p:nvSpPr>
        <p:spPr>
          <a:xfrm>
            <a:off x="8650000" y="5600000"/>
            <a:ext cx="47625" cy="1825000"/>
          </a:xfrm>
          <a:prstGeom prst="rect">
            <a:avLst/>
          </a:prstGeom>
          <a:solidFill>
            <a:srgbClr val="C8341F"/>
          </a:solidFill>
          <a:ln/>
        </p:spPr>
        <p:txBody>
          <a:bodyPr/>
          <a:lstStyle/>
          <a:p>
            <a:endParaRPr lang="en-US"/>
          </a:p>
        </p:txBody>
      </p:sp>
      <p:sp>
        <p:nvSpPr>
          <p:cNvPr id="43" name="Shape 41"/>
          <p:cNvSpPr/>
          <p:nvPr/>
        </p:nvSpPr>
        <p:spPr>
          <a:xfrm>
            <a:off x="17421225" y="5600000"/>
            <a:ext cx="9525" cy="1825000"/>
          </a:xfrm>
          <a:prstGeom prst="rect">
            <a:avLst/>
          </a:prstGeom>
          <a:solidFill>
            <a:srgbClr val="F2D5CF"/>
          </a:solidFill>
          <a:ln/>
        </p:spPr>
        <p:txBody>
          <a:bodyPr/>
          <a:lstStyle/>
          <a:p>
            <a:endParaRPr lang="en-US"/>
          </a:p>
        </p:txBody>
      </p:sp>
      <p:sp>
        <p:nvSpPr>
          <p:cNvPr id="44" name="Text 42"/>
          <p:cNvSpPr/>
          <p:nvPr/>
        </p:nvSpPr>
        <p:spPr>
          <a:xfrm>
            <a:off x="8926225" y="5871463"/>
            <a:ext cx="8275925" cy="235745"/>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HARDWARE STRENGTH — MINIMUM BREAKING STRENGTH</a:t>
            </a:r>
            <a:endParaRPr lang="en-US" sz="1010" dirty="0"/>
          </a:p>
        </p:txBody>
      </p:sp>
      <p:sp>
        <p:nvSpPr>
          <p:cNvPr id="45" name="Text 43"/>
          <p:cNvSpPr/>
          <p:nvPr/>
        </p:nvSpPr>
        <p:spPr>
          <a:xfrm>
            <a:off x="8926225" y="6135782"/>
            <a:ext cx="8275925" cy="734244"/>
          </a:xfrm>
          <a:prstGeom prst="rect">
            <a:avLst/>
          </a:prstGeom>
          <a:noFill/>
          <a:ln/>
        </p:spPr>
        <p:txBody>
          <a:bodyPr wrap="square" lIns="25400" tIns="25400" rIns="25400" bIns="25400" rtlCol="0" anchor="t">
            <a:normAutofit/>
          </a:bodyPr>
          <a:lstStyle/>
          <a:p>
            <a:pPr marL="0" indent="0" algn="l">
              <a:lnSpc>
                <a:spcPct val="125405"/>
              </a:lnSpc>
              <a:buNone/>
            </a:pPr>
            <a:r>
              <a:rPr lang="en-US" sz="1470" b="1" dirty="0">
                <a:solidFill>
                  <a:srgbClr val="33424F"/>
                </a:solidFill>
                <a:latin typeface="Arial" pitchFamily="34" charset="0"/>
                <a:ea typeface="Arial" pitchFamily="34" charset="-122"/>
                <a:cs typeface="Arial" pitchFamily="34" charset="-120"/>
              </a:rPr>
              <a:t>D-rings 5,000 lb  ·  Buckles &amp; adjusters 4,000 lb</a:t>
            </a:r>
          </a:p>
          <a:p>
            <a:pPr marL="0" indent="0" algn="l">
              <a:lnSpc>
                <a:spcPct val="125405"/>
              </a:lnSpc>
              <a:buNone/>
            </a:pPr>
            <a:r>
              <a:rPr lang="en-US" sz="1470" dirty="0">
                <a:solidFill>
                  <a:srgbClr val="33424F"/>
                </a:solidFill>
                <a:latin typeface="Arial" pitchFamily="34" charset="0"/>
                <a:ea typeface="Arial" pitchFamily="34" charset="-122"/>
                <a:cs typeface="Arial" pitchFamily="34" charset="-120"/>
              </a:rPr>
              <a:t>Dorsal fall arrest limits the force on your body to 1,800 lb. Any ring or buckle that has arrested a fall is removed from service.</a:t>
            </a:r>
          </a:p>
        </p:txBody>
      </p:sp>
      <p:sp>
        <p:nvSpPr>
          <p:cNvPr id="46" name="Shape 44"/>
          <p:cNvSpPr/>
          <p:nvPr/>
        </p:nvSpPr>
        <p:spPr>
          <a:xfrm>
            <a:off x="8650000" y="7725000"/>
            <a:ext cx="8780750" cy="1825000"/>
          </a:xfrm>
          <a:prstGeom prst="roundRect">
            <a:avLst>
              <a:gd name="adj" fmla="val 3850"/>
            </a:avLst>
          </a:prstGeom>
          <a:solidFill>
            <a:srgbClr val="0E2A47"/>
          </a:solidFill>
          <a:ln/>
        </p:spPr>
        <p:txBody>
          <a:bodyPr/>
          <a:lstStyle/>
          <a:p>
            <a:endParaRPr lang="en-US"/>
          </a:p>
        </p:txBody>
      </p:sp>
      <p:sp>
        <p:nvSpPr>
          <p:cNvPr id="47" name="Text 45"/>
          <p:cNvSpPr/>
          <p:nvPr/>
        </p:nvSpPr>
        <p:spPr>
          <a:xfrm>
            <a:off x="8878600" y="7982175"/>
            <a:ext cx="8323550" cy="235745"/>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STUDENT PRACTICE</a:t>
            </a:r>
            <a:endParaRPr lang="en-US" sz="1010" dirty="0"/>
          </a:p>
        </p:txBody>
      </p:sp>
      <p:sp>
        <p:nvSpPr>
          <p:cNvPr id="48" name="Text 46"/>
          <p:cNvSpPr/>
          <p:nvPr/>
        </p:nvSpPr>
        <p:spPr>
          <a:xfrm>
            <a:off x="8878600" y="8246494"/>
            <a:ext cx="8323550" cy="719956"/>
          </a:xfrm>
          <a:prstGeom prst="rect">
            <a:avLst/>
          </a:prstGeom>
          <a:noFill/>
          <a:ln/>
        </p:spPr>
        <p:txBody>
          <a:bodyPr wrap="square" lIns="25400" tIns="25400" rIns="25400" bIns="25400" rtlCol="0" anchor="t">
            <a:normAutofit/>
          </a:bodyPr>
          <a:lstStyle/>
          <a:p>
            <a:pPr marL="0" indent="0" algn="l">
              <a:lnSpc>
                <a:spcPct val="125405"/>
              </a:lnSpc>
              <a:buNone/>
            </a:pPr>
            <a:r>
              <a:rPr lang="en-US" sz="1470" dirty="0">
                <a:solidFill>
                  <a:srgbClr val="C7D4E1"/>
                </a:solidFill>
                <a:latin typeface="Arial" pitchFamily="34" charset="0"/>
                <a:ea typeface="Arial" pitchFamily="34" charset="-122"/>
                <a:cs typeface="Arial" pitchFamily="34" charset="-120"/>
              </a:rPr>
              <a:t>Point to and name every attachment point on your own harness; state its MBS and its job before you kit up.</a:t>
            </a:r>
            <a:endParaRPr lang="en-US" sz="147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HARNESS ATTACHMENT POINTS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15</a:t>
            </a:r>
            <a:endParaRPr lang="en-US" sz="900" dirty="0"/>
          </a:p>
        </p:txBody>
      </p:sp>
      <p:sp>
        <p:nvSpPr>
          <p:cNvPr id="300" name="Card 300"/>
          <p:cNvSpPr/>
          <p:nvPr/>
        </p:nvSpPr>
        <p:spPr>
          <a:xfrm>
            <a:off x="857250" y="5600000"/>
            <a:ext cx="7600000" cy="3950000"/>
          </a:xfrm>
          <a:prstGeom prst="roundRect">
            <a:avLst>
              <a:gd name="adj" fmla="val 1559"/>
            </a:avLst>
          </a:prstGeom>
          <a:solidFill>
            <a:srgbClr val="FFFFFF"/>
          </a:solidFill>
          <a:ln w="9525">
            <a:solidFill>
              <a:srgbClr val="E2E7ED"/>
            </a:solidFill>
          </a:ln>
        </p:spPr>
        <p:txBody>
          <a:bodyPr/>
          <a:lstStyle/>
          <a:p>
            <a:endParaRPr lang="en-US"/>
          </a:p>
        </p:txBody>
      </p:sp>
      <p:pic>
        <p:nvPicPr>
          <p:cNvPr id="301" name="Harness diagram"/>
          <p:cNvPicPr>
            <a:picLocks noChangeAspect="1"/>
          </p:cNvPicPr>
          <p:nvPr/>
        </p:nvPicPr>
        <p:blipFill>
          <a:blip r:embed="rId3"/>
          <a:stretch>
            <a:fillRect/>
          </a:stretch>
        </p:blipFill>
        <p:spPr>
          <a:xfrm>
            <a:off x="1007250" y="5750000"/>
            <a:ext cx="7300000" cy="365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74240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111977"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Inspection, Kitting &amp; Buddy Checks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Inspect before use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Check soft goods, hardware, labels, compatibility and function. Fit the harness, install devices, function-test and complete a second-person buddy check. Inspect soft goods for cuts, abrasion, glazing and chemical damage; hardware for cracks, wear and gate action.</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two sets of eyes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Routine familiarity creates blind spots. A structured buddy check catches mis-threading, unlocked connectors and incorrect device orientation before exposure. Familiarity breeds blind spots — the buddy check catches what your own eyes skip over.</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Before every practical session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Repeat after equipment changes, breaks, major reconfiguration or whenever there is any doubt. Also re-check after a dropped item or any suspected shock load.</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Rushing the check</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Skipping labels, overlooking glazing / cuts / corrosion, failing to function-test, or assuming yesterday’s setup is still correct. Yesterday’s “good” is not today’s inspection — verify every session from scratch.</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systematic inspection sequence and willingness to quarantine suspect equipment. Willingness to fail a questionable item is graded as professional judgment, not indecision.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if damage is questionable?”</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Remove it from service and follow the organization / manufacturer inspection process. Never “test it on rope.” Tag it out of service immediately so no one else can pick it up.</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EQUIPMENT</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The Full Kit — Check It Out, Check It Over</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EQUIPMENT · KIT-UP CHECKLIST</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17</a:t>
            </a:r>
            <a:endParaRPr lang="en-US" sz="900" dirty="0"/>
          </a:p>
        </p:txBody>
      </p:sp>
      <p:sp>
        <p:nvSpPr>
          <p:cNvPr id="828" name="Shape 828"/>
          <p:cNvSpPr/>
          <p:nvPr/>
        </p:nvSpPr>
        <p:spPr>
          <a:xfrm>
            <a:off x="9810750" y="1778000"/>
            <a:ext cx="7620000" cy="7620000"/>
          </a:xfrm>
          <a:prstGeom prst="rect">
            <a:avLst/>
          </a:prstGeom>
          <a:solidFill>
            <a:srgbClr val="FFFFFF"/>
          </a:solidFill>
          <a:ln>
            <a:noFill/>
          </a:ln>
        </p:spPr>
        <p:txBody>
          <a:bodyPr/>
          <a:lstStyle/>
          <a:p>
            <a:endParaRPr lang="en-US"/>
          </a:p>
        </p:txBody>
      </p:sp>
      <p:pic>
        <p:nvPicPr>
          <p:cNvPr id="829" name="Picture 829"/>
          <p:cNvPicPr>
            <a:picLocks noChangeAspect="1"/>
          </p:cNvPicPr>
          <p:nvPr/>
        </p:nvPicPr>
        <p:blipFill>
          <a:blip r:embed="rId3"/>
          <a:stretch>
            <a:fillRect/>
          </a:stretch>
        </p:blipFill>
        <p:spPr>
          <a:xfrm>
            <a:off x="9937750" y="1905000"/>
            <a:ext cx="7366000" cy="7366000"/>
          </a:xfrm>
          <a:prstGeom prst="rect">
            <a:avLst/>
          </a:prstGeom>
        </p:spPr>
      </p:pic>
      <p:sp>
        <p:nvSpPr>
          <p:cNvPr id="830" name="Text 830"/>
          <p:cNvSpPr txBox="1"/>
          <p:nvPr/>
        </p:nvSpPr>
        <p:spPr>
          <a:xfrm>
            <a:off x="857250" y="1905000"/>
            <a:ext cx="83820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KIT-UP CHECKLIST — BEFORE YOU LEAVE THE STORE</a:t>
            </a:r>
          </a:p>
        </p:txBody>
      </p:sp>
      <p:sp>
        <p:nvSpPr>
          <p:cNvPr id="831" name="Shape 831"/>
          <p:cNvSpPr/>
          <p:nvPr/>
        </p:nvSpPr>
        <p:spPr>
          <a:xfrm>
            <a:off x="857250" y="2438400"/>
            <a:ext cx="279400" cy="279400"/>
          </a:xfrm>
          <a:prstGeom prst="rect">
            <a:avLst/>
          </a:prstGeom>
          <a:solidFill>
            <a:srgbClr val="FFFFFF"/>
          </a:solidFill>
          <a:ln>
            <a:noFill/>
          </a:ln>
        </p:spPr>
        <p:txBody>
          <a:bodyPr/>
          <a:lstStyle/>
          <a:p>
            <a:endParaRPr lang="en-US"/>
          </a:p>
        </p:txBody>
      </p:sp>
      <p:sp>
        <p:nvSpPr>
          <p:cNvPr id="832" name="Shape 832"/>
          <p:cNvSpPr/>
          <p:nvPr/>
        </p:nvSpPr>
        <p:spPr>
          <a:xfrm>
            <a:off x="857250" y="2438400"/>
            <a:ext cx="279400" cy="25400"/>
          </a:xfrm>
          <a:prstGeom prst="rect">
            <a:avLst/>
          </a:prstGeom>
          <a:solidFill>
            <a:srgbClr val="F26A1B"/>
          </a:solidFill>
          <a:ln>
            <a:noFill/>
          </a:ln>
        </p:spPr>
        <p:txBody>
          <a:bodyPr/>
          <a:lstStyle/>
          <a:p>
            <a:endParaRPr lang="en-US"/>
          </a:p>
        </p:txBody>
      </p:sp>
      <p:sp>
        <p:nvSpPr>
          <p:cNvPr id="833" name="Shape 833"/>
          <p:cNvSpPr/>
          <p:nvPr/>
        </p:nvSpPr>
        <p:spPr>
          <a:xfrm>
            <a:off x="857250" y="2692400"/>
            <a:ext cx="279400" cy="25400"/>
          </a:xfrm>
          <a:prstGeom prst="rect">
            <a:avLst/>
          </a:prstGeom>
          <a:solidFill>
            <a:srgbClr val="F26A1B"/>
          </a:solidFill>
          <a:ln>
            <a:noFill/>
          </a:ln>
        </p:spPr>
        <p:txBody>
          <a:bodyPr/>
          <a:lstStyle/>
          <a:p>
            <a:endParaRPr lang="en-US"/>
          </a:p>
        </p:txBody>
      </p:sp>
      <p:sp>
        <p:nvSpPr>
          <p:cNvPr id="834" name="Shape 834"/>
          <p:cNvSpPr/>
          <p:nvPr/>
        </p:nvSpPr>
        <p:spPr>
          <a:xfrm>
            <a:off x="857250" y="2438400"/>
            <a:ext cx="25400" cy="279400"/>
          </a:xfrm>
          <a:prstGeom prst="rect">
            <a:avLst/>
          </a:prstGeom>
          <a:solidFill>
            <a:srgbClr val="F26A1B"/>
          </a:solidFill>
          <a:ln>
            <a:noFill/>
          </a:ln>
        </p:spPr>
        <p:txBody>
          <a:bodyPr/>
          <a:lstStyle/>
          <a:p>
            <a:endParaRPr lang="en-US"/>
          </a:p>
        </p:txBody>
      </p:sp>
      <p:sp>
        <p:nvSpPr>
          <p:cNvPr id="835" name="Shape 835"/>
          <p:cNvSpPr/>
          <p:nvPr/>
        </p:nvSpPr>
        <p:spPr>
          <a:xfrm>
            <a:off x="1111250" y="2438400"/>
            <a:ext cx="25400" cy="279400"/>
          </a:xfrm>
          <a:prstGeom prst="rect">
            <a:avLst/>
          </a:prstGeom>
          <a:solidFill>
            <a:srgbClr val="F26A1B"/>
          </a:solidFill>
          <a:ln>
            <a:noFill/>
          </a:ln>
        </p:spPr>
        <p:txBody>
          <a:bodyPr/>
          <a:lstStyle/>
          <a:p>
            <a:endParaRPr lang="en-US"/>
          </a:p>
        </p:txBody>
      </p:sp>
      <p:sp>
        <p:nvSpPr>
          <p:cNvPr id="836" name="Text 836"/>
          <p:cNvSpPr txBox="1"/>
          <p:nvPr/>
        </p:nvSpPr>
        <p:spPr>
          <a:xfrm>
            <a:off x="1314450" y="24130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Harness + seat board</a:t>
            </a:r>
          </a:p>
          <a:p>
            <a:pPr marL="0" indent="0" algn="l">
              <a:lnSpc>
                <a:spcPct val="110000"/>
              </a:lnSpc>
              <a:spcBef>
                <a:spcPts val="300"/>
              </a:spcBef>
              <a:buNone/>
            </a:pPr>
            <a:r>
              <a:rPr lang="en-US" sz="1400" dirty="0">
                <a:solidFill>
                  <a:srgbClr val="41505E"/>
                </a:solidFill>
                <a:latin typeface="Arial"/>
                <a:cs typeface="Arial"/>
              </a:rPr>
              <a:t>Fitted, buckles done up</a:t>
            </a:r>
          </a:p>
        </p:txBody>
      </p:sp>
      <p:sp>
        <p:nvSpPr>
          <p:cNvPr id="837" name="Shape 837"/>
          <p:cNvSpPr/>
          <p:nvPr/>
        </p:nvSpPr>
        <p:spPr>
          <a:xfrm>
            <a:off x="857250" y="3657600"/>
            <a:ext cx="279400" cy="279400"/>
          </a:xfrm>
          <a:prstGeom prst="rect">
            <a:avLst/>
          </a:prstGeom>
          <a:solidFill>
            <a:srgbClr val="FFFFFF"/>
          </a:solidFill>
          <a:ln>
            <a:noFill/>
          </a:ln>
        </p:spPr>
        <p:txBody>
          <a:bodyPr/>
          <a:lstStyle/>
          <a:p>
            <a:endParaRPr lang="en-US"/>
          </a:p>
        </p:txBody>
      </p:sp>
      <p:sp>
        <p:nvSpPr>
          <p:cNvPr id="838" name="Shape 838"/>
          <p:cNvSpPr/>
          <p:nvPr/>
        </p:nvSpPr>
        <p:spPr>
          <a:xfrm>
            <a:off x="857250" y="3657600"/>
            <a:ext cx="279400" cy="25400"/>
          </a:xfrm>
          <a:prstGeom prst="rect">
            <a:avLst/>
          </a:prstGeom>
          <a:solidFill>
            <a:srgbClr val="F26A1B"/>
          </a:solidFill>
          <a:ln>
            <a:noFill/>
          </a:ln>
        </p:spPr>
        <p:txBody>
          <a:bodyPr/>
          <a:lstStyle/>
          <a:p>
            <a:endParaRPr lang="en-US"/>
          </a:p>
        </p:txBody>
      </p:sp>
      <p:sp>
        <p:nvSpPr>
          <p:cNvPr id="839" name="Shape 839"/>
          <p:cNvSpPr/>
          <p:nvPr/>
        </p:nvSpPr>
        <p:spPr>
          <a:xfrm>
            <a:off x="857250" y="3911600"/>
            <a:ext cx="279400" cy="25400"/>
          </a:xfrm>
          <a:prstGeom prst="rect">
            <a:avLst/>
          </a:prstGeom>
          <a:solidFill>
            <a:srgbClr val="F26A1B"/>
          </a:solidFill>
          <a:ln>
            <a:noFill/>
          </a:ln>
        </p:spPr>
        <p:txBody>
          <a:bodyPr/>
          <a:lstStyle/>
          <a:p>
            <a:endParaRPr lang="en-US"/>
          </a:p>
        </p:txBody>
      </p:sp>
      <p:sp>
        <p:nvSpPr>
          <p:cNvPr id="840" name="Shape 840"/>
          <p:cNvSpPr/>
          <p:nvPr/>
        </p:nvSpPr>
        <p:spPr>
          <a:xfrm>
            <a:off x="857250" y="3657600"/>
            <a:ext cx="25400" cy="279400"/>
          </a:xfrm>
          <a:prstGeom prst="rect">
            <a:avLst/>
          </a:prstGeom>
          <a:solidFill>
            <a:srgbClr val="F26A1B"/>
          </a:solidFill>
          <a:ln>
            <a:noFill/>
          </a:ln>
        </p:spPr>
        <p:txBody>
          <a:bodyPr/>
          <a:lstStyle/>
          <a:p>
            <a:endParaRPr lang="en-US"/>
          </a:p>
        </p:txBody>
      </p:sp>
      <p:sp>
        <p:nvSpPr>
          <p:cNvPr id="841" name="Shape 841"/>
          <p:cNvSpPr/>
          <p:nvPr/>
        </p:nvSpPr>
        <p:spPr>
          <a:xfrm>
            <a:off x="1111250" y="3657600"/>
            <a:ext cx="25400" cy="279400"/>
          </a:xfrm>
          <a:prstGeom prst="rect">
            <a:avLst/>
          </a:prstGeom>
          <a:solidFill>
            <a:srgbClr val="F26A1B"/>
          </a:solidFill>
          <a:ln>
            <a:noFill/>
          </a:ln>
        </p:spPr>
        <p:txBody>
          <a:bodyPr/>
          <a:lstStyle/>
          <a:p>
            <a:endParaRPr lang="en-US"/>
          </a:p>
        </p:txBody>
      </p:sp>
      <p:sp>
        <p:nvSpPr>
          <p:cNvPr id="842" name="Text 842"/>
          <p:cNvSpPr txBox="1"/>
          <p:nvPr/>
        </p:nvSpPr>
        <p:spPr>
          <a:xfrm>
            <a:off x="1314450" y="36322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Helmet</a:t>
            </a:r>
          </a:p>
          <a:p>
            <a:pPr marL="0" indent="0" algn="l">
              <a:lnSpc>
                <a:spcPct val="110000"/>
              </a:lnSpc>
              <a:spcBef>
                <a:spcPts val="300"/>
              </a:spcBef>
              <a:buNone/>
            </a:pPr>
            <a:r>
              <a:rPr lang="en-US" sz="1400" dirty="0">
                <a:solidFill>
                  <a:srgbClr val="41505E"/>
                </a:solidFill>
                <a:latin typeface="Arial"/>
                <a:cs typeface="Arial"/>
              </a:rPr>
              <a:t>Chinstrap adjusted</a:t>
            </a:r>
          </a:p>
        </p:txBody>
      </p:sp>
      <p:sp>
        <p:nvSpPr>
          <p:cNvPr id="843" name="Shape 843"/>
          <p:cNvSpPr/>
          <p:nvPr/>
        </p:nvSpPr>
        <p:spPr>
          <a:xfrm>
            <a:off x="857250" y="4876800"/>
            <a:ext cx="279400" cy="279400"/>
          </a:xfrm>
          <a:prstGeom prst="rect">
            <a:avLst/>
          </a:prstGeom>
          <a:solidFill>
            <a:srgbClr val="FFFFFF"/>
          </a:solidFill>
          <a:ln>
            <a:noFill/>
          </a:ln>
        </p:spPr>
        <p:txBody>
          <a:bodyPr/>
          <a:lstStyle/>
          <a:p>
            <a:endParaRPr lang="en-US"/>
          </a:p>
        </p:txBody>
      </p:sp>
      <p:sp>
        <p:nvSpPr>
          <p:cNvPr id="844" name="Shape 844"/>
          <p:cNvSpPr/>
          <p:nvPr/>
        </p:nvSpPr>
        <p:spPr>
          <a:xfrm>
            <a:off x="857250" y="4876800"/>
            <a:ext cx="279400" cy="25400"/>
          </a:xfrm>
          <a:prstGeom prst="rect">
            <a:avLst/>
          </a:prstGeom>
          <a:solidFill>
            <a:srgbClr val="F26A1B"/>
          </a:solidFill>
          <a:ln>
            <a:noFill/>
          </a:ln>
        </p:spPr>
        <p:txBody>
          <a:bodyPr/>
          <a:lstStyle/>
          <a:p>
            <a:endParaRPr lang="en-US"/>
          </a:p>
        </p:txBody>
      </p:sp>
      <p:sp>
        <p:nvSpPr>
          <p:cNvPr id="845" name="Shape 845"/>
          <p:cNvSpPr/>
          <p:nvPr/>
        </p:nvSpPr>
        <p:spPr>
          <a:xfrm>
            <a:off x="857250" y="5130800"/>
            <a:ext cx="279400" cy="25400"/>
          </a:xfrm>
          <a:prstGeom prst="rect">
            <a:avLst/>
          </a:prstGeom>
          <a:solidFill>
            <a:srgbClr val="F26A1B"/>
          </a:solidFill>
          <a:ln>
            <a:noFill/>
          </a:ln>
        </p:spPr>
        <p:txBody>
          <a:bodyPr/>
          <a:lstStyle/>
          <a:p>
            <a:endParaRPr lang="en-US"/>
          </a:p>
        </p:txBody>
      </p:sp>
      <p:sp>
        <p:nvSpPr>
          <p:cNvPr id="846" name="Shape 846"/>
          <p:cNvSpPr/>
          <p:nvPr/>
        </p:nvSpPr>
        <p:spPr>
          <a:xfrm>
            <a:off x="857250" y="4876800"/>
            <a:ext cx="25400" cy="279400"/>
          </a:xfrm>
          <a:prstGeom prst="rect">
            <a:avLst/>
          </a:prstGeom>
          <a:solidFill>
            <a:srgbClr val="F26A1B"/>
          </a:solidFill>
          <a:ln>
            <a:noFill/>
          </a:ln>
        </p:spPr>
        <p:txBody>
          <a:bodyPr/>
          <a:lstStyle/>
          <a:p>
            <a:endParaRPr lang="en-US"/>
          </a:p>
        </p:txBody>
      </p:sp>
      <p:sp>
        <p:nvSpPr>
          <p:cNvPr id="847" name="Shape 847"/>
          <p:cNvSpPr/>
          <p:nvPr/>
        </p:nvSpPr>
        <p:spPr>
          <a:xfrm>
            <a:off x="1111250" y="4876800"/>
            <a:ext cx="25400" cy="279400"/>
          </a:xfrm>
          <a:prstGeom prst="rect">
            <a:avLst/>
          </a:prstGeom>
          <a:solidFill>
            <a:srgbClr val="F26A1B"/>
          </a:solidFill>
          <a:ln>
            <a:noFill/>
          </a:ln>
        </p:spPr>
        <p:txBody>
          <a:bodyPr/>
          <a:lstStyle/>
          <a:p>
            <a:endParaRPr lang="en-US"/>
          </a:p>
        </p:txBody>
      </p:sp>
      <p:sp>
        <p:nvSpPr>
          <p:cNvPr id="848" name="Text 848"/>
          <p:cNvSpPr txBox="1"/>
          <p:nvPr/>
        </p:nvSpPr>
        <p:spPr>
          <a:xfrm>
            <a:off x="1314450" y="48514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Gloves</a:t>
            </a:r>
          </a:p>
          <a:p>
            <a:pPr marL="0" indent="0" algn="l">
              <a:lnSpc>
                <a:spcPct val="110000"/>
              </a:lnSpc>
              <a:spcBef>
                <a:spcPts val="300"/>
              </a:spcBef>
              <a:buNone/>
            </a:pPr>
            <a:r>
              <a:rPr lang="en-US" sz="1400" dirty="0">
                <a:solidFill>
                  <a:srgbClr val="41505E"/>
                </a:solidFill>
                <a:latin typeface="Arial"/>
                <a:cs typeface="Arial"/>
              </a:rPr>
              <a:t>Good grip, no holes</a:t>
            </a:r>
          </a:p>
        </p:txBody>
      </p:sp>
      <p:sp>
        <p:nvSpPr>
          <p:cNvPr id="849" name="Shape 849"/>
          <p:cNvSpPr/>
          <p:nvPr/>
        </p:nvSpPr>
        <p:spPr>
          <a:xfrm>
            <a:off x="857250" y="6096000"/>
            <a:ext cx="279400" cy="279400"/>
          </a:xfrm>
          <a:prstGeom prst="rect">
            <a:avLst/>
          </a:prstGeom>
          <a:solidFill>
            <a:srgbClr val="FFFFFF"/>
          </a:solidFill>
          <a:ln>
            <a:noFill/>
          </a:ln>
        </p:spPr>
        <p:txBody>
          <a:bodyPr/>
          <a:lstStyle/>
          <a:p>
            <a:endParaRPr lang="en-US"/>
          </a:p>
        </p:txBody>
      </p:sp>
      <p:sp>
        <p:nvSpPr>
          <p:cNvPr id="850" name="Shape 850"/>
          <p:cNvSpPr/>
          <p:nvPr/>
        </p:nvSpPr>
        <p:spPr>
          <a:xfrm>
            <a:off x="857250" y="6096000"/>
            <a:ext cx="279400" cy="25400"/>
          </a:xfrm>
          <a:prstGeom prst="rect">
            <a:avLst/>
          </a:prstGeom>
          <a:solidFill>
            <a:srgbClr val="F26A1B"/>
          </a:solidFill>
          <a:ln>
            <a:noFill/>
          </a:ln>
        </p:spPr>
        <p:txBody>
          <a:bodyPr/>
          <a:lstStyle/>
          <a:p>
            <a:endParaRPr lang="en-US"/>
          </a:p>
        </p:txBody>
      </p:sp>
      <p:sp>
        <p:nvSpPr>
          <p:cNvPr id="851" name="Shape 851"/>
          <p:cNvSpPr/>
          <p:nvPr/>
        </p:nvSpPr>
        <p:spPr>
          <a:xfrm>
            <a:off x="857250" y="6350000"/>
            <a:ext cx="279400" cy="25400"/>
          </a:xfrm>
          <a:prstGeom prst="rect">
            <a:avLst/>
          </a:prstGeom>
          <a:solidFill>
            <a:srgbClr val="F26A1B"/>
          </a:solidFill>
          <a:ln>
            <a:noFill/>
          </a:ln>
        </p:spPr>
        <p:txBody>
          <a:bodyPr/>
          <a:lstStyle/>
          <a:p>
            <a:endParaRPr lang="en-US"/>
          </a:p>
        </p:txBody>
      </p:sp>
      <p:sp>
        <p:nvSpPr>
          <p:cNvPr id="852" name="Shape 852"/>
          <p:cNvSpPr/>
          <p:nvPr/>
        </p:nvSpPr>
        <p:spPr>
          <a:xfrm>
            <a:off x="857250" y="6096000"/>
            <a:ext cx="25400" cy="279400"/>
          </a:xfrm>
          <a:prstGeom prst="rect">
            <a:avLst/>
          </a:prstGeom>
          <a:solidFill>
            <a:srgbClr val="F26A1B"/>
          </a:solidFill>
          <a:ln>
            <a:noFill/>
          </a:ln>
        </p:spPr>
        <p:txBody>
          <a:bodyPr/>
          <a:lstStyle/>
          <a:p>
            <a:endParaRPr lang="en-US"/>
          </a:p>
        </p:txBody>
      </p:sp>
      <p:sp>
        <p:nvSpPr>
          <p:cNvPr id="853" name="Shape 853"/>
          <p:cNvSpPr/>
          <p:nvPr/>
        </p:nvSpPr>
        <p:spPr>
          <a:xfrm>
            <a:off x="1111250" y="6096000"/>
            <a:ext cx="25400" cy="279400"/>
          </a:xfrm>
          <a:prstGeom prst="rect">
            <a:avLst/>
          </a:prstGeom>
          <a:solidFill>
            <a:srgbClr val="F26A1B"/>
          </a:solidFill>
          <a:ln>
            <a:noFill/>
          </a:ln>
        </p:spPr>
        <p:txBody>
          <a:bodyPr/>
          <a:lstStyle/>
          <a:p>
            <a:endParaRPr lang="en-US"/>
          </a:p>
        </p:txBody>
      </p:sp>
      <p:sp>
        <p:nvSpPr>
          <p:cNvPr id="854" name="Text 854"/>
          <p:cNvSpPr txBox="1"/>
          <p:nvPr/>
        </p:nvSpPr>
        <p:spPr>
          <a:xfrm>
            <a:off x="1314450" y="60706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Chest ascender</a:t>
            </a:r>
          </a:p>
          <a:p>
            <a:pPr marL="0" indent="0" algn="l">
              <a:lnSpc>
                <a:spcPct val="110000"/>
              </a:lnSpc>
              <a:spcBef>
                <a:spcPts val="300"/>
              </a:spcBef>
              <a:buNone/>
            </a:pPr>
            <a:r>
              <a:rPr lang="en-US" sz="1400" dirty="0">
                <a:solidFill>
                  <a:srgbClr val="41505E"/>
                </a:solidFill>
                <a:latin typeface="Arial"/>
                <a:cs typeface="Arial"/>
              </a:rPr>
              <a:t>Mounted, cam clean</a:t>
            </a:r>
          </a:p>
        </p:txBody>
      </p:sp>
      <p:sp>
        <p:nvSpPr>
          <p:cNvPr id="855" name="Shape 855"/>
          <p:cNvSpPr/>
          <p:nvPr/>
        </p:nvSpPr>
        <p:spPr>
          <a:xfrm>
            <a:off x="857250" y="7315200"/>
            <a:ext cx="279400" cy="279400"/>
          </a:xfrm>
          <a:prstGeom prst="rect">
            <a:avLst/>
          </a:prstGeom>
          <a:solidFill>
            <a:srgbClr val="FFFFFF"/>
          </a:solidFill>
          <a:ln>
            <a:noFill/>
          </a:ln>
        </p:spPr>
        <p:txBody>
          <a:bodyPr/>
          <a:lstStyle/>
          <a:p>
            <a:endParaRPr lang="en-US"/>
          </a:p>
        </p:txBody>
      </p:sp>
      <p:sp>
        <p:nvSpPr>
          <p:cNvPr id="856" name="Shape 856"/>
          <p:cNvSpPr/>
          <p:nvPr/>
        </p:nvSpPr>
        <p:spPr>
          <a:xfrm>
            <a:off x="857250" y="7315200"/>
            <a:ext cx="279400" cy="25400"/>
          </a:xfrm>
          <a:prstGeom prst="rect">
            <a:avLst/>
          </a:prstGeom>
          <a:solidFill>
            <a:srgbClr val="F26A1B"/>
          </a:solidFill>
          <a:ln>
            <a:noFill/>
          </a:ln>
        </p:spPr>
        <p:txBody>
          <a:bodyPr/>
          <a:lstStyle/>
          <a:p>
            <a:endParaRPr lang="en-US"/>
          </a:p>
        </p:txBody>
      </p:sp>
      <p:sp>
        <p:nvSpPr>
          <p:cNvPr id="857" name="Shape 857"/>
          <p:cNvSpPr/>
          <p:nvPr/>
        </p:nvSpPr>
        <p:spPr>
          <a:xfrm>
            <a:off x="857250" y="7569200"/>
            <a:ext cx="279400" cy="25400"/>
          </a:xfrm>
          <a:prstGeom prst="rect">
            <a:avLst/>
          </a:prstGeom>
          <a:solidFill>
            <a:srgbClr val="F26A1B"/>
          </a:solidFill>
          <a:ln>
            <a:noFill/>
          </a:ln>
        </p:spPr>
        <p:txBody>
          <a:bodyPr/>
          <a:lstStyle/>
          <a:p>
            <a:endParaRPr lang="en-US"/>
          </a:p>
        </p:txBody>
      </p:sp>
      <p:sp>
        <p:nvSpPr>
          <p:cNvPr id="858" name="Shape 858"/>
          <p:cNvSpPr/>
          <p:nvPr/>
        </p:nvSpPr>
        <p:spPr>
          <a:xfrm>
            <a:off x="857250" y="7315200"/>
            <a:ext cx="25400" cy="279400"/>
          </a:xfrm>
          <a:prstGeom prst="rect">
            <a:avLst/>
          </a:prstGeom>
          <a:solidFill>
            <a:srgbClr val="F26A1B"/>
          </a:solidFill>
          <a:ln>
            <a:noFill/>
          </a:ln>
        </p:spPr>
        <p:txBody>
          <a:bodyPr/>
          <a:lstStyle/>
          <a:p>
            <a:endParaRPr lang="en-US"/>
          </a:p>
        </p:txBody>
      </p:sp>
      <p:sp>
        <p:nvSpPr>
          <p:cNvPr id="859" name="Shape 859"/>
          <p:cNvSpPr/>
          <p:nvPr/>
        </p:nvSpPr>
        <p:spPr>
          <a:xfrm>
            <a:off x="1111250" y="7315200"/>
            <a:ext cx="25400" cy="279400"/>
          </a:xfrm>
          <a:prstGeom prst="rect">
            <a:avLst/>
          </a:prstGeom>
          <a:solidFill>
            <a:srgbClr val="F26A1B"/>
          </a:solidFill>
          <a:ln>
            <a:noFill/>
          </a:ln>
        </p:spPr>
        <p:txBody>
          <a:bodyPr/>
          <a:lstStyle/>
          <a:p>
            <a:endParaRPr lang="en-US"/>
          </a:p>
        </p:txBody>
      </p:sp>
      <p:sp>
        <p:nvSpPr>
          <p:cNvPr id="860" name="Text 860"/>
          <p:cNvSpPr txBox="1"/>
          <p:nvPr/>
        </p:nvSpPr>
        <p:spPr>
          <a:xfrm>
            <a:off x="1314450" y="72898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Hand ascender + foot loop</a:t>
            </a:r>
          </a:p>
          <a:p>
            <a:pPr marL="0" indent="0" algn="l">
              <a:lnSpc>
                <a:spcPct val="110000"/>
              </a:lnSpc>
              <a:spcBef>
                <a:spcPts val="300"/>
              </a:spcBef>
              <a:buNone/>
            </a:pPr>
            <a:r>
              <a:rPr lang="en-US" sz="1400" dirty="0">
                <a:solidFill>
                  <a:srgbClr val="41505E"/>
                </a:solidFill>
                <a:latin typeface="Arial"/>
                <a:cs typeface="Arial"/>
              </a:rPr>
              <a:t>Length set to your leg</a:t>
            </a:r>
          </a:p>
        </p:txBody>
      </p:sp>
      <p:sp>
        <p:nvSpPr>
          <p:cNvPr id="861" name="Shape 861"/>
          <p:cNvSpPr/>
          <p:nvPr/>
        </p:nvSpPr>
        <p:spPr>
          <a:xfrm>
            <a:off x="5111750" y="2438400"/>
            <a:ext cx="279400" cy="279400"/>
          </a:xfrm>
          <a:prstGeom prst="rect">
            <a:avLst/>
          </a:prstGeom>
          <a:solidFill>
            <a:srgbClr val="FFFFFF"/>
          </a:solidFill>
          <a:ln>
            <a:noFill/>
          </a:ln>
        </p:spPr>
        <p:txBody>
          <a:bodyPr/>
          <a:lstStyle/>
          <a:p>
            <a:endParaRPr lang="en-US"/>
          </a:p>
        </p:txBody>
      </p:sp>
      <p:sp>
        <p:nvSpPr>
          <p:cNvPr id="862" name="Shape 862"/>
          <p:cNvSpPr/>
          <p:nvPr/>
        </p:nvSpPr>
        <p:spPr>
          <a:xfrm>
            <a:off x="5111750" y="2438400"/>
            <a:ext cx="279400" cy="25400"/>
          </a:xfrm>
          <a:prstGeom prst="rect">
            <a:avLst/>
          </a:prstGeom>
          <a:solidFill>
            <a:srgbClr val="F26A1B"/>
          </a:solidFill>
          <a:ln>
            <a:noFill/>
          </a:ln>
        </p:spPr>
        <p:txBody>
          <a:bodyPr/>
          <a:lstStyle/>
          <a:p>
            <a:endParaRPr lang="en-US"/>
          </a:p>
        </p:txBody>
      </p:sp>
      <p:sp>
        <p:nvSpPr>
          <p:cNvPr id="863" name="Shape 863"/>
          <p:cNvSpPr/>
          <p:nvPr/>
        </p:nvSpPr>
        <p:spPr>
          <a:xfrm>
            <a:off x="5111750" y="2692400"/>
            <a:ext cx="279400" cy="25400"/>
          </a:xfrm>
          <a:prstGeom prst="rect">
            <a:avLst/>
          </a:prstGeom>
          <a:solidFill>
            <a:srgbClr val="F26A1B"/>
          </a:solidFill>
          <a:ln>
            <a:noFill/>
          </a:ln>
        </p:spPr>
        <p:txBody>
          <a:bodyPr/>
          <a:lstStyle/>
          <a:p>
            <a:endParaRPr lang="en-US"/>
          </a:p>
        </p:txBody>
      </p:sp>
      <p:sp>
        <p:nvSpPr>
          <p:cNvPr id="864" name="Shape 864"/>
          <p:cNvSpPr/>
          <p:nvPr/>
        </p:nvSpPr>
        <p:spPr>
          <a:xfrm>
            <a:off x="5111750" y="2438400"/>
            <a:ext cx="25400" cy="279400"/>
          </a:xfrm>
          <a:prstGeom prst="rect">
            <a:avLst/>
          </a:prstGeom>
          <a:solidFill>
            <a:srgbClr val="F26A1B"/>
          </a:solidFill>
          <a:ln>
            <a:noFill/>
          </a:ln>
        </p:spPr>
        <p:txBody>
          <a:bodyPr/>
          <a:lstStyle/>
          <a:p>
            <a:endParaRPr lang="en-US"/>
          </a:p>
        </p:txBody>
      </p:sp>
      <p:sp>
        <p:nvSpPr>
          <p:cNvPr id="865" name="Shape 865"/>
          <p:cNvSpPr/>
          <p:nvPr/>
        </p:nvSpPr>
        <p:spPr>
          <a:xfrm>
            <a:off x="5365750" y="2438400"/>
            <a:ext cx="25400" cy="279400"/>
          </a:xfrm>
          <a:prstGeom prst="rect">
            <a:avLst/>
          </a:prstGeom>
          <a:solidFill>
            <a:srgbClr val="F26A1B"/>
          </a:solidFill>
          <a:ln>
            <a:noFill/>
          </a:ln>
        </p:spPr>
        <p:txBody>
          <a:bodyPr/>
          <a:lstStyle/>
          <a:p>
            <a:endParaRPr lang="en-US"/>
          </a:p>
        </p:txBody>
      </p:sp>
      <p:sp>
        <p:nvSpPr>
          <p:cNvPr id="866" name="Text 866"/>
          <p:cNvSpPr txBox="1"/>
          <p:nvPr/>
        </p:nvSpPr>
        <p:spPr>
          <a:xfrm>
            <a:off x="5568950" y="24130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Descender</a:t>
            </a:r>
          </a:p>
          <a:p>
            <a:pPr marL="0" indent="0" algn="l">
              <a:lnSpc>
                <a:spcPct val="110000"/>
              </a:lnSpc>
              <a:spcBef>
                <a:spcPts val="300"/>
              </a:spcBef>
              <a:buNone/>
            </a:pPr>
            <a:r>
              <a:rPr lang="en-US" sz="1400" dirty="0">
                <a:solidFill>
                  <a:srgbClr val="41505E"/>
                </a:solidFill>
                <a:latin typeface="Arial"/>
                <a:cs typeface="Arial"/>
              </a:rPr>
              <a:t>Correct rope diameter</a:t>
            </a:r>
          </a:p>
        </p:txBody>
      </p:sp>
      <p:sp>
        <p:nvSpPr>
          <p:cNvPr id="867" name="Shape 867"/>
          <p:cNvSpPr/>
          <p:nvPr/>
        </p:nvSpPr>
        <p:spPr>
          <a:xfrm>
            <a:off x="5111750" y="3657600"/>
            <a:ext cx="279400" cy="279400"/>
          </a:xfrm>
          <a:prstGeom prst="rect">
            <a:avLst/>
          </a:prstGeom>
          <a:solidFill>
            <a:srgbClr val="FFFFFF"/>
          </a:solidFill>
          <a:ln>
            <a:noFill/>
          </a:ln>
        </p:spPr>
        <p:txBody>
          <a:bodyPr/>
          <a:lstStyle/>
          <a:p>
            <a:endParaRPr lang="en-US"/>
          </a:p>
        </p:txBody>
      </p:sp>
      <p:sp>
        <p:nvSpPr>
          <p:cNvPr id="868" name="Shape 868"/>
          <p:cNvSpPr/>
          <p:nvPr/>
        </p:nvSpPr>
        <p:spPr>
          <a:xfrm>
            <a:off x="5111750" y="3657600"/>
            <a:ext cx="279400" cy="25400"/>
          </a:xfrm>
          <a:prstGeom prst="rect">
            <a:avLst/>
          </a:prstGeom>
          <a:solidFill>
            <a:srgbClr val="F26A1B"/>
          </a:solidFill>
          <a:ln>
            <a:noFill/>
          </a:ln>
        </p:spPr>
        <p:txBody>
          <a:bodyPr/>
          <a:lstStyle/>
          <a:p>
            <a:endParaRPr lang="en-US"/>
          </a:p>
        </p:txBody>
      </p:sp>
      <p:sp>
        <p:nvSpPr>
          <p:cNvPr id="869" name="Shape 869"/>
          <p:cNvSpPr/>
          <p:nvPr/>
        </p:nvSpPr>
        <p:spPr>
          <a:xfrm>
            <a:off x="5111750" y="3911600"/>
            <a:ext cx="279400" cy="25400"/>
          </a:xfrm>
          <a:prstGeom prst="rect">
            <a:avLst/>
          </a:prstGeom>
          <a:solidFill>
            <a:srgbClr val="F26A1B"/>
          </a:solidFill>
          <a:ln>
            <a:noFill/>
          </a:ln>
        </p:spPr>
        <p:txBody>
          <a:bodyPr/>
          <a:lstStyle/>
          <a:p>
            <a:endParaRPr lang="en-US"/>
          </a:p>
        </p:txBody>
      </p:sp>
      <p:sp>
        <p:nvSpPr>
          <p:cNvPr id="870" name="Shape 870"/>
          <p:cNvSpPr/>
          <p:nvPr/>
        </p:nvSpPr>
        <p:spPr>
          <a:xfrm>
            <a:off x="5111750" y="3657600"/>
            <a:ext cx="25400" cy="279400"/>
          </a:xfrm>
          <a:prstGeom prst="rect">
            <a:avLst/>
          </a:prstGeom>
          <a:solidFill>
            <a:srgbClr val="F26A1B"/>
          </a:solidFill>
          <a:ln>
            <a:noFill/>
          </a:ln>
        </p:spPr>
        <p:txBody>
          <a:bodyPr/>
          <a:lstStyle/>
          <a:p>
            <a:endParaRPr lang="en-US"/>
          </a:p>
        </p:txBody>
      </p:sp>
      <p:sp>
        <p:nvSpPr>
          <p:cNvPr id="871" name="Shape 871"/>
          <p:cNvSpPr/>
          <p:nvPr/>
        </p:nvSpPr>
        <p:spPr>
          <a:xfrm>
            <a:off x="5365750" y="3657600"/>
            <a:ext cx="25400" cy="279400"/>
          </a:xfrm>
          <a:prstGeom prst="rect">
            <a:avLst/>
          </a:prstGeom>
          <a:solidFill>
            <a:srgbClr val="F26A1B"/>
          </a:solidFill>
          <a:ln>
            <a:noFill/>
          </a:ln>
        </p:spPr>
        <p:txBody>
          <a:bodyPr/>
          <a:lstStyle/>
          <a:p>
            <a:endParaRPr lang="en-US"/>
          </a:p>
        </p:txBody>
      </p:sp>
      <p:sp>
        <p:nvSpPr>
          <p:cNvPr id="872" name="Text 872"/>
          <p:cNvSpPr txBox="1"/>
          <p:nvPr/>
        </p:nvSpPr>
        <p:spPr>
          <a:xfrm>
            <a:off x="5568950" y="36322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Backup device + absorber</a:t>
            </a:r>
          </a:p>
          <a:p>
            <a:pPr marL="0" indent="0" algn="l">
              <a:lnSpc>
                <a:spcPct val="110000"/>
              </a:lnSpc>
              <a:spcBef>
                <a:spcPts val="300"/>
              </a:spcBef>
              <a:buNone/>
            </a:pPr>
            <a:r>
              <a:rPr lang="en-US" sz="1400" dirty="0">
                <a:solidFill>
                  <a:srgbClr val="41505E"/>
                </a:solidFill>
                <a:latin typeface="Arial"/>
                <a:cs typeface="Arial"/>
              </a:rPr>
              <a:t>Matched as a tested pair</a:t>
            </a:r>
          </a:p>
        </p:txBody>
      </p:sp>
      <p:sp>
        <p:nvSpPr>
          <p:cNvPr id="873" name="Shape 873"/>
          <p:cNvSpPr/>
          <p:nvPr/>
        </p:nvSpPr>
        <p:spPr>
          <a:xfrm>
            <a:off x="5111750" y="4876800"/>
            <a:ext cx="279400" cy="279400"/>
          </a:xfrm>
          <a:prstGeom prst="rect">
            <a:avLst/>
          </a:prstGeom>
          <a:solidFill>
            <a:srgbClr val="FFFFFF"/>
          </a:solidFill>
          <a:ln>
            <a:noFill/>
          </a:ln>
        </p:spPr>
        <p:txBody>
          <a:bodyPr/>
          <a:lstStyle/>
          <a:p>
            <a:endParaRPr lang="en-US"/>
          </a:p>
        </p:txBody>
      </p:sp>
      <p:sp>
        <p:nvSpPr>
          <p:cNvPr id="874" name="Shape 874"/>
          <p:cNvSpPr/>
          <p:nvPr/>
        </p:nvSpPr>
        <p:spPr>
          <a:xfrm>
            <a:off x="5111750" y="4876800"/>
            <a:ext cx="279400" cy="25400"/>
          </a:xfrm>
          <a:prstGeom prst="rect">
            <a:avLst/>
          </a:prstGeom>
          <a:solidFill>
            <a:srgbClr val="F26A1B"/>
          </a:solidFill>
          <a:ln>
            <a:noFill/>
          </a:ln>
        </p:spPr>
        <p:txBody>
          <a:bodyPr/>
          <a:lstStyle/>
          <a:p>
            <a:endParaRPr lang="en-US"/>
          </a:p>
        </p:txBody>
      </p:sp>
      <p:sp>
        <p:nvSpPr>
          <p:cNvPr id="875" name="Shape 875"/>
          <p:cNvSpPr/>
          <p:nvPr/>
        </p:nvSpPr>
        <p:spPr>
          <a:xfrm>
            <a:off x="5111750" y="5130800"/>
            <a:ext cx="279400" cy="25400"/>
          </a:xfrm>
          <a:prstGeom prst="rect">
            <a:avLst/>
          </a:prstGeom>
          <a:solidFill>
            <a:srgbClr val="F26A1B"/>
          </a:solidFill>
          <a:ln>
            <a:noFill/>
          </a:ln>
        </p:spPr>
        <p:txBody>
          <a:bodyPr/>
          <a:lstStyle/>
          <a:p>
            <a:endParaRPr lang="en-US"/>
          </a:p>
        </p:txBody>
      </p:sp>
      <p:sp>
        <p:nvSpPr>
          <p:cNvPr id="876" name="Shape 876"/>
          <p:cNvSpPr/>
          <p:nvPr/>
        </p:nvSpPr>
        <p:spPr>
          <a:xfrm>
            <a:off x="5111750" y="4876800"/>
            <a:ext cx="25400" cy="279400"/>
          </a:xfrm>
          <a:prstGeom prst="rect">
            <a:avLst/>
          </a:prstGeom>
          <a:solidFill>
            <a:srgbClr val="F26A1B"/>
          </a:solidFill>
          <a:ln>
            <a:noFill/>
          </a:ln>
        </p:spPr>
        <p:txBody>
          <a:bodyPr/>
          <a:lstStyle/>
          <a:p>
            <a:endParaRPr lang="en-US"/>
          </a:p>
        </p:txBody>
      </p:sp>
      <p:sp>
        <p:nvSpPr>
          <p:cNvPr id="877" name="Shape 877"/>
          <p:cNvSpPr/>
          <p:nvPr/>
        </p:nvSpPr>
        <p:spPr>
          <a:xfrm>
            <a:off x="5365750" y="4876800"/>
            <a:ext cx="25400" cy="279400"/>
          </a:xfrm>
          <a:prstGeom prst="rect">
            <a:avLst/>
          </a:prstGeom>
          <a:solidFill>
            <a:srgbClr val="F26A1B"/>
          </a:solidFill>
          <a:ln>
            <a:noFill/>
          </a:ln>
        </p:spPr>
        <p:txBody>
          <a:bodyPr/>
          <a:lstStyle/>
          <a:p>
            <a:endParaRPr lang="en-US"/>
          </a:p>
        </p:txBody>
      </p:sp>
      <p:sp>
        <p:nvSpPr>
          <p:cNvPr id="878" name="Text 878"/>
          <p:cNvSpPr txBox="1"/>
          <p:nvPr/>
        </p:nvSpPr>
        <p:spPr>
          <a:xfrm>
            <a:off x="5568950" y="48514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Cowstails / lanyards</a:t>
            </a:r>
          </a:p>
          <a:p>
            <a:pPr marL="0" indent="0" algn="l">
              <a:lnSpc>
                <a:spcPct val="110000"/>
              </a:lnSpc>
              <a:spcBef>
                <a:spcPts val="300"/>
              </a:spcBef>
              <a:buNone/>
            </a:pPr>
            <a:r>
              <a:rPr lang="en-US" sz="1400" dirty="0">
                <a:solidFill>
                  <a:srgbClr val="41505E"/>
                </a:solidFill>
                <a:latin typeface="Arial"/>
                <a:cs typeface="Arial"/>
              </a:rPr>
              <a:t>Stitching and terminations</a:t>
            </a:r>
          </a:p>
        </p:txBody>
      </p:sp>
      <p:sp>
        <p:nvSpPr>
          <p:cNvPr id="879" name="Shape 879"/>
          <p:cNvSpPr/>
          <p:nvPr/>
        </p:nvSpPr>
        <p:spPr>
          <a:xfrm>
            <a:off x="5111750" y="6096000"/>
            <a:ext cx="279400" cy="279400"/>
          </a:xfrm>
          <a:prstGeom prst="rect">
            <a:avLst/>
          </a:prstGeom>
          <a:solidFill>
            <a:srgbClr val="FFFFFF"/>
          </a:solidFill>
          <a:ln>
            <a:noFill/>
          </a:ln>
        </p:spPr>
        <p:txBody>
          <a:bodyPr/>
          <a:lstStyle/>
          <a:p>
            <a:endParaRPr lang="en-US"/>
          </a:p>
        </p:txBody>
      </p:sp>
      <p:sp>
        <p:nvSpPr>
          <p:cNvPr id="880" name="Shape 880"/>
          <p:cNvSpPr/>
          <p:nvPr/>
        </p:nvSpPr>
        <p:spPr>
          <a:xfrm>
            <a:off x="5111750" y="6096000"/>
            <a:ext cx="279400" cy="25400"/>
          </a:xfrm>
          <a:prstGeom prst="rect">
            <a:avLst/>
          </a:prstGeom>
          <a:solidFill>
            <a:srgbClr val="F26A1B"/>
          </a:solidFill>
          <a:ln>
            <a:noFill/>
          </a:ln>
        </p:spPr>
        <p:txBody>
          <a:bodyPr/>
          <a:lstStyle/>
          <a:p>
            <a:endParaRPr lang="en-US"/>
          </a:p>
        </p:txBody>
      </p:sp>
      <p:sp>
        <p:nvSpPr>
          <p:cNvPr id="881" name="Shape 881"/>
          <p:cNvSpPr/>
          <p:nvPr/>
        </p:nvSpPr>
        <p:spPr>
          <a:xfrm>
            <a:off x="5111750" y="6350000"/>
            <a:ext cx="279400" cy="25400"/>
          </a:xfrm>
          <a:prstGeom prst="rect">
            <a:avLst/>
          </a:prstGeom>
          <a:solidFill>
            <a:srgbClr val="F26A1B"/>
          </a:solidFill>
          <a:ln>
            <a:noFill/>
          </a:ln>
        </p:spPr>
        <p:txBody>
          <a:bodyPr/>
          <a:lstStyle/>
          <a:p>
            <a:endParaRPr lang="en-US"/>
          </a:p>
        </p:txBody>
      </p:sp>
      <p:sp>
        <p:nvSpPr>
          <p:cNvPr id="882" name="Shape 882"/>
          <p:cNvSpPr/>
          <p:nvPr/>
        </p:nvSpPr>
        <p:spPr>
          <a:xfrm>
            <a:off x="5111750" y="6096000"/>
            <a:ext cx="25400" cy="279400"/>
          </a:xfrm>
          <a:prstGeom prst="rect">
            <a:avLst/>
          </a:prstGeom>
          <a:solidFill>
            <a:srgbClr val="F26A1B"/>
          </a:solidFill>
          <a:ln>
            <a:noFill/>
          </a:ln>
        </p:spPr>
        <p:txBody>
          <a:bodyPr/>
          <a:lstStyle/>
          <a:p>
            <a:endParaRPr lang="en-US"/>
          </a:p>
        </p:txBody>
      </p:sp>
      <p:sp>
        <p:nvSpPr>
          <p:cNvPr id="883" name="Shape 883"/>
          <p:cNvSpPr/>
          <p:nvPr/>
        </p:nvSpPr>
        <p:spPr>
          <a:xfrm>
            <a:off x="5365750" y="6096000"/>
            <a:ext cx="25400" cy="279400"/>
          </a:xfrm>
          <a:prstGeom prst="rect">
            <a:avLst/>
          </a:prstGeom>
          <a:solidFill>
            <a:srgbClr val="F26A1B"/>
          </a:solidFill>
          <a:ln>
            <a:noFill/>
          </a:ln>
        </p:spPr>
        <p:txBody>
          <a:bodyPr/>
          <a:lstStyle/>
          <a:p>
            <a:endParaRPr lang="en-US"/>
          </a:p>
        </p:txBody>
      </p:sp>
      <p:sp>
        <p:nvSpPr>
          <p:cNvPr id="884" name="Text 884"/>
          <p:cNvSpPr txBox="1"/>
          <p:nvPr/>
        </p:nvSpPr>
        <p:spPr>
          <a:xfrm>
            <a:off x="5568950" y="60706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Connectors</a:t>
            </a:r>
          </a:p>
          <a:p>
            <a:pPr marL="0" indent="0" algn="l">
              <a:lnSpc>
                <a:spcPct val="110000"/>
              </a:lnSpc>
              <a:spcBef>
                <a:spcPts val="300"/>
              </a:spcBef>
              <a:buNone/>
            </a:pPr>
            <a:r>
              <a:rPr lang="en-US" sz="1400" dirty="0">
                <a:solidFill>
                  <a:srgbClr val="41505E"/>
                </a:solidFill>
                <a:latin typeface="Arial"/>
                <a:cs typeface="Arial"/>
              </a:rPr>
              <a:t>Gates close and lock</a:t>
            </a:r>
          </a:p>
        </p:txBody>
      </p:sp>
      <p:sp>
        <p:nvSpPr>
          <p:cNvPr id="885" name="Shape 885"/>
          <p:cNvSpPr/>
          <p:nvPr/>
        </p:nvSpPr>
        <p:spPr>
          <a:xfrm>
            <a:off x="5111750" y="7315200"/>
            <a:ext cx="279400" cy="279400"/>
          </a:xfrm>
          <a:prstGeom prst="rect">
            <a:avLst/>
          </a:prstGeom>
          <a:solidFill>
            <a:srgbClr val="FFFFFF"/>
          </a:solidFill>
          <a:ln>
            <a:noFill/>
          </a:ln>
        </p:spPr>
        <p:txBody>
          <a:bodyPr/>
          <a:lstStyle/>
          <a:p>
            <a:endParaRPr lang="en-US"/>
          </a:p>
        </p:txBody>
      </p:sp>
      <p:sp>
        <p:nvSpPr>
          <p:cNvPr id="886" name="Shape 886"/>
          <p:cNvSpPr/>
          <p:nvPr/>
        </p:nvSpPr>
        <p:spPr>
          <a:xfrm>
            <a:off x="5111750" y="7315200"/>
            <a:ext cx="279400" cy="25400"/>
          </a:xfrm>
          <a:prstGeom prst="rect">
            <a:avLst/>
          </a:prstGeom>
          <a:solidFill>
            <a:srgbClr val="F26A1B"/>
          </a:solidFill>
          <a:ln>
            <a:noFill/>
          </a:ln>
        </p:spPr>
        <p:txBody>
          <a:bodyPr/>
          <a:lstStyle/>
          <a:p>
            <a:endParaRPr lang="en-US"/>
          </a:p>
        </p:txBody>
      </p:sp>
      <p:sp>
        <p:nvSpPr>
          <p:cNvPr id="887" name="Shape 887"/>
          <p:cNvSpPr/>
          <p:nvPr/>
        </p:nvSpPr>
        <p:spPr>
          <a:xfrm>
            <a:off x="5111750" y="7569200"/>
            <a:ext cx="279400" cy="25400"/>
          </a:xfrm>
          <a:prstGeom prst="rect">
            <a:avLst/>
          </a:prstGeom>
          <a:solidFill>
            <a:srgbClr val="F26A1B"/>
          </a:solidFill>
          <a:ln>
            <a:noFill/>
          </a:ln>
        </p:spPr>
        <p:txBody>
          <a:bodyPr/>
          <a:lstStyle/>
          <a:p>
            <a:endParaRPr lang="en-US"/>
          </a:p>
        </p:txBody>
      </p:sp>
      <p:sp>
        <p:nvSpPr>
          <p:cNvPr id="888" name="Shape 888"/>
          <p:cNvSpPr/>
          <p:nvPr/>
        </p:nvSpPr>
        <p:spPr>
          <a:xfrm>
            <a:off x="5111750" y="7315200"/>
            <a:ext cx="25400" cy="279400"/>
          </a:xfrm>
          <a:prstGeom prst="rect">
            <a:avLst/>
          </a:prstGeom>
          <a:solidFill>
            <a:srgbClr val="F26A1B"/>
          </a:solidFill>
          <a:ln>
            <a:noFill/>
          </a:ln>
        </p:spPr>
        <p:txBody>
          <a:bodyPr/>
          <a:lstStyle/>
          <a:p>
            <a:endParaRPr lang="en-US"/>
          </a:p>
        </p:txBody>
      </p:sp>
      <p:sp>
        <p:nvSpPr>
          <p:cNvPr id="889" name="Shape 889"/>
          <p:cNvSpPr/>
          <p:nvPr/>
        </p:nvSpPr>
        <p:spPr>
          <a:xfrm>
            <a:off x="5365750" y="7315200"/>
            <a:ext cx="25400" cy="279400"/>
          </a:xfrm>
          <a:prstGeom prst="rect">
            <a:avLst/>
          </a:prstGeom>
          <a:solidFill>
            <a:srgbClr val="F26A1B"/>
          </a:solidFill>
          <a:ln>
            <a:noFill/>
          </a:ln>
        </p:spPr>
        <p:txBody>
          <a:bodyPr/>
          <a:lstStyle/>
          <a:p>
            <a:endParaRPr lang="en-US"/>
          </a:p>
        </p:txBody>
      </p:sp>
      <p:sp>
        <p:nvSpPr>
          <p:cNvPr id="890" name="Text 890"/>
          <p:cNvSpPr txBox="1"/>
          <p:nvPr/>
        </p:nvSpPr>
        <p:spPr>
          <a:xfrm>
            <a:off x="5568950" y="7289800"/>
            <a:ext cx="3683000" cy="1143000"/>
          </a:xfrm>
          <a:prstGeom prst="rect">
            <a:avLst/>
          </a:prstGeom>
          <a:noFill/>
        </p:spPr>
        <p:txBody>
          <a:bodyPr wrap="square" lIns="0" tIns="0" rIns="0" bIns="0" anchor="t">
            <a:noAutofit/>
          </a:bodyPr>
          <a:lstStyle/>
          <a:p>
            <a:pPr marL="0" indent="0" algn="l">
              <a:lnSpc>
                <a:spcPct val="110000"/>
              </a:lnSpc>
              <a:buNone/>
            </a:pPr>
            <a:r>
              <a:rPr lang="en-US" sz="1700" b="1" dirty="0">
                <a:solidFill>
                  <a:srgbClr val="0E2A47"/>
                </a:solidFill>
                <a:latin typeface="Arial"/>
                <a:cs typeface="Arial"/>
              </a:rPr>
              <a:t>Slings, pulleys, rope bag</a:t>
            </a:r>
          </a:p>
          <a:p>
            <a:pPr marL="0" indent="0" algn="l">
              <a:lnSpc>
                <a:spcPct val="110000"/>
              </a:lnSpc>
              <a:spcBef>
                <a:spcPts val="300"/>
              </a:spcBef>
              <a:buNone/>
            </a:pPr>
            <a:r>
              <a:rPr lang="en-US" sz="1400" dirty="0">
                <a:solidFill>
                  <a:srgbClr val="41505E"/>
                </a:solidFill>
                <a:latin typeface="Arial"/>
                <a:cs typeface="Arial"/>
              </a:rPr>
              <a:t>Counted and tagged</a:t>
            </a:r>
          </a:p>
        </p:txBody>
      </p:sp>
      <p:sp>
        <p:nvSpPr>
          <p:cNvPr id="891" name="Shape 891"/>
          <p:cNvSpPr/>
          <p:nvPr/>
        </p:nvSpPr>
        <p:spPr>
          <a:xfrm>
            <a:off x="857250" y="8585200"/>
            <a:ext cx="8382000" cy="812800"/>
          </a:xfrm>
          <a:prstGeom prst="rect">
            <a:avLst/>
          </a:prstGeom>
          <a:solidFill>
            <a:srgbClr val="0E2A47"/>
          </a:solidFill>
          <a:ln>
            <a:noFill/>
          </a:ln>
        </p:spPr>
        <p:txBody>
          <a:bodyPr/>
          <a:lstStyle/>
          <a:p>
            <a:endParaRPr lang="en-US"/>
          </a:p>
        </p:txBody>
      </p:sp>
      <p:sp>
        <p:nvSpPr>
          <p:cNvPr id="892" name="Text 892"/>
          <p:cNvSpPr txBox="1"/>
          <p:nvPr/>
        </p:nvSpPr>
        <p:spPr>
          <a:xfrm>
            <a:off x="1212850" y="8585200"/>
            <a:ext cx="7747000" cy="8128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Buddy check every item before you load a rope.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1 · EQUIPMENT INSPECTION</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Inspect Before Use — Ascenders &amp; Descenders</a:t>
            </a:r>
          </a:p>
        </p:txBody>
      </p:sp>
      <p:sp>
        <p:nvSpPr>
          <p:cNvPr id="16" name="Shape 16"/>
          <p:cNvSpPr/>
          <p:nvPr/>
        </p:nvSpPr>
        <p:spPr>
          <a:xfrm>
            <a:off x="863600" y="8026400"/>
            <a:ext cx="16535400" cy="889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500" kern="0" dirty="0">
                <a:solidFill>
                  <a:srgbClr val="FFFFFF"/>
                </a:solidFill>
                <a:latin typeface="Arial"/>
                <a:ea typeface="Arial"/>
                <a:cs typeface="Arial"/>
              </a:rPr>
              <a:t>Function-test at ground level before every climb — load it, release it, and watch it lock.</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 · INSPECTION 1 / 3</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18</a:t>
            </a:r>
            <a:endParaRPr lang="en-US" sz="900" dirty="0"/>
          </a:p>
        </p:txBody>
      </p:sp>
      <p:sp>
        <p:nvSpPr>
          <p:cNvPr id="1501" name="Card 1501"/>
          <p:cNvSpPr/>
          <p:nvPr/>
        </p:nvSpPr>
        <p:spPr>
          <a:xfrm>
            <a:off x="863600" y="1651000"/>
            <a:ext cx="3949700" cy="6172200"/>
          </a:xfrm>
          <a:prstGeom prst="rect">
            <a:avLst/>
          </a:prstGeom>
          <a:solidFill>
            <a:srgbClr val="FFFFFF"/>
          </a:solidFill>
          <a:ln>
            <a:noFill/>
          </a:ln>
        </p:spPr>
        <p:txBody>
          <a:bodyPr/>
          <a:lstStyle/>
          <a:p>
            <a:endParaRPr lang="en-US"/>
          </a:p>
        </p:txBody>
      </p:sp>
      <p:pic>
        <p:nvPicPr>
          <p:cNvPr id="1502" name="Picture 1502"/>
          <p:cNvPicPr>
            <a:picLocks noChangeAspect="1"/>
          </p:cNvPicPr>
          <p:nvPr/>
        </p:nvPicPr>
        <p:blipFill>
          <a:blip r:embed="rId3"/>
          <a:stretch>
            <a:fillRect/>
          </a:stretch>
        </p:blipFill>
        <p:spPr>
          <a:xfrm>
            <a:off x="2072071" y="1828800"/>
            <a:ext cx="1532759" cy="2921000"/>
          </a:xfrm>
          <a:prstGeom prst="rect">
            <a:avLst/>
          </a:prstGeom>
        </p:spPr>
      </p:pic>
      <p:sp>
        <p:nvSpPr>
          <p:cNvPr id="1503" name="Text 1503"/>
          <p:cNvSpPr txBox="1"/>
          <p:nvPr/>
        </p:nvSpPr>
        <p:spPr>
          <a:xfrm>
            <a:off x="10668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HAND ASCENDER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Cam teeth sharp, clean, not worn</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Safety catch opens fully, snaps back</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Frame free of cracks, bends, sharp edges</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Attachment holes not worn or elongated</a:t>
            </a:r>
          </a:p>
        </p:txBody>
      </p:sp>
      <p:sp>
        <p:nvSpPr>
          <p:cNvPr id="1504" name="Card 1504"/>
          <p:cNvSpPr/>
          <p:nvPr/>
        </p:nvSpPr>
        <p:spPr>
          <a:xfrm>
            <a:off x="5067300" y="1651000"/>
            <a:ext cx="3949700" cy="6172200"/>
          </a:xfrm>
          <a:prstGeom prst="rect">
            <a:avLst/>
          </a:prstGeom>
          <a:solidFill>
            <a:srgbClr val="FFFFFF"/>
          </a:solidFill>
          <a:ln>
            <a:noFill/>
          </a:ln>
        </p:spPr>
        <p:txBody>
          <a:bodyPr/>
          <a:lstStyle/>
          <a:p>
            <a:endParaRPr lang="en-US"/>
          </a:p>
        </p:txBody>
      </p:sp>
      <p:pic>
        <p:nvPicPr>
          <p:cNvPr id="1505" name="Picture 1505"/>
          <p:cNvPicPr>
            <a:picLocks noChangeAspect="1"/>
          </p:cNvPicPr>
          <p:nvPr/>
        </p:nvPicPr>
        <p:blipFill>
          <a:blip r:embed="rId4"/>
          <a:stretch>
            <a:fillRect/>
          </a:stretch>
        </p:blipFill>
        <p:spPr>
          <a:xfrm>
            <a:off x="5973307" y="1828800"/>
            <a:ext cx="2137687" cy="2921000"/>
          </a:xfrm>
          <a:prstGeom prst="rect">
            <a:avLst/>
          </a:prstGeom>
        </p:spPr>
      </p:pic>
      <p:sp>
        <p:nvSpPr>
          <p:cNvPr id="1506" name="Text 1506"/>
          <p:cNvSpPr txBox="1"/>
          <p:nvPr/>
        </p:nvSpPr>
        <p:spPr>
          <a:xfrm>
            <a:off x="52705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CHEST ASCENDER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Cam springs back and grips the rope</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Teeth clean — no mud, ice or paint</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Top and bottom holes not worn sharp</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Fitted so the rope runs straight up</a:t>
            </a:r>
          </a:p>
        </p:txBody>
      </p:sp>
      <p:sp>
        <p:nvSpPr>
          <p:cNvPr id="1507" name="Card 1507"/>
          <p:cNvSpPr/>
          <p:nvPr/>
        </p:nvSpPr>
        <p:spPr>
          <a:xfrm>
            <a:off x="9271000" y="1651000"/>
            <a:ext cx="3949700" cy="6172200"/>
          </a:xfrm>
          <a:prstGeom prst="rect">
            <a:avLst/>
          </a:prstGeom>
          <a:solidFill>
            <a:srgbClr val="FFFFFF"/>
          </a:solidFill>
          <a:ln>
            <a:noFill/>
          </a:ln>
        </p:spPr>
        <p:txBody>
          <a:bodyPr/>
          <a:lstStyle/>
          <a:p>
            <a:endParaRPr lang="en-US"/>
          </a:p>
        </p:txBody>
      </p:sp>
      <p:pic>
        <p:nvPicPr>
          <p:cNvPr id="1508" name="Picture 1508"/>
          <p:cNvPicPr>
            <a:picLocks noChangeAspect="1"/>
          </p:cNvPicPr>
          <p:nvPr/>
        </p:nvPicPr>
        <p:blipFill>
          <a:blip r:embed="rId5"/>
          <a:stretch>
            <a:fillRect/>
          </a:stretch>
        </p:blipFill>
        <p:spPr>
          <a:xfrm>
            <a:off x="10658639" y="1828800"/>
            <a:ext cx="1174423" cy="2921000"/>
          </a:xfrm>
          <a:prstGeom prst="rect">
            <a:avLst/>
          </a:prstGeom>
        </p:spPr>
      </p:pic>
      <p:sp>
        <p:nvSpPr>
          <p:cNvPr id="1509" name="Text 1509"/>
          <p:cNvSpPr txBox="1"/>
          <p:nvPr/>
        </p:nvSpPr>
        <p:spPr>
          <a:xfrm>
            <a:off x="94742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AUTO-LOCKING DESCENDER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Side plate opens, closes and latches</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Handle returns; anti-panic engages</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Friction surfaces not deeply grooved</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Rope path matches the diagram on the device</a:t>
            </a:r>
          </a:p>
        </p:txBody>
      </p:sp>
      <p:sp>
        <p:nvSpPr>
          <p:cNvPr id="1510" name="Card 1510"/>
          <p:cNvSpPr/>
          <p:nvPr/>
        </p:nvSpPr>
        <p:spPr>
          <a:xfrm>
            <a:off x="13474700" y="1651000"/>
            <a:ext cx="3949700" cy="6172200"/>
          </a:xfrm>
          <a:prstGeom prst="rect">
            <a:avLst/>
          </a:prstGeom>
          <a:solidFill>
            <a:srgbClr val="FFFFFF"/>
          </a:solidFill>
          <a:ln>
            <a:noFill/>
          </a:ln>
        </p:spPr>
        <p:txBody>
          <a:bodyPr/>
          <a:lstStyle/>
          <a:p>
            <a:endParaRPr lang="en-US"/>
          </a:p>
        </p:txBody>
      </p:sp>
      <p:pic>
        <p:nvPicPr>
          <p:cNvPr id="1511" name="Picture 1511"/>
          <p:cNvPicPr>
            <a:picLocks noChangeAspect="1"/>
          </p:cNvPicPr>
          <p:nvPr/>
        </p:nvPicPr>
        <p:blipFill>
          <a:blip r:embed="rId6"/>
          <a:stretch>
            <a:fillRect/>
          </a:stretch>
        </p:blipFill>
        <p:spPr>
          <a:xfrm>
            <a:off x="14983153" y="1828800"/>
            <a:ext cx="932793" cy="2921000"/>
          </a:xfrm>
          <a:prstGeom prst="rect">
            <a:avLst/>
          </a:prstGeom>
        </p:spPr>
      </p:pic>
      <p:sp>
        <p:nvSpPr>
          <p:cNvPr id="1512" name="Text 1512"/>
          <p:cNvSpPr txBox="1"/>
          <p:nvPr/>
        </p:nvSpPr>
        <p:spPr>
          <a:xfrm>
            <a:off x="136779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SIMPLE DESCENDER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Side plate and safety catch close fully</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Handle springs back when released</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Bollards not deeply grooved or sharp</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Releasing the handle stops the descent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1 · EQUIPMENT INSPECTION</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Inspect Before Use — Harness, Helmet &amp; Backup</a:t>
            </a:r>
          </a:p>
        </p:txBody>
      </p:sp>
      <p:sp>
        <p:nvSpPr>
          <p:cNvPr id="16" name="Shape 16"/>
          <p:cNvSpPr/>
          <p:nvPr/>
        </p:nvSpPr>
        <p:spPr>
          <a:xfrm>
            <a:off x="863600" y="8026400"/>
            <a:ext cx="16535400" cy="889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500" kern="0" dirty="0">
                <a:solidFill>
                  <a:srgbClr val="FFFFFF"/>
                </a:solidFill>
                <a:latin typeface="Arial"/>
                <a:ea typeface="Arial"/>
                <a:cs typeface="Arial"/>
              </a:rPr>
              <a:t>Retire it after a fall arrest, at the end of its marked lifespan, or whenever you are in doubt.</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 · INSPECTION 2 / 3</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19</a:t>
            </a:r>
            <a:endParaRPr lang="en-US" sz="900" dirty="0"/>
          </a:p>
        </p:txBody>
      </p:sp>
      <p:sp>
        <p:nvSpPr>
          <p:cNvPr id="1513" name="Card 1513"/>
          <p:cNvSpPr/>
          <p:nvPr/>
        </p:nvSpPr>
        <p:spPr>
          <a:xfrm>
            <a:off x="863600" y="1651000"/>
            <a:ext cx="3949700" cy="6172200"/>
          </a:xfrm>
          <a:prstGeom prst="rect">
            <a:avLst/>
          </a:prstGeom>
          <a:solidFill>
            <a:srgbClr val="FFFFFF"/>
          </a:solidFill>
          <a:ln>
            <a:noFill/>
          </a:ln>
        </p:spPr>
        <p:txBody>
          <a:bodyPr/>
          <a:lstStyle/>
          <a:p>
            <a:endParaRPr lang="en-US"/>
          </a:p>
        </p:txBody>
      </p:sp>
      <p:pic>
        <p:nvPicPr>
          <p:cNvPr id="1514" name="Picture 1514"/>
          <p:cNvPicPr>
            <a:picLocks noChangeAspect="1"/>
          </p:cNvPicPr>
          <p:nvPr/>
        </p:nvPicPr>
        <p:blipFill>
          <a:blip r:embed="rId3"/>
          <a:stretch>
            <a:fillRect/>
          </a:stretch>
        </p:blipFill>
        <p:spPr>
          <a:xfrm>
            <a:off x="2141501" y="1828800"/>
            <a:ext cx="1393897" cy="2921000"/>
          </a:xfrm>
          <a:prstGeom prst="rect">
            <a:avLst/>
          </a:prstGeom>
        </p:spPr>
      </p:pic>
      <p:sp>
        <p:nvSpPr>
          <p:cNvPr id="1515" name="Text 1515"/>
          <p:cNvSpPr txBox="1"/>
          <p:nvPr/>
        </p:nvSpPr>
        <p:spPr>
          <a:xfrm>
            <a:off x="10668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HARNESS</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Webbing: no cuts, burns, fraying or fading</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Stitching intact — no pulled threads</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Buckles lock; D-rings not bent or corroded</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Label legible and within its lifespan</a:t>
            </a:r>
          </a:p>
        </p:txBody>
      </p:sp>
      <p:sp>
        <p:nvSpPr>
          <p:cNvPr id="1516" name="Card 1516"/>
          <p:cNvSpPr/>
          <p:nvPr/>
        </p:nvSpPr>
        <p:spPr>
          <a:xfrm>
            <a:off x="5067300" y="1651000"/>
            <a:ext cx="3949700" cy="6172200"/>
          </a:xfrm>
          <a:prstGeom prst="rect">
            <a:avLst/>
          </a:prstGeom>
          <a:solidFill>
            <a:srgbClr val="FFFFFF"/>
          </a:solidFill>
          <a:ln>
            <a:noFill/>
          </a:ln>
        </p:spPr>
        <p:txBody>
          <a:bodyPr/>
          <a:lstStyle/>
          <a:p>
            <a:endParaRPr lang="en-US"/>
          </a:p>
        </p:txBody>
      </p:sp>
      <p:pic>
        <p:nvPicPr>
          <p:cNvPr id="1517" name="Picture 1517"/>
          <p:cNvPicPr>
            <a:picLocks noChangeAspect="1"/>
          </p:cNvPicPr>
          <p:nvPr/>
        </p:nvPicPr>
        <p:blipFill>
          <a:blip r:embed="rId4"/>
          <a:stretch>
            <a:fillRect/>
          </a:stretch>
        </p:blipFill>
        <p:spPr>
          <a:xfrm>
            <a:off x="5802152" y="1828800"/>
            <a:ext cx="2479996" cy="2921000"/>
          </a:xfrm>
          <a:prstGeom prst="rect">
            <a:avLst/>
          </a:prstGeom>
        </p:spPr>
      </p:pic>
      <p:sp>
        <p:nvSpPr>
          <p:cNvPr id="1518" name="Text 1518"/>
          <p:cNvSpPr txBox="1"/>
          <p:nvPr/>
        </p:nvSpPr>
        <p:spPr>
          <a:xfrm>
            <a:off x="52705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HELMET</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Shell: no cracks, dents or deep gouges</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Chinstrap and buckle hold firm</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Headband and clips intact, adjust easily</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Retire after any heavy impact</a:t>
            </a:r>
          </a:p>
        </p:txBody>
      </p:sp>
      <p:sp>
        <p:nvSpPr>
          <p:cNvPr id="1519" name="Card 1519"/>
          <p:cNvSpPr/>
          <p:nvPr/>
        </p:nvSpPr>
        <p:spPr>
          <a:xfrm>
            <a:off x="9271000" y="1651000"/>
            <a:ext cx="3949700" cy="6172200"/>
          </a:xfrm>
          <a:prstGeom prst="rect">
            <a:avLst/>
          </a:prstGeom>
          <a:solidFill>
            <a:srgbClr val="FFFFFF"/>
          </a:solidFill>
          <a:ln>
            <a:noFill/>
          </a:ln>
        </p:spPr>
        <p:txBody>
          <a:bodyPr/>
          <a:lstStyle/>
          <a:p>
            <a:endParaRPr lang="en-US"/>
          </a:p>
        </p:txBody>
      </p:sp>
      <p:pic>
        <p:nvPicPr>
          <p:cNvPr id="1520" name="Picture 1520"/>
          <p:cNvPicPr>
            <a:picLocks noChangeAspect="1"/>
          </p:cNvPicPr>
          <p:nvPr/>
        </p:nvPicPr>
        <p:blipFill>
          <a:blip r:embed="rId5"/>
          <a:stretch>
            <a:fillRect/>
          </a:stretch>
        </p:blipFill>
        <p:spPr>
          <a:xfrm>
            <a:off x="9796276" y="1828800"/>
            <a:ext cx="2899147" cy="2921000"/>
          </a:xfrm>
          <a:prstGeom prst="rect">
            <a:avLst/>
          </a:prstGeom>
        </p:spPr>
      </p:pic>
      <p:sp>
        <p:nvSpPr>
          <p:cNvPr id="1521" name="Text 1521"/>
          <p:cNvSpPr txBox="1"/>
          <p:nvPr/>
        </p:nvSpPr>
        <p:spPr>
          <a:xfrm>
            <a:off x="94742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BACKUP DEVICE</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Runs freely up and down the rope</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Locks at once when jerked downward</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Connector captive, gate locked</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Fitted the right way up — arrow up</a:t>
            </a:r>
          </a:p>
        </p:txBody>
      </p:sp>
      <p:sp>
        <p:nvSpPr>
          <p:cNvPr id="1522" name="Card 1522"/>
          <p:cNvSpPr/>
          <p:nvPr/>
        </p:nvSpPr>
        <p:spPr>
          <a:xfrm>
            <a:off x="13474700" y="1651000"/>
            <a:ext cx="3949700" cy="6172200"/>
          </a:xfrm>
          <a:prstGeom prst="rect">
            <a:avLst/>
          </a:prstGeom>
          <a:solidFill>
            <a:srgbClr val="FFFFFF"/>
          </a:solidFill>
          <a:ln>
            <a:noFill/>
          </a:ln>
        </p:spPr>
        <p:txBody>
          <a:bodyPr/>
          <a:lstStyle/>
          <a:p>
            <a:endParaRPr lang="en-US"/>
          </a:p>
        </p:txBody>
      </p:sp>
      <p:pic>
        <p:nvPicPr>
          <p:cNvPr id="1523" name="Picture 1523"/>
          <p:cNvPicPr>
            <a:picLocks noChangeAspect="1"/>
          </p:cNvPicPr>
          <p:nvPr/>
        </p:nvPicPr>
        <p:blipFill>
          <a:blip r:embed="rId6"/>
          <a:stretch>
            <a:fillRect/>
          </a:stretch>
        </p:blipFill>
        <p:spPr>
          <a:xfrm>
            <a:off x="14818962" y="1828800"/>
            <a:ext cx="1261176" cy="2921000"/>
          </a:xfrm>
          <a:prstGeom prst="rect">
            <a:avLst/>
          </a:prstGeom>
        </p:spPr>
      </p:pic>
      <p:sp>
        <p:nvSpPr>
          <p:cNvPr id="1524" name="Text 1524"/>
          <p:cNvSpPr txBox="1"/>
          <p:nvPr/>
        </p:nvSpPr>
        <p:spPr>
          <a:xfrm>
            <a:off x="136779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ROPE GRAB</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Cam moves freely; spring returns</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Grips when loaded, releases cleanly</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Axle and side plate secure</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No cracks, bends or heavy wear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1 · EQUIPMENT INSPECTION</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Inspect Before Use — Connectors, Rope &amp; Pulleys</a:t>
            </a:r>
          </a:p>
        </p:txBody>
      </p:sp>
      <p:sp>
        <p:nvSpPr>
          <p:cNvPr id="16" name="Shape 16"/>
          <p:cNvSpPr/>
          <p:nvPr/>
        </p:nvSpPr>
        <p:spPr>
          <a:xfrm>
            <a:off x="863600" y="8026400"/>
            <a:ext cx="16535400" cy="889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500" kern="0" dirty="0">
                <a:solidFill>
                  <a:srgbClr val="FFFFFF"/>
                </a:solidFill>
                <a:latin typeface="Arial"/>
                <a:ea typeface="Arial"/>
                <a:cs typeface="Arial"/>
              </a:rPr>
              <a:t>Any doubt? Tag it out of service and follow the manufacturer’s inspection instructions.</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 · INSPECTION 3 / 3</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20</a:t>
            </a:r>
            <a:endParaRPr lang="en-US" sz="900" dirty="0"/>
          </a:p>
        </p:txBody>
      </p:sp>
      <p:sp>
        <p:nvSpPr>
          <p:cNvPr id="1525" name="Card 1525"/>
          <p:cNvSpPr/>
          <p:nvPr/>
        </p:nvSpPr>
        <p:spPr>
          <a:xfrm>
            <a:off x="863600" y="1651000"/>
            <a:ext cx="3949700" cy="6172200"/>
          </a:xfrm>
          <a:prstGeom prst="rect">
            <a:avLst/>
          </a:prstGeom>
          <a:solidFill>
            <a:srgbClr val="FFFFFF"/>
          </a:solidFill>
          <a:ln>
            <a:noFill/>
          </a:ln>
        </p:spPr>
        <p:txBody>
          <a:bodyPr/>
          <a:lstStyle/>
          <a:p>
            <a:endParaRPr lang="en-US"/>
          </a:p>
        </p:txBody>
      </p:sp>
      <p:pic>
        <p:nvPicPr>
          <p:cNvPr id="1526" name="Picture 1526"/>
          <p:cNvPicPr>
            <a:picLocks noChangeAspect="1"/>
          </p:cNvPicPr>
          <p:nvPr/>
        </p:nvPicPr>
        <p:blipFill>
          <a:blip r:embed="rId3"/>
          <a:stretch>
            <a:fillRect/>
          </a:stretch>
        </p:blipFill>
        <p:spPr>
          <a:xfrm>
            <a:off x="1971670" y="1828800"/>
            <a:ext cx="1733561" cy="2921000"/>
          </a:xfrm>
          <a:prstGeom prst="rect">
            <a:avLst/>
          </a:prstGeom>
        </p:spPr>
      </p:pic>
      <p:sp>
        <p:nvSpPr>
          <p:cNvPr id="1527" name="Text 1527"/>
          <p:cNvSpPr txBox="1"/>
          <p:nvPr/>
        </p:nvSpPr>
        <p:spPr>
          <a:xfrm>
            <a:off x="10668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SCREWGATE CONNECTOR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Gate opens, closes and latches fully</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Sleeve screws fully shut, no binding</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No cracks, sharp edges or deep grooves</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Loaded along the spine, never the gate</a:t>
            </a:r>
          </a:p>
        </p:txBody>
      </p:sp>
      <p:sp>
        <p:nvSpPr>
          <p:cNvPr id="1528" name="Card 1528"/>
          <p:cNvSpPr/>
          <p:nvPr/>
        </p:nvSpPr>
        <p:spPr>
          <a:xfrm>
            <a:off x="5067300" y="1651000"/>
            <a:ext cx="3949700" cy="6172200"/>
          </a:xfrm>
          <a:prstGeom prst="rect">
            <a:avLst/>
          </a:prstGeom>
          <a:solidFill>
            <a:srgbClr val="FFFFFF"/>
          </a:solidFill>
          <a:ln>
            <a:noFill/>
          </a:ln>
        </p:spPr>
        <p:txBody>
          <a:bodyPr/>
          <a:lstStyle/>
          <a:p>
            <a:endParaRPr lang="en-US"/>
          </a:p>
        </p:txBody>
      </p:sp>
      <p:pic>
        <p:nvPicPr>
          <p:cNvPr id="1529" name="Picture 1529"/>
          <p:cNvPicPr>
            <a:picLocks noChangeAspect="1"/>
          </p:cNvPicPr>
          <p:nvPr/>
        </p:nvPicPr>
        <p:blipFill>
          <a:blip r:embed="rId4"/>
          <a:stretch>
            <a:fillRect/>
          </a:stretch>
        </p:blipFill>
        <p:spPr>
          <a:xfrm>
            <a:off x="6295617" y="1828800"/>
            <a:ext cx="1493067" cy="2921000"/>
          </a:xfrm>
          <a:prstGeom prst="rect">
            <a:avLst/>
          </a:prstGeom>
        </p:spPr>
      </p:pic>
      <p:sp>
        <p:nvSpPr>
          <p:cNvPr id="1530" name="Text 1530"/>
          <p:cNvSpPr txBox="1"/>
          <p:nvPr/>
        </p:nvSpPr>
        <p:spPr>
          <a:xfrm>
            <a:off x="52705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AUTO-LOCKING CONNECTOR</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Gate locks by itself on release</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Springs shut without sticking</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Steel body free of rust and bends</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Never cross-loaded over an edge</a:t>
            </a:r>
          </a:p>
        </p:txBody>
      </p:sp>
      <p:sp>
        <p:nvSpPr>
          <p:cNvPr id="1531" name="Card 1531"/>
          <p:cNvSpPr/>
          <p:nvPr/>
        </p:nvSpPr>
        <p:spPr>
          <a:xfrm>
            <a:off x="9271000" y="1651000"/>
            <a:ext cx="3949700" cy="6172200"/>
          </a:xfrm>
          <a:prstGeom prst="rect">
            <a:avLst/>
          </a:prstGeom>
          <a:solidFill>
            <a:srgbClr val="FFFFFF"/>
          </a:solidFill>
          <a:ln>
            <a:noFill/>
          </a:ln>
        </p:spPr>
        <p:txBody>
          <a:bodyPr/>
          <a:lstStyle/>
          <a:p>
            <a:endParaRPr lang="en-US"/>
          </a:p>
        </p:txBody>
      </p:sp>
      <p:pic>
        <p:nvPicPr>
          <p:cNvPr id="1532" name="Picture 1532"/>
          <p:cNvPicPr>
            <a:picLocks noChangeAspect="1"/>
          </p:cNvPicPr>
          <p:nvPr/>
        </p:nvPicPr>
        <p:blipFill>
          <a:blip r:embed="rId5"/>
          <a:stretch>
            <a:fillRect/>
          </a:stretch>
        </p:blipFill>
        <p:spPr>
          <a:xfrm>
            <a:off x="10106525" y="1828800"/>
            <a:ext cx="2278650" cy="2921000"/>
          </a:xfrm>
          <a:prstGeom prst="rect">
            <a:avLst/>
          </a:prstGeom>
        </p:spPr>
      </p:pic>
      <p:sp>
        <p:nvSpPr>
          <p:cNvPr id="1533" name="Text 1533"/>
          <p:cNvSpPr txBox="1"/>
          <p:nvPr/>
        </p:nvSpPr>
        <p:spPr>
          <a:xfrm>
            <a:off x="94742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ROPE</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Sheath: cuts, abrasion, glazing</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Core: flat spots, lumps, stiffness</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No chemicals, paint or stains</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Ends and knots sound; logbook updated</a:t>
            </a:r>
          </a:p>
        </p:txBody>
      </p:sp>
      <p:sp>
        <p:nvSpPr>
          <p:cNvPr id="1534" name="Card 1534"/>
          <p:cNvSpPr/>
          <p:nvPr/>
        </p:nvSpPr>
        <p:spPr>
          <a:xfrm>
            <a:off x="13474700" y="1651000"/>
            <a:ext cx="3949700" cy="6172200"/>
          </a:xfrm>
          <a:prstGeom prst="rect">
            <a:avLst/>
          </a:prstGeom>
          <a:solidFill>
            <a:srgbClr val="FFFFFF"/>
          </a:solidFill>
          <a:ln>
            <a:noFill/>
          </a:ln>
        </p:spPr>
        <p:txBody>
          <a:bodyPr/>
          <a:lstStyle/>
          <a:p>
            <a:endParaRPr lang="en-US"/>
          </a:p>
        </p:txBody>
      </p:sp>
      <p:pic>
        <p:nvPicPr>
          <p:cNvPr id="1535" name="Picture 1535"/>
          <p:cNvPicPr>
            <a:picLocks noChangeAspect="1"/>
          </p:cNvPicPr>
          <p:nvPr/>
        </p:nvPicPr>
        <p:blipFill>
          <a:blip r:embed="rId6"/>
          <a:stretch>
            <a:fillRect/>
          </a:stretch>
        </p:blipFill>
        <p:spPr>
          <a:xfrm>
            <a:off x="14289667" y="1828800"/>
            <a:ext cx="2319765" cy="2921000"/>
          </a:xfrm>
          <a:prstGeom prst="rect">
            <a:avLst/>
          </a:prstGeom>
        </p:spPr>
      </p:pic>
      <p:sp>
        <p:nvSpPr>
          <p:cNvPr id="1536" name="Text 1536"/>
          <p:cNvSpPr txBox="1"/>
          <p:nvPr/>
        </p:nvSpPr>
        <p:spPr>
          <a:xfrm>
            <a:off x="13677900" y="4953000"/>
            <a:ext cx="3543300" cy="2743200"/>
          </a:xfrm>
          <a:prstGeom prst="rect">
            <a:avLst/>
          </a:prstGeom>
          <a:noFill/>
        </p:spPr>
        <p:txBody>
          <a:bodyPr wrap="square" lIns="0" tIns="0" rIns="0" bIns="0" anchor="t">
            <a:noAutofit/>
          </a:bodyPr>
          <a:lstStyle/>
          <a:p>
            <a:pPr marL="0" indent="0">
              <a:lnSpc>
                <a:spcPct val="105000"/>
              </a:lnSpc>
              <a:buNone/>
              <a:tabLst>
                <a:tab pos="254000" algn="l"/>
              </a:tabLst>
            </a:pPr>
            <a:r>
              <a:rPr lang="en-US" sz="1450" b="1" spc="100" dirty="0">
                <a:solidFill>
                  <a:srgbClr val="0E2A47"/>
                </a:solidFill>
                <a:latin typeface="Courier New"/>
                <a:cs typeface="Courier New"/>
              </a:rPr>
              <a:t>PULLEY</a:t>
            </a:r>
          </a:p>
          <a:p>
            <a:pPr marL="254000" indent="-254000">
              <a:lnSpc>
                <a:spcPct val="105000"/>
              </a:lnSpc>
              <a:spcBef>
                <a:spcPts val="1000"/>
              </a:spcBef>
              <a:buNone/>
              <a:tabLst>
                <a:tab pos="254000" algn="l"/>
              </a:tabLst>
            </a:pPr>
            <a:r>
              <a:rPr lang="en-US" sz="1500" b="1" dirty="0">
                <a:solidFill>
                  <a:srgbClr val="F26A1B"/>
                </a:solidFill>
                <a:latin typeface="Arial"/>
                <a:cs typeface="Arial"/>
              </a:rPr>
              <a:t>1	</a:t>
            </a:r>
            <a:r>
              <a:rPr lang="en-US" sz="1500" dirty="0">
                <a:solidFill>
                  <a:srgbClr val="41505E"/>
                </a:solidFill>
                <a:latin typeface="Arial"/>
                <a:cs typeface="Arial"/>
              </a:rPr>
              <a:t>Sheave turns freely, no wobble</a:t>
            </a:r>
          </a:p>
          <a:p>
            <a:pPr marL="254000" indent="-254000">
              <a:lnSpc>
                <a:spcPct val="105000"/>
              </a:lnSpc>
              <a:spcBef>
                <a:spcPts val="1000"/>
              </a:spcBef>
              <a:buNone/>
              <a:tabLst>
                <a:tab pos="254000" algn="l"/>
              </a:tabLst>
            </a:pPr>
            <a:r>
              <a:rPr lang="en-US" sz="1500" b="1" dirty="0">
                <a:solidFill>
                  <a:srgbClr val="F26A1B"/>
                </a:solidFill>
                <a:latin typeface="Arial"/>
                <a:cs typeface="Arial"/>
              </a:rPr>
              <a:t>2	</a:t>
            </a:r>
            <a:r>
              <a:rPr lang="en-US" sz="1500" dirty="0">
                <a:solidFill>
                  <a:srgbClr val="41505E"/>
                </a:solidFill>
                <a:latin typeface="Arial"/>
                <a:cs typeface="Arial"/>
              </a:rPr>
              <a:t>Side plates straight, open and close</a:t>
            </a:r>
          </a:p>
          <a:p>
            <a:pPr marL="254000" indent="-254000">
              <a:lnSpc>
                <a:spcPct val="105000"/>
              </a:lnSpc>
              <a:spcBef>
                <a:spcPts val="1000"/>
              </a:spcBef>
              <a:buNone/>
              <a:tabLst>
                <a:tab pos="254000" algn="l"/>
              </a:tabLst>
            </a:pPr>
            <a:r>
              <a:rPr lang="en-US" sz="1500" b="1" dirty="0">
                <a:solidFill>
                  <a:srgbClr val="F26A1B"/>
                </a:solidFill>
                <a:latin typeface="Arial"/>
                <a:cs typeface="Arial"/>
              </a:rPr>
              <a:t>3	</a:t>
            </a:r>
            <a:r>
              <a:rPr lang="en-US" sz="1500" dirty="0">
                <a:solidFill>
                  <a:srgbClr val="41505E"/>
                </a:solidFill>
                <a:latin typeface="Arial"/>
                <a:cs typeface="Arial"/>
              </a:rPr>
              <a:t>Sheave groove smooth, not worn</a:t>
            </a:r>
          </a:p>
          <a:p>
            <a:pPr marL="254000" indent="-254000">
              <a:lnSpc>
                <a:spcPct val="105000"/>
              </a:lnSpc>
              <a:spcBef>
                <a:spcPts val="1000"/>
              </a:spcBef>
              <a:buNone/>
              <a:tabLst>
                <a:tab pos="254000" algn="l"/>
              </a:tabLst>
            </a:pPr>
            <a:r>
              <a:rPr lang="en-US" sz="1500" b="1" dirty="0">
                <a:solidFill>
                  <a:srgbClr val="F26A1B"/>
                </a:solidFill>
                <a:latin typeface="Arial"/>
                <a:cs typeface="Arial"/>
              </a:rPr>
              <a:t>4	</a:t>
            </a:r>
            <a:r>
              <a:rPr lang="en-US" sz="1500" dirty="0">
                <a:solidFill>
                  <a:srgbClr val="41505E"/>
                </a:solidFill>
                <a:latin typeface="Arial"/>
                <a:cs typeface="Arial"/>
              </a:rPr>
              <a:t>Rated loads marked and legible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3481722"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375289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Knots &amp; Terminations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Build, dress, set, inspect</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Practice the figure-eight family, figure nine, alpine butterfly, stopper / barrel, clove hitch, double fisherman’s and friction hitches as required by the course. For each, teach the correct application, how to dress it and how to inspect it at a glance.</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knot quality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correctly selected knot can still be unsafe if poorly dressed, inadequately tailed, loaded incorrectly or used for the wrong purpose. A poorly dressed knot can lose a large fraction of the rope’s strength.</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Select by function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knots only where appropriate for attachment, isolation, termination, joining or rigging. Consider load direction and whether it must be untied after loading. Match the knot to the function — not to habit.</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Wrong knot / poor dressing</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Crossed strands, short tails, incorrect orientation and unverified knots are recurring errors. A missing stopper knot in a rope end is an instant assessment write-up.</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Selection, dressing, setting, adequate tails, correct loading and an independent partner check. Tail length of roughly a fist-width is checked on every knot.</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“Which knot is strongest?”</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The better question: which approved knot correctly performs the required function in this system. There is no single “strongest” knot — only the right knot, correctly tied, for the job.</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1 · KNOTS VISUAL GUIDE</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Seven Course Knots — What Each One Looks Like</a:t>
            </a:r>
          </a:p>
        </p:txBody>
      </p:sp>
      <p:sp>
        <p:nvSpPr>
          <p:cNvPr id="13" name="Shape 13"/>
          <p:cNvSpPr/>
          <p:nvPr/>
        </p:nvSpPr>
        <p:spPr>
          <a:xfrm>
            <a:off x="863600" y="16510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Figure 8</a:t>
            </a:r>
            <a:r>
              <a:rPr lang="en-US" sz="1000" b="1" spc="100" dirty="0">
                <a:solidFill>
                  <a:srgbClr val="F26A1B"/>
                </a:solidFill>
                <a:latin typeface="Courier New"/>
                <a:cs typeface="Courier New"/>
              </a:rPr>
              <a:t>   SPRAT L1</a:t>
            </a:r>
          </a:p>
          <a:p>
            <a:pPr marL="0" indent="0" algn="ctr">
              <a:lnSpc>
                <a:spcPct val="105000"/>
              </a:lnSpc>
              <a:spcBef>
                <a:spcPts val="200"/>
              </a:spcBef>
              <a:buNone/>
            </a:pPr>
            <a:r>
              <a:rPr lang="en-US" sz="1200" dirty="0">
                <a:solidFill>
                  <a:srgbClr val="41505E"/>
                </a:solidFill>
                <a:latin typeface="Arial"/>
                <a:cs typeface="Arial"/>
              </a:rPr>
              <a:t>Default attachment &amp; anchor — checkable at a glance</a:t>
            </a:r>
          </a:p>
        </p:txBody>
      </p:sp>
      <p:sp>
        <p:nvSpPr>
          <p:cNvPr id="14" name="Shape 14"/>
          <p:cNvSpPr/>
          <p:nvPr/>
        </p:nvSpPr>
        <p:spPr>
          <a:xfrm>
            <a:off x="5054600" y="16510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Figure 9</a:t>
            </a:r>
            <a:r>
              <a:rPr lang="en-US" sz="1000" b="1" spc="100" dirty="0">
                <a:solidFill>
                  <a:srgbClr val="F26A1B"/>
                </a:solidFill>
                <a:latin typeface="Courier New"/>
                <a:cs typeface="Courier New"/>
              </a:rPr>
              <a:t>   SPRAT L1</a:t>
            </a:r>
          </a:p>
          <a:p>
            <a:pPr marL="0" indent="0" algn="ctr">
              <a:lnSpc>
                <a:spcPct val="105000"/>
              </a:lnSpc>
              <a:spcBef>
                <a:spcPts val="200"/>
              </a:spcBef>
              <a:buNone/>
            </a:pPr>
            <a:r>
              <a:rPr lang="en-US" sz="1200" dirty="0">
                <a:solidFill>
                  <a:srgbClr val="41505E"/>
                </a:solidFill>
                <a:latin typeface="Arial"/>
                <a:cs typeface="Arial"/>
              </a:rPr>
              <a:t>Sustained anchor load — keeps more strength, unties easier</a:t>
            </a:r>
          </a:p>
        </p:txBody>
      </p:sp>
      <p:sp>
        <p:nvSpPr>
          <p:cNvPr id="15" name="Shape 15"/>
          <p:cNvSpPr/>
          <p:nvPr/>
        </p:nvSpPr>
        <p:spPr>
          <a:xfrm>
            <a:off x="9245600" y="16510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Alpine Butterfly</a:t>
            </a:r>
            <a:r>
              <a:rPr lang="en-US" sz="1000" b="1" spc="100" dirty="0">
                <a:solidFill>
                  <a:srgbClr val="F26A1B"/>
                </a:solidFill>
                <a:latin typeface="Courier New"/>
                <a:cs typeface="Courier New"/>
              </a:rPr>
              <a:t>   SPRAT L1</a:t>
            </a:r>
          </a:p>
          <a:p>
            <a:pPr marL="0" indent="0" algn="ctr">
              <a:lnSpc>
                <a:spcPct val="105000"/>
              </a:lnSpc>
              <a:spcBef>
                <a:spcPts val="200"/>
              </a:spcBef>
              <a:buNone/>
            </a:pPr>
            <a:r>
              <a:rPr lang="en-US" sz="1200" dirty="0">
                <a:solidFill>
                  <a:srgbClr val="41505E"/>
                </a:solidFill>
                <a:latin typeface="Arial"/>
                <a:cs typeface="Arial"/>
              </a:rPr>
              <a:t>Mid-line attachment; loads 3 ways; isolates damage</a:t>
            </a:r>
          </a:p>
        </p:txBody>
      </p:sp>
      <p:sp>
        <p:nvSpPr>
          <p:cNvPr id="16" name="Shape 16"/>
          <p:cNvSpPr/>
          <p:nvPr/>
        </p:nvSpPr>
        <p:spPr>
          <a:xfrm>
            <a:off x="13436600" y="16510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Stopper</a:t>
            </a:r>
            <a:r>
              <a:rPr lang="en-US" sz="1000" b="1" spc="100" dirty="0">
                <a:solidFill>
                  <a:srgbClr val="F26A1B"/>
                </a:solidFill>
                <a:latin typeface="Courier New"/>
                <a:cs typeface="Courier New"/>
              </a:rPr>
              <a:t>   SPRAT L1</a:t>
            </a:r>
          </a:p>
          <a:p>
            <a:pPr marL="0" indent="0" algn="ctr">
              <a:lnSpc>
                <a:spcPct val="105000"/>
              </a:lnSpc>
              <a:spcBef>
                <a:spcPts val="200"/>
              </a:spcBef>
              <a:buNone/>
            </a:pPr>
            <a:r>
              <a:rPr lang="en-US" sz="1200" dirty="0">
                <a:solidFill>
                  <a:srgbClr val="41505E"/>
                </a:solidFill>
                <a:latin typeface="Arial"/>
                <a:cs typeface="Arial"/>
              </a:rPr>
              <a:t>Closes the rope end — can’t descend off a closed rope</a:t>
            </a:r>
          </a:p>
        </p:txBody>
      </p:sp>
      <p:sp>
        <p:nvSpPr>
          <p:cNvPr id="17" name="Shape 17"/>
          <p:cNvSpPr/>
          <p:nvPr/>
        </p:nvSpPr>
        <p:spPr>
          <a:xfrm>
            <a:off x="863600" y="50546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Double Fisherman’s</a:t>
            </a:r>
            <a:r>
              <a:rPr lang="en-US" sz="1000" b="1" spc="100" dirty="0">
                <a:solidFill>
                  <a:srgbClr val="F26A1B"/>
                </a:solidFill>
                <a:latin typeface="Courier New"/>
                <a:cs typeface="Courier New"/>
              </a:rPr>
              <a:t>   SPRAT L1</a:t>
            </a:r>
          </a:p>
          <a:p>
            <a:pPr marL="0" indent="0" algn="ctr">
              <a:lnSpc>
                <a:spcPct val="105000"/>
              </a:lnSpc>
              <a:spcBef>
                <a:spcPts val="200"/>
              </a:spcBef>
              <a:buNone/>
            </a:pPr>
            <a:r>
              <a:rPr lang="en-US" sz="1200" dirty="0">
                <a:solidFill>
                  <a:srgbClr val="41505E"/>
                </a:solidFill>
                <a:latin typeface="Arial"/>
                <a:cs typeface="Arial"/>
              </a:rPr>
              <a:t>Connects two ropes for retrievable rigging</a:t>
            </a:r>
          </a:p>
        </p:txBody>
      </p:sp>
      <p:sp>
        <p:nvSpPr>
          <p:cNvPr id="18" name="Shape 18"/>
          <p:cNvSpPr/>
          <p:nvPr/>
        </p:nvSpPr>
        <p:spPr>
          <a:xfrm>
            <a:off x="5054600" y="50546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Prusik</a:t>
            </a:r>
            <a:r>
              <a:rPr lang="en-US" sz="1000" b="1" spc="100" dirty="0">
                <a:solidFill>
                  <a:srgbClr val="8593A2"/>
                </a:solidFill>
                <a:latin typeface="Courier New"/>
                <a:cs typeface="Courier New"/>
              </a:rPr>
              <a:t>   COURSE SKILL</a:t>
            </a:r>
          </a:p>
          <a:p>
            <a:pPr marL="0" indent="0" algn="ctr">
              <a:lnSpc>
                <a:spcPct val="105000"/>
              </a:lnSpc>
              <a:spcBef>
                <a:spcPts val="200"/>
              </a:spcBef>
              <a:buNone/>
            </a:pPr>
            <a:r>
              <a:rPr lang="en-US" sz="1200" dirty="0">
                <a:solidFill>
                  <a:srgbClr val="41505E"/>
                </a:solidFill>
                <a:latin typeface="Arial"/>
                <a:cs typeface="Arial"/>
              </a:rPr>
              <a:t>Friction hitch — not a SPRAT test item</a:t>
            </a:r>
          </a:p>
        </p:txBody>
      </p:sp>
      <p:sp>
        <p:nvSpPr>
          <p:cNvPr id="19" name="Shape 19"/>
          <p:cNvSpPr/>
          <p:nvPr/>
        </p:nvSpPr>
        <p:spPr>
          <a:xfrm>
            <a:off x="9245600" y="5054600"/>
            <a:ext cx="3962400" cy="3175000"/>
          </a:xfrm>
          <a:prstGeom prst="rect">
            <a:avLst/>
          </a:prstGeom>
          <a:solidFill>
            <a:srgbClr val="FFFFFF"/>
          </a:solidFill>
          <a:ln>
            <a:noFill/>
          </a:ln>
        </p:spPr>
        <p:txBody>
          <a:bodyPr wrap="square" lIns="152400" tIns="152400" rIns="152400" bIns="127000" anchor="b">
            <a:noAutofit/>
          </a:bodyPr>
          <a:lstStyle/>
          <a:p>
            <a:pPr marL="0" indent="0" algn="ctr">
              <a:lnSpc>
                <a:spcPct val="105000"/>
              </a:lnSpc>
              <a:buNone/>
            </a:pPr>
            <a:r>
              <a:rPr lang="en-US" sz="1500" b="1" dirty="0">
                <a:solidFill>
                  <a:srgbClr val="0E2A47"/>
                </a:solidFill>
                <a:latin typeface="Arial"/>
                <a:cs typeface="Arial"/>
              </a:rPr>
              <a:t>Munter</a:t>
            </a:r>
            <a:r>
              <a:rPr lang="en-US" sz="1000" b="1" spc="100" dirty="0">
                <a:solidFill>
                  <a:srgbClr val="8593A2"/>
                </a:solidFill>
                <a:latin typeface="Courier New"/>
                <a:cs typeface="Courier New"/>
              </a:rPr>
              <a:t>   COURSE SKILL</a:t>
            </a:r>
          </a:p>
          <a:p>
            <a:pPr marL="0" indent="0" algn="ctr">
              <a:lnSpc>
                <a:spcPct val="105000"/>
              </a:lnSpc>
              <a:spcBef>
                <a:spcPts val="200"/>
              </a:spcBef>
              <a:buNone/>
            </a:pPr>
            <a:r>
              <a:rPr lang="en-US" sz="1200" dirty="0">
                <a:solidFill>
                  <a:srgbClr val="41505E"/>
                </a:solidFill>
                <a:latin typeface="Arial"/>
                <a:cs typeface="Arial"/>
              </a:rPr>
              <a:t>Belay / lower on a carabiner</a:t>
            </a:r>
          </a:p>
        </p:txBody>
      </p:sp>
      <p:sp>
        <p:nvSpPr>
          <p:cNvPr id="20" name="Shape 20"/>
          <p:cNvSpPr/>
          <p:nvPr/>
        </p:nvSpPr>
        <p:spPr>
          <a:xfrm>
            <a:off x="13436600" y="5054600"/>
            <a:ext cx="3962400" cy="3175000"/>
          </a:xfrm>
          <a:prstGeom prst="rect">
            <a:avLst/>
          </a:prstGeom>
          <a:solidFill>
            <a:srgbClr val="0E2A47"/>
          </a:solidFill>
          <a:ln>
            <a:noFill/>
          </a:ln>
        </p:spPr>
        <p:txBody>
          <a:bodyPr wrap="square" lIns="228600" tIns="228600" rIns="228600" bIns="127000" anchor="t">
            <a:noAutofit/>
          </a:bodyPr>
          <a:lstStyle/>
          <a:p>
            <a:pPr marL="0" indent="0" algn="l">
              <a:lnSpc>
                <a:spcPct val="105000"/>
              </a:lnSpc>
              <a:buNone/>
            </a:pPr>
            <a:r>
              <a:rPr lang="en-US" sz="1050" b="1" spc="150" dirty="0">
                <a:solidFill>
                  <a:srgbClr val="F26A1B"/>
                </a:solidFill>
                <a:latin typeface="Courier New"/>
                <a:cs typeface="Courier New"/>
              </a:rPr>
              <a:t>DRESSING STANDARD</a:t>
            </a:r>
          </a:p>
          <a:p>
            <a:pPr marL="0" indent="0" algn="l">
              <a:lnSpc>
                <a:spcPct val="105000"/>
              </a:lnSpc>
              <a:spcBef>
                <a:spcPts val="300"/>
              </a:spcBef>
              <a:buNone/>
            </a:pPr>
            <a:r>
              <a:rPr lang="en-US" sz="1300" b="1" dirty="0">
                <a:solidFill>
                  <a:srgbClr val="FFFFFF"/>
                </a:solidFill>
                <a:latin typeface="Arial"/>
                <a:cs typeface="Arial"/>
              </a:rPr>
              <a:t>Correctly formed · dressed flat · set snug · fist-width tail.</a:t>
            </a:r>
          </a:p>
          <a:p>
            <a:pPr marL="0" indent="0" algn="l">
              <a:lnSpc>
                <a:spcPct val="105000"/>
              </a:lnSpc>
              <a:spcBef>
                <a:spcPts val="1200"/>
              </a:spcBef>
              <a:buNone/>
            </a:pPr>
            <a:r>
              <a:rPr lang="en-US" sz="1050" b="1" spc="150" dirty="0">
                <a:solidFill>
                  <a:srgbClr val="F26A1B"/>
                </a:solidFill>
                <a:latin typeface="Courier New"/>
                <a:cs typeface="Courier New"/>
              </a:rPr>
              <a:t>COMMON MISTAKES</a:t>
            </a:r>
          </a:p>
          <a:p>
            <a:pPr marL="0" indent="0" algn="l">
              <a:lnSpc>
                <a:spcPct val="105000"/>
              </a:lnSpc>
              <a:spcBef>
                <a:spcPts val="300"/>
              </a:spcBef>
              <a:buNone/>
            </a:pPr>
            <a:r>
              <a:rPr lang="en-US" sz="1250" dirty="0">
                <a:solidFill>
                  <a:srgbClr val="FFFFFF"/>
                </a:solidFill>
                <a:latin typeface="Arial"/>
                <a:cs typeface="Arial"/>
              </a:rPr>
              <a:t>Crossed strands · short tail · wrong knot for the load · missing stopper knot.</a:t>
            </a:r>
          </a:p>
          <a:p>
            <a:pPr marL="0" indent="0" algn="l">
              <a:lnSpc>
                <a:spcPct val="105000"/>
              </a:lnSpc>
              <a:spcBef>
                <a:spcPts val="600"/>
              </a:spcBef>
              <a:buNone/>
            </a:pPr>
            <a:r>
              <a:rPr lang="en-US" sz="1200" dirty="0">
                <a:solidFill>
                  <a:srgbClr val="C7D4E1"/>
                </a:solidFill>
                <a:latin typeface="Arial"/>
                <a:cs typeface="Arial"/>
              </a:rPr>
              <a:t>Every knot reduces rope strength — how much depends on the knot, rope and dressing.</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 · KNOTS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22</a:t>
            </a:r>
            <a:endParaRPr lang="en-US" sz="900" dirty="0"/>
          </a:p>
        </p:txBody>
      </p:sp>
      <p:pic>
        <p:nvPicPr>
          <p:cNvPr id="202" name="Illustration 202"/>
          <p:cNvPicPr>
            <a:picLocks noChangeAspect="1"/>
          </p:cNvPicPr>
          <p:nvPr/>
        </p:nvPicPr>
        <p:blipFill>
          <a:blip r:embed="rId3"/>
          <a:stretch>
            <a:fillRect/>
          </a:stretch>
        </p:blipFill>
        <p:spPr>
          <a:xfrm>
            <a:off x="1701800" y="1752600"/>
            <a:ext cx="2286000" cy="2286000"/>
          </a:xfrm>
          <a:prstGeom prst="rect">
            <a:avLst/>
          </a:prstGeom>
        </p:spPr>
      </p:pic>
      <p:pic>
        <p:nvPicPr>
          <p:cNvPr id="203" name="Illustration 203"/>
          <p:cNvPicPr>
            <a:picLocks noChangeAspect="1"/>
          </p:cNvPicPr>
          <p:nvPr/>
        </p:nvPicPr>
        <p:blipFill>
          <a:blip r:embed="rId4"/>
          <a:stretch>
            <a:fillRect/>
          </a:stretch>
        </p:blipFill>
        <p:spPr>
          <a:xfrm>
            <a:off x="5511800" y="1752600"/>
            <a:ext cx="3048000" cy="2286000"/>
          </a:xfrm>
          <a:prstGeom prst="rect">
            <a:avLst/>
          </a:prstGeom>
        </p:spPr>
      </p:pic>
      <p:pic>
        <p:nvPicPr>
          <p:cNvPr id="204" name="Illustration 204"/>
          <p:cNvPicPr>
            <a:picLocks noChangeAspect="1"/>
          </p:cNvPicPr>
          <p:nvPr/>
        </p:nvPicPr>
        <p:blipFill>
          <a:blip r:embed="rId5"/>
          <a:stretch>
            <a:fillRect/>
          </a:stretch>
        </p:blipFill>
        <p:spPr>
          <a:xfrm>
            <a:off x="10083800" y="1752600"/>
            <a:ext cx="2286000" cy="2286000"/>
          </a:xfrm>
          <a:prstGeom prst="rect">
            <a:avLst/>
          </a:prstGeom>
        </p:spPr>
      </p:pic>
      <p:pic>
        <p:nvPicPr>
          <p:cNvPr id="205" name="Illustration 205"/>
          <p:cNvPicPr>
            <a:picLocks noChangeAspect="1"/>
          </p:cNvPicPr>
          <p:nvPr/>
        </p:nvPicPr>
        <p:blipFill>
          <a:blip r:embed="rId6"/>
          <a:stretch>
            <a:fillRect/>
          </a:stretch>
        </p:blipFill>
        <p:spPr>
          <a:xfrm>
            <a:off x="14274800" y="1752600"/>
            <a:ext cx="2286000" cy="2286000"/>
          </a:xfrm>
          <a:prstGeom prst="rect">
            <a:avLst/>
          </a:prstGeom>
        </p:spPr>
      </p:pic>
      <p:pic>
        <p:nvPicPr>
          <p:cNvPr id="206" name="Illustration 206"/>
          <p:cNvPicPr>
            <a:picLocks noChangeAspect="1"/>
          </p:cNvPicPr>
          <p:nvPr/>
        </p:nvPicPr>
        <p:blipFill>
          <a:blip r:embed="rId7"/>
          <a:stretch>
            <a:fillRect/>
          </a:stretch>
        </p:blipFill>
        <p:spPr>
          <a:xfrm>
            <a:off x="1701800" y="5156200"/>
            <a:ext cx="2286000" cy="2286000"/>
          </a:xfrm>
          <a:prstGeom prst="rect">
            <a:avLst/>
          </a:prstGeom>
        </p:spPr>
      </p:pic>
      <p:pic>
        <p:nvPicPr>
          <p:cNvPr id="207" name="Illustration 207"/>
          <p:cNvPicPr>
            <a:picLocks noChangeAspect="1"/>
          </p:cNvPicPr>
          <p:nvPr/>
        </p:nvPicPr>
        <p:blipFill>
          <a:blip r:embed="rId8"/>
          <a:stretch>
            <a:fillRect/>
          </a:stretch>
        </p:blipFill>
        <p:spPr>
          <a:xfrm>
            <a:off x="5892800" y="5156200"/>
            <a:ext cx="2286000" cy="2286000"/>
          </a:xfrm>
          <a:prstGeom prst="rect">
            <a:avLst/>
          </a:prstGeom>
        </p:spPr>
      </p:pic>
      <p:pic>
        <p:nvPicPr>
          <p:cNvPr id="208" name="Illustration 208"/>
          <p:cNvPicPr>
            <a:picLocks noChangeAspect="1"/>
          </p:cNvPicPr>
          <p:nvPr/>
        </p:nvPicPr>
        <p:blipFill>
          <a:blip r:embed="rId9"/>
          <a:stretch>
            <a:fillRect/>
          </a:stretch>
        </p:blipFill>
        <p:spPr>
          <a:xfrm>
            <a:off x="10083800" y="5156200"/>
            <a:ext cx="2286000" cy="2286000"/>
          </a:xfrm>
          <a:prstGeom prst="rect">
            <a:avLst/>
          </a:prstGeom>
        </p:spPr>
      </p:pic>
      <p:sp>
        <p:nvSpPr>
          <p:cNvPr id="500" name="Photo credits"/>
          <p:cNvSpPr txBox="1"/>
          <p:nvPr/>
        </p:nvSpPr>
        <p:spPr>
          <a:xfrm>
            <a:off x="863600" y="9372600"/>
            <a:ext cx="16510000" cy="228600"/>
          </a:xfrm>
          <a:prstGeom prst="rect">
            <a:avLst/>
          </a:prstGeom>
          <a:noFill/>
        </p:spPr>
        <p:txBody>
          <a:bodyPr wrap="square" lIns="0" tIns="0" rIns="0" bIns="0" anchor="t">
            <a:normAutofit/>
          </a:bodyPr>
          <a:lstStyle/>
          <a:p>
            <a:pPr algn="l">
              <a:buNone/>
            </a:pPr>
            <a:r>
              <a:rPr lang="en-US" sz="900" kern="0" dirty="0">
                <a:solidFill>
                  <a:srgbClr val="5B6B7C"/>
                </a:solidFill>
                <a:latin typeface="Arial"/>
                <a:ea typeface="Arial"/>
                <a:cs typeface="Arial"/>
              </a:rPr>
              <a:t>Photos via Wikimedia Commons: WikipedianYknOK (CC BY-SA 3.0) — figure 8, alpine butterfly, double fisherman’s, prusik, munter; Markus Bärlocher (public domain) — figure 9, stopper.</a:t>
            </a:r>
          </a:p>
        </p:txBody>
      </p:sp>
      <p:sp>
        <p:nvSpPr>
          <p:cNvPr id="1701" name="Checkpoint"/>
          <p:cNvSpPr/>
          <p:nvPr/>
        </p:nvSpPr>
        <p:spPr>
          <a:xfrm>
            <a:off x="863600" y="8407400"/>
            <a:ext cx="16535400" cy="812800"/>
          </a:xfrm>
          <a:prstGeom prst="rect">
            <a:avLst/>
          </a:prstGeom>
          <a:solidFill>
            <a:srgbClr val="FFF4EC"/>
          </a:solidFill>
          <a:ln>
            <a:noFill/>
          </a:ln>
        </p:spPr>
        <p:txBody>
          <a:bodyPr wrap="square" lIns="304800" tIns="304800" rIns="304800" bIns="127000" anchor="ctr">
            <a:noAutofit/>
          </a:bodyPr>
          <a:lstStyle/>
          <a:p>
            <a:pPr marL="0" indent="0" algn="l">
              <a:lnSpc>
                <a:spcPct val="105000"/>
              </a:lnSpc>
              <a:buNone/>
            </a:pPr>
            <a:r>
              <a:rPr lang="en-US" sz="1100" b="1" spc="150" dirty="0">
                <a:solidFill>
                  <a:srgbClr val="F26A1B"/>
                </a:solidFill>
                <a:latin typeface="Courier New"/>
                <a:cs typeface="Courier New"/>
              </a:rPr>
              <a:t>INSTRUCTOR CHECKPOINT   </a:t>
            </a:r>
            <a:r>
              <a:rPr lang="en-US" sz="1400" dirty="0">
                <a:solidFill>
                  <a:srgbClr val="0E2A47"/>
                </a:solidFill>
                <a:latin typeface="Arial"/>
                <a:cs typeface="Arial"/>
              </a:rPr>
              <a:t>SPRAT L1 tests four functions: termination, middle, stop and join. Each trainee ties, dresses and sets every knot and passes a partner check.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14071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41670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Basic Ascent, Descent &amp; Changeover</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Move deliberately</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Teach efficient ascent, controlled descent, backup management and ascent-to-descent changeovers while maintaining continuous protection. Efficient ascent drives from the legs in the footloop; the arms only guide, never haul.</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sequence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Device order controls whether the trainee remains supported and protected throughout the transition. Load and check the next device before releasing the current one — every changeover, every time.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Master before obstacles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Trainees should be stable with basic movement before deviations, re-belays, transfers or rescue tasks. Fluency here is the gate to Day 2’s obstacle work.</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Uncontrolled movement</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Poor brake-hand discipline, unmanaged slack, releasing a device too early, or loading the wrong system. Hauling with the arms instead of standing in the footloop causes premature exhaustion.</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Smooth sequencing, independent backup, controlled body position and the ability to stop safely at any point. Backup kept high and no slack in the system are watched on every meter of rope.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“Should I memorize hand movements?”</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Learn the sequence and the reason behind it. You must be able to adapt while preserving the safety principles. You should also be able to reverse a changeover mid-sequence if something feels wrong.</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1 · SEE IT</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Ascent Set-Up — Where Every Device Goes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SEE IT · ASCENT SET-UP</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24</a:t>
            </a:r>
            <a:endParaRPr lang="en-US" sz="900" dirty="0"/>
          </a:p>
        </p:txBody>
      </p:sp>
      <p:sp>
        <p:nvSpPr>
          <p:cNvPr id="893" name="Shape 893"/>
          <p:cNvSpPr/>
          <p:nvPr/>
        </p:nvSpPr>
        <p:spPr>
          <a:xfrm>
            <a:off x="857250" y="1778000"/>
            <a:ext cx="5778500" cy="7620000"/>
          </a:xfrm>
          <a:prstGeom prst="rect">
            <a:avLst/>
          </a:prstGeom>
          <a:solidFill>
            <a:srgbClr val="FFFFFF"/>
          </a:solidFill>
          <a:ln>
            <a:noFill/>
          </a:ln>
        </p:spPr>
        <p:txBody>
          <a:bodyPr/>
          <a:lstStyle/>
          <a:p>
            <a:endParaRPr lang="en-US"/>
          </a:p>
        </p:txBody>
      </p:sp>
      <p:pic>
        <p:nvPicPr>
          <p:cNvPr id="894" name="Picture 894"/>
          <p:cNvPicPr>
            <a:picLocks noChangeAspect="1"/>
          </p:cNvPicPr>
          <p:nvPr/>
        </p:nvPicPr>
        <p:blipFill>
          <a:blip r:embed="rId3"/>
          <a:stretch>
            <a:fillRect/>
          </a:stretch>
        </p:blipFill>
        <p:spPr>
          <a:xfrm>
            <a:off x="984250" y="1778000"/>
            <a:ext cx="5524500" cy="7620000"/>
          </a:xfrm>
          <a:prstGeom prst="rect">
            <a:avLst/>
          </a:prstGeom>
        </p:spPr>
      </p:pic>
      <p:sp>
        <p:nvSpPr>
          <p:cNvPr id="895" name="Text 895"/>
          <p:cNvSpPr txBox="1"/>
          <p:nvPr/>
        </p:nvSpPr>
        <p:spPr>
          <a:xfrm>
            <a:off x="7112000" y="1905000"/>
            <a:ext cx="103124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ASCENT SET-UP — CHECK TOP TO BOTTOM</a:t>
            </a:r>
          </a:p>
        </p:txBody>
      </p:sp>
      <p:sp>
        <p:nvSpPr>
          <p:cNvPr id="896" name="Shape 896"/>
          <p:cNvSpPr/>
          <p:nvPr/>
        </p:nvSpPr>
        <p:spPr>
          <a:xfrm>
            <a:off x="7112000" y="2387600"/>
            <a:ext cx="431800" cy="431800"/>
          </a:xfrm>
          <a:prstGeom prst="ellipse">
            <a:avLst/>
          </a:prstGeom>
          <a:solidFill>
            <a:srgbClr val="0E2A47"/>
          </a:solidFill>
          <a:ln>
            <a:noFill/>
          </a:ln>
        </p:spPr>
        <p:txBody>
          <a:bodyPr/>
          <a:lstStyle/>
          <a:p>
            <a:endParaRPr lang="en-US"/>
          </a:p>
        </p:txBody>
      </p:sp>
      <p:sp>
        <p:nvSpPr>
          <p:cNvPr id="897" name="Text 897"/>
          <p:cNvSpPr txBox="1"/>
          <p:nvPr/>
        </p:nvSpPr>
        <p:spPr>
          <a:xfrm>
            <a:off x="711200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898" name="Text 898"/>
          <p:cNvSpPr txBox="1"/>
          <p:nvPr/>
        </p:nvSpPr>
        <p:spPr>
          <a:xfrm>
            <a:off x="7747000" y="23622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Two ropes</a:t>
            </a:r>
          </a:p>
          <a:p>
            <a:pPr marL="0" indent="0" algn="l">
              <a:lnSpc>
                <a:spcPct val="110000"/>
              </a:lnSpc>
              <a:spcBef>
                <a:spcPts val="300"/>
              </a:spcBef>
              <a:buNone/>
            </a:pPr>
            <a:r>
              <a:rPr lang="en-US" sz="1500" dirty="0">
                <a:solidFill>
                  <a:srgbClr val="41505E"/>
                </a:solidFill>
                <a:latin typeface="Arial"/>
                <a:cs typeface="Arial"/>
              </a:rPr>
              <a:t>Working line and a separate backup line, each on its own anchor</a:t>
            </a:r>
          </a:p>
        </p:txBody>
      </p:sp>
      <p:sp>
        <p:nvSpPr>
          <p:cNvPr id="899" name="Shape 899"/>
          <p:cNvSpPr/>
          <p:nvPr/>
        </p:nvSpPr>
        <p:spPr>
          <a:xfrm>
            <a:off x="7112000" y="3378200"/>
            <a:ext cx="431800" cy="431800"/>
          </a:xfrm>
          <a:prstGeom prst="ellipse">
            <a:avLst/>
          </a:prstGeom>
          <a:solidFill>
            <a:srgbClr val="0E2A47"/>
          </a:solidFill>
          <a:ln>
            <a:noFill/>
          </a:ln>
        </p:spPr>
        <p:txBody>
          <a:bodyPr/>
          <a:lstStyle/>
          <a:p>
            <a:endParaRPr lang="en-US"/>
          </a:p>
        </p:txBody>
      </p:sp>
      <p:sp>
        <p:nvSpPr>
          <p:cNvPr id="900" name="Text 900"/>
          <p:cNvSpPr txBox="1"/>
          <p:nvPr/>
        </p:nvSpPr>
        <p:spPr>
          <a:xfrm>
            <a:off x="7112000" y="3378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901" name="Text 901"/>
          <p:cNvSpPr txBox="1"/>
          <p:nvPr/>
        </p:nvSpPr>
        <p:spPr>
          <a:xfrm>
            <a:off x="7747000" y="33528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Hand ascender + foot loop</a:t>
            </a:r>
          </a:p>
          <a:p>
            <a:pPr marL="0" indent="0" algn="l">
              <a:lnSpc>
                <a:spcPct val="110000"/>
              </a:lnSpc>
              <a:spcBef>
                <a:spcPts val="300"/>
              </a:spcBef>
              <a:buNone/>
            </a:pPr>
            <a:r>
              <a:rPr lang="en-US" sz="1500" dirty="0">
                <a:solidFill>
                  <a:srgbClr val="41505E"/>
                </a:solidFill>
                <a:latin typeface="Arial"/>
                <a:cs typeface="Arial"/>
              </a:rPr>
              <a:t>Stand up in the foot loop, slide the hand ascender up</a:t>
            </a:r>
          </a:p>
        </p:txBody>
      </p:sp>
      <p:sp>
        <p:nvSpPr>
          <p:cNvPr id="902" name="Shape 902"/>
          <p:cNvSpPr/>
          <p:nvPr/>
        </p:nvSpPr>
        <p:spPr>
          <a:xfrm>
            <a:off x="7112000" y="4368800"/>
            <a:ext cx="431800" cy="431800"/>
          </a:xfrm>
          <a:prstGeom prst="ellipse">
            <a:avLst/>
          </a:prstGeom>
          <a:solidFill>
            <a:srgbClr val="0E2A47"/>
          </a:solidFill>
          <a:ln>
            <a:noFill/>
          </a:ln>
        </p:spPr>
        <p:txBody>
          <a:bodyPr/>
          <a:lstStyle/>
          <a:p>
            <a:endParaRPr lang="en-US"/>
          </a:p>
        </p:txBody>
      </p:sp>
      <p:sp>
        <p:nvSpPr>
          <p:cNvPr id="903" name="Text 903"/>
          <p:cNvSpPr txBox="1"/>
          <p:nvPr/>
        </p:nvSpPr>
        <p:spPr>
          <a:xfrm>
            <a:off x="7112000" y="4368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904" name="Text 904"/>
          <p:cNvSpPr txBox="1"/>
          <p:nvPr/>
        </p:nvSpPr>
        <p:spPr>
          <a:xfrm>
            <a:off x="7747000" y="43434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Chest ascender</a:t>
            </a:r>
          </a:p>
          <a:p>
            <a:pPr marL="0" indent="0" algn="l">
              <a:lnSpc>
                <a:spcPct val="110000"/>
              </a:lnSpc>
              <a:spcBef>
                <a:spcPts val="300"/>
              </a:spcBef>
              <a:buNone/>
            </a:pPr>
            <a:r>
              <a:rPr lang="en-US" sz="1500" dirty="0">
                <a:solidFill>
                  <a:srgbClr val="41505E"/>
                </a:solidFill>
                <a:latin typeface="Arial"/>
                <a:cs typeface="Arial"/>
              </a:rPr>
              <a:t>On the working line; takes your weight as you sit back</a:t>
            </a:r>
          </a:p>
        </p:txBody>
      </p:sp>
      <p:sp>
        <p:nvSpPr>
          <p:cNvPr id="905" name="Shape 905"/>
          <p:cNvSpPr/>
          <p:nvPr/>
        </p:nvSpPr>
        <p:spPr>
          <a:xfrm>
            <a:off x="7112000" y="5359400"/>
            <a:ext cx="431800" cy="431800"/>
          </a:xfrm>
          <a:prstGeom prst="ellipse">
            <a:avLst/>
          </a:prstGeom>
          <a:solidFill>
            <a:srgbClr val="0E2A47"/>
          </a:solidFill>
          <a:ln>
            <a:noFill/>
          </a:ln>
        </p:spPr>
        <p:txBody>
          <a:bodyPr/>
          <a:lstStyle/>
          <a:p>
            <a:endParaRPr lang="en-US"/>
          </a:p>
        </p:txBody>
      </p:sp>
      <p:sp>
        <p:nvSpPr>
          <p:cNvPr id="906" name="Text 906"/>
          <p:cNvSpPr txBox="1"/>
          <p:nvPr/>
        </p:nvSpPr>
        <p:spPr>
          <a:xfrm>
            <a:off x="7112000" y="5359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907" name="Text 907"/>
          <p:cNvSpPr txBox="1"/>
          <p:nvPr/>
        </p:nvSpPr>
        <p:spPr>
          <a:xfrm>
            <a:off x="7747000" y="53340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Descender</a:t>
            </a:r>
          </a:p>
          <a:p>
            <a:pPr marL="0" indent="0" algn="l">
              <a:lnSpc>
                <a:spcPct val="110000"/>
              </a:lnSpc>
              <a:spcBef>
                <a:spcPts val="300"/>
              </a:spcBef>
              <a:buNone/>
            </a:pPr>
            <a:r>
              <a:rPr lang="en-US" sz="1500" dirty="0">
                <a:solidFill>
                  <a:srgbClr val="41505E"/>
                </a:solidFill>
                <a:latin typeface="Arial"/>
                <a:cs typeface="Arial"/>
              </a:rPr>
              <a:t>Stays on the working line, ready to change over</a:t>
            </a:r>
          </a:p>
        </p:txBody>
      </p:sp>
      <p:sp>
        <p:nvSpPr>
          <p:cNvPr id="908" name="Shape 908"/>
          <p:cNvSpPr/>
          <p:nvPr/>
        </p:nvSpPr>
        <p:spPr>
          <a:xfrm>
            <a:off x="7112000" y="6350000"/>
            <a:ext cx="431800" cy="431800"/>
          </a:xfrm>
          <a:prstGeom prst="ellipse">
            <a:avLst/>
          </a:prstGeom>
          <a:solidFill>
            <a:srgbClr val="0E2A47"/>
          </a:solidFill>
          <a:ln>
            <a:noFill/>
          </a:ln>
        </p:spPr>
        <p:txBody>
          <a:bodyPr/>
          <a:lstStyle/>
          <a:p>
            <a:endParaRPr lang="en-US"/>
          </a:p>
        </p:txBody>
      </p:sp>
      <p:sp>
        <p:nvSpPr>
          <p:cNvPr id="909" name="Text 909"/>
          <p:cNvSpPr txBox="1"/>
          <p:nvPr/>
        </p:nvSpPr>
        <p:spPr>
          <a:xfrm>
            <a:off x="7112000" y="6350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910" name="Text 910"/>
          <p:cNvSpPr txBox="1"/>
          <p:nvPr/>
        </p:nvSpPr>
        <p:spPr>
          <a:xfrm>
            <a:off x="7747000" y="63246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Backup device</a:t>
            </a:r>
          </a:p>
          <a:p>
            <a:pPr marL="0" indent="0" algn="l">
              <a:lnSpc>
                <a:spcPct val="110000"/>
              </a:lnSpc>
              <a:spcBef>
                <a:spcPts val="300"/>
              </a:spcBef>
              <a:buNone/>
            </a:pPr>
            <a:r>
              <a:rPr lang="en-US" sz="1500" dirty="0">
                <a:solidFill>
                  <a:srgbClr val="41505E"/>
                </a:solidFill>
                <a:latin typeface="Arial"/>
                <a:cs typeface="Arial"/>
              </a:rPr>
              <a:t>On the backup line, kept above your attachment point</a:t>
            </a:r>
          </a:p>
        </p:txBody>
      </p:sp>
      <p:sp>
        <p:nvSpPr>
          <p:cNvPr id="911" name="Shape 911"/>
          <p:cNvSpPr/>
          <p:nvPr/>
        </p:nvSpPr>
        <p:spPr>
          <a:xfrm>
            <a:off x="7112000" y="7340600"/>
            <a:ext cx="431800" cy="431800"/>
          </a:xfrm>
          <a:prstGeom prst="ellipse">
            <a:avLst/>
          </a:prstGeom>
          <a:solidFill>
            <a:srgbClr val="0E2A47"/>
          </a:solidFill>
          <a:ln>
            <a:noFill/>
          </a:ln>
        </p:spPr>
        <p:txBody>
          <a:bodyPr/>
          <a:lstStyle/>
          <a:p>
            <a:endParaRPr lang="en-US"/>
          </a:p>
        </p:txBody>
      </p:sp>
      <p:sp>
        <p:nvSpPr>
          <p:cNvPr id="912" name="Text 912"/>
          <p:cNvSpPr txBox="1"/>
          <p:nvPr/>
        </p:nvSpPr>
        <p:spPr>
          <a:xfrm>
            <a:off x="7112000" y="7340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6</a:t>
            </a:r>
          </a:p>
        </p:txBody>
      </p:sp>
      <p:sp>
        <p:nvSpPr>
          <p:cNvPr id="913" name="Text 913"/>
          <p:cNvSpPr txBox="1"/>
          <p:nvPr/>
        </p:nvSpPr>
        <p:spPr>
          <a:xfrm>
            <a:off x="7747000" y="7315200"/>
            <a:ext cx="9677400" cy="9144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Helmet and harness</a:t>
            </a:r>
          </a:p>
          <a:p>
            <a:pPr marL="0" indent="0" algn="l">
              <a:lnSpc>
                <a:spcPct val="110000"/>
              </a:lnSpc>
              <a:spcBef>
                <a:spcPts val="300"/>
              </a:spcBef>
              <a:buNone/>
            </a:pPr>
            <a:r>
              <a:rPr lang="en-US" sz="1500" dirty="0">
                <a:solidFill>
                  <a:srgbClr val="41505E"/>
                </a:solidFill>
                <a:latin typeface="Arial"/>
                <a:cs typeface="Arial"/>
              </a:rPr>
              <a:t>Chinstrap on; every connector locked</a:t>
            </a:r>
          </a:p>
        </p:txBody>
      </p:sp>
      <p:sp>
        <p:nvSpPr>
          <p:cNvPr id="914" name="Shape 914"/>
          <p:cNvSpPr/>
          <p:nvPr/>
        </p:nvSpPr>
        <p:spPr>
          <a:xfrm>
            <a:off x="7112000" y="8483600"/>
            <a:ext cx="10312400" cy="914400"/>
          </a:xfrm>
          <a:prstGeom prst="rect">
            <a:avLst/>
          </a:prstGeom>
          <a:solidFill>
            <a:srgbClr val="0E2A47"/>
          </a:solidFill>
          <a:ln>
            <a:noFill/>
          </a:ln>
        </p:spPr>
        <p:txBody>
          <a:bodyPr/>
          <a:lstStyle/>
          <a:p>
            <a:endParaRPr lang="en-US"/>
          </a:p>
        </p:txBody>
      </p:sp>
      <p:sp>
        <p:nvSpPr>
          <p:cNvPr id="915" name="Text 915"/>
          <p:cNvSpPr txBox="1"/>
          <p:nvPr/>
        </p:nvSpPr>
        <p:spPr>
          <a:xfrm>
            <a:off x="7467600" y="8483600"/>
            <a:ext cx="96012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Before leaving the ground: </a:t>
            </a:r>
            <a:r>
              <a:rPr lang="en-US" sz="1700" dirty="0">
                <a:solidFill>
                  <a:srgbClr val="C7D4E1"/>
                </a:solidFill>
                <a:latin typeface="Arial"/>
                <a:cs typeface="Arial"/>
              </a:rPr>
              <a:t>self-check, buddy check, then a test load close to the ground.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44022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80539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Logbooks, Experience &amp; Recertification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Maintain verifiable experience records</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Log every job in your SPRAT logbook — date, employer, task, rope hours — with a verifying signature from your Level 3, program administrator or client.</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documentation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Upgrade eligibility and professional credibility depend on accurate, auditable experience.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Record work promptly</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Log each job as it happens. Hours worked while your certification is expired do not count toward the next level.</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Inflated or vague entries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Unverifiable hours, missing supervisors, unclear scope and incorrect level claims.</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Candidates understand that official SPRAT requirements control upgrade / renewal eligibility.</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“How many hours do I need?”</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Level 2: 500 hrs + 6 months as L1. Level 3: 500 hrs + 6 months as L2. Always confirm against the current SPRAT Certification Requirements.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64977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88632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Career Development &amp; Trade Integration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1</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Rope access is the access method</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Combine access competence with a technical trade — inspection / NDT, mechanical, coatings, electrical, welding / fitting, wind or another discipline.</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trade skill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Employers need a task performed at height — not simply a person who can climb ropes.</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Build competence progressively</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Choose training that matches the work you intend to do and keep both access and trade qualifications current.</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Working outside competence</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Rope-access certification does not qualify a person for an unrelated technical trade.</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Professional judgment includes recognizing the limits of both rope-access level and trade competence.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should I learn next?”</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Choose the technical discipline that fits your target industry, then build verified experience while keeping rope-access skills current.</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1</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27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Shape 1"/>
          <p:cNvSpPr/>
          <p:nvPr/>
        </p:nvSpPr>
        <p:spPr>
          <a:xfrm>
            <a:off x="12070110" y="0"/>
            <a:ext cx="6217890" cy="10287000"/>
          </a:xfrm>
          <a:prstGeom prst="rect">
            <a:avLst/>
          </a:prstGeom>
          <a:solidFill>
            <a:srgbClr val="0E2A47"/>
          </a:solidFill>
          <a:ln/>
        </p:spPr>
        <p:txBody>
          <a:bodyPr/>
          <a:lstStyle/>
          <a:p>
            <a:endParaRPr lang="en-US"/>
          </a:p>
        </p:txBody>
      </p:sp>
      <p:pic>
        <p:nvPicPr>
          <p:cNvPr id="95" name="Day 1 photo"/>
          <p:cNvPicPr>
            <a:picLocks noChangeAspect="1"/>
          </p:cNvPicPr>
          <p:nvPr/>
        </p:nvPicPr>
        <p:blipFill>
          <a:blip r:embed="rId3"/>
          <a:stretch>
            <a:fillRect/>
          </a:stretch>
        </p:blipFill>
        <p:spPr>
          <a:xfrm>
            <a:off x="12098685" y="0"/>
            <a:ext cx="6189315" cy="10287000"/>
          </a:xfrm>
          <a:prstGeom prst="rect">
            <a:avLst/>
          </a:prstGeom>
        </p:spPr>
      </p:pic>
      <p:sp>
        <p:nvSpPr>
          <p:cNvPr id="4" name="Shape 2"/>
          <p:cNvSpPr/>
          <p:nvPr/>
        </p:nvSpPr>
        <p:spPr>
          <a:xfrm>
            <a:off x="12070110" y="0"/>
            <a:ext cx="28575" cy="10287000"/>
          </a:xfrm>
          <a:prstGeom prst="rect">
            <a:avLst/>
          </a:prstGeom>
          <a:solidFill>
            <a:srgbClr val="F26A1B"/>
          </a:solidFill>
          <a:ln/>
        </p:spPr>
        <p:txBody>
          <a:bodyPr/>
          <a:lstStyle/>
          <a:p>
            <a:endParaRPr lang="en-US"/>
          </a:p>
        </p:txBody>
      </p:sp>
      <p:sp>
        <p:nvSpPr>
          <p:cNvPr id="5" name="Shape 3"/>
          <p:cNvSpPr/>
          <p:nvPr/>
        </p:nvSpPr>
        <p:spPr>
          <a:xfrm>
            <a:off x="12400000" y="8929390"/>
            <a:ext cx="5716000" cy="557510"/>
          </a:xfrm>
          <a:prstGeom prst="rect">
            <a:avLst/>
          </a:prstGeom>
          <a:solidFill>
            <a:srgbClr val="0A1B2E"/>
          </a:solidFill>
          <a:ln/>
        </p:spPr>
        <p:txBody>
          <a:bodyPr/>
          <a:lstStyle/>
          <a:p>
            <a:endParaRPr lang="en-US"/>
          </a:p>
        </p:txBody>
      </p:sp>
      <p:sp>
        <p:nvSpPr>
          <p:cNvPr id="6" name="Text 4"/>
          <p:cNvSpPr/>
          <p:nvPr/>
        </p:nvSpPr>
        <p:spPr>
          <a:xfrm>
            <a:off x="12500000" y="8996065"/>
            <a:ext cx="5516000" cy="462260"/>
          </a:xfrm>
          <a:prstGeom prst="rect">
            <a:avLst/>
          </a:prstGeom>
          <a:noFill/>
          <a:ln/>
        </p:spPr>
        <p:txBody>
          <a:bodyPr wrap="square" lIns="25400" tIns="25400" rIns="25400" bIns="25400" rtlCol="0" anchor="t">
            <a:normAutofit/>
          </a:bodyPr>
          <a:lstStyle/>
          <a:p>
            <a:pPr marL="0" indent="0" algn="l">
              <a:lnSpc>
                <a:spcPct val="118800"/>
              </a:lnSpc>
              <a:buNone/>
            </a:pPr>
            <a:r>
              <a:rPr lang="en-US" sz="1100" kern="0" spc="50" dirty="0">
                <a:solidFill>
                  <a:srgbClr val="86B0DA"/>
                </a:solidFill>
                <a:latin typeface="Courier New" pitchFamily="34" charset="0"/>
                <a:ea typeface="Courier New" pitchFamily="34" charset="-122"/>
                <a:cs typeface="Courier New" pitchFamily="34" charset="-120"/>
              </a:rPr>
              <a:t>Photo: Mika343243 · CC BY-SA 4.0 · Wikimedia Commons</a:t>
            </a:r>
            <a:endParaRPr lang="en-US" sz="825" dirty="0"/>
          </a:p>
        </p:txBody>
      </p:sp>
      <p:sp>
        <p:nvSpPr>
          <p:cNvPr id="7" name="Text 5"/>
          <p:cNvSpPr/>
          <p:nvPr/>
        </p:nvSpPr>
        <p:spPr>
          <a:xfrm>
            <a:off x="857250" y="3625304"/>
            <a:ext cx="112653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CLASSROOM → PRACTICAL</a:t>
            </a:r>
            <a:endParaRPr lang="en-US" sz="975" dirty="0"/>
          </a:p>
        </p:txBody>
      </p:sp>
      <p:sp>
        <p:nvSpPr>
          <p:cNvPr id="8" name="Text 6"/>
          <p:cNvSpPr/>
          <p:nvPr/>
        </p:nvSpPr>
        <p:spPr>
          <a:xfrm>
            <a:off x="857250" y="3901529"/>
            <a:ext cx="11265359"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Arial" pitchFamily="34" charset="0"/>
                <a:ea typeface="Arial" pitchFamily="34" charset="-122"/>
                <a:cs typeface="Arial" pitchFamily="34" charset="-120"/>
              </a:rPr>
              <a:t>Day 1 Practical Training Plan</a:t>
            </a:r>
            <a:endParaRPr lang="en-US" sz="3300" dirty="0"/>
          </a:p>
        </p:txBody>
      </p:sp>
      <p:sp>
        <p:nvSpPr>
          <p:cNvPr id="9" name="Text 7"/>
          <p:cNvSpPr/>
          <p:nvPr/>
        </p:nvSpPr>
        <p:spPr>
          <a:xfrm>
            <a:off x="857250" y="4668292"/>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081534" y="4654004"/>
            <a:ext cx="3761177"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Equipment inspection &amp; buddy-check stations</a:t>
            </a:r>
            <a:endParaRPr lang="en-US" sz="1350" dirty="0"/>
          </a:p>
        </p:txBody>
      </p:sp>
      <p:sp>
        <p:nvSpPr>
          <p:cNvPr id="11" name="Text 9"/>
          <p:cNvSpPr/>
          <p:nvPr/>
        </p:nvSpPr>
        <p:spPr>
          <a:xfrm>
            <a:off x="857250" y="502354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2" name="Text 10"/>
          <p:cNvSpPr/>
          <p:nvPr/>
        </p:nvSpPr>
        <p:spPr>
          <a:xfrm>
            <a:off x="1081534" y="5009257"/>
            <a:ext cx="3629963"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Knot tying / dressing / inspection repetitions</a:t>
            </a:r>
            <a:endParaRPr lang="en-US" sz="1350" dirty="0"/>
          </a:p>
        </p:txBody>
      </p:sp>
      <p:sp>
        <p:nvSpPr>
          <p:cNvPr id="13" name="Text 11"/>
          <p:cNvSpPr/>
          <p:nvPr/>
        </p:nvSpPr>
        <p:spPr>
          <a:xfrm>
            <a:off x="857250" y="5378797"/>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4" name="Text 12"/>
          <p:cNvSpPr/>
          <p:nvPr/>
        </p:nvSpPr>
        <p:spPr>
          <a:xfrm>
            <a:off x="1081534" y="5364510"/>
            <a:ext cx="2985767"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Basic ascent and controlled descent</a:t>
            </a:r>
            <a:endParaRPr lang="en-US" sz="1350" dirty="0"/>
          </a:p>
        </p:txBody>
      </p:sp>
      <p:sp>
        <p:nvSpPr>
          <p:cNvPr id="15" name="Text 13"/>
          <p:cNvSpPr/>
          <p:nvPr/>
        </p:nvSpPr>
        <p:spPr>
          <a:xfrm>
            <a:off x="857250" y="5734050"/>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081534" y="5719763"/>
            <a:ext cx="2642170"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Ascent ↔ descent changeovers</a:t>
            </a:r>
            <a:endParaRPr lang="en-US" sz="1350" dirty="0"/>
          </a:p>
        </p:txBody>
      </p:sp>
      <p:sp>
        <p:nvSpPr>
          <p:cNvPr id="17" name="Text 15"/>
          <p:cNvSpPr/>
          <p:nvPr/>
        </p:nvSpPr>
        <p:spPr>
          <a:xfrm>
            <a:off x="857250" y="6089303"/>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1081534" y="6075015"/>
            <a:ext cx="2136837"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Edge / start-position drills</a:t>
            </a:r>
            <a:endParaRPr lang="en-US" sz="1350" dirty="0"/>
          </a:p>
        </p:txBody>
      </p:sp>
      <p:sp>
        <p:nvSpPr>
          <p:cNvPr id="19" name="Text 17"/>
          <p:cNvSpPr/>
          <p:nvPr/>
        </p:nvSpPr>
        <p:spPr>
          <a:xfrm>
            <a:off x="857250" y="644455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1081534" y="6430268"/>
            <a:ext cx="361181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End-of-day competency check before Day 2</a:t>
            </a:r>
            <a:endParaRPr lang="en-US" sz="1350" dirty="0"/>
          </a:p>
        </p:txBody>
      </p:sp>
      <p:sp>
        <p:nvSpPr>
          <p:cNvPr id="21" name="Shape 19"/>
          <p:cNvSpPr/>
          <p:nvPr/>
        </p:nvSpPr>
        <p:spPr>
          <a:xfrm>
            <a:off x="0" y="9753600"/>
            <a:ext cx="18288000" cy="9525"/>
          </a:xfrm>
          <a:prstGeom prst="rect">
            <a:avLst/>
          </a:prstGeom>
          <a:solidFill>
            <a:srgbClr val="1C3551"/>
          </a:solidFill>
          <a:ln/>
        </p:spPr>
        <p:txBody>
          <a:bodyPr/>
          <a:lstStyle/>
          <a:p>
            <a:endParaRPr lang="en-US"/>
          </a:p>
        </p:txBody>
      </p:sp>
      <p:sp>
        <p:nvSpPr>
          <p:cNvPr id="22" name="Text 20"/>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3" name="Text 21"/>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DAY 1 · PRACTICAL</a:t>
            </a:r>
            <a:endParaRPr lang="en-US" sz="900" dirty="0"/>
          </a:p>
        </p:txBody>
      </p:sp>
      <p:sp>
        <p:nvSpPr>
          <p:cNvPr id="24" name="Text 22"/>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28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52450"/>
            <a:ext cx="11658756"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2 · CLASSROOM</a:t>
            </a:r>
            <a:endParaRPr lang="en-US" sz="975" dirty="0"/>
          </a:p>
        </p:txBody>
      </p:sp>
      <p:sp>
        <p:nvSpPr>
          <p:cNvPr id="3" name="Text 1"/>
          <p:cNvSpPr/>
          <p:nvPr/>
        </p:nvSpPr>
        <p:spPr>
          <a:xfrm>
            <a:off x="857250" y="819150"/>
            <a:ext cx="12035758"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1–2 Hour Classroom — Regulations, Fall Protection &amp; Core Maneuvers</a:t>
            </a:r>
            <a:endParaRPr lang="en-US" sz="2700" dirty="0"/>
          </a:p>
        </p:txBody>
      </p:sp>
      <p:sp>
        <p:nvSpPr>
          <p:cNvPr id="52" name="Shape 50"/>
          <p:cNvSpPr/>
          <p:nvPr/>
        </p:nvSpPr>
        <p:spPr>
          <a:xfrm>
            <a:off x="857250" y="9115425"/>
            <a:ext cx="16573500" cy="485775"/>
          </a:xfrm>
          <a:prstGeom prst="roundRect">
            <a:avLst>
              <a:gd name="adj" fmla="val 7843"/>
            </a:avLst>
          </a:prstGeom>
          <a:solidFill>
            <a:srgbClr val="0E2A47"/>
          </a:solidFill>
          <a:ln/>
        </p:spPr>
        <p:txBody>
          <a:bodyPr/>
          <a:lstStyle/>
          <a:p>
            <a:endParaRPr lang="en-US"/>
          </a:p>
        </p:txBody>
      </p:sp>
      <p:sp>
        <p:nvSpPr>
          <p:cNvPr id="53" name="Text 51"/>
          <p:cNvSpPr/>
          <p:nvPr/>
        </p:nvSpPr>
        <p:spPr>
          <a:xfrm>
            <a:off x="1104900" y="9298781"/>
            <a:ext cx="1310155" cy="157163"/>
          </a:xfrm>
          <a:prstGeom prst="rect">
            <a:avLst/>
          </a:prstGeom>
          <a:noFill/>
          <a:ln/>
        </p:spPr>
        <p:txBody>
          <a:bodyPr wrap="non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INSTRUCTOR NOTE</a:t>
            </a:r>
            <a:endParaRPr lang="en-US" sz="825" dirty="0"/>
          </a:p>
        </p:txBody>
      </p:sp>
      <p:sp>
        <p:nvSpPr>
          <p:cNvPr id="54" name="Text 52"/>
          <p:cNvSpPr/>
          <p:nvPr/>
        </p:nvSpPr>
        <p:spPr>
          <a:xfrm>
            <a:off x="2458566" y="9258300"/>
            <a:ext cx="7912068" cy="238125"/>
          </a:xfrm>
          <a:prstGeom prst="rect">
            <a:avLst/>
          </a:prstGeom>
          <a:noFill/>
          <a:ln/>
        </p:spPr>
        <p:txBody>
          <a:bodyPr wrap="square" lIns="25400" tIns="25400" rIns="25400" bIns="25400" rtlCol="0" anchor="t">
            <a:normAutofit/>
          </a:bodyPr>
          <a:lstStyle/>
          <a:p>
            <a:pPr marL="0" indent="0" algn="l">
              <a:lnSpc>
                <a:spcPct val="123529"/>
              </a:lnSpc>
              <a:buNone/>
            </a:pPr>
            <a:r>
              <a:rPr lang="en-US" sz="1125" dirty="0">
                <a:solidFill>
                  <a:srgbClr val="C7D4E1"/>
                </a:solidFill>
                <a:latin typeface="Arial" pitchFamily="34" charset="0"/>
                <a:ea typeface="Arial" pitchFamily="34" charset="-122"/>
                <a:cs typeface="Arial" pitchFamily="34" charset="-120"/>
              </a:rPr>
              <a:t>Use trainee questions and site examples to connect each standard and technique to the practical stations that follow.</a:t>
            </a:r>
            <a:endParaRPr lang="en-US" sz="1125" dirty="0"/>
          </a:p>
        </p:txBody>
      </p:sp>
      <p:sp>
        <p:nvSpPr>
          <p:cNvPr id="55" name="Shape 53"/>
          <p:cNvSpPr/>
          <p:nvPr/>
        </p:nvSpPr>
        <p:spPr>
          <a:xfrm>
            <a:off x="0" y="9753600"/>
            <a:ext cx="18288000" cy="9525"/>
          </a:xfrm>
          <a:prstGeom prst="rect">
            <a:avLst/>
          </a:prstGeom>
          <a:solidFill>
            <a:srgbClr val="E1E6EC"/>
          </a:solidFill>
          <a:ln/>
        </p:spPr>
        <p:txBody>
          <a:bodyPr/>
          <a:lstStyle/>
          <a:p>
            <a:endParaRPr lang="en-US"/>
          </a:p>
        </p:txBody>
      </p:sp>
      <p:sp>
        <p:nvSpPr>
          <p:cNvPr id="56" name="Text 5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7" name="Text 5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 · AGENDA</a:t>
            </a:r>
            <a:endParaRPr lang="en-US" sz="900" dirty="0"/>
          </a:p>
        </p:txBody>
      </p:sp>
      <p:sp>
        <p:nvSpPr>
          <p:cNvPr id="58" name="Text 5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30</a:t>
            </a:r>
            <a:endParaRPr lang="en-US" sz="900" dirty="0"/>
          </a:p>
        </p:txBody>
      </p:sp>
      <p:sp>
        <p:nvSpPr>
          <p:cNvPr id="731" name="Shape 731"/>
          <p:cNvSpPr/>
          <p:nvPr/>
        </p:nvSpPr>
        <p:spPr>
          <a:xfrm>
            <a:off x="857250" y="4132527"/>
            <a:ext cx="8159750" cy="19050"/>
          </a:xfrm>
          <a:prstGeom prst="rect">
            <a:avLst/>
          </a:prstGeom>
          <a:solidFill>
            <a:srgbClr val="E2E7ED"/>
          </a:solidFill>
          <a:ln>
            <a:noFill/>
          </a:ln>
        </p:spPr>
        <p:txBody>
          <a:bodyPr/>
          <a:lstStyle/>
          <a:p>
            <a:endParaRPr lang="en-US"/>
          </a:p>
        </p:txBody>
      </p:sp>
      <p:sp>
        <p:nvSpPr>
          <p:cNvPr id="732" name="Shape 732"/>
          <p:cNvSpPr/>
          <p:nvPr/>
        </p:nvSpPr>
        <p:spPr>
          <a:xfrm>
            <a:off x="857250" y="1905000"/>
            <a:ext cx="8159750" cy="2227527"/>
          </a:xfrm>
          <a:prstGeom prst="rect">
            <a:avLst/>
          </a:prstGeom>
          <a:solidFill>
            <a:srgbClr val="FFFFFF"/>
          </a:solidFill>
          <a:ln>
            <a:noFill/>
          </a:ln>
        </p:spPr>
        <p:txBody>
          <a:bodyPr/>
          <a:lstStyle/>
          <a:p>
            <a:endParaRPr lang="en-US"/>
          </a:p>
        </p:txBody>
      </p:sp>
      <p:sp>
        <p:nvSpPr>
          <p:cNvPr id="733" name="Shape 733"/>
          <p:cNvSpPr/>
          <p:nvPr/>
        </p:nvSpPr>
        <p:spPr>
          <a:xfrm>
            <a:off x="857250" y="1905000"/>
            <a:ext cx="76200" cy="2227527"/>
          </a:xfrm>
          <a:prstGeom prst="rect">
            <a:avLst/>
          </a:prstGeom>
          <a:solidFill>
            <a:srgbClr val="F26A1B"/>
          </a:solidFill>
          <a:ln>
            <a:noFill/>
          </a:ln>
        </p:spPr>
        <p:txBody>
          <a:bodyPr/>
          <a:lstStyle/>
          <a:p>
            <a:endParaRPr lang="en-US"/>
          </a:p>
        </p:txBody>
      </p:sp>
      <p:sp>
        <p:nvSpPr>
          <p:cNvPr id="734" name="Text 734"/>
          <p:cNvSpPr txBox="1"/>
          <p:nvPr/>
        </p:nvSpPr>
        <p:spPr>
          <a:xfrm>
            <a:off x="121285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01</a:t>
            </a:r>
          </a:p>
        </p:txBody>
      </p:sp>
      <p:sp>
        <p:nvSpPr>
          <p:cNvPr id="735" name="Text 735"/>
          <p:cNvSpPr txBox="1"/>
          <p:nvPr/>
        </p:nvSpPr>
        <p:spPr>
          <a:xfrm>
            <a:off x="207645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Regulatory framework &amp; SPRAT certification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Law, standard or SPRAT rule — which is it?</a:t>
            </a:r>
          </a:p>
        </p:txBody>
      </p:sp>
      <p:sp>
        <p:nvSpPr>
          <p:cNvPr id="736" name="Shape 736"/>
          <p:cNvSpPr/>
          <p:nvPr/>
        </p:nvSpPr>
        <p:spPr>
          <a:xfrm>
            <a:off x="9271000" y="4132527"/>
            <a:ext cx="8159750" cy="19050"/>
          </a:xfrm>
          <a:prstGeom prst="rect">
            <a:avLst/>
          </a:prstGeom>
          <a:solidFill>
            <a:srgbClr val="E2E7ED"/>
          </a:solidFill>
          <a:ln>
            <a:noFill/>
          </a:ln>
        </p:spPr>
        <p:txBody>
          <a:bodyPr/>
          <a:lstStyle/>
          <a:p>
            <a:endParaRPr lang="en-US"/>
          </a:p>
        </p:txBody>
      </p:sp>
      <p:sp>
        <p:nvSpPr>
          <p:cNvPr id="737" name="Shape 737"/>
          <p:cNvSpPr/>
          <p:nvPr/>
        </p:nvSpPr>
        <p:spPr>
          <a:xfrm>
            <a:off x="9271000" y="1905000"/>
            <a:ext cx="8159750" cy="2227527"/>
          </a:xfrm>
          <a:prstGeom prst="rect">
            <a:avLst/>
          </a:prstGeom>
          <a:solidFill>
            <a:srgbClr val="FFFFFF"/>
          </a:solidFill>
          <a:ln>
            <a:noFill/>
          </a:ln>
        </p:spPr>
        <p:txBody>
          <a:bodyPr/>
          <a:lstStyle/>
          <a:p>
            <a:endParaRPr lang="en-US"/>
          </a:p>
        </p:txBody>
      </p:sp>
      <p:sp>
        <p:nvSpPr>
          <p:cNvPr id="738" name="Shape 738"/>
          <p:cNvSpPr/>
          <p:nvPr/>
        </p:nvSpPr>
        <p:spPr>
          <a:xfrm>
            <a:off x="9271000" y="1905000"/>
            <a:ext cx="76200" cy="2227527"/>
          </a:xfrm>
          <a:prstGeom prst="rect">
            <a:avLst/>
          </a:prstGeom>
          <a:solidFill>
            <a:srgbClr val="F26A1B"/>
          </a:solidFill>
          <a:ln>
            <a:noFill/>
          </a:ln>
        </p:spPr>
        <p:txBody>
          <a:bodyPr/>
          <a:lstStyle/>
          <a:p>
            <a:endParaRPr lang="en-US"/>
          </a:p>
        </p:txBody>
      </p:sp>
      <p:sp>
        <p:nvSpPr>
          <p:cNvPr id="739" name="Text 739"/>
          <p:cNvSpPr txBox="1"/>
          <p:nvPr/>
        </p:nvSpPr>
        <p:spPr>
          <a:xfrm>
            <a:off x="962660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02</a:t>
            </a:r>
          </a:p>
        </p:txBody>
      </p:sp>
      <p:sp>
        <p:nvSpPr>
          <p:cNvPr id="740" name="Text 740"/>
          <p:cNvSpPr txBox="1"/>
          <p:nvPr/>
        </p:nvSpPr>
        <p:spPr>
          <a:xfrm>
            <a:off x="1049020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Fall-protection systems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Which system controls this hazard?</a:t>
            </a:r>
          </a:p>
        </p:txBody>
      </p:sp>
      <p:sp>
        <p:nvSpPr>
          <p:cNvPr id="741" name="Shape 741"/>
          <p:cNvSpPr/>
          <p:nvPr/>
        </p:nvSpPr>
        <p:spPr>
          <a:xfrm>
            <a:off x="857250" y="6563254"/>
            <a:ext cx="8159750" cy="19050"/>
          </a:xfrm>
          <a:prstGeom prst="rect">
            <a:avLst/>
          </a:prstGeom>
          <a:solidFill>
            <a:srgbClr val="E2E7ED"/>
          </a:solidFill>
          <a:ln>
            <a:noFill/>
          </a:ln>
        </p:spPr>
        <p:txBody>
          <a:bodyPr/>
          <a:lstStyle/>
          <a:p>
            <a:endParaRPr lang="en-US"/>
          </a:p>
        </p:txBody>
      </p:sp>
      <p:sp>
        <p:nvSpPr>
          <p:cNvPr id="742" name="Shape 742"/>
          <p:cNvSpPr/>
          <p:nvPr/>
        </p:nvSpPr>
        <p:spPr>
          <a:xfrm>
            <a:off x="857250" y="4335727"/>
            <a:ext cx="8159750" cy="2227527"/>
          </a:xfrm>
          <a:prstGeom prst="rect">
            <a:avLst/>
          </a:prstGeom>
          <a:solidFill>
            <a:srgbClr val="FFFFFF"/>
          </a:solidFill>
          <a:ln>
            <a:noFill/>
          </a:ln>
        </p:spPr>
        <p:txBody>
          <a:bodyPr/>
          <a:lstStyle/>
          <a:p>
            <a:endParaRPr lang="en-US"/>
          </a:p>
        </p:txBody>
      </p:sp>
      <p:sp>
        <p:nvSpPr>
          <p:cNvPr id="743" name="Shape 743"/>
          <p:cNvSpPr/>
          <p:nvPr/>
        </p:nvSpPr>
        <p:spPr>
          <a:xfrm>
            <a:off x="857250" y="4335727"/>
            <a:ext cx="76200" cy="2227527"/>
          </a:xfrm>
          <a:prstGeom prst="rect">
            <a:avLst/>
          </a:prstGeom>
          <a:solidFill>
            <a:srgbClr val="F26A1B"/>
          </a:solidFill>
          <a:ln>
            <a:noFill/>
          </a:ln>
        </p:spPr>
        <p:txBody>
          <a:bodyPr/>
          <a:lstStyle/>
          <a:p>
            <a:endParaRPr lang="en-US"/>
          </a:p>
        </p:txBody>
      </p:sp>
      <p:sp>
        <p:nvSpPr>
          <p:cNvPr id="744" name="Text 744"/>
          <p:cNvSpPr txBox="1"/>
          <p:nvPr/>
        </p:nvSpPr>
        <p:spPr>
          <a:xfrm>
            <a:off x="121285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03</a:t>
            </a:r>
          </a:p>
        </p:txBody>
      </p:sp>
      <p:sp>
        <p:nvSpPr>
          <p:cNvPr id="745" name="Text 745"/>
          <p:cNvSpPr txBox="1"/>
          <p:nvPr/>
        </p:nvSpPr>
        <p:spPr>
          <a:xfrm>
            <a:off x="207645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Fall factor, clearance &amp; suspension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How far could you fall here?</a:t>
            </a:r>
          </a:p>
        </p:txBody>
      </p:sp>
      <p:sp>
        <p:nvSpPr>
          <p:cNvPr id="746" name="Shape 746"/>
          <p:cNvSpPr/>
          <p:nvPr/>
        </p:nvSpPr>
        <p:spPr>
          <a:xfrm>
            <a:off x="9271000" y="6563254"/>
            <a:ext cx="8159750" cy="19050"/>
          </a:xfrm>
          <a:prstGeom prst="rect">
            <a:avLst/>
          </a:prstGeom>
          <a:solidFill>
            <a:srgbClr val="E2E7ED"/>
          </a:solidFill>
          <a:ln>
            <a:noFill/>
          </a:ln>
        </p:spPr>
        <p:txBody>
          <a:bodyPr/>
          <a:lstStyle/>
          <a:p>
            <a:endParaRPr lang="en-US"/>
          </a:p>
        </p:txBody>
      </p:sp>
      <p:sp>
        <p:nvSpPr>
          <p:cNvPr id="747" name="Shape 747"/>
          <p:cNvSpPr/>
          <p:nvPr/>
        </p:nvSpPr>
        <p:spPr>
          <a:xfrm>
            <a:off x="9271000" y="4335727"/>
            <a:ext cx="8159750" cy="2227527"/>
          </a:xfrm>
          <a:prstGeom prst="rect">
            <a:avLst/>
          </a:prstGeom>
          <a:solidFill>
            <a:srgbClr val="FFFFFF"/>
          </a:solidFill>
          <a:ln>
            <a:noFill/>
          </a:ln>
        </p:spPr>
        <p:txBody>
          <a:bodyPr/>
          <a:lstStyle/>
          <a:p>
            <a:endParaRPr lang="en-US"/>
          </a:p>
        </p:txBody>
      </p:sp>
      <p:sp>
        <p:nvSpPr>
          <p:cNvPr id="748" name="Shape 748"/>
          <p:cNvSpPr/>
          <p:nvPr/>
        </p:nvSpPr>
        <p:spPr>
          <a:xfrm>
            <a:off x="9271000" y="4335727"/>
            <a:ext cx="76200" cy="2227527"/>
          </a:xfrm>
          <a:prstGeom prst="rect">
            <a:avLst/>
          </a:prstGeom>
          <a:solidFill>
            <a:srgbClr val="F26A1B"/>
          </a:solidFill>
          <a:ln>
            <a:noFill/>
          </a:ln>
        </p:spPr>
        <p:txBody>
          <a:bodyPr/>
          <a:lstStyle/>
          <a:p>
            <a:endParaRPr lang="en-US"/>
          </a:p>
        </p:txBody>
      </p:sp>
      <p:sp>
        <p:nvSpPr>
          <p:cNvPr id="749" name="Text 749"/>
          <p:cNvSpPr txBox="1"/>
          <p:nvPr/>
        </p:nvSpPr>
        <p:spPr>
          <a:xfrm>
            <a:off x="962660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04</a:t>
            </a:r>
          </a:p>
        </p:txBody>
      </p:sp>
      <p:sp>
        <p:nvSpPr>
          <p:cNvPr id="750" name="Text 750"/>
          <p:cNvSpPr txBox="1"/>
          <p:nvPr/>
        </p:nvSpPr>
        <p:spPr>
          <a:xfrm>
            <a:off x="1049020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Deviations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does the deviation anchor carry?</a:t>
            </a:r>
          </a:p>
        </p:txBody>
      </p:sp>
      <p:sp>
        <p:nvSpPr>
          <p:cNvPr id="751" name="Shape 751"/>
          <p:cNvSpPr/>
          <p:nvPr/>
        </p:nvSpPr>
        <p:spPr>
          <a:xfrm>
            <a:off x="857250" y="8993981"/>
            <a:ext cx="8159750" cy="19050"/>
          </a:xfrm>
          <a:prstGeom prst="rect">
            <a:avLst/>
          </a:prstGeom>
          <a:solidFill>
            <a:srgbClr val="E2E7ED"/>
          </a:solidFill>
          <a:ln>
            <a:noFill/>
          </a:ln>
        </p:spPr>
        <p:txBody>
          <a:bodyPr/>
          <a:lstStyle/>
          <a:p>
            <a:endParaRPr lang="en-US"/>
          </a:p>
        </p:txBody>
      </p:sp>
      <p:sp>
        <p:nvSpPr>
          <p:cNvPr id="752" name="Shape 752"/>
          <p:cNvSpPr/>
          <p:nvPr/>
        </p:nvSpPr>
        <p:spPr>
          <a:xfrm>
            <a:off x="857250" y="6766454"/>
            <a:ext cx="8159750" cy="2227527"/>
          </a:xfrm>
          <a:prstGeom prst="rect">
            <a:avLst/>
          </a:prstGeom>
          <a:solidFill>
            <a:srgbClr val="FFFFFF"/>
          </a:solidFill>
          <a:ln>
            <a:noFill/>
          </a:ln>
        </p:spPr>
        <p:txBody>
          <a:bodyPr/>
          <a:lstStyle/>
          <a:p>
            <a:endParaRPr lang="en-US"/>
          </a:p>
        </p:txBody>
      </p:sp>
      <p:sp>
        <p:nvSpPr>
          <p:cNvPr id="753" name="Shape 753"/>
          <p:cNvSpPr/>
          <p:nvPr/>
        </p:nvSpPr>
        <p:spPr>
          <a:xfrm>
            <a:off x="857250" y="6766454"/>
            <a:ext cx="76200" cy="2227527"/>
          </a:xfrm>
          <a:prstGeom prst="rect">
            <a:avLst/>
          </a:prstGeom>
          <a:solidFill>
            <a:srgbClr val="F26A1B"/>
          </a:solidFill>
          <a:ln>
            <a:noFill/>
          </a:ln>
        </p:spPr>
        <p:txBody>
          <a:bodyPr/>
          <a:lstStyle/>
          <a:p>
            <a:endParaRPr lang="en-US"/>
          </a:p>
        </p:txBody>
      </p:sp>
      <p:sp>
        <p:nvSpPr>
          <p:cNvPr id="754" name="Text 754"/>
          <p:cNvSpPr txBox="1"/>
          <p:nvPr/>
        </p:nvSpPr>
        <p:spPr>
          <a:xfrm>
            <a:off x="121285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05</a:t>
            </a:r>
          </a:p>
        </p:txBody>
      </p:sp>
      <p:sp>
        <p:nvSpPr>
          <p:cNvPr id="755" name="Text 755"/>
          <p:cNvSpPr txBox="1"/>
          <p:nvPr/>
        </p:nvSpPr>
        <p:spPr>
          <a:xfrm>
            <a:off x="207645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Re-belays / re-anchors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protects you mid-re-anchor?</a:t>
            </a:r>
          </a:p>
        </p:txBody>
      </p:sp>
      <p:sp>
        <p:nvSpPr>
          <p:cNvPr id="756" name="Shape 756"/>
          <p:cNvSpPr/>
          <p:nvPr/>
        </p:nvSpPr>
        <p:spPr>
          <a:xfrm>
            <a:off x="9271000" y="8993981"/>
            <a:ext cx="8159750" cy="19050"/>
          </a:xfrm>
          <a:prstGeom prst="rect">
            <a:avLst/>
          </a:prstGeom>
          <a:solidFill>
            <a:srgbClr val="E2E7ED"/>
          </a:solidFill>
          <a:ln>
            <a:noFill/>
          </a:ln>
        </p:spPr>
        <p:txBody>
          <a:bodyPr/>
          <a:lstStyle/>
          <a:p>
            <a:endParaRPr lang="en-US"/>
          </a:p>
        </p:txBody>
      </p:sp>
      <p:sp>
        <p:nvSpPr>
          <p:cNvPr id="757" name="Shape 757"/>
          <p:cNvSpPr/>
          <p:nvPr/>
        </p:nvSpPr>
        <p:spPr>
          <a:xfrm>
            <a:off x="9271000" y="6766454"/>
            <a:ext cx="8159750" cy="2227527"/>
          </a:xfrm>
          <a:prstGeom prst="rect">
            <a:avLst/>
          </a:prstGeom>
          <a:solidFill>
            <a:srgbClr val="FFFFFF"/>
          </a:solidFill>
          <a:ln>
            <a:noFill/>
          </a:ln>
        </p:spPr>
        <p:txBody>
          <a:bodyPr/>
          <a:lstStyle/>
          <a:p>
            <a:endParaRPr lang="en-US"/>
          </a:p>
        </p:txBody>
      </p:sp>
      <p:sp>
        <p:nvSpPr>
          <p:cNvPr id="758" name="Shape 758"/>
          <p:cNvSpPr/>
          <p:nvPr/>
        </p:nvSpPr>
        <p:spPr>
          <a:xfrm>
            <a:off x="9271000" y="6766454"/>
            <a:ext cx="76200" cy="2227527"/>
          </a:xfrm>
          <a:prstGeom prst="rect">
            <a:avLst/>
          </a:prstGeom>
          <a:solidFill>
            <a:srgbClr val="F26A1B"/>
          </a:solidFill>
          <a:ln>
            <a:noFill/>
          </a:ln>
        </p:spPr>
        <p:txBody>
          <a:bodyPr/>
          <a:lstStyle/>
          <a:p>
            <a:endParaRPr lang="en-US"/>
          </a:p>
        </p:txBody>
      </p:sp>
      <p:sp>
        <p:nvSpPr>
          <p:cNvPr id="759" name="Text 759"/>
          <p:cNvSpPr txBox="1"/>
          <p:nvPr/>
        </p:nvSpPr>
        <p:spPr>
          <a:xfrm>
            <a:off x="962660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06</a:t>
            </a:r>
          </a:p>
        </p:txBody>
      </p:sp>
      <p:sp>
        <p:nvSpPr>
          <p:cNvPr id="760" name="Text 760"/>
          <p:cNvSpPr txBox="1"/>
          <p:nvPr/>
        </p:nvSpPr>
        <p:spPr>
          <a:xfrm>
            <a:off x="1049020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Knot passing &amp; rope-to-rope transfers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When is the new system ready to load?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37395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3942264"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Regulatory Framework</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Know which rule set you are using</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Separate legal requirements, consensus standards, certification-scheme rules, employer procedures and manufacturer instructions.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sources must stay distinct</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OSHA, ANSI and SPRAT serve different functions. Mixing them can turn guidance into a false legal requirement — or omit an actual one.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Verify current editions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the current source for the work environment and certification scheme. Site / client rules may be more restrictive.</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Memorizing numbers without context</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Applying one anchor rating, force limit or equipment rule universally is unsafe and often incorrect.</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Trainees explain where a requirement comes from and when they must escalate to a supervisor / qualified person.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“Does SPRAT replace OSHA?”</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A certification scheme does not replace applicable law, employer duties or site requirements.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666750"/>
            <a:ext cx="35392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SPRAT PROGRAM</a:t>
            </a:r>
            <a:endParaRPr lang="en-US" sz="975" dirty="0"/>
          </a:p>
        </p:txBody>
      </p:sp>
      <p:sp>
        <p:nvSpPr>
          <p:cNvPr id="3" name="Text 1"/>
          <p:cNvSpPr/>
          <p:nvPr/>
        </p:nvSpPr>
        <p:spPr>
          <a:xfrm>
            <a:off x="857250" y="942975"/>
            <a:ext cx="3615832" cy="538163"/>
          </a:xfrm>
          <a:prstGeom prst="rect">
            <a:avLst/>
          </a:prstGeom>
          <a:noFill/>
          <a:ln/>
        </p:spPr>
        <p:txBody>
          <a:bodyPr wrap="square" lIns="25400" tIns="25400" rIns="25400" bIns="25400" rtlCol="0" anchor="t">
            <a:normAutofit/>
          </a:bodyPr>
          <a:lstStyle/>
          <a:p>
            <a:pPr marL="0" indent="0" algn="l">
              <a:buNone/>
            </a:pPr>
            <a:r>
              <a:rPr lang="en-US" sz="3450" b="1" kern="0" spc="-34" dirty="0">
                <a:solidFill>
                  <a:srgbClr val="0E2A47"/>
                </a:solidFill>
                <a:latin typeface="Arial" pitchFamily="34" charset="0"/>
                <a:ea typeface="Arial" pitchFamily="34" charset="-122"/>
                <a:cs typeface="Arial" pitchFamily="34" charset="-120"/>
              </a:rPr>
              <a:t>What Is SPRAT?</a:t>
            </a:r>
            <a:endParaRPr lang="en-US" sz="3450" dirty="0"/>
          </a:p>
        </p:txBody>
      </p:sp>
      <p:sp>
        <p:nvSpPr>
          <p:cNvPr id="4" name="Text 2"/>
          <p:cNvSpPr/>
          <p:nvPr/>
        </p:nvSpPr>
        <p:spPr>
          <a:xfrm>
            <a:off x="857250" y="1892300"/>
            <a:ext cx="6404427" cy="1374390"/>
          </a:xfrm>
          <a:prstGeom prst="rect">
            <a:avLst/>
          </a:prstGeom>
          <a:noFill/>
          <a:ln/>
        </p:spPr>
        <p:txBody>
          <a:bodyPr wrap="square" lIns="25400" tIns="25400" rIns="25400" bIns="25400" rtlCol="0" anchor="t">
            <a:normAutofit/>
          </a:bodyPr>
          <a:lstStyle/>
          <a:p>
            <a:pPr marL="0" indent="0" algn="l">
              <a:lnSpc>
                <a:spcPct val="141395"/>
              </a:lnSpc>
              <a:buNone/>
            </a:pPr>
            <a:r>
              <a:rPr lang="en-US" sz="1745" dirty="0">
                <a:solidFill>
                  <a:srgbClr val="33424F"/>
                </a:solidFill>
                <a:latin typeface="Arial" pitchFamily="34" charset="0"/>
                <a:ea typeface="Arial" pitchFamily="34" charset="-122"/>
                <a:cs typeface="Arial" pitchFamily="34" charset="-120"/>
              </a:rPr>
              <a:t>The </a:t>
            </a:r>
            <a:r>
              <a:rPr lang="en-US" sz="1745" b="1" dirty="0">
                <a:solidFill>
                  <a:srgbClr val="0E2A47"/>
                </a:solidFill>
                <a:latin typeface="Arial" pitchFamily="34" charset="0"/>
                <a:ea typeface="Arial" pitchFamily="34" charset="-122"/>
                <a:cs typeface="Arial" pitchFamily="34" charset="-120"/>
              </a:rPr>
              <a:t>Society of Professional Rope Access Technicians </a:t>
            </a:r>
            <a:r>
              <a:rPr lang="en-US" sz="1745" dirty="0">
                <a:solidFill>
                  <a:srgbClr val="33424F"/>
                </a:solidFill>
                <a:latin typeface="Arial" pitchFamily="34" charset="0"/>
                <a:ea typeface="Arial" pitchFamily="34" charset="-122"/>
                <a:cs typeface="Arial" pitchFamily="34" charset="-120"/>
              </a:rPr>
              <a:t>is a North American organization that publishes rope access safe-practice standards and certifies technicians at three levels.</a:t>
            </a:r>
            <a:endParaRPr lang="en-US" sz="1745" dirty="0"/>
          </a:p>
        </p:txBody>
      </p:sp>
      <p:sp>
        <p:nvSpPr>
          <p:cNvPr id="5" name="Shape 3"/>
          <p:cNvSpPr/>
          <p:nvPr/>
        </p:nvSpPr>
        <p:spPr>
          <a:xfrm>
            <a:off x="857250" y="3523865"/>
            <a:ext cx="6217890" cy="2688729"/>
          </a:xfrm>
          <a:prstGeom prst="roundRect">
            <a:avLst>
              <a:gd name="adj" fmla="val 2126"/>
            </a:avLst>
          </a:prstGeom>
          <a:solidFill>
            <a:srgbClr val="FFFFFF"/>
          </a:solidFill>
          <a:ln w="9525">
            <a:solidFill>
              <a:srgbClr val="E2E7ED"/>
            </a:solidFill>
            <a:prstDash val="solid"/>
          </a:ln>
        </p:spPr>
        <p:txBody>
          <a:bodyPr/>
          <a:lstStyle/>
          <a:p>
            <a:endParaRPr lang="en-US"/>
          </a:p>
        </p:txBody>
      </p:sp>
      <p:sp>
        <p:nvSpPr>
          <p:cNvPr id="6" name="Text 4"/>
          <p:cNvSpPr/>
          <p:nvPr/>
        </p:nvSpPr>
        <p:spPr>
          <a:xfrm>
            <a:off x="1133475" y="3881053"/>
            <a:ext cx="6231984" cy="250032"/>
          </a:xfrm>
          <a:prstGeom prst="rect">
            <a:avLst/>
          </a:prstGeom>
          <a:noFill/>
          <a:ln/>
        </p:spPr>
        <p:txBody>
          <a:bodyPr wrap="square" lIns="25400" tIns="25400" rIns="25400" bIns="25400" rtlCol="0" anchor="t">
            <a:normAutofit/>
          </a:bodyPr>
          <a:lstStyle/>
          <a:p>
            <a:pPr marL="0" indent="0" algn="l">
              <a:buNone/>
            </a:pPr>
            <a:r>
              <a:rPr lang="en-US" sz="1102" b="1" kern="0" spc="126" dirty="0">
                <a:solidFill>
                  <a:srgbClr val="0E2A47"/>
                </a:solidFill>
                <a:latin typeface="Courier New" pitchFamily="34" charset="0"/>
                <a:ea typeface="Courier New" pitchFamily="34" charset="-122"/>
                <a:cs typeface="Courier New" pitchFamily="34" charset="-120"/>
              </a:rPr>
              <a:t>GOVERNING DOCUMENTS</a:t>
            </a:r>
            <a:endParaRPr lang="en-US" sz="1102" dirty="0"/>
          </a:p>
        </p:txBody>
      </p:sp>
      <p:sp>
        <p:nvSpPr>
          <p:cNvPr id="7" name="Text 5"/>
          <p:cNvSpPr/>
          <p:nvPr/>
        </p:nvSpPr>
        <p:spPr>
          <a:xfrm>
            <a:off x="1133475" y="4273960"/>
            <a:ext cx="6231984" cy="356072"/>
          </a:xfrm>
          <a:prstGeom prst="rect">
            <a:avLst/>
          </a:prstGeom>
          <a:noFill/>
          <a:ln/>
        </p:spPr>
        <p:txBody>
          <a:bodyPr wrap="square" lIns="25400" tIns="25400" rIns="25400" bIns="25400" rtlCol="0" anchor="t">
            <a:normAutofit/>
          </a:bodyPr>
          <a:lstStyle/>
          <a:p>
            <a:pPr marL="0" indent="0" algn="l">
              <a:lnSpc>
                <a:spcPct val="116250"/>
              </a:lnSpc>
              <a:buNone/>
            </a:pPr>
            <a:r>
              <a:rPr lang="en-US" sz="1424" dirty="0">
                <a:solidFill>
                  <a:srgbClr val="48586A"/>
                </a:solidFill>
                <a:latin typeface="Arial" pitchFamily="34" charset="0"/>
                <a:ea typeface="Arial" pitchFamily="34" charset="-122"/>
                <a:cs typeface="Arial" pitchFamily="34" charset="-120"/>
              </a:rPr>
              <a:t>— Safe Practices for Rope Access Work</a:t>
            </a:r>
            <a:endParaRPr lang="en-US" sz="1424" dirty="0"/>
          </a:p>
        </p:txBody>
      </p:sp>
      <p:sp>
        <p:nvSpPr>
          <p:cNvPr id="8" name="Text 6"/>
          <p:cNvSpPr/>
          <p:nvPr/>
        </p:nvSpPr>
        <p:spPr>
          <a:xfrm>
            <a:off x="1133475" y="4701469"/>
            <a:ext cx="6231984" cy="356072"/>
          </a:xfrm>
          <a:prstGeom prst="rect">
            <a:avLst/>
          </a:prstGeom>
          <a:noFill/>
          <a:ln/>
        </p:spPr>
        <p:txBody>
          <a:bodyPr wrap="square" lIns="25400" tIns="25400" rIns="25400" bIns="25400" rtlCol="0" anchor="t">
            <a:normAutofit/>
          </a:bodyPr>
          <a:lstStyle/>
          <a:p>
            <a:pPr marL="0" indent="0" algn="l">
              <a:lnSpc>
                <a:spcPct val="116250"/>
              </a:lnSpc>
              <a:buNone/>
            </a:pPr>
            <a:r>
              <a:rPr lang="en-US" sz="1424" dirty="0">
                <a:solidFill>
                  <a:srgbClr val="48586A"/>
                </a:solidFill>
                <a:latin typeface="Arial" pitchFamily="34" charset="0"/>
                <a:ea typeface="Arial" pitchFamily="34" charset="-122"/>
                <a:cs typeface="Arial" pitchFamily="34" charset="-120"/>
              </a:rPr>
              <a:t>— Certification Requirements</a:t>
            </a:r>
            <a:endParaRPr lang="en-US" sz="1424" dirty="0"/>
          </a:p>
        </p:txBody>
      </p:sp>
      <p:sp>
        <p:nvSpPr>
          <p:cNvPr id="9" name="Text 7"/>
          <p:cNvSpPr/>
          <p:nvPr/>
        </p:nvSpPr>
        <p:spPr>
          <a:xfrm>
            <a:off x="1133475" y="5128978"/>
            <a:ext cx="6231984" cy="356072"/>
          </a:xfrm>
          <a:prstGeom prst="rect">
            <a:avLst/>
          </a:prstGeom>
          <a:noFill/>
          <a:ln/>
        </p:spPr>
        <p:txBody>
          <a:bodyPr wrap="square" lIns="25400" tIns="25400" rIns="25400" bIns="25400" rtlCol="0" anchor="t">
            <a:normAutofit/>
          </a:bodyPr>
          <a:lstStyle/>
          <a:p>
            <a:pPr marL="0" indent="0" algn="l">
              <a:lnSpc>
                <a:spcPct val="116250"/>
              </a:lnSpc>
              <a:buNone/>
            </a:pPr>
            <a:r>
              <a:rPr lang="en-US" sz="1424" dirty="0">
                <a:solidFill>
                  <a:srgbClr val="48586A"/>
                </a:solidFill>
                <a:latin typeface="Arial" pitchFamily="34" charset="0"/>
                <a:ea typeface="Arial" pitchFamily="34" charset="-122"/>
                <a:cs typeface="Arial" pitchFamily="34" charset="-120"/>
              </a:rPr>
              <a:t>— Evaluation Guidelines &amp; Matrix</a:t>
            </a:r>
            <a:endParaRPr lang="en-US" sz="1424" dirty="0"/>
          </a:p>
        </p:txBody>
      </p:sp>
      <p:sp>
        <p:nvSpPr>
          <p:cNvPr id="10" name="Text 8"/>
          <p:cNvSpPr/>
          <p:nvPr/>
        </p:nvSpPr>
        <p:spPr>
          <a:xfrm>
            <a:off x="1133475" y="5556485"/>
            <a:ext cx="6231984" cy="356072"/>
          </a:xfrm>
          <a:prstGeom prst="rect">
            <a:avLst/>
          </a:prstGeom>
          <a:noFill/>
          <a:ln/>
        </p:spPr>
        <p:txBody>
          <a:bodyPr wrap="square" lIns="25400" tIns="25400" rIns="25400" bIns="25400" rtlCol="0" anchor="t">
            <a:normAutofit/>
          </a:bodyPr>
          <a:lstStyle/>
          <a:p>
            <a:pPr marL="0" indent="0" algn="l">
              <a:lnSpc>
                <a:spcPct val="116250"/>
              </a:lnSpc>
              <a:buNone/>
            </a:pPr>
            <a:r>
              <a:rPr lang="en-US" sz="1424" dirty="0">
                <a:solidFill>
                  <a:srgbClr val="48586A"/>
                </a:solidFill>
                <a:latin typeface="Arial" pitchFamily="34" charset="0"/>
                <a:ea typeface="Arial" pitchFamily="34" charset="-122"/>
                <a:cs typeface="Arial" pitchFamily="34" charset="-120"/>
              </a:rPr>
              <a:t>— Defined Terms</a:t>
            </a:r>
            <a:endParaRPr lang="en-US" sz="1424" dirty="0"/>
          </a:p>
        </p:txBody>
      </p:sp>
      <p:sp>
        <p:nvSpPr>
          <p:cNvPr id="11" name="Shape 9"/>
          <p:cNvSpPr/>
          <p:nvPr/>
        </p:nvSpPr>
        <p:spPr>
          <a:xfrm>
            <a:off x="7189515" y="1892300"/>
            <a:ext cx="10241235" cy="1410110"/>
          </a:xfrm>
          <a:prstGeom prst="roundRect">
            <a:avLst>
              <a:gd name="adj" fmla="val 4053"/>
            </a:avLst>
          </a:prstGeom>
          <a:solidFill>
            <a:srgbClr val="0E2A47"/>
          </a:solidFill>
          <a:ln/>
        </p:spPr>
        <p:txBody>
          <a:bodyPr/>
          <a:lstStyle/>
          <a:p>
            <a:endParaRPr lang="en-US"/>
          </a:p>
        </p:txBody>
      </p:sp>
      <p:sp>
        <p:nvSpPr>
          <p:cNvPr id="12" name="Shape 10"/>
          <p:cNvSpPr/>
          <p:nvPr/>
        </p:nvSpPr>
        <p:spPr>
          <a:xfrm>
            <a:off x="7189515" y="1892300"/>
            <a:ext cx="38100" cy="1410110"/>
          </a:xfrm>
          <a:prstGeom prst="rect">
            <a:avLst/>
          </a:prstGeom>
          <a:solidFill>
            <a:srgbClr val="F26A1B"/>
          </a:solidFill>
          <a:ln/>
        </p:spPr>
        <p:txBody>
          <a:bodyPr/>
          <a:lstStyle/>
          <a:p>
            <a:endParaRPr lang="en-US"/>
          </a:p>
        </p:txBody>
      </p:sp>
      <p:sp>
        <p:nvSpPr>
          <p:cNvPr id="13" name="Text 11"/>
          <p:cNvSpPr/>
          <p:nvPr/>
        </p:nvSpPr>
        <p:spPr>
          <a:xfrm>
            <a:off x="7513365" y="2240111"/>
            <a:ext cx="876300" cy="771525"/>
          </a:xfrm>
          <a:prstGeom prst="rect">
            <a:avLst/>
          </a:prstGeom>
          <a:noFill/>
          <a:ln/>
        </p:spPr>
        <p:txBody>
          <a:bodyPr wrap="square" lIns="25400" tIns="25400" rIns="25400" bIns="25400" rtlCol="0" anchor="t">
            <a:normAutofit/>
          </a:bodyPr>
          <a:lstStyle/>
          <a:p>
            <a:pPr marL="0" indent="0" algn="l">
              <a:lnSpc>
                <a:spcPct val="86957"/>
              </a:lnSpc>
              <a:buNone/>
            </a:pPr>
            <a:r>
              <a:rPr lang="en-US" sz="4593" b="1" dirty="0">
                <a:solidFill>
                  <a:srgbClr val="F26A1B"/>
                </a:solidFill>
                <a:latin typeface="Arial" pitchFamily="34" charset="0"/>
                <a:ea typeface="Arial" pitchFamily="34" charset="-122"/>
                <a:cs typeface="Arial" pitchFamily="34" charset="-120"/>
              </a:rPr>
              <a:t>L1</a:t>
            </a:r>
            <a:endParaRPr lang="en-US" sz="4593" dirty="0"/>
          </a:p>
        </p:txBody>
      </p:sp>
      <p:sp>
        <p:nvSpPr>
          <p:cNvPr id="14" name="Text 12"/>
          <p:cNvSpPr/>
          <p:nvPr/>
        </p:nvSpPr>
        <p:spPr>
          <a:xfrm>
            <a:off x="8542065" y="2235200"/>
            <a:ext cx="6350102"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FFFFFF"/>
                </a:solidFill>
                <a:latin typeface="Arial" pitchFamily="34" charset="0"/>
                <a:ea typeface="Arial" pitchFamily="34" charset="-122"/>
                <a:cs typeface="Arial" pitchFamily="34" charset="-120"/>
              </a:rPr>
              <a:t>Rope Access Technician — Entry</a:t>
            </a:r>
            <a:endParaRPr lang="en-US" sz="2021" dirty="0"/>
          </a:p>
        </p:txBody>
      </p:sp>
      <p:sp>
        <p:nvSpPr>
          <p:cNvPr id="15" name="Text 13"/>
          <p:cNvSpPr/>
          <p:nvPr/>
        </p:nvSpPr>
        <p:spPr>
          <a:xfrm>
            <a:off x="8542065" y="2649538"/>
            <a:ext cx="6900219" cy="367122"/>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No experience required · training within 6 months before evaluation · written test + practical.</a:t>
            </a:r>
            <a:endParaRPr lang="en-US" sz="1424" dirty="0"/>
          </a:p>
        </p:txBody>
      </p:sp>
      <p:sp>
        <p:nvSpPr>
          <p:cNvPr id="16" name="Shape 14"/>
          <p:cNvSpPr/>
          <p:nvPr/>
        </p:nvSpPr>
        <p:spPr>
          <a:xfrm>
            <a:off x="7189515" y="3531010"/>
            <a:ext cx="10241235" cy="1410110"/>
          </a:xfrm>
          <a:prstGeom prst="roundRect">
            <a:avLst>
              <a:gd name="adj" fmla="val 4053"/>
            </a:avLst>
          </a:prstGeom>
          <a:solidFill>
            <a:srgbClr val="0E2A47"/>
          </a:solidFill>
          <a:ln/>
        </p:spPr>
        <p:txBody>
          <a:bodyPr/>
          <a:lstStyle/>
          <a:p>
            <a:endParaRPr lang="en-US"/>
          </a:p>
        </p:txBody>
      </p:sp>
      <p:sp>
        <p:nvSpPr>
          <p:cNvPr id="17" name="Shape 15"/>
          <p:cNvSpPr/>
          <p:nvPr/>
        </p:nvSpPr>
        <p:spPr>
          <a:xfrm>
            <a:off x="7189515" y="3531010"/>
            <a:ext cx="38100" cy="1410110"/>
          </a:xfrm>
          <a:prstGeom prst="rect">
            <a:avLst/>
          </a:prstGeom>
          <a:solidFill>
            <a:srgbClr val="F26A1B"/>
          </a:solidFill>
          <a:ln/>
        </p:spPr>
        <p:txBody>
          <a:bodyPr/>
          <a:lstStyle/>
          <a:p>
            <a:endParaRPr lang="en-US"/>
          </a:p>
        </p:txBody>
      </p:sp>
      <p:sp>
        <p:nvSpPr>
          <p:cNvPr id="18" name="Text 16"/>
          <p:cNvSpPr/>
          <p:nvPr/>
        </p:nvSpPr>
        <p:spPr>
          <a:xfrm>
            <a:off x="7513365" y="3878821"/>
            <a:ext cx="876300" cy="771525"/>
          </a:xfrm>
          <a:prstGeom prst="rect">
            <a:avLst/>
          </a:prstGeom>
          <a:noFill/>
          <a:ln/>
        </p:spPr>
        <p:txBody>
          <a:bodyPr wrap="square" lIns="25400" tIns="25400" rIns="25400" bIns="25400" rtlCol="0" anchor="t">
            <a:normAutofit/>
          </a:bodyPr>
          <a:lstStyle/>
          <a:p>
            <a:pPr marL="0" indent="0" algn="l">
              <a:lnSpc>
                <a:spcPct val="86957"/>
              </a:lnSpc>
              <a:buNone/>
            </a:pPr>
            <a:r>
              <a:rPr lang="en-US" sz="4593" b="1" dirty="0">
                <a:solidFill>
                  <a:srgbClr val="F26A1B"/>
                </a:solidFill>
                <a:latin typeface="Arial" pitchFamily="34" charset="0"/>
                <a:ea typeface="Arial" pitchFamily="34" charset="-122"/>
                <a:cs typeface="Arial" pitchFamily="34" charset="-120"/>
              </a:rPr>
              <a:t>L2</a:t>
            </a:r>
            <a:endParaRPr lang="en-US" sz="4593" dirty="0"/>
          </a:p>
        </p:txBody>
      </p:sp>
      <p:sp>
        <p:nvSpPr>
          <p:cNvPr id="19" name="Text 17"/>
          <p:cNvSpPr/>
          <p:nvPr/>
        </p:nvSpPr>
        <p:spPr>
          <a:xfrm>
            <a:off x="8542065" y="3873910"/>
            <a:ext cx="6734495"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FFFFFF"/>
                </a:solidFill>
                <a:latin typeface="Arial" pitchFamily="34" charset="0"/>
                <a:ea typeface="Arial" pitchFamily="34" charset="-122"/>
                <a:cs typeface="Arial" pitchFamily="34" charset="-120"/>
              </a:rPr>
              <a:t>Rope Access Technician — Intermediate</a:t>
            </a:r>
            <a:endParaRPr lang="en-US" sz="2021" dirty="0"/>
          </a:p>
        </p:txBody>
      </p:sp>
      <p:sp>
        <p:nvSpPr>
          <p:cNvPr id="20" name="Text 18"/>
          <p:cNvSpPr/>
          <p:nvPr/>
        </p:nvSpPr>
        <p:spPr>
          <a:xfrm>
            <a:off x="8542065" y="4288247"/>
            <a:ext cx="6734495" cy="367122"/>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500 hrs + 6 months as L1 · system analysis · retrievable rigging · cross-haul · fall-arrest rescue.</a:t>
            </a:r>
            <a:endParaRPr lang="en-US" sz="1424" dirty="0"/>
          </a:p>
        </p:txBody>
      </p:sp>
      <p:sp>
        <p:nvSpPr>
          <p:cNvPr id="21" name="Shape 19"/>
          <p:cNvSpPr/>
          <p:nvPr/>
        </p:nvSpPr>
        <p:spPr>
          <a:xfrm>
            <a:off x="7189515" y="5169719"/>
            <a:ext cx="10241235" cy="1410110"/>
          </a:xfrm>
          <a:prstGeom prst="roundRect">
            <a:avLst>
              <a:gd name="adj" fmla="val 4053"/>
            </a:avLst>
          </a:prstGeom>
          <a:solidFill>
            <a:srgbClr val="0E2A47"/>
          </a:solidFill>
          <a:ln/>
        </p:spPr>
        <p:txBody>
          <a:bodyPr/>
          <a:lstStyle/>
          <a:p>
            <a:endParaRPr lang="en-US"/>
          </a:p>
        </p:txBody>
      </p:sp>
      <p:sp>
        <p:nvSpPr>
          <p:cNvPr id="22" name="Shape 20"/>
          <p:cNvSpPr/>
          <p:nvPr/>
        </p:nvSpPr>
        <p:spPr>
          <a:xfrm>
            <a:off x="7189515" y="5169719"/>
            <a:ext cx="38100" cy="1410110"/>
          </a:xfrm>
          <a:prstGeom prst="rect">
            <a:avLst/>
          </a:prstGeom>
          <a:solidFill>
            <a:srgbClr val="F26A1B"/>
          </a:solidFill>
          <a:ln/>
        </p:spPr>
        <p:txBody>
          <a:bodyPr/>
          <a:lstStyle/>
          <a:p>
            <a:endParaRPr lang="en-US"/>
          </a:p>
        </p:txBody>
      </p:sp>
      <p:sp>
        <p:nvSpPr>
          <p:cNvPr id="23" name="Text 21"/>
          <p:cNvSpPr/>
          <p:nvPr/>
        </p:nvSpPr>
        <p:spPr>
          <a:xfrm>
            <a:off x="7513365" y="5517530"/>
            <a:ext cx="876300" cy="771525"/>
          </a:xfrm>
          <a:prstGeom prst="rect">
            <a:avLst/>
          </a:prstGeom>
          <a:noFill/>
          <a:ln/>
        </p:spPr>
        <p:txBody>
          <a:bodyPr wrap="square" lIns="25400" tIns="25400" rIns="25400" bIns="25400" rtlCol="0" anchor="t">
            <a:normAutofit/>
          </a:bodyPr>
          <a:lstStyle/>
          <a:p>
            <a:pPr marL="0" indent="0" algn="l">
              <a:lnSpc>
                <a:spcPct val="86957"/>
              </a:lnSpc>
              <a:buNone/>
            </a:pPr>
            <a:r>
              <a:rPr lang="en-US" sz="4593" b="1" dirty="0">
                <a:solidFill>
                  <a:srgbClr val="F26A1B"/>
                </a:solidFill>
                <a:latin typeface="Arial" pitchFamily="34" charset="0"/>
                <a:ea typeface="Arial" pitchFamily="34" charset="-122"/>
                <a:cs typeface="Arial" pitchFamily="34" charset="-120"/>
              </a:rPr>
              <a:t>L3</a:t>
            </a:r>
            <a:endParaRPr lang="en-US" sz="4593" dirty="0"/>
          </a:p>
        </p:txBody>
      </p:sp>
      <p:sp>
        <p:nvSpPr>
          <p:cNvPr id="24" name="Text 22"/>
          <p:cNvSpPr/>
          <p:nvPr/>
        </p:nvSpPr>
        <p:spPr>
          <a:xfrm>
            <a:off x="8542065" y="5512619"/>
            <a:ext cx="6640116"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FFFFFF"/>
                </a:solidFill>
                <a:latin typeface="Arial" pitchFamily="34" charset="0"/>
                <a:ea typeface="Arial" pitchFamily="34" charset="-122"/>
                <a:cs typeface="Arial" pitchFamily="34" charset="-120"/>
              </a:rPr>
              <a:t>Rope Access Supervisor — Advanced</a:t>
            </a:r>
            <a:endParaRPr lang="en-US" sz="2021" dirty="0"/>
          </a:p>
        </p:txBody>
      </p:sp>
      <p:sp>
        <p:nvSpPr>
          <p:cNvPr id="25" name="Text 23"/>
          <p:cNvSpPr/>
          <p:nvPr/>
        </p:nvSpPr>
        <p:spPr>
          <a:xfrm>
            <a:off x="8542065" y="5926957"/>
            <a:ext cx="6833251" cy="367122"/>
          </a:xfrm>
          <a:prstGeom prst="rect">
            <a:avLst/>
          </a:prstGeom>
          <a:noFill/>
          <a:ln/>
        </p:spPr>
        <p:txBody>
          <a:bodyPr wrap="square" lIns="25400" tIns="25400" rIns="25400" bIns="25400" rtlCol="0" anchor="t">
            <a:normAutofit/>
          </a:bodyPr>
          <a:lstStyle/>
          <a:p>
            <a:pPr marL="0" indent="0" algn="l">
              <a:lnSpc>
                <a:spcPct val="120556"/>
              </a:lnSpc>
              <a:buNone/>
            </a:pPr>
            <a:r>
              <a:rPr lang="en-US" sz="1424" dirty="0">
                <a:solidFill>
                  <a:srgbClr val="A9BACB"/>
                </a:solidFill>
                <a:latin typeface="Arial" pitchFamily="34" charset="0"/>
                <a:ea typeface="Arial" pitchFamily="34" charset="-122"/>
                <a:cs typeface="Arial" pitchFamily="34" charset="-120"/>
              </a:rPr>
              <a:t>500 hrs + 6 months as L2 · tensioned systems · rescue from maneuvers · site supervision.</a:t>
            </a:r>
            <a:endParaRPr lang="en-US" sz="1424" dirty="0"/>
          </a:p>
        </p:txBody>
      </p:sp>
      <p:sp>
        <p:nvSpPr>
          <p:cNvPr id="26" name="Shape 24"/>
          <p:cNvSpPr/>
          <p:nvPr/>
        </p:nvSpPr>
        <p:spPr>
          <a:xfrm>
            <a:off x="7189515" y="6808429"/>
            <a:ext cx="3312096" cy="1143000"/>
          </a:xfrm>
          <a:prstGeom prst="roundRect">
            <a:avLst>
              <a:gd name="adj" fmla="val 5000"/>
            </a:avLst>
          </a:prstGeom>
          <a:solidFill>
            <a:srgbClr val="FFFFFF"/>
          </a:solidFill>
          <a:ln w="9525">
            <a:solidFill>
              <a:srgbClr val="E2E7ED"/>
            </a:solidFill>
            <a:prstDash val="solid"/>
          </a:ln>
        </p:spPr>
        <p:txBody>
          <a:bodyPr/>
          <a:lstStyle/>
          <a:p>
            <a:endParaRPr lang="en-US"/>
          </a:p>
        </p:txBody>
      </p:sp>
      <p:sp>
        <p:nvSpPr>
          <p:cNvPr id="27" name="Text 25"/>
          <p:cNvSpPr/>
          <p:nvPr/>
        </p:nvSpPr>
        <p:spPr>
          <a:xfrm>
            <a:off x="7408590" y="7079891"/>
            <a:ext cx="3161340"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0E2A47"/>
                </a:solidFill>
                <a:latin typeface="Arial" pitchFamily="34" charset="0"/>
                <a:ea typeface="Arial" pitchFamily="34" charset="-122"/>
                <a:cs typeface="Arial" pitchFamily="34" charset="-120"/>
              </a:rPr>
              <a:t>3 Years</a:t>
            </a:r>
            <a:endParaRPr lang="en-US" sz="2021" dirty="0"/>
          </a:p>
        </p:txBody>
      </p:sp>
      <p:sp>
        <p:nvSpPr>
          <p:cNvPr id="28" name="Text 26"/>
          <p:cNvSpPr/>
          <p:nvPr/>
        </p:nvSpPr>
        <p:spPr>
          <a:xfrm>
            <a:off x="7408590" y="7437079"/>
            <a:ext cx="3161340" cy="300038"/>
          </a:xfrm>
          <a:prstGeom prst="rect">
            <a:avLst/>
          </a:prstGeom>
          <a:noFill/>
          <a:ln/>
        </p:spPr>
        <p:txBody>
          <a:bodyPr wrap="square" lIns="25400" tIns="25400" rIns="25400" bIns="25400" rtlCol="0" anchor="t">
            <a:normAutofit/>
          </a:bodyPr>
          <a:lstStyle/>
          <a:p>
            <a:pPr marL="0" indent="0" algn="l">
              <a:buNone/>
            </a:pPr>
            <a:r>
              <a:rPr lang="en-US" sz="1286" dirty="0">
                <a:solidFill>
                  <a:srgbClr val="5B6B7B"/>
                </a:solidFill>
                <a:latin typeface="Arial" pitchFamily="34" charset="0"/>
                <a:ea typeface="Arial" pitchFamily="34" charset="-122"/>
                <a:cs typeface="Arial" pitchFamily="34" charset="-120"/>
              </a:rPr>
              <a:t>Certification cycle</a:t>
            </a:r>
            <a:endParaRPr lang="en-US" sz="1286" dirty="0"/>
          </a:p>
        </p:txBody>
      </p:sp>
      <p:sp>
        <p:nvSpPr>
          <p:cNvPr id="29" name="Shape 27"/>
          <p:cNvSpPr/>
          <p:nvPr/>
        </p:nvSpPr>
        <p:spPr>
          <a:xfrm>
            <a:off x="10654010" y="6808429"/>
            <a:ext cx="3312170" cy="1143000"/>
          </a:xfrm>
          <a:prstGeom prst="roundRect">
            <a:avLst>
              <a:gd name="adj" fmla="val 5000"/>
            </a:avLst>
          </a:prstGeom>
          <a:solidFill>
            <a:srgbClr val="FFFFFF"/>
          </a:solidFill>
          <a:ln w="9525">
            <a:solidFill>
              <a:srgbClr val="E2E7ED"/>
            </a:solidFill>
            <a:prstDash val="solid"/>
          </a:ln>
        </p:spPr>
        <p:txBody>
          <a:bodyPr/>
          <a:lstStyle/>
          <a:p>
            <a:endParaRPr lang="en-US"/>
          </a:p>
        </p:txBody>
      </p:sp>
      <p:sp>
        <p:nvSpPr>
          <p:cNvPr id="30" name="Text 28"/>
          <p:cNvSpPr/>
          <p:nvPr/>
        </p:nvSpPr>
        <p:spPr>
          <a:xfrm>
            <a:off x="10873085" y="7079891"/>
            <a:ext cx="3161422"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0E2A47"/>
                </a:solidFill>
                <a:latin typeface="Arial" pitchFamily="34" charset="0"/>
                <a:ea typeface="Arial" pitchFamily="34" charset="-122"/>
                <a:cs typeface="Arial" pitchFamily="34" charset="-120"/>
              </a:rPr>
              <a:t>Age 18+</a:t>
            </a:r>
            <a:endParaRPr lang="en-US" sz="2021" dirty="0"/>
          </a:p>
        </p:txBody>
      </p:sp>
      <p:sp>
        <p:nvSpPr>
          <p:cNvPr id="31" name="Text 29"/>
          <p:cNvSpPr/>
          <p:nvPr/>
        </p:nvSpPr>
        <p:spPr>
          <a:xfrm>
            <a:off x="10873085" y="7437079"/>
            <a:ext cx="3161422" cy="300038"/>
          </a:xfrm>
          <a:prstGeom prst="rect">
            <a:avLst/>
          </a:prstGeom>
          <a:noFill/>
          <a:ln/>
        </p:spPr>
        <p:txBody>
          <a:bodyPr wrap="square" lIns="25400" tIns="25400" rIns="25400" bIns="25400" rtlCol="0" anchor="t">
            <a:normAutofit/>
          </a:bodyPr>
          <a:lstStyle/>
          <a:p>
            <a:pPr marL="0" indent="0" algn="l">
              <a:buNone/>
            </a:pPr>
            <a:r>
              <a:rPr lang="en-US" sz="1286" dirty="0">
                <a:solidFill>
                  <a:srgbClr val="5B6B7B"/>
                </a:solidFill>
                <a:latin typeface="Arial" pitchFamily="34" charset="0"/>
                <a:ea typeface="Arial" pitchFamily="34" charset="-122"/>
                <a:cs typeface="Arial" pitchFamily="34" charset="-120"/>
              </a:rPr>
              <a:t>Minimum entry requirement</a:t>
            </a:r>
            <a:endParaRPr lang="en-US" sz="1286" dirty="0"/>
          </a:p>
        </p:txBody>
      </p:sp>
      <p:sp>
        <p:nvSpPr>
          <p:cNvPr id="32" name="Shape 30"/>
          <p:cNvSpPr/>
          <p:nvPr/>
        </p:nvSpPr>
        <p:spPr>
          <a:xfrm>
            <a:off x="14118580" y="6808429"/>
            <a:ext cx="3312170" cy="1143000"/>
          </a:xfrm>
          <a:prstGeom prst="roundRect">
            <a:avLst>
              <a:gd name="adj" fmla="val 5000"/>
            </a:avLst>
          </a:prstGeom>
          <a:solidFill>
            <a:srgbClr val="FFFFFF"/>
          </a:solidFill>
          <a:ln w="9525">
            <a:solidFill>
              <a:srgbClr val="E2E7ED"/>
            </a:solidFill>
            <a:prstDash val="solid"/>
          </a:ln>
        </p:spPr>
        <p:txBody>
          <a:bodyPr/>
          <a:lstStyle/>
          <a:p>
            <a:endParaRPr lang="en-US"/>
          </a:p>
        </p:txBody>
      </p:sp>
      <p:sp>
        <p:nvSpPr>
          <p:cNvPr id="33" name="Text 31"/>
          <p:cNvSpPr/>
          <p:nvPr/>
        </p:nvSpPr>
        <p:spPr>
          <a:xfrm>
            <a:off x="14337655" y="7079891"/>
            <a:ext cx="3161422" cy="414338"/>
          </a:xfrm>
          <a:prstGeom prst="rect">
            <a:avLst/>
          </a:prstGeom>
          <a:noFill/>
          <a:ln/>
        </p:spPr>
        <p:txBody>
          <a:bodyPr wrap="square" lIns="25400" tIns="25400" rIns="25400" bIns="25400" rtlCol="0" anchor="t">
            <a:normAutofit/>
          </a:bodyPr>
          <a:lstStyle/>
          <a:p>
            <a:pPr marL="0" indent="0" algn="l">
              <a:buNone/>
            </a:pPr>
            <a:r>
              <a:rPr lang="en-US" sz="2021" b="1" dirty="0">
                <a:solidFill>
                  <a:srgbClr val="0E2A47"/>
                </a:solidFill>
                <a:latin typeface="Arial" pitchFamily="34" charset="0"/>
                <a:ea typeface="Arial" pitchFamily="34" charset="-122"/>
                <a:cs typeface="Arial" pitchFamily="34" charset="-120"/>
              </a:rPr>
              <a:t>1 F or 3 D</a:t>
            </a:r>
            <a:endParaRPr lang="en-US" sz="2021" dirty="0"/>
          </a:p>
        </p:txBody>
      </p:sp>
      <p:sp>
        <p:nvSpPr>
          <p:cNvPr id="34" name="Text 32"/>
          <p:cNvSpPr/>
          <p:nvPr/>
        </p:nvSpPr>
        <p:spPr>
          <a:xfrm>
            <a:off x="14337655" y="7437079"/>
            <a:ext cx="3161422" cy="300038"/>
          </a:xfrm>
          <a:prstGeom prst="rect">
            <a:avLst/>
          </a:prstGeom>
          <a:noFill/>
          <a:ln/>
        </p:spPr>
        <p:txBody>
          <a:bodyPr wrap="square" lIns="25400" tIns="25400" rIns="25400" bIns="25400" rtlCol="0" anchor="t">
            <a:normAutofit/>
          </a:bodyPr>
          <a:lstStyle/>
          <a:p>
            <a:pPr marL="0" indent="0" algn="l">
              <a:buNone/>
            </a:pPr>
            <a:r>
              <a:rPr lang="en-US" sz="1286" dirty="0">
                <a:solidFill>
                  <a:srgbClr val="5B6B7B"/>
                </a:solidFill>
                <a:latin typeface="Arial" pitchFamily="34" charset="0"/>
                <a:ea typeface="Arial" pitchFamily="34" charset="-122"/>
                <a:cs typeface="Arial" pitchFamily="34" charset="-120"/>
              </a:rPr>
              <a:t>Pass / Discrepancy / Fail</a:t>
            </a:r>
            <a:endParaRPr lang="en-US" sz="1286" dirty="0"/>
          </a:p>
        </p:txBody>
      </p:sp>
      <p:sp>
        <p:nvSpPr>
          <p:cNvPr id="35" name="Shape 33"/>
          <p:cNvSpPr/>
          <p:nvPr/>
        </p:nvSpPr>
        <p:spPr>
          <a:xfrm>
            <a:off x="0" y="9753600"/>
            <a:ext cx="18288000" cy="9525"/>
          </a:xfrm>
          <a:prstGeom prst="rect">
            <a:avLst/>
          </a:prstGeom>
          <a:solidFill>
            <a:srgbClr val="E1E6EC"/>
          </a:solidFill>
          <a:ln/>
        </p:spPr>
        <p:txBody>
          <a:bodyPr/>
          <a:lstStyle/>
          <a:p>
            <a:endParaRPr lang="en-US"/>
          </a:p>
        </p:txBody>
      </p:sp>
      <p:sp>
        <p:nvSpPr>
          <p:cNvPr id="36" name="Text 3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37" name="Text 3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SPRAT PROGRAM</a:t>
            </a:r>
            <a:endParaRPr lang="en-US" sz="900" dirty="0"/>
          </a:p>
        </p:txBody>
      </p:sp>
      <p:sp>
        <p:nvSpPr>
          <p:cNvPr id="38" name="Text 3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44022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853351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SPRAT Evaluation — How Candidates Are Graded</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Written test + practical evaluation</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Certification requires passing a written test and a practical evaluation run by an independent SPRAT evaluator. The evaluator, not the trainer, has sole authority to issue grades.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Pass · Discrepancy · Fail</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Each exercise is graded P, D or F against the performance principles. One Fail or three Discrepancies fails the evaluation — several Ds can come from one exercise.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Safe and efficient</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Every requirement must be completed safely and efficiently. SPRAT does not specify equipment or technique — the principles are what is graded.</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Common discrepancy sources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Backup free fall over 4 ft, main-system free fall over 2 ft, swing fall over 2 ft, no backup in the fall zone, or a single component that could fail and drop the load.</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What the evaluator watches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backup with every main system, free fall and swing within limits, chinstrap fastened in the fall zone, and no way to become detached.</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happens if I fail?”</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The evaluator explains every D or F before your next exercise, and you receive a provisional result. Retrain the flagged skills before re-evaluating.</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44022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739365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SPRAT Career Path — Eligibility &amp; Renewal</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Level 1 → Level 2 → Level 3</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L1: age 18+, government ID, no prior experience. L2: 500 hrs + 6 months as L1. L3: 500 hrs + 6 months as L2. Advancement is consecutive — no skipping levels.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Each level adds responsibility</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L1 masters maneuvers, simple two-rope systems and a pick-off rescue. L2 adds system analysis, retrievable and remote-rescue rigging, cross-hauls and fall-arrest rescue. L3 adds tensioned systems and rescue from maneuvers.</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Renew every 3 years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Certification is valid for three years. Retrain and re-evaluate within the 6 months before expiry and the new certificate runs 3 years from the old expiry date.</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Letting certification lapse</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Hours worked without a valid certificate do not count toward an upgrade, and expired candidates must demonstrate every skill required at their level.</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Documented, verified hours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Upgrade candidates document 500 hours at their current level, recorded and verified as SPRAT Safe Practices require.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“Is training required before evaluation?”</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Yes. SPRAT requires training by a trainer within six months before initial certification at each level, and recommends it before any later evaluation.</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35</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3895911"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133329"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Fall-Protection Systems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Choose the right control</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Discuss elimination / avoidance, restraint, work positioning / rope access, and fall arrest. Identify which system is actually controlling the hazard.</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system selection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Different systems assume different exposure and loading. Equipment appropriate for positioning may not be a complete fall-arrest solution.</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Before connecting</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Identify the hazard, system purpose, anchor strategy, clearance, swing exposure and rescue plan.</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Using the wrong system</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Insufficient clearance, excessive free fall, poor anchor location, incompatible components and no viable rescue.</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 the trainee identify the system and explain what prevents or arrests the fall?</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“If I have a lanyard, am I protected?”</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Only if the complete system — connection, anchor, clearance and use — is appropriate for the exposure.</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Worksite Zones">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2 · WORKSITE ZONES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Access, Hazard and Safe Zones</a:t>
            </a:r>
          </a:p>
        </p:txBody>
      </p:sp>
      <p:pic>
        <p:nvPicPr>
          <p:cNvPr id="13" name="Diagram 13"/>
          <p:cNvPicPr>
            <a:picLocks noChangeAspect="1"/>
          </p:cNvPicPr>
          <p:nvPr/>
        </p:nvPicPr>
        <p:blipFill>
          <a:blip r:embed="rId3"/>
          <a:stretch>
            <a:fillRect/>
          </a:stretch>
        </p:blipFill>
        <p:spPr>
          <a:xfrm>
            <a:off x="889000" y="1549400"/>
            <a:ext cx="1016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RULE</a:t>
            </a:r>
          </a:p>
          <a:p>
            <a:pPr marL="0" indent="0" algn="l">
              <a:spcBef>
                <a:spcPts val="400"/>
              </a:spcBef>
              <a:buNone/>
            </a:pPr>
            <a:r>
              <a:rPr lang="en-US" sz="1800" b="1" kern="0" dirty="0">
                <a:solidFill>
                  <a:srgbClr val="FFFFFF"/>
                </a:solidFill>
                <a:latin typeface="Arial"/>
                <a:ea typeface="Arial"/>
                <a:cs typeface="Arial"/>
              </a:rPr>
              <a:t>Barricade and sign the Hazard Zone before work starts.</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REMINDER</a:t>
            </a:r>
          </a:p>
          <a:p>
            <a:pPr marL="0" indent="0" algn="l">
              <a:spcBef>
                <a:spcPts val="400"/>
              </a:spcBef>
              <a:buNone/>
            </a:pPr>
            <a:r>
              <a:rPr lang="en-US" sz="1600" kern="0" dirty="0">
                <a:solidFill>
                  <a:srgbClr val="FFFFFF"/>
                </a:solidFill>
                <a:latin typeface="Arial"/>
                <a:ea typeface="Arial"/>
                <a:cs typeface="Arial"/>
              </a:rPr>
              <a:t>The Safe Zone is safe from the rope access work. It is not free of every hazard.</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WORKSITE ZONES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32</a:t>
            </a:r>
            <a:endParaRPr lang="en-US" sz="900" dirty="0"/>
          </a:p>
        </p:txBody>
      </p:sp>
      <p:sp>
        <p:nvSpPr>
          <p:cNvPr id="91" name="Zone definitions"/>
          <p:cNvSpPr txBox="1"/>
          <p:nvPr/>
        </p:nvSpPr>
        <p:spPr>
          <a:xfrm>
            <a:off x="11430000" y="1549400"/>
            <a:ext cx="5969000" cy="6350000"/>
          </a:xfrm>
          <a:prstGeom prst="rect">
            <a:avLst/>
          </a:prstGeom>
          <a:solidFill>
            <a:srgbClr val="FFFFFF"/>
          </a:solidFill>
          <a:ln w="9525">
            <a:solidFill>
              <a:srgbClr val="E2E7ED"/>
            </a:solidFill>
          </a:ln>
        </p:spPr>
        <p:txBody>
          <a:bodyPr wrap="square" lIns="304800" tIns="304800" rIns="304800" bIns="304800" anchor="ctr">
            <a:normAutofit/>
          </a:bodyPr>
          <a:lstStyle/>
          <a:p>
            <a:pPr algn="l">
              <a:buNone/>
            </a:pPr>
            <a:r>
              <a:rPr lang="en-US" sz="1600" b="1" dirty="0">
                <a:solidFill>
                  <a:srgbClr val="F26A1B"/>
                </a:solidFill>
                <a:latin typeface="Arial"/>
                <a:cs typeface="Arial"/>
              </a:rPr>
              <a:t>ACCESS ZONE</a:t>
            </a:r>
          </a:p>
          <a:p>
            <a:pPr algn="l">
              <a:spcBef>
                <a:spcPts val="400"/>
              </a:spcBef>
              <a:buNone/>
            </a:pPr>
            <a:r>
              <a:rPr lang="en-US" sz="1500" dirty="0">
                <a:solidFill>
                  <a:srgbClr val="0E2A47"/>
                </a:solidFill>
                <a:latin typeface="Arial"/>
                <a:cs typeface="Arial"/>
              </a:rPr>
              <a:t>The controlled area where rope access is taking place, where people are at risk of falling: on rope or near a working edge.</a:t>
            </a:r>
          </a:p>
          <a:p>
            <a:pPr algn="l">
              <a:spcBef>
                <a:spcPts val="2400"/>
              </a:spcBef>
              <a:buNone/>
            </a:pPr>
            <a:r>
              <a:rPr lang="en-US" sz="1600" b="1" dirty="0">
                <a:solidFill>
                  <a:srgbClr val="C8341F"/>
                </a:solidFill>
                <a:latin typeface="Arial"/>
                <a:cs typeface="Arial"/>
              </a:rPr>
              <a:t>HAZARD ZONE</a:t>
            </a:r>
          </a:p>
          <a:p>
            <a:pPr algn="l">
              <a:spcBef>
                <a:spcPts val="400"/>
              </a:spcBef>
              <a:buNone/>
            </a:pPr>
            <a:r>
              <a:rPr lang="en-US" sz="1500" dirty="0">
                <a:solidFill>
                  <a:srgbClr val="0E2A47"/>
                </a:solidFill>
                <a:latin typeface="Arial"/>
                <a:cs typeface="Arial"/>
              </a:rPr>
              <a:t>Areas around the Access Zone where people may be at risk from the work being performed, such as falling objects.</a:t>
            </a:r>
          </a:p>
          <a:p>
            <a:pPr algn="l">
              <a:spcBef>
                <a:spcPts val="2400"/>
              </a:spcBef>
              <a:buNone/>
            </a:pPr>
            <a:r>
              <a:rPr lang="en-US" sz="1600" b="1" dirty="0">
                <a:solidFill>
                  <a:srgbClr val="1F8A5B"/>
                </a:solidFill>
                <a:latin typeface="Arial"/>
                <a:cs typeface="Arial"/>
              </a:rPr>
              <a:t>SAFE ZONE</a:t>
            </a:r>
          </a:p>
          <a:p>
            <a:pPr algn="l">
              <a:spcBef>
                <a:spcPts val="400"/>
              </a:spcBef>
              <a:buNone/>
            </a:pPr>
            <a:r>
              <a:rPr lang="en-US" sz="1500" dirty="0">
                <a:solidFill>
                  <a:srgbClr val="0E2A47"/>
                </a:solidFill>
                <a:latin typeface="Arial"/>
                <a:cs typeface="Arial"/>
              </a:rPr>
              <a:t>Areas outside the Access and Hazard Zones, safe from the effects of the rope access work. That does not mean hazard-free.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Four Systems — Prevent First, Arrest Last">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2 · FALL PROTECTION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Four Systems — Prevent First, Arrest Last</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ORDER</a:t>
            </a:r>
          </a:p>
          <a:p>
            <a:pPr marL="0" indent="0" algn="l">
              <a:spcBef>
                <a:spcPts val="400"/>
              </a:spcBef>
              <a:buNone/>
            </a:pPr>
            <a:r>
              <a:rPr lang="en-US" sz="1800" b="1" kern="0" dirty="0">
                <a:solidFill>
                  <a:srgbClr val="FFFFFF"/>
                </a:solidFill>
                <a:latin typeface="Arial"/>
                <a:ea typeface="Arial"/>
                <a:cs typeface="Arial"/>
              </a:rPr>
              <a:t>Restraint first, work positioning for rope access, fall arrest only as the last resort.</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WRAPPER</a:t>
            </a:r>
          </a:p>
          <a:p>
            <a:pPr marL="0" indent="0" algn="l">
              <a:spcBef>
                <a:spcPts val="400"/>
              </a:spcBef>
              <a:buNone/>
            </a:pPr>
            <a:r>
              <a:rPr lang="en-US" sz="1600" kern="0" dirty="0">
                <a:solidFill>
                  <a:srgbClr val="FFFFFF"/>
                </a:solidFill>
                <a:latin typeface="Arial"/>
                <a:ea typeface="Arial"/>
                <a:cs typeface="Arial"/>
              </a:rPr>
              <a:t>A managed program covers procedures, training, inspection and rescue for every system.</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FALL-PROTECTION SYSTEMS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37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99001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230979"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Fall Factor, Clearance &amp; Suspension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Understand the consequences of a fall</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Explain fall potential, energy absorption, clearance components, swing hazards, and the need for prompt rescue after a fall or incapacitation.</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calculations matter</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compliant component does not guarantee a safe system if there is insufficient clearance or the geometry creates impact / swing hazards.</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Plan before exposure</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Evaluate the complete arrest path and rescue access before work begins.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Generic shortcuts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Do not rely on a universal “20-minute” rule or a simplified clearance guess. Treat motionless suspension as urgent and use current rescue / medical guidance.</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 identifies free-fall / clearance concerns and does not proceed when the available space is uncertain.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“How much clearance do I need?”</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It depends on the complete system. Calculate using the manufacturer / system data plus an appropriate safety margin.</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162328"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2 · FALL-PROTECTION REFERENCE</a:t>
            </a:r>
            <a:endParaRPr lang="en-US" sz="975" dirty="0"/>
          </a:p>
        </p:txBody>
      </p:sp>
      <p:sp>
        <p:nvSpPr>
          <p:cNvPr id="3" name="Text 1"/>
          <p:cNvSpPr/>
          <p:nvPr/>
        </p:nvSpPr>
        <p:spPr>
          <a:xfrm>
            <a:off x="857250" y="838200"/>
            <a:ext cx="9667078"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Four Systems &amp; Fall-Arrest Limits</a:t>
            </a:r>
            <a:endParaRPr lang="en-US" sz="3000" dirty="0"/>
          </a:p>
        </p:txBody>
      </p:sp>
      <p:sp>
        <p:nvSpPr>
          <p:cNvPr id="62" name="Shape 60"/>
          <p:cNvSpPr/>
          <p:nvPr/>
        </p:nvSpPr>
        <p:spPr>
          <a:xfrm>
            <a:off x="0" y="9753600"/>
            <a:ext cx="18288000" cy="9525"/>
          </a:xfrm>
          <a:prstGeom prst="rect">
            <a:avLst/>
          </a:prstGeom>
          <a:solidFill>
            <a:srgbClr val="E1E6EC"/>
          </a:solidFill>
          <a:ln/>
        </p:spPr>
        <p:txBody>
          <a:bodyPr/>
          <a:lstStyle/>
          <a:p>
            <a:endParaRPr lang="en-US"/>
          </a:p>
        </p:txBody>
      </p:sp>
      <p:sp>
        <p:nvSpPr>
          <p:cNvPr id="63" name="Text 6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64" name="Text 6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SYSTEMS &amp; ARREST FORCES</a:t>
            </a:r>
            <a:endParaRPr lang="en-US" sz="900" dirty="0"/>
          </a:p>
        </p:txBody>
      </p:sp>
      <p:sp>
        <p:nvSpPr>
          <p:cNvPr id="65" name="Text 6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39</a:t>
            </a:r>
            <a:endParaRPr lang="en-US" sz="900" dirty="0"/>
          </a:p>
        </p:txBody>
      </p:sp>
      <p:sp>
        <p:nvSpPr>
          <p:cNvPr id="595" name="Shape 595"/>
          <p:cNvSpPr/>
          <p:nvPr/>
        </p:nvSpPr>
        <p:spPr>
          <a:xfrm>
            <a:off x="857250" y="4826000"/>
            <a:ext cx="3990975" cy="19050"/>
          </a:xfrm>
          <a:prstGeom prst="rect">
            <a:avLst/>
          </a:prstGeom>
          <a:solidFill>
            <a:srgbClr val="E2E7ED"/>
          </a:solidFill>
          <a:ln>
            <a:noFill/>
          </a:ln>
        </p:spPr>
        <p:txBody>
          <a:bodyPr/>
          <a:lstStyle/>
          <a:p>
            <a:endParaRPr lang="en-US"/>
          </a:p>
        </p:txBody>
      </p:sp>
      <p:sp>
        <p:nvSpPr>
          <p:cNvPr id="596" name="Shape 596"/>
          <p:cNvSpPr/>
          <p:nvPr/>
        </p:nvSpPr>
        <p:spPr>
          <a:xfrm>
            <a:off x="857250" y="1905000"/>
            <a:ext cx="3990975" cy="2921000"/>
          </a:xfrm>
          <a:prstGeom prst="rect">
            <a:avLst/>
          </a:prstGeom>
          <a:solidFill>
            <a:srgbClr val="FFFFFF"/>
          </a:solidFill>
          <a:ln>
            <a:noFill/>
          </a:ln>
        </p:spPr>
        <p:txBody>
          <a:bodyPr/>
          <a:lstStyle/>
          <a:p>
            <a:endParaRPr lang="en-US"/>
          </a:p>
        </p:txBody>
      </p:sp>
      <p:sp>
        <p:nvSpPr>
          <p:cNvPr id="597" name="Shape 597"/>
          <p:cNvSpPr/>
          <p:nvPr/>
        </p:nvSpPr>
        <p:spPr>
          <a:xfrm>
            <a:off x="857250" y="1905000"/>
            <a:ext cx="3990975" cy="63500"/>
          </a:xfrm>
          <a:prstGeom prst="rect">
            <a:avLst/>
          </a:prstGeom>
          <a:solidFill>
            <a:srgbClr val="1F8A5B"/>
          </a:solidFill>
          <a:ln>
            <a:noFill/>
          </a:ln>
        </p:spPr>
        <p:txBody>
          <a:bodyPr/>
          <a:lstStyle/>
          <a:p>
            <a:endParaRPr lang="en-US"/>
          </a:p>
        </p:txBody>
      </p:sp>
      <p:sp>
        <p:nvSpPr>
          <p:cNvPr id="598" name="Text 598"/>
          <p:cNvSpPr txBox="1"/>
          <p:nvPr/>
        </p:nvSpPr>
        <p:spPr>
          <a:xfrm>
            <a:off x="1136650" y="2286000"/>
            <a:ext cx="3432175" cy="2286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1F8A5B"/>
                </a:solidFill>
                <a:latin typeface="Courier New"/>
                <a:cs typeface="Courier New"/>
              </a:rPr>
              <a:t>PREVENT · PREFERRED</a:t>
            </a:r>
            <a:endParaRPr lang="en-US" sz="1100" dirty="0"/>
          </a:p>
        </p:txBody>
      </p:sp>
      <p:sp>
        <p:nvSpPr>
          <p:cNvPr id="599" name="Text 599"/>
          <p:cNvSpPr txBox="1"/>
          <p:nvPr/>
        </p:nvSpPr>
        <p:spPr>
          <a:xfrm>
            <a:off x="1136650" y="2616200"/>
            <a:ext cx="3432175" cy="4318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Restraint</a:t>
            </a:r>
            <a:endParaRPr lang="en-US" sz="2200" dirty="0"/>
          </a:p>
        </p:txBody>
      </p:sp>
      <p:sp>
        <p:nvSpPr>
          <p:cNvPr id="600" name="Text 600"/>
          <p:cNvSpPr txBox="1"/>
          <p:nvPr/>
        </p:nvSpPr>
        <p:spPr>
          <a:xfrm>
            <a:off x="1136650" y="3200400"/>
            <a:ext cx="3432175" cy="1397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41505E"/>
                </a:solidFill>
                <a:latin typeface="Arial"/>
                <a:cs typeface="Arial"/>
              </a:rPr>
              <a:t>Worker cannot reach the hazard — the fall is eliminated.</a:t>
            </a:r>
            <a:endParaRPr lang="en-US" sz="1600" dirty="0"/>
          </a:p>
        </p:txBody>
      </p:sp>
      <p:sp>
        <p:nvSpPr>
          <p:cNvPr id="601" name="Shape 601"/>
          <p:cNvSpPr/>
          <p:nvPr/>
        </p:nvSpPr>
        <p:spPr>
          <a:xfrm>
            <a:off x="5051425" y="4826000"/>
            <a:ext cx="3990975" cy="19050"/>
          </a:xfrm>
          <a:prstGeom prst="rect">
            <a:avLst/>
          </a:prstGeom>
          <a:solidFill>
            <a:srgbClr val="E2E7ED"/>
          </a:solidFill>
          <a:ln>
            <a:noFill/>
          </a:ln>
        </p:spPr>
        <p:txBody>
          <a:bodyPr/>
          <a:lstStyle/>
          <a:p>
            <a:endParaRPr lang="en-US"/>
          </a:p>
        </p:txBody>
      </p:sp>
      <p:sp>
        <p:nvSpPr>
          <p:cNvPr id="602" name="Shape 602"/>
          <p:cNvSpPr/>
          <p:nvPr/>
        </p:nvSpPr>
        <p:spPr>
          <a:xfrm>
            <a:off x="5051425" y="1905000"/>
            <a:ext cx="3990975" cy="2921000"/>
          </a:xfrm>
          <a:prstGeom prst="rect">
            <a:avLst/>
          </a:prstGeom>
          <a:solidFill>
            <a:srgbClr val="FFFFFF"/>
          </a:solidFill>
          <a:ln>
            <a:noFill/>
          </a:ln>
        </p:spPr>
        <p:txBody>
          <a:bodyPr/>
          <a:lstStyle/>
          <a:p>
            <a:endParaRPr lang="en-US"/>
          </a:p>
        </p:txBody>
      </p:sp>
      <p:sp>
        <p:nvSpPr>
          <p:cNvPr id="603" name="Shape 603"/>
          <p:cNvSpPr/>
          <p:nvPr/>
        </p:nvSpPr>
        <p:spPr>
          <a:xfrm>
            <a:off x="5051425" y="1905000"/>
            <a:ext cx="3990975" cy="63500"/>
          </a:xfrm>
          <a:prstGeom prst="rect">
            <a:avLst/>
          </a:prstGeom>
          <a:solidFill>
            <a:srgbClr val="2F8FE8"/>
          </a:solidFill>
          <a:ln>
            <a:noFill/>
          </a:ln>
        </p:spPr>
        <p:txBody>
          <a:bodyPr/>
          <a:lstStyle/>
          <a:p>
            <a:endParaRPr lang="en-US"/>
          </a:p>
        </p:txBody>
      </p:sp>
      <p:sp>
        <p:nvSpPr>
          <p:cNvPr id="604" name="Text 604"/>
          <p:cNvSpPr txBox="1"/>
          <p:nvPr/>
        </p:nvSpPr>
        <p:spPr>
          <a:xfrm>
            <a:off x="5330825" y="2286000"/>
            <a:ext cx="3432175" cy="2286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2F8FE8"/>
                </a:solidFill>
                <a:latin typeface="Courier New"/>
                <a:cs typeface="Courier New"/>
              </a:rPr>
              <a:t>SUPPORT · ROPE ACCESS</a:t>
            </a:r>
            <a:endParaRPr lang="en-US" sz="1100" dirty="0"/>
          </a:p>
        </p:txBody>
      </p:sp>
      <p:sp>
        <p:nvSpPr>
          <p:cNvPr id="605" name="Text 605"/>
          <p:cNvSpPr txBox="1"/>
          <p:nvPr/>
        </p:nvSpPr>
        <p:spPr>
          <a:xfrm>
            <a:off x="5330825" y="2616200"/>
            <a:ext cx="3432175" cy="4318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Work Positioning</a:t>
            </a:r>
            <a:endParaRPr lang="en-US" sz="2200" dirty="0"/>
          </a:p>
        </p:txBody>
      </p:sp>
      <p:sp>
        <p:nvSpPr>
          <p:cNvPr id="606" name="Text 606"/>
          <p:cNvSpPr txBox="1"/>
          <p:nvPr/>
        </p:nvSpPr>
        <p:spPr>
          <a:xfrm>
            <a:off x="5330825" y="3200400"/>
            <a:ext cx="3432175" cy="1397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41505E"/>
                </a:solidFill>
                <a:latin typeface="Arial"/>
                <a:cs typeface="Arial"/>
              </a:rPr>
              <a:t>Supported for hands-free work; dual-rope redundancy.</a:t>
            </a:r>
            <a:endParaRPr lang="en-US" sz="1600" dirty="0"/>
          </a:p>
        </p:txBody>
      </p:sp>
      <p:sp>
        <p:nvSpPr>
          <p:cNvPr id="607" name="Shape 607"/>
          <p:cNvSpPr/>
          <p:nvPr/>
        </p:nvSpPr>
        <p:spPr>
          <a:xfrm>
            <a:off x="9245600" y="4826000"/>
            <a:ext cx="3990975" cy="19050"/>
          </a:xfrm>
          <a:prstGeom prst="rect">
            <a:avLst/>
          </a:prstGeom>
          <a:solidFill>
            <a:srgbClr val="E2E7ED"/>
          </a:solidFill>
          <a:ln>
            <a:noFill/>
          </a:ln>
        </p:spPr>
        <p:txBody>
          <a:bodyPr/>
          <a:lstStyle/>
          <a:p>
            <a:endParaRPr lang="en-US"/>
          </a:p>
        </p:txBody>
      </p:sp>
      <p:sp>
        <p:nvSpPr>
          <p:cNvPr id="608" name="Shape 608"/>
          <p:cNvSpPr/>
          <p:nvPr/>
        </p:nvSpPr>
        <p:spPr>
          <a:xfrm>
            <a:off x="9245600" y="1905000"/>
            <a:ext cx="3990975" cy="2921000"/>
          </a:xfrm>
          <a:prstGeom prst="rect">
            <a:avLst/>
          </a:prstGeom>
          <a:solidFill>
            <a:srgbClr val="FFFFFF"/>
          </a:solidFill>
          <a:ln>
            <a:noFill/>
          </a:ln>
        </p:spPr>
        <p:txBody>
          <a:bodyPr/>
          <a:lstStyle/>
          <a:p>
            <a:endParaRPr lang="en-US"/>
          </a:p>
        </p:txBody>
      </p:sp>
      <p:sp>
        <p:nvSpPr>
          <p:cNvPr id="609" name="Shape 609"/>
          <p:cNvSpPr/>
          <p:nvPr/>
        </p:nvSpPr>
        <p:spPr>
          <a:xfrm>
            <a:off x="9245600" y="1905000"/>
            <a:ext cx="3990975" cy="63500"/>
          </a:xfrm>
          <a:prstGeom prst="rect">
            <a:avLst/>
          </a:prstGeom>
          <a:solidFill>
            <a:srgbClr val="C8341F"/>
          </a:solidFill>
          <a:ln>
            <a:noFill/>
          </a:ln>
        </p:spPr>
        <p:txBody>
          <a:bodyPr/>
          <a:lstStyle/>
          <a:p>
            <a:endParaRPr lang="en-US"/>
          </a:p>
        </p:txBody>
      </p:sp>
      <p:sp>
        <p:nvSpPr>
          <p:cNvPr id="610" name="Text 610"/>
          <p:cNvSpPr txBox="1"/>
          <p:nvPr/>
        </p:nvSpPr>
        <p:spPr>
          <a:xfrm>
            <a:off x="9525000" y="2286000"/>
            <a:ext cx="3432175" cy="2286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8341F"/>
                </a:solidFill>
                <a:latin typeface="Courier New"/>
                <a:cs typeface="Courier New"/>
              </a:rPr>
              <a:t>LAST RESORT</a:t>
            </a:r>
            <a:endParaRPr lang="en-US" sz="1100" dirty="0"/>
          </a:p>
        </p:txBody>
      </p:sp>
      <p:sp>
        <p:nvSpPr>
          <p:cNvPr id="611" name="Text 611"/>
          <p:cNvSpPr txBox="1"/>
          <p:nvPr/>
        </p:nvSpPr>
        <p:spPr>
          <a:xfrm>
            <a:off x="9525000" y="2616200"/>
            <a:ext cx="3432175" cy="4318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0E2A47"/>
                </a:solidFill>
                <a:latin typeface="Arial"/>
                <a:cs typeface="Arial"/>
              </a:rPr>
              <a:t>Fall Arrest</a:t>
            </a:r>
            <a:endParaRPr lang="en-US" sz="2200" dirty="0"/>
          </a:p>
        </p:txBody>
      </p:sp>
      <p:sp>
        <p:nvSpPr>
          <p:cNvPr id="612" name="Text 612"/>
          <p:cNvSpPr txBox="1"/>
          <p:nvPr/>
        </p:nvSpPr>
        <p:spPr>
          <a:xfrm>
            <a:off x="9525000" y="3200400"/>
            <a:ext cx="3432175" cy="1397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41505E"/>
                </a:solidFill>
                <a:latin typeface="Arial"/>
                <a:cs typeface="Arial"/>
              </a:rPr>
              <a:t>Stops the worker after a fall begins — force reaches the body.</a:t>
            </a:r>
            <a:endParaRPr lang="en-US" sz="1600" dirty="0"/>
          </a:p>
        </p:txBody>
      </p:sp>
      <p:sp>
        <p:nvSpPr>
          <p:cNvPr id="613" name="Shape 613"/>
          <p:cNvSpPr/>
          <p:nvPr/>
        </p:nvSpPr>
        <p:spPr>
          <a:xfrm>
            <a:off x="13439775" y="4826000"/>
            <a:ext cx="3990975" cy="19050"/>
          </a:xfrm>
          <a:prstGeom prst="rect">
            <a:avLst/>
          </a:prstGeom>
          <a:solidFill>
            <a:srgbClr val="E2E7ED"/>
          </a:solidFill>
          <a:ln>
            <a:noFill/>
          </a:ln>
        </p:spPr>
        <p:txBody>
          <a:bodyPr/>
          <a:lstStyle/>
          <a:p>
            <a:endParaRPr lang="en-US"/>
          </a:p>
        </p:txBody>
      </p:sp>
      <p:sp>
        <p:nvSpPr>
          <p:cNvPr id="614" name="Shape 614"/>
          <p:cNvSpPr/>
          <p:nvPr/>
        </p:nvSpPr>
        <p:spPr>
          <a:xfrm>
            <a:off x="13439775" y="1905000"/>
            <a:ext cx="3990975" cy="2921000"/>
          </a:xfrm>
          <a:prstGeom prst="rect">
            <a:avLst/>
          </a:prstGeom>
          <a:solidFill>
            <a:srgbClr val="0E2A47"/>
          </a:solidFill>
          <a:ln>
            <a:noFill/>
          </a:ln>
        </p:spPr>
        <p:txBody>
          <a:bodyPr/>
          <a:lstStyle/>
          <a:p>
            <a:endParaRPr lang="en-US"/>
          </a:p>
        </p:txBody>
      </p:sp>
      <p:sp>
        <p:nvSpPr>
          <p:cNvPr id="615" name="Shape 615"/>
          <p:cNvSpPr/>
          <p:nvPr/>
        </p:nvSpPr>
        <p:spPr>
          <a:xfrm>
            <a:off x="13439775" y="1905000"/>
            <a:ext cx="3990975" cy="63500"/>
          </a:xfrm>
          <a:prstGeom prst="rect">
            <a:avLst/>
          </a:prstGeom>
          <a:solidFill>
            <a:srgbClr val="F26A1B"/>
          </a:solidFill>
          <a:ln>
            <a:noFill/>
          </a:ln>
        </p:spPr>
        <p:txBody>
          <a:bodyPr/>
          <a:lstStyle/>
          <a:p>
            <a:endParaRPr lang="en-US"/>
          </a:p>
        </p:txBody>
      </p:sp>
      <p:sp>
        <p:nvSpPr>
          <p:cNvPr id="616" name="Text 616"/>
          <p:cNvSpPr txBox="1"/>
          <p:nvPr/>
        </p:nvSpPr>
        <p:spPr>
          <a:xfrm>
            <a:off x="13719175" y="2286000"/>
            <a:ext cx="3432175" cy="2286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F26A1B"/>
                </a:solidFill>
                <a:latin typeface="Courier New"/>
                <a:cs typeface="Courier New"/>
              </a:rPr>
              <a:t>THE WRAPPER</a:t>
            </a:r>
            <a:endParaRPr lang="en-US" sz="1100" dirty="0"/>
          </a:p>
        </p:txBody>
      </p:sp>
      <p:sp>
        <p:nvSpPr>
          <p:cNvPr id="617" name="Text 617"/>
          <p:cNvSpPr txBox="1"/>
          <p:nvPr/>
        </p:nvSpPr>
        <p:spPr>
          <a:xfrm>
            <a:off x="13719175" y="2616200"/>
            <a:ext cx="3432175" cy="4318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FFFFFF"/>
                </a:solidFill>
                <a:latin typeface="Arial"/>
                <a:cs typeface="Arial"/>
              </a:rPr>
              <a:t>Managed Program</a:t>
            </a:r>
            <a:endParaRPr lang="en-US" sz="2200" dirty="0"/>
          </a:p>
        </p:txBody>
      </p:sp>
      <p:sp>
        <p:nvSpPr>
          <p:cNvPr id="618" name="Text 618"/>
          <p:cNvSpPr txBox="1"/>
          <p:nvPr/>
        </p:nvSpPr>
        <p:spPr>
          <a:xfrm>
            <a:off x="13719175" y="3200400"/>
            <a:ext cx="3432175" cy="1397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C7D4E1"/>
                </a:solidFill>
                <a:latin typeface="Arial"/>
                <a:cs typeface="Arial"/>
              </a:rPr>
              <a:t>Procedures, training and inspection (ANSI Z359.2) around it all.</a:t>
            </a:r>
            <a:endParaRPr lang="en-US" sz="1600" dirty="0"/>
          </a:p>
        </p:txBody>
      </p:sp>
      <p:sp>
        <p:nvSpPr>
          <p:cNvPr id="619" name="Shape 619"/>
          <p:cNvSpPr/>
          <p:nvPr/>
        </p:nvSpPr>
        <p:spPr>
          <a:xfrm>
            <a:off x="857250" y="5232400"/>
            <a:ext cx="10033000" cy="508000"/>
          </a:xfrm>
          <a:prstGeom prst="rect">
            <a:avLst/>
          </a:prstGeom>
          <a:solidFill>
            <a:srgbClr val="0E2A47"/>
          </a:solidFill>
          <a:ln>
            <a:noFill/>
          </a:ln>
        </p:spPr>
        <p:txBody>
          <a:bodyPr/>
          <a:lstStyle/>
          <a:p>
            <a:endParaRPr lang="en-US"/>
          </a:p>
        </p:txBody>
      </p:sp>
      <p:sp>
        <p:nvSpPr>
          <p:cNvPr id="620" name="Text 620"/>
          <p:cNvSpPr txBox="1"/>
          <p:nvPr/>
        </p:nvSpPr>
        <p:spPr>
          <a:xfrm>
            <a:off x="1136650" y="53975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CONNECTION</a:t>
            </a:r>
            <a:endParaRPr lang="en-US" sz="1100" dirty="0"/>
          </a:p>
        </p:txBody>
      </p:sp>
      <p:sp>
        <p:nvSpPr>
          <p:cNvPr id="621" name="Text 621"/>
          <p:cNvSpPr txBox="1"/>
          <p:nvPr/>
        </p:nvSpPr>
        <p:spPr>
          <a:xfrm>
            <a:off x="4032250" y="53975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PEAK FORCE</a:t>
            </a:r>
            <a:endParaRPr lang="en-US" sz="1100" dirty="0"/>
          </a:p>
        </p:txBody>
      </p:sp>
      <p:sp>
        <p:nvSpPr>
          <p:cNvPr id="622" name="Text 622"/>
          <p:cNvSpPr txBox="1"/>
          <p:nvPr/>
        </p:nvSpPr>
        <p:spPr>
          <a:xfrm>
            <a:off x="6445250" y="53975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SOURCE</a:t>
            </a:r>
            <a:endParaRPr lang="en-US" sz="1100" dirty="0"/>
          </a:p>
        </p:txBody>
      </p:sp>
      <p:sp>
        <p:nvSpPr>
          <p:cNvPr id="623" name="Text 623"/>
          <p:cNvSpPr txBox="1"/>
          <p:nvPr/>
        </p:nvSpPr>
        <p:spPr>
          <a:xfrm>
            <a:off x="8731250" y="53975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MAX FREE FALL</a:t>
            </a:r>
            <a:endParaRPr lang="en-US" sz="1100" dirty="0"/>
          </a:p>
        </p:txBody>
      </p:sp>
      <p:sp>
        <p:nvSpPr>
          <p:cNvPr id="624" name="Shape 624"/>
          <p:cNvSpPr/>
          <p:nvPr/>
        </p:nvSpPr>
        <p:spPr>
          <a:xfrm>
            <a:off x="857250" y="5740400"/>
            <a:ext cx="10033000" cy="914400"/>
          </a:xfrm>
          <a:prstGeom prst="rect">
            <a:avLst/>
          </a:prstGeom>
          <a:solidFill>
            <a:srgbClr val="FFFFFF"/>
          </a:solidFill>
          <a:ln>
            <a:noFill/>
          </a:ln>
        </p:spPr>
        <p:txBody>
          <a:bodyPr/>
          <a:lstStyle/>
          <a:p>
            <a:endParaRPr lang="en-US"/>
          </a:p>
        </p:txBody>
      </p:sp>
      <p:sp>
        <p:nvSpPr>
          <p:cNvPr id="625" name="Shape 625"/>
          <p:cNvSpPr/>
          <p:nvPr/>
        </p:nvSpPr>
        <p:spPr>
          <a:xfrm>
            <a:off x="857250" y="6642100"/>
            <a:ext cx="10033000" cy="12700"/>
          </a:xfrm>
          <a:prstGeom prst="rect">
            <a:avLst/>
          </a:prstGeom>
          <a:solidFill>
            <a:srgbClr val="E2E7ED"/>
          </a:solidFill>
          <a:ln>
            <a:noFill/>
          </a:ln>
        </p:spPr>
        <p:txBody>
          <a:bodyPr/>
          <a:lstStyle/>
          <a:p>
            <a:endParaRPr lang="en-US"/>
          </a:p>
        </p:txBody>
      </p:sp>
      <p:sp>
        <p:nvSpPr>
          <p:cNvPr id="626" name="Text 626"/>
          <p:cNvSpPr txBox="1"/>
          <p:nvPr/>
        </p:nvSpPr>
        <p:spPr>
          <a:xfrm>
            <a:off x="1136650" y="6045200"/>
            <a:ext cx="2794000" cy="3302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Sternal (front)</a:t>
            </a:r>
            <a:endParaRPr lang="en-US" sz="1800" dirty="0"/>
          </a:p>
        </p:txBody>
      </p:sp>
      <p:sp>
        <p:nvSpPr>
          <p:cNvPr id="627" name="Text 627"/>
          <p:cNvSpPr txBox="1"/>
          <p:nvPr/>
        </p:nvSpPr>
        <p:spPr>
          <a:xfrm>
            <a:off x="4032250" y="60452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900 lb · 4 kN</a:t>
            </a:r>
            <a:endParaRPr lang="en-US" sz="1700" dirty="0"/>
          </a:p>
        </p:txBody>
      </p:sp>
      <p:sp>
        <p:nvSpPr>
          <p:cNvPr id="628" name="Text 628"/>
          <p:cNvSpPr txBox="1"/>
          <p:nvPr/>
        </p:nvSpPr>
        <p:spPr>
          <a:xfrm>
            <a:off x="6445250" y="60452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Harness label</a:t>
            </a:r>
            <a:endParaRPr lang="en-US" sz="1700" dirty="0"/>
          </a:p>
        </p:txBody>
      </p:sp>
      <p:sp>
        <p:nvSpPr>
          <p:cNvPr id="629" name="Text 629"/>
          <p:cNvSpPr txBox="1"/>
          <p:nvPr/>
        </p:nvSpPr>
        <p:spPr>
          <a:xfrm>
            <a:off x="8731250" y="60452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2 ft</a:t>
            </a:r>
            <a:endParaRPr lang="en-US" sz="1700" dirty="0"/>
          </a:p>
        </p:txBody>
      </p:sp>
      <p:sp>
        <p:nvSpPr>
          <p:cNvPr id="630" name="Shape 630"/>
          <p:cNvSpPr/>
          <p:nvPr/>
        </p:nvSpPr>
        <p:spPr>
          <a:xfrm>
            <a:off x="857250" y="6654800"/>
            <a:ext cx="10033000" cy="914400"/>
          </a:xfrm>
          <a:prstGeom prst="rect">
            <a:avLst/>
          </a:prstGeom>
          <a:solidFill>
            <a:srgbClr val="F5F7F9"/>
          </a:solidFill>
          <a:ln>
            <a:noFill/>
          </a:ln>
        </p:spPr>
        <p:txBody>
          <a:bodyPr/>
          <a:lstStyle/>
          <a:p>
            <a:endParaRPr lang="en-US"/>
          </a:p>
        </p:txBody>
      </p:sp>
      <p:sp>
        <p:nvSpPr>
          <p:cNvPr id="631" name="Shape 631"/>
          <p:cNvSpPr/>
          <p:nvPr/>
        </p:nvSpPr>
        <p:spPr>
          <a:xfrm>
            <a:off x="857250" y="7556500"/>
            <a:ext cx="10033000" cy="12700"/>
          </a:xfrm>
          <a:prstGeom prst="rect">
            <a:avLst/>
          </a:prstGeom>
          <a:solidFill>
            <a:srgbClr val="E2E7ED"/>
          </a:solidFill>
          <a:ln>
            <a:noFill/>
          </a:ln>
        </p:spPr>
        <p:txBody>
          <a:bodyPr/>
          <a:lstStyle/>
          <a:p>
            <a:endParaRPr lang="en-US"/>
          </a:p>
        </p:txBody>
      </p:sp>
      <p:sp>
        <p:nvSpPr>
          <p:cNvPr id="632" name="Text 632"/>
          <p:cNvSpPr txBox="1"/>
          <p:nvPr/>
        </p:nvSpPr>
        <p:spPr>
          <a:xfrm>
            <a:off x="1136650" y="6959600"/>
            <a:ext cx="2794000" cy="3302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Dorsal (back)</a:t>
            </a:r>
            <a:endParaRPr lang="en-US" sz="1800" dirty="0"/>
          </a:p>
        </p:txBody>
      </p:sp>
      <p:sp>
        <p:nvSpPr>
          <p:cNvPr id="633" name="Text 633"/>
          <p:cNvSpPr txBox="1"/>
          <p:nvPr/>
        </p:nvSpPr>
        <p:spPr>
          <a:xfrm>
            <a:off x="4032250" y="69596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1,800 lb · 8 kN</a:t>
            </a:r>
            <a:endParaRPr lang="en-US" sz="1700" dirty="0"/>
          </a:p>
        </p:txBody>
      </p:sp>
      <p:sp>
        <p:nvSpPr>
          <p:cNvPr id="634" name="Text 634"/>
          <p:cNvSpPr txBox="1"/>
          <p:nvPr/>
        </p:nvSpPr>
        <p:spPr>
          <a:xfrm>
            <a:off x="6445250" y="69596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OSHA 1926.502</a:t>
            </a:r>
            <a:endParaRPr lang="en-US" sz="1700" dirty="0"/>
          </a:p>
        </p:txBody>
      </p:sp>
      <p:sp>
        <p:nvSpPr>
          <p:cNvPr id="635" name="Text 635"/>
          <p:cNvSpPr txBox="1"/>
          <p:nvPr/>
        </p:nvSpPr>
        <p:spPr>
          <a:xfrm>
            <a:off x="8731250" y="6959600"/>
            <a:ext cx="2286000" cy="3302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6 ft*</a:t>
            </a:r>
            <a:endParaRPr lang="en-US" sz="1700" dirty="0"/>
          </a:p>
        </p:txBody>
      </p:sp>
      <p:sp>
        <p:nvSpPr>
          <p:cNvPr id="636" name="Text 636"/>
          <p:cNvSpPr txBox="1"/>
          <p:nvPr/>
        </p:nvSpPr>
        <p:spPr>
          <a:xfrm>
            <a:off x="1136650" y="7772400"/>
            <a:ext cx="9474200" cy="508000"/>
          </a:xfrm>
          <a:prstGeom prst="rect">
            <a:avLst/>
          </a:prstGeom>
          <a:noFill/>
          <a:ln>
            <a:noFill/>
          </a:ln>
        </p:spPr>
        <p:txBody>
          <a:bodyPr wrap="square" lIns="0" tIns="0" rIns="0" bIns="0" rtlCol="0" anchor="t">
            <a:noAutofit/>
          </a:bodyPr>
          <a:lstStyle/>
          <a:p>
            <a:pPr marL="0" indent="0" algn="l">
              <a:lnSpc>
                <a:spcPct val="112000"/>
              </a:lnSpc>
              <a:buNone/>
            </a:pPr>
            <a:r>
              <a:rPr lang="en-US" sz="1300" dirty="0">
                <a:solidFill>
                  <a:srgbClr val="8593A2"/>
                </a:solidFill>
                <a:latin typeface="Arial"/>
                <a:cs typeface="Arial"/>
              </a:rPr>
              <a:t>* OSHA also limits deceleration distance to 3.5 ft · always follow the harness label</a:t>
            </a:r>
            <a:endParaRPr lang="en-US" sz="1300" dirty="0"/>
          </a:p>
        </p:txBody>
      </p:sp>
      <p:sp>
        <p:nvSpPr>
          <p:cNvPr id="637" name="Shape 637"/>
          <p:cNvSpPr/>
          <p:nvPr/>
        </p:nvSpPr>
        <p:spPr>
          <a:xfrm>
            <a:off x="11239500" y="8280400"/>
            <a:ext cx="6191250" cy="19050"/>
          </a:xfrm>
          <a:prstGeom prst="rect">
            <a:avLst/>
          </a:prstGeom>
          <a:solidFill>
            <a:srgbClr val="E2E7ED"/>
          </a:solidFill>
          <a:ln>
            <a:noFill/>
          </a:ln>
        </p:spPr>
        <p:txBody>
          <a:bodyPr/>
          <a:lstStyle/>
          <a:p>
            <a:endParaRPr lang="en-US"/>
          </a:p>
        </p:txBody>
      </p:sp>
      <p:sp>
        <p:nvSpPr>
          <p:cNvPr id="638" name="Shape 638"/>
          <p:cNvSpPr/>
          <p:nvPr/>
        </p:nvSpPr>
        <p:spPr>
          <a:xfrm>
            <a:off x="11239500" y="5232400"/>
            <a:ext cx="6191250" cy="3048000"/>
          </a:xfrm>
          <a:prstGeom prst="rect">
            <a:avLst/>
          </a:prstGeom>
          <a:solidFill>
            <a:srgbClr val="FFFFFF"/>
          </a:solidFill>
          <a:ln>
            <a:noFill/>
          </a:ln>
        </p:spPr>
        <p:txBody>
          <a:bodyPr/>
          <a:lstStyle/>
          <a:p>
            <a:endParaRPr lang="en-US"/>
          </a:p>
        </p:txBody>
      </p:sp>
      <p:sp>
        <p:nvSpPr>
          <p:cNvPr id="639" name="Shape 639"/>
          <p:cNvSpPr/>
          <p:nvPr/>
        </p:nvSpPr>
        <p:spPr>
          <a:xfrm>
            <a:off x="11239500" y="5232400"/>
            <a:ext cx="63500" cy="3048000"/>
          </a:xfrm>
          <a:prstGeom prst="rect">
            <a:avLst/>
          </a:prstGeom>
          <a:solidFill>
            <a:srgbClr val="2F8FE8"/>
          </a:solidFill>
          <a:ln>
            <a:noFill/>
          </a:ln>
        </p:spPr>
        <p:txBody>
          <a:bodyPr/>
          <a:lstStyle/>
          <a:p>
            <a:endParaRPr lang="en-US"/>
          </a:p>
        </p:txBody>
      </p:sp>
      <p:sp>
        <p:nvSpPr>
          <p:cNvPr id="640" name="Text 640"/>
          <p:cNvSpPr txBox="1"/>
          <p:nvPr/>
        </p:nvSpPr>
        <p:spPr>
          <a:xfrm>
            <a:off x="11620500" y="5588000"/>
            <a:ext cx="5480050" cy="2540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2F8FE8"/>
                </a:solidFill>
                <a:latin typeface="Courier New"/>
                <a:cs typeface="Courier New"/>
              </a:rPr>
              <a:t>WHY ABSORBERS WORK</a:t>
            </a:r>
            <a:endParaRPr lang="en-US" sz="1100" dirty="0"/>
          </a:p>
        </p:txBody>
      </p:sp>
      <p:sp>
        <p:nvSpPr>
          <p:cNvPr id="641" name="Text 641"/>
          <p:cNvSpPr txBox="1"/>
          <p:nvPr/>
        </p:nvSpPr>
        <p:spPr>
          <a:xfrm>
            <a:off x="11620500" y="5994400"/>
            <a:ext cx="5480050" cy="21590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Force = mass × deceleration. </a:t>
            </a:r>
            <a:r>
              <a:rPr lang="en-US" sz="1800" dirty="0">
                <a:solidFill>
                  <a:srgbClr val="41505E"/>
                </a:solidFill>
                <a:latin typeface="Arial"/>
                <a:cs typeface="Arial"/>
              </a:rPr>
              <a:t>An absorber tears progressively, stretching the stop over more time — more tear time, less peak force.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8720882"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2 · FALL-PROTECTION REFERENCE</a:t>
            </a:r>
            <a:endParaRPr lang="en-US" sz="975" dirty="0"/>
          </a:p>
        </p:txBody>
      </p:sp>
      <p:sp>
        <p:nvSpPr>
          <p:cNvPr id="3" name="Text 1"/>
          <p:cNvSpPr/>
          <p:nvPr/>
        </p:nvSpPr>
        <p:spPr>
          <a:xfrm>
            <a:off x="857250" y="838200"/>
            <a:ext cx="901671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Fall Factor &amp; Clearance — the Two Calculations</a:t>
            </a:r>
            <a:endParaRPr lang="en-US" sz="3000" dirty="0"/>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FALL FACTOR &amp; CLEARANCE</a:t>
            </a:r>
            <a:endParaRPr lang="en-US" sz="900" dirty="0"/>
          </a:p>
        </p:txBody>
      </p:sp>
      <p:sp>
        <p:nvSpPr>
          <p:cNvPr id="55" name="Text 53"/>
          <p:cNvSpPr/>
          <p:nvPr/>
        </p:nvSpPr>
        <p:spPr>
          <a:xfrm>
            <a:off x="17544529" y="10475120"/>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40</a:t>
            </a:r>
            <a:endParaRPr lang="en-US" sz="900" dirty="0"/>
          </a:p>
        </p:txBody>
      </p:sp>
      <p:sp>
        <p:nvSpPr>
          <p:cNvPr id="642" name="Shape 642"/>
          <p:cNvSpPr/>
          <p:nvPr/>
        </p:nvSpPr>
        <p:spPr>
          <a:xfrm>
            <a:off x="857250" y="1905000"/>
            <a:ext cx="8128000" cy="1168400"/>
          </a:xfrm>
          <a:prstGeom prst="roundRect">
            <a:avLst>
              <a:gd name="adj" fmla="val 3000"/>
            </a:avLst>
          </a:prstGeom>
          <a:solidFill>
            <a:srgbClr val="0E2A47"/>
          </a:solidFill>
          <a:ln>
            <a:noFill/>
          </a:ln>
        </p:spPr>
        <p:txBody>
          <a:bodyPr/>
          <a:lstStyle/>
          <a:p>
            <a:endParaRPr lang="en-US"/>
          </a:p>
        </p:txBody>
      </p:sp>
      <p:sp>
        <p:nvSpPr>
          <p:cNvPr id="643" name="Text 643"/>
          <p:cNvSpPr txBox="1"/>
          <p:nvPr/>
        </p:nvSpPr>
        <p:spPr>
          <a:xfrm>
            <a:off x="1187450" y="2108200"/>
            <a:ext cx="7467600" cy="431800"/>
          </a:xfrm>
          <a:prstGeom prst="rect">
            <a:avLst/>
          </a:prstGeom>
          <a:noFill/>
          <a:ln>
            <a:noFill/>
          </a:ln>
        </p:spPr>
        <p:txBody>
          <a:bodyPr wrap="square" lIns="0" tIns="0" rIns="0" bIns="0" rtlCol="0" anchor="t">
            <a:noAutofit/>
          </a:bodyPr>
          <a:lstStyle/>
          <a:p>
            <a:pPr marL="0" indent="0" algn="l">
              <a:lnSpc>
                <a:spcPct val="112000"/>
              </a:lnSpc>
              <a:buNone/>
            </a:pPr>
            <a:r>
              <a:rPr lang="en-US" sz="2600" b="1" dirty="0">
                <a:solidFill>
                  <a:srgbClr val="FFFFFF"/>
                </a:solidFill>
                <a:latin typeface="Arial"/>
                <a:cs typeface="Arial"/>
              </a:rPr>
              <a:t>FF = Fall ÷ Rope</a:t>
            </a:r>
            <a:endParaRPr lang="en-US" sz="2600" dirty="0"/>
          </a:p>
        </p:txBody>
      </p:sp>
      <p:sp>
        <p:nvSpPr>
          <p:cNvPr id="644" name="Text 644"/>
          <p:cNvSpPr txBox="1"/>
          <p:nvPr/>
        </p:nvSpPr>
        <p:spPr>
          <a:xfrm>
            <a:off x="1187450" y="2616200"/>
            <a:ext cx="7467600" cy="304800"/>
          </a:xfrm>
          <a:prstGeom prst="rect">
            <a:avLst/>
          </a:prstGeom>
          <a:noFill/>
          <a:ln>
            <a:noFill/>
          </a:ln>
        </p:spPr>
        <p:txBody>
          <a:bodyPr wrap="square" lIns="0" tIns="0" rIns="0" bIns="0" rtlCol="0" anchor="t">
            <a:noAutofit/>
          </a:bodyPr>
          <a:lstStyle/>
          <a:p>
            <a:pPr marL="0" indent="0" algn="l">
              <a:lnSpc>
                <a:spcPct val="112000"/>
              </a:lnSpc>
              <a:buNone/>
            </a:pPr>
            <a:r>
              <a:rPr lang="en-US" sz="1500" dirty="0">
                <a:solidFill>
                  <a:srgbClr val="C7D4E1"/>
                </a:solidFill>
                <a:latin typeface="Arial"/>
                <a:cs typeface="Arial"/>
              </a:rPr>
              <a:t>3-ft cowstail — where you keep the backup decides everything.</a:t>
            </a:r>
            <a:endParaRPr lang="en-US" sz="1500" dirty="0"/>
          </a:p>
        </p:txBody>
      </p:sp>
      <p:sp>
        <p:nvSpPr>
          <p:cNvPr id="645" name="Shape 645"/>
          <p:cNvSpPr/>
          <p:nvPr/>
        </p:nvSpPr>
        <p:spPr>
          <a:xfrm>
            <a:off x="857250" y="4241800"/>
            <a:ext cx="8128000" cy="19050"/>
          </a:xfrm>
          <a:prstGeom prst="rect">
            <a:avLst/>
          </a:prstGeom>
          <a:solidFill>
            <a:srgbClr val="E2E7ED"/>
          </a:solidFill>
          <a:ln>
            <a:noFill/>
          </a:ln>
        </p:spPr>
        <p:txBody>
          <a:bodyPr/>
          <a:lstStyle/>
          <a:p>
            <a:endParaRPr lang="en-US"/>
          </a:p>
        </p:txBody>
      </p:sp>
      <p:sp>
        <p:nvSpPr>
          <p:cNvPr id="646" name="Shape 646"/>
          <p:cNvSpPr/>
          <p:nvPr/>
        </p:nvSpPr>
        <p:spPr>
          <a:xfrm>
            <a:off x="857250" y="3327400"/>
            <a:ext cx="8128000" cy="914400"/>
          </a:xfrm>
          <a:prstGeom prst="rect">
            <a:avLst/>
          </a:prstGeom>
          <a:solidFill>
            <a:srgbClr val="FFFFFF"/>
          </a:solidFill>
          <a:ln>
            <a:noFill/>
          </a:ln>
        </p:spPr>
        <p:txBody>
          <a:bodyPr/>
          <a:lstStyle/>
          <a:p>
            <a:endParaRPr lang="en-US"/>
          </a:p>
        </p:txBody>
      </p:sp>
      <p:sp>
        <p:nvSpPr>
          <p:cNvPr id="647" name="Text 647"/>
          <p:cNvSpPr txBox="1"/>
          <p:nvPr/>
        </p:nvSpPr>
        <p:spPr>
          <a:xfrm>
            <a:off x="1111250" y="3556000"/>
            <a:ext cx="1143000" cy="457200"/>
          </a:xfrm>
          <a:prstGeom prst="rect">
            <a:avLst/>
          </a:prstGeom>
          <a:noFill/>
          <a:ln>
            <a:noFill/>
          </a:ln>
        </p:spPr>
        <p:txBody>
          <a:bodyPr wrap="square" lIns="0" tIns="0" rIns="0" bIns="0" rtlCol="0" anchor="ctr">
            <a:noAutofit/>
          </a:bodyPr>
          <a:lstStyle/>
          <a:p>
            <a:pPr marL="0" indent="0" algn="l">
              <a:lnSpc>
                <a:spcPct val="112000"/>
              </a:lnSpc>
              <a:buNone/>
            </a:pPr>
            <a:r>
              <a:rPr lang="en-US" sz="2600" b="1" dirty="0">
                <a:solidFill>
                  <a:srgbClr val="1F8A5B"/>
                </a:solidFill>
                <a:latin typeface="Arial"/>
                <a:cs typeface="Arial"/>
              </a:rPr>
              <a:t>FF 0</a:t>
            </a:r>
            <a:endParaRPr lang="en-US" sz="2600" dirty="0"/>
          </a:p>
        </p:txBody>
      </p:sp>
      <p:sp>
        <p:nvSpPr>
          <p:cNvPr id="648" name="Shape 648"/>
          <p:cNvSpPr/>
          <p:nvPr/>
        </p:nvSpPr>
        <p:spPr>
          <a:xfrm>
            <a:off x="2381250" y="3683000"/>
            <a:ext cx="2794000" cy="203200"/>
          </a:xfrm>
          <a:prstGeom prst="rect">
            <a:avLst/>
          </a:prstGeom>
          <a:solidFill>
            <a:srgbClr val="E2E7ED"/>
          </a:solidFill>
          <a:ln>
            <a:noFill/>
          </a:ln>
        </p:spPr>
        <p:txBody>
          <a:bodyPr/>
          <a:lstStyle/>
          <a:p>
            <a:endParaRPr lang="en-US"/>
          </a:p>
        </p:txBody>
      </p:sp>
      <p:sp>
        <p:nvSpPr>
          <p:cNvPr id="649" name="Shape 649"/>
          <p:cNvSpPr/>
          <p:nvPr/>
        </p:nvSpPr>
        <p:spPr>
          <a:xfrm>
            <a:off x="2381250" y="3683000"/>
            <a:ext cx="152400" cy="203200"/>
          </a:xfrm>
          <a:prstGeom prst="rect">
            <a:avLst/>
          </a:prstGeom>
          <a:solidFill>
            <a:srgbClr val="1F8A5B"/>
          </a:solidFill>
          <a:ln>
            <a:noFill/>
          </a:ln>
        </p:spPr>
        <p:txBody>
          <a:bodyPr/>
          <a:lstStyle/>
          <a:p>
            <a:endParaRPr lang="en-US"/>
          </a:p>
        </p:txBody>
      </p:sp>
      <p:sp>
        <p:nvSpPr>
          <p:cNvPr id="650" name="Text 650"/>
          <p:cNvSpPr txBox="1"/>
          <p:nvPr/>
        </p:nvSpPr>
        <p:spPr>
          <a:xfrm>
            <a:off x="5454650" y="3479800"/>
            <a:ext cx="3302000" cy="609600"/>
          </a:xfrm>
          <a:prstGeom prst="rect">
            <a:avLst/>
          </a:prstGeom>
          <a:noFill/>
          <a:ln>
            <a:noFill/>
          </a:ln>
        </p:spPr>
        <p:txBody>
          <a:bodyPr wrap="square" lIns="0" tIns="0" rIns="0" bIns="0" rtlCol="0" anchor="ctr">
            <a:noAutofit/>
          </a:bodyPr>
          <a:lstStyle/>
          <a:p>
            <a:pPr marL="0" indent="0" algn="l">
              <a:lnSpc>
                <a:spcPct val="112000"/>
              </a:lnSpc>
              <a:buNone/>
            </a:pPr>
            <a:r>
              <a:rPr lang="en-US" sz="1500" dirty="0">
                <a:solidFill>
                  <a:srgbClr val="41505E"/>
                </a:solidFill>
                <a:latin typeface="Arial"/>
                <a:cs typeface="Arial"/>
              </a:rPr>
              <a:t>Backup above attachment · 0 ft ÷ 3 ft = 0</a:t>
            </a:r>
            <a:endParaRPr lang="en-US" sz="1500" dirty="0"/>
          </a:p>
        </p:txBody>
      </p:sp>
      <p:sp>
        <p:nvSpPr>
          <p:cNvPr id="651" name="Shape 651"/>
          <p:cNvSpPr/>
          <p:nvPr/>
        </p:nvSpPr>
        <p:spPr>
          <a:xfrm>
            <a:off x="857250" y="5334000"/>
            <a:ext cx="8128000" cy="19050"/>
          </a:xfrm>
          <a:prstGeom prst="rect">
            <a:avLst/>
          </a:prstGeom>
          <a:solidFill>
            <a:srgbClr val="E2E7ED"/>
          </a:solidFill>
          <a:ln>
            <a:noFill/>
          </a:ln>
        </p:spPr>
        <p:txBody>
          <a:bodyPr/>
          <a:lstStyle/>
          <a:p>
            <a:endParaRPr lang="en-US"/>
          </a:p>
        </p:txBody>
      </p:sp>
      <p:sp>
        <p:nvSpPr>
          <p:cNvPr id="652" name="Shape 652"/>
          <p:cNvSpPr/>
          <p:nvPr/>
        </p:nvSpPr>
        <p:spPr>
          <a:xfrm>
            <a:off x="857250" y="4419600"/>
            <a:ext cx="8128000" cy="914400"/>
          </a:xfrm>
          <a:prstGeom prst="rect">
            <a:avLst/>
          </a:prstGeom>
          <a:solidFill>
            <a:srgbClr val="FFFFFF"/>
          </a:solidFill>
          <a:ln>
            <a:noFill/>
          </a:ln>
        </p:spPr>
        <p:txBody>
          <a:bodyPr/>
          <a:lstStyle/>
          <a:p>
            <a:endParaRPr lang="en-US"/>
          </a:p>
        </p:txBody>
      </p:sp>
      <p:sp>
        <p:nvSpPr>
          <p:cNvPr id="653" name="Text 653"/>
          <p:cNvSpPr txBox="1"/>
          <p:nvPr/>
        </p:nvSpPr>
        <p:spPr>
          <a:xfrm>
            <a:off x="1111250" y="4648200"/>
            <a:ext cx="1143000" cy="457200"/>
          </a:xfrm>
          <a:prstGeom prst="rect">
            <a:avLst/>
          </a:prstGeom>
          <a:noFill/>
          <a:ln>
            <a:noFill/>
          </a:ln>
        </p:spPr>
        <p:txBody>
          <a:bodyPr wrap="square" lIns="0" tIns="0" rIns="0" bIns="0" rtlCol="0" anchor="ctr">
            <a:noAutofit/>
          </a:bodyPr>
          <a:lstStyle/>
          <a:p>
            <a:pPr marL="0" indent="0" algn="l">
              <a:lnSpc>
                <a:spcPct val="112000"/>
              </a:lnSpc>
              <a:buNone/>
            </a:pPr>
            <a:r>
              <a:rPr lang="en-US" sz="2600" b="1" dirty="0">
                <a:solidFill>
                  <a:srgbClr val="D9920B"/>
                </a:solidFill>
                <a:latin typeface="Arial"/>
                <a:cs typeface="Arial"/>
              </a:rPr>
              <a:t>FF 1</a:t>
            </a:r>
            <a:endParaRPr lang="en-US" sz="2600" dirty="0"/>
          </a:p>
        </p:txBody>
      </p:sp>
      <p:sp>
        <p:nvSpPr>
          <p:cNvPr id="654" name="Shape 654"/>
          <p:cNvSpPr/>
          <p:nvPr/>
        </p:nvSpPr>
        <p:spPr>
          <a:xfrm>
            <a:off x="2381250" y="4775200"/>
            <a:ext cx="2794000" cy="203200"/>
          </a:xfrm>
          <a:prstGeom prst="rect">
            <a:avLst/>
          </a:prstGeom>
          <a:solidFill>
            <a:srgbClr val="E2E7ED"/>
          </a:solidFill>
          <a:ln>
            <a:noFill/>
          </a:ln>
        </p:spPr>
        <p:txBody>
          <a:bodyPr/>
          <a:lstStyle/>
          <a:p>
            <a:endParaRPr lang="en-US"/>
          </a:p>
        </p:txBody>
      </p:sp>
      <p:sp>
        <p:nvSpPr>
          <p:cNvPr id="655" name="Shape 655"/>
          <p:cNvSpPr/>
          <p:nvPr/>
        </p:nvSpPr>
        <p:spPr>
          <a:xfrm>
            <a:off x="2381250" y="4775200"/>
            <a:ext cx="1397000" cy="203200"/>
          </a:xfrm>
          <a:prstGeom prst="rect">
            <a:avLst/>
          </a:prstGeom>
          <a:solidFill>
            <a:srgbClr val="D9920B"/>
          </a:solidFill>
          <a:ln>
            <a:noFill/>
          </a:ln>
        </p:spPr>
        <p:txBody>
          <a:bodyPr/>
          <a:lstStyle/>
          <a:p>
            <a:endParaRPr lang="en-US"/>
          </a:p>
        </p:txBody>
      </p:sp>
      <p:sp>
        <p:nvSpPr>
          <p:cNvPr id="656" name="Text 656"/>
          <p:cNvSpPr txBox="1"/>
          <p:nvPr/>
        </p:nvSpPr>
        <p:spPr>
          <a:xfrm>
            <a:off x="5454650" y="4572000"/>
            <a:ext cx="3302000" cy="609600"/>
          </a:xfrm>
          <a:prstGeom prst="rect">
            <a:avLst/>
          </a:prstGeom>
          <a:noFill/>
          <a:ln>
            <a:noFill/>
          </a:ln>
        </p:spPr>
        <p:txBody>
          <a:bodyPr wrap="square" lIns="0" tIns="0" rIns="0" bIns="0" rtlCol="0" anchor="ctr">
            <a:noAutofit/>
          </a:bodyPr>
          <a:lstStyle/>
          <a:p>
            <a:pPr marL="0" indent="0" algn="l">
              <a:lnSpc>
                <a:spcPct val="112000"/>
              </a:lnSpc>
              <a:buNone/>
            </a:pPr>
            <a:r>
              <a:rPr lang="en-US" sz="1500" dirty="0">
                <a:solidFill>
                  <a:srgbClr val="41505E"/>
                </a:solidFill>
                <a:latin typeface="Arial"/>
                <a:cs typeface="Arial"/>
              </a:rPr>
              <a:t>Backup level with attachment · 3 ft ÷ 3 ft = 1</a:t>
            </a:r>
            <a:endParaRPr lang="en-US" sz="1500" dirty="0"/>
          </a:p>
        </p:txBody>
      </p:sp>
      <p:sp>
        <p:nvSpPr>
          <p:cNvPr id="657" name="Shape 657"/>
          <p:cNvSpPr/>
          <p:nvPr/>
        </p:nvSpPr>
        <p:spPr>
          <a:xfrm>
            <a:off x="857250" y="6426200"/>
            <a:ext cx="8128000" cy="19050"/>
          </a:xfrm>
          <a:prstGeom prst="rect">
            <a:avLst/>
          </a:prstGeom>
          <a:solidFill>
            <a:srgbClr val="E2E7ED"/>
          </a:solidFill>
          <a:ln>
            <a:noFill/>
          </a:ln>
        </p:spPr>
        <p:txBody>
          <a:bodyPr/>
          <a:lstStyle/>
          <a:p>
            <a:endParaRPr lang="en-US"/>
          </a:p>
        </p:txBody>
      </p:sp>
      <p:sp>
        <p:nvSpPr>
          <p:cNvPr id="658" name="Shape 658"/>
          <p:cNvSpPr/>
          <p:nvPr/>
        </p:nvSpPr>
        <p:spPr>
          <a:xfrm>
            <a:off x="857250" y="5511800"/>
            <a:ext cx="8128000" cy="914400"/>
          </a:xfrm>
          <a:prstGeom prst="rect">
            <a:avLst/>
          </a:prstGeom>
          <a:solidFill>
            <a:srgbClr val="FFFFFF"/>
          </a:solidFill>
          <a:ln>
            <a:noFill/>
          </a:ln>
        </p:spPr>
        <p:txBody>
          <a:bodyPr/>
          <a:lstStyle/>
          <a:p>
            <a:endParaRPr lang="en-US"/>
          </a:p>
        </p:txBody>
      </p:sp>
      <p:sp>
        <p:nvSpPr>
          <p:cNvPr id="659" name="Text 659"/>
          <p:cNvSpPr txBox="1"/>
          <p:nvPr/>
        </p:nvSpPr>
        <p:spPr>
          <a:xfrm>
            <a:off x="1111250" y="5740400"/>
            <a:ext cx="1143000" cy="457200"/>
          </a:xfrm>
          <a:prstGeom prst="rect">
            <a:avLst/>
          </a:prstGeom>
          <a:noFill/>
          <a:ln>
            <a:noFill/>
          </a:ln>
        </p:spPr>
        <p:txBody>
          <a:bodyPr wrap="square" lIns="0" tIns="0" rIns="0" bIns="0" rtlCol="0" anchor="ctr">
            <a:noAutofit/>
          </a:bodyPr>
          <a:lstStyle/>
          <a:p>
            <a:pPr marL="0" indent="0" algn="l">
              <a:lnSpc>
                <a:spcPct val="112000"/>
              </a:lnSpc>
              <a:buNone/>
            </a:pPr>
            <a:r>
              <a:rPr lang="en-US" sz="2600" b="1" dirty="0">
                <a:solidFill>
                  <a:srgbClr val="C8341F"/>
                </a:solidFill>
                <a:latin typeface="Arial"/>
                <a:cs typeface="Arial"/>
              </a:rPr>
              <a:t>FF 2</a:t>
            </a:r>
            <a:endParaRPr lang="en-US" sz="2600" dirty="0"/>
          </a:p>
        </p:txBody>
      </p:sp>
      <p:sp>
        <p:nvSpPr>
          <p:cNvPr id="660" name="Shape 660"/>
          <p:cNvSpPr/>
          <p:nvPr/>
        </p:nvSpPr>
        <p:spPr>
          <a:xfrm>
            <a:off x="2381250" y="5867400"/>
            <a:ext cx="2794000" cy="203200"/>
          </a:xfrm>
          <a:prstGeom prst="rect">
            <a:avLst/>
          </a:prstGeom>
          <a:solidFill>
            <a:srgbClr val="E2E7ED"/>
          </a:solidFill>
          <a:ln>
            <a:noFill/>
          </a:ln>
        </p:spPr>
        <p:txBody>
          <a:bodyPr/>
          <a:lstStyle/>
          <a:p>
            <a:endParaRPr lang="en-US"/>
          </a:p>
        </p:txBody>
      </p:sp>
      <p:sp>
        <p:nvSpPr>
          <p:cNvPr id="661" name="Shape 661"/>
          <p:cNvSpPr/>
          <p:nvPr/>
        </p:nvSpPr>
        <p:spPr>
          <a:xfrm>
            <a:off x="2381250" y="5867400"/>
            <a:ext cx="2794000" cy="203200"/>
          </a:xfrm>
          <a:prstGeom prst="rect">
            <a:avLst/>
          </a:prstGeom>
          <a:solidFill>
            <a:srgbClr val="C8341F"/>
          </a:solidFill>
          <a:ln>
            <a:noFill/>
          </a:ln>
        </p:spPr>
        <p:txBody>
          <a:bodyPr/>
          <a:lstStyle/>
          <a:p>
            <a:endParaRPr lang="en-US"/>
          </a:p>
        </p:txBody>
      </p:sp>
      <p:sp>
        <p:nvSpPr>
          <p:cNvPr id="662" name="Text 662"/>
          <p:cNvSpPr txBox="1"/>
          <p:nvPr/>
        </p:nvSpPr>
        <p:spPr>
          <a:xfrm>
            <a:off x="5454650" y="5664200"/>
            <a:ext cx="3302000" cy="609600"/>
          </a:xfrm>
          <a:prstGeom prst="rect">
            <a:avLst/>
          </a:prstGeom>
          <a:noFill/>
          <a:ln>
            <a:noFill/>
          </a:ln>
        </p:spPr>
        <p:txBody>
          <a:bodyPr wrap="square" lIns="0" tIns="0" rIns="0" bIns="0" rtlCol="0" anchor="ctr">
            <a:noAutofit/>
          </a:bodyPr>
          <a:lstStyle/>
          <a:p>
            <a:pPr marL="0" indent="0" algn="l">
              <a:lnSpc>
                <a:spcPct val="112000"/>
              </a:lnSpc>
              <a:buNone/>
            </a:pPr>
            <a:r>
              <a:rPr lang="en-US" sz="1500" dirty="0">
                <a:solidFill>
                  <a:srgbClr val="41505E"/>
                </a:solidFill>
                <a:latin typeface="Arial"/>
                <a:cs typeface="Arial"/>
              </a:rPr>
              <a:t>Backup at feet · 6 ft ÷ 3 ft = 2 — over 4-ft limit</a:t>
            </a:r>
            <a:endParaRPr lang="en-US" sz="1500" dirty="0"/>
          </a:p>
        </p:txBody>
      </p:sp>
      <p:sp>
        <p:nvSpPr>
          <p:cNvPr id="663" name="Shape 663"/>
          <p:cNvSpPr/>
          <p:nvPr/>
        </p:nvSpPr>
        <p:spPr>
          <a:xfrm>
            <a:off x="857250" y="6705600"/>
            <a:ext cx="8128000" cy="1524000"/>
          </a:xfrm>
          <a:prstGeom prst="rect">
            <a:avLst/>
          </a:prstGeom>
          <a:solidFill>
            <a:srgbClr val="FFF4EC"/>
          </a:solidFill>
          <a:ln>
            <a:noFill/>
          </a:ln>
        </p:spPr>
        <p:txBody>
          <a:bodyPr/>
          <a:lstStyle/>
          <a:p>
            <a:endParaRPr lang="en-US"/>
          </a:p>
        </p:txBody>
      </p:sp>
      <p:sp>
        <p:nvSpPr>
          <p:cNvPr id="664" name="Shape 664"/>
          <p:cNvSpPr/>
          <p:nvPr/>
        </p:nvSpPr>
        <p:spPr>
          <a:xfrm>
            <a:off x="857250" y="6705600"/>
            <a:ext cx="63500" cy="1524000"/>
          </a:xfrm>
          <a:prstGeom prst="rect">
            <a:avLst/>
          </a:prstGeom>
          <a:solidFill>
            <a:srgbClr val="F26A1B"/>
          </a:solidFill>
          <a:ln>
            <a:noFill/>
          </a:ln>
        </p:spPr>
        <p:txBody>
          <a:bodyPr/>
          <a:lstStyle/>
          <a:p>
            <a:endParaRPr lang="en-US"/>
          </a:p>
        </p:txBody>
      </p:sp>
      <p:sp>
        <p:nvSpPr>
          <p:cNvPr id="665" name="Text 665"/>
          <p:cNvSpPr txBox="1"/>
          <p:nvPr/>
        </p:nvSpPr>
        <p:spPr>
          <a:xfrm>
            <a:off x="1212850" y="6959600"/>
            <a:ext cx="7416800" cy="11430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Most-watched habit on assessment: </a:t>
            </a:r>
            <a:r>
              <a:rPr lang="en-US" sz="1700" dirty="0">
                <a:solidFill>
                  <a:srgbClr val="41505E"/>
                </a:solidFill>
                <a:latin typeface="Arial"/>
                <a:cs typeface="Arial"/>
              </a:rPr>
              <a:t>SPRAT caps backup free fall at 4 ft (aim ≤ 2 ft) and main-system free fall at 2 ft. Keep the backup high.</a:t>
            </a:r>
            <a:endParaRPr lang="en-US" sz="1700" dirty="0"/>
          </a:p>
        </p:txBody>
      </p:sp>
      <p:sp>
        <p:nvSpPr>
          <p:cNvPr id="666" name="Shape 666"/>
          <p:cNvSpPr/>
          <p:nvPr/>
        </p:nvSpPr>
        <p:spPr>
          <a:xfrm>
            <a:off x="9296400" y="7239000"/>
            <a:ext cx="8134350" cy="19050"/>
          </a:xfrm>
          <a:prstGeom prst="rect">
            <a:avLst/>
          </a:prstGeom>
          <a:solidFill>
            <a:srgbClr val="E2E7ED"/>
          </a:solidFill>
          <a:ln>
            <a:noFill/>
          </a:ln>
        </p:spPr>
        <p:txBody>
          <a:bodyPr/>
          <a:lstStyle/>
          <a:p>
            <a:endParaRPr lang="en-US"/>
          </a:p>
        </p:txBody>
      </p:sp>
      <p:sp>
        <p:nvSpPr>
          <p:cNvPr id="667" name="Shape 667"/>
          <p:cNvSpPr/>
          <p:nvPr/>
        </p:nvSpPr>
        <p:spPr>
          <a:xfrm>
            <a:off x="9296400" y="1905000"/>
            <a:ext cx="8134350" cy="5334000"/>
          </a:xfrm>
          <a:prstGeom prst="rect">
            <a:avLst/>
          </a:prstGeom>
          <a:solidFill>
            <a:srgbClr val="FFFFFF"/>
          </a:solidFill>
          <a:ln>
            <a:noFill/>
          </a:ln>
        </p:spPr>
        <p:txBody>
          <a:bodyPr/>
          <a:lstStyle/>
          <a:p>
            <a:endParaRPr lang="en-US"/>
          </a:p>
        </p:txBody>
      </p:sp>
      <p:sp>
        <p:nvSpPr>
          <p:cNvPr id="668" name="Text 668"/>
          <p:cNvSpPr txBox="1"/>
          <p:nvPr/>
        </p:nvSpPr>
        <p:spPr>
          <a:xfrm>
            <a:off x="9652000" y="2209800"/>
            <a:ext cx="7423150" cy="2540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F26A1B"/>
                </a:solidFill>
                <a:latin typeface="Courier New"/>
                <a:cs typeface="Courier New"/>
              </a:rPr>
              <a:t>CLEARANCE — WORKED EXAMPLE</a:t>
            </a:r>
            <a:endParaRPr lang="en-US" sz="1100" dirty="0"/>
          </a:p>
        </p:txBody>
      </p:sp>
      <p:sp>
        <p:nvSpPr>
          <p:cNvPr id="669" name="Text 669"/>
          <p:cNvSpPr txBox="1"/>
          <p:nvPr/>
        </p:nvSpPr>
        <p:spPr>
          <a:xfrm>
            <a:off x="9652000" y="2514600"/>
            <a:ext cx="7423150" cy="3048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8593A2"/>
                </a:solidFill>
                <a:latin typeface="Arial"/>
                <a:cs typeface="Arial"/>
              </a:rPr>
              <a:t>6-ft energy-absorbing lanyard, 6-ft worker · example values</a:t>
            </a:r>
            <a:endParaRPr lang="en-US" sz="1600" dirty="0"/>
          </a:p>
        </p:txBody>
      </p:sp>
      <p:sp>
        <p:nvSpPr>
          <p:cNvPr id="670" name="Shape 670"/>
          <p:cNvSpPr/>
          <p:nvPr/>
        </p:nvSpPr>
        <p:spPr>
          <a:xfrm>
            <a:off x="9652000" y="3619500"/>
            <a:ext cx="7423150" cy="12700"/>
          </a:xfrm>
          <a:prstGeom prst="rect">
            <a:avLst/>
          </a:prstGeom>
          <a:solidFill>
            <a:srgbClr val="E2E7ED"/>
          </a:solidFill>
          <a:ln>
            <a:noFill/>
          </a:ln>
        </p:spPr>
        <p:txBody>
          <a:bodyPr/>
          <a:lstStyle/>
          <a:p>
            <a:endParaRPr lang="en-US"/>
          </a:p>
        </p:txBody>
      </p:sp>
      <p:sp>
        <p:nvSpPr>
          <p:cNvPr id="671" name="Text 671"/>
          <p:cNvSpPr txBox="1"/>
          <p:nvPr/>
        </p:nvSpPr>
        <p:spPr>
          <a:xfrm>
            <a:off x="9652000" y="3175000"/>
            <a:ext cx="4826000" cy="3048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Free fall (lanyard length)</a:t>
            </a:r>
            <a:endParaRPr lang="en-US" sz="1700" dirty="0"/>
          </a:p>
        </p:txBody>
      </p:sp>
      <p:sp>
        <p:nvSpPr>
          <p:cNvPr id="672" name="Text 672"/>
          <p:cNvSpPr txBox="1"/>
          <p:nvPr/>
        </p:nvSpPr>
        <p:spPr>
          <a:xfrm>
            <a:off x="14535150" y="3175000"/>
            <a:ext cx="2540000" cy="304800"/>
          </a:xfrm>
          <a:prstGeom prst="rect">
            <a:avLst/>
          </a:prstGeom>
          <a:noFill/>
          <a:ln>
            <a:noFill/>
          </a:ln>
        </p:spPr>
        <p:txBody>
          <a:bodyPr wrap="square" lIns="0" tIns="0" rIns="0" bIns="0" rtlCol="0" anchor="t">
            <a:noAutofit/>
          </a:bodyPr>
          <a:lstStyle/>
          <a:p>
            <a:pPr marL="0" indent="0" algn="r">
              <a:lnSpc>
                <a:spcPct val="112000"/>
              </a:lnSpc>
              <a:buNone/>
            </a:pPr>
            <a:r>
              <a:rPr lang="en-US" sz="1700" b="1" dirty="0">
                <a:solidFill>
                  <a:srgbClr val="0E2A47"/>
                </a:solidFill>
                <a:latin typeface="Arial"/>
                <a:cs typeface="Arial"/>
              </a:rPr>
              <a:t>6.0 ft</a:t>
            </a:r>
            <a:endParaRPr lang="en-US" sz="1700" dirty="0"/>
          </a:p>
        </p:txBody>
      </p:sp>
      <p:sp>
        <p:nvSpPr>
          <p:cNvPr id="673" name="Shape 673"/>
          <p:cNvSpPr/>
          <p:nvPr/>
        </p:nvSpPr>
        <p:spPr>
          <a:xfrm>
            <a:off x="9652000" y="4254500"/>
            <a:ext cx="7423150" cy="12700"/>
          </a:xfrm>
          <a:prstGeom prst="rect">
            <a:avLst/>
          </a:prstGeom>
          <a:solidFill>
            <a:srgbClr val="E2E7ED"/>
          </a:solidFill>
          <a:ln>
            <a:noFill/>
          </a:ln>
        </p:spPr>
        <p:txBody>
          <a:bodyPr/>
          <a:lstStyle/>
          <a:p>
            <a:endParaRPr lang="en-US"/>
          </a:p>
        </p:txBody>
      </p:sp>
      <p:sp>
        <p:nvSpPr>
          <p:cNvPr id="674" name="Text 674"/>
          <p:cNvSpPr txBox="1"/>
          <p:nvPr/>
        </p:nvSpPr>
        <p:spPr>
          <a:xfrm>
            <a:off x="9652000" y="3810000"/>
            <a:ext cx="4826000" cy="3048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Absorber deployment (OSHA max)</a:t>
            </a:r>
            <a:endParaRPr lang="en-US" sz="1700" dirty="0"/>
          </a:p>
        </p:txBody>
      </p:sp>
      <p:sp>
        <p:nvSpPr>
          <p:cNvPr id="675" name="Text 675"/>
          <p:cNvSpPr txBox="1"/>
          <p:nvPr/>
        </p:nvSpPr>
        <p:spPr>
          <a:xfrm>
            <a:off x="14535150" y="3810000"/>
            <a:ext cx="2540000" cy="304800"/>
          </a:xfrm>
          <a:prstGeom prst="rect">
            <a:avLst/>
          </a:prstGeom>
          <a:noFill/>
          <a:ln>
            <a:noFill/>
          </a:ln>
        </p:spPr>
        <p:txBody>
          <a:bodyPr wrap="square" lIns="0" tIns="0" rIns="0" bIns="0" rtlCol="0" anchor="t">
            <a:noAutofit/>
          </a:bodyPr>
          <a:lstStyle/>
          <a:p>
            <a:pPr marL="0" indent="0" algn="r">
              <a:lnSpc>
                <a:spcPct val="112000"/>
              </a:lnSpc>
              <a:buNone/>
            </a:pPr>
            <a:r>
              <a:rPr lang="en-US" sz="1700" b="1" dirty="0">
                <a:solidFill>
                  <a:srgbClr val="0E2A47"/>
                </a:solidFill>
                <a:latin typeface="Arial"/>
                <a:cs typeface="Arial"/>
              </a:rPr>
              <a:t>3.5 ft</a:t>
            </a:r>
            <a:endParaRPr lang="en-US" sz="1700" dirty="0"/>
          </a:p>
        </p:txBody>
      </p:sp>
      <p:sp>
        <p:nvSpPr>
          <p:cNvPr id="676" name="Shape 676"/>
          <p:cNvSpPr/>
          <p:nvPr/>
        </p:nvSpPr>
        <p:spPr>
          <a:xfrm>
            <a:off x="9652000" y="4889500"/>
            <a:ext cx="7423150" cy="12700"/>
          </a:xfrm>
          <a:prstGeom prst="rect">
            <a:avLst/>
          </a:prstGeom>
          <a:solidFill>
            <a:srgbClr val="E2E7ED"/>
          </a:solidFill>
          <a:ln>
            <a:noFill/>
          </a:ln>
        </p:spPr>
        <p:txBody>
          <a:bodyPr/>
          <a:lstStyle/>
          <a:p>
            <a:endParaRPr lang="en-US"/>
          </a:p>
        </p:txBody>
      </p:sp>
      <p:sp>
        <p:nvSpPr>
          <p:cNvPr id="677" name="Text 677"/>
          <p:cNvSpPr txBox="1"/>
          <p:nvPr/>
        </p:nvSpPr>
        <p:spPr>
          <a:xfrm>
            <a:off x="9652000" y="4445000"/>
            <a:ext cx="4826000" cy="3048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D-ring to feet (worker height)</a:t>
            </a:r>
            <a:endParaRPr lang="en-US" sz="1700" dirty="0"/>
          </a:p>
        </p:txBody>
      </p:sp>
      <p:sp>
        <p:nvSpPr>
          <p:cNvPr id="678" name="Text 678"/>
          <p:cNvSpPr txBox="1"/>
          <p:nvPr/>
        </p:nvSpPr>
        <p:spPr>
          <a:xfrm>
            <a:off x="14535150" y="4445000"/>
            <a:ext cx="2540000" cy="304800"/>
          </a:xfrm>
          <a:prstGeom prst="rect">
            <a:avLst/>
          </a:prstGeom>
          <a:noFill/>
          <a:ln>
            <a:noFill/>
          </a:ln>
        </p:spPr>
        <p:txBody>
          <a:bodyPr wrap="square" lIns="0" tIns="0" rIns="0" bIns="0" rtlCol="0" anchor="t">
            <a:noAutofit/>
          </a:bodyPr>
          <a:lstStyle/>
          <a:p>
            <a:pPr marL="0" indent="0" algn="r">
              <a:lnSpc>
                <a:spcPct val="112000"/>
              </a:lnSpc>
              <a:buNone/>
            </a:pPr>
            <a:r>
              <a:rPr lang="en-US" sz="1700" b="1" dirty="0">
                <a:solidFill>
                  <a:srgbClr val="0E2A47"/>
                </a:solidFill>
                <a:latin typeface="Arial"/>
                <a:cs typeface="Arial"/>
              </a:rPr>
              <a:t>5.0 ft</a:t>
            </a:r>
            <a:endParaRPr lang="en-US" sz="1700" dirty="0"/>
          </a:p>
        </p:txBody>
      </p:sp>
      <p:sp>
        <p:nvSpPr>
          <p:cNvPr id="679" name="Shape 679"/>
          <p:cNvSpPr/>
          <p:nvPr/>
        </p:nvSpPr>
        <p:spPr>
          <a:xfrm>
            <a:off x="9652000" y="5524500"/>
            <a:ext cx="7423150" cy="12700"/>
          </a:xfrm>
          <a:prstGeom prst="rect">
            <a:avLst/>
          </a:prstGeom>
          <a:solidFill>
            <a:srgbClr val="E2E7ED"/>
          </a:solidFill>
          <a:ln>
            <a:noFill/>
          </a:ln>
        </p:spPr>
        <p:txBody>
          <a:bodyPr/>
          <a:lstStyle/>
          <a:p>
            <a:endParaRPr lang="en-US"/>
          </a:p>
        </p:txBody>
      </p:sp>
      <p:sp>
        <p:nvSpPr>
          <p:cNvPr id="680" name="Text 680"/>
          <p:cNvSpPr txBox="1"/>
          <p:nvPr/>
        </p:nvSpPr>
        <p:spPr>
          <a:xfrm>
            <a:off x="9652000" y="5080000"/>
            <a:ext cx="4826000" cy="3048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Harness stretch + D-ring shift</a:t>
            </a:r>
            <a:endParaRPr lang="en-US" sz="1700" dirty="0"/>
          </a:p>
        </p:txBody>
      </p:sp>
      <p:sp>
        <p:nvSpPr>
          <p:cNvPr id="681" name="Text 681"/>
          <p:cNvSpPr txBox="1"/>
          <p:nvPr/>
        </p:nvSpPr>
        <p:spPr>
          <a:xfrm>
            <a:off x="14535150" y="5080000"/>
            <a:ext cx="2540000" cy="304800"/>
          </a:xfrm>
          <a:prstGeom prst="rect">
            <a:avLst/>
          </a:prstGeom>
          <a:noFill/>
          <a:ln>
            <a:noFill/>
          </a:ln>
        </p:spPr>
        <p:txBody>
          <a:bodyPr wrap="square" lIns="0" tIns="0" rIns="0" bIns="0" rtlCol="0" anchor="t">
            <a:noAutofit/>
          </a:bodyPr>
          <a:lstStyle/>
          <a:p>
            <a:pPr marL="0" indent="0" algn="r">
              <a:lnSpc>
                <a:spcPct val="112000"/>
              </a:lnSpc>
              <a:buNone/>
            </a:pPr>
            <a:r>
              <a:rPr lang="en-US" sz="1700" b="1" dirty="0">
                <a:solidFill>
                  <a:srgbClr val="0E2A47"/>
                </a:solidFill>
                <a:latin typeface="Arial"/>
                <a:cs typeface="Arial"/>
              </a:rPr>
              <a:t>1.0 ft</a:t>
            </a:r>
            <a:endParaRPr lang="en-US" sz="1700" dirty="0"/>
          </a:p>
        </p:txBody>
      </p:sp>
      <p:sp>
        <p:nvSpPr>
          <p:cNvPr id="682" name="Shape 682"/>
          <p:cNvSpPr/>
          <p:nvPr/>
        </p:nvSpPr>
        <p:spPr>
          <a:xfrm>
            <a:off x="9652000" y="6159500"/>
            <a:ext cx="7423150" cy="12700"/>
          </a:xfrm>
          <a:prstGeom prst="rect">
            <a:avLst/>
          </a:prstGeom>
          <a:solidFill>
            <a:srgbClr val="E2E7ED"/>
          </a:solidFill>
          <a:ln>
            <a:noFill/>
          </a:ln>
        </p:spPr>
        <p:txBody>
          <a:bodyPr/>
          <a:lstStyle/>
          <a:p>
            <a:endParaRPr lang="en-US"/>
          </a:p>
        </p:txBody>
      </p:sp>
      <p:sp>
        <p:nvSpPr>
          <p:cNvPr id="683" name="Text 683"/>
          <p:cNvSpPr txBox="1"/>
          <p:nvPr/>
        </p:nvSpPr>
        <p:spPr>
          <a:xfrm>
            <a:off x="9652000" y="5715000"/>
            <a:ext cx="4826000" cy="3048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Safety margin</a:t>
            </a:r>
            <a:endParaRPr lang="en-US" sz="1700" dirty="0"/>
          </a:p>
        </p:txBody>
      </p:sp>
      <p:sp>
        <p:nvSpPr>
          <p:cNvPr id="684" name="Text 684"/>
          <p:cNvSpPr txBox="1"/>
          <p:nvPr/>
        </p:nvSpPr>
        <p:spPr>
          <a:xfrm>
            <a:off x="14535150" y="5715000"/>
            <a:ext cx="2540000" cy="304800"/>
          </a:xfrm>
          <a:prstGeom prst="rect">
            <a:avLst/>
          </a:prstGeom>
          <a:noFill/>
          <a:ln>
            <a:noFill/>
          </a:ln>
        </p:spPr>
        <p:txBody>
          <a:bodyPr wrap="square" lIns="0" tIns="0" rIns="0" bIns="0" rtlCol="0" anchor="t">
            <a:noAutofit/>
          </a:bodyPr>
          <a:lstStyle/>
          <a:p>
            <a:pPr marL="0" indent="0" algn="r">
              <a:lnSpc>
                <a:spcPct val="112000"/>
              </a:lnSpc>
              <a:buNone/>
            </a:pPr>
            <a:r>
              <a:rPr lang="en-US" sz="1700" b="1" dirty="0">
                <a:solidFill>
                  <a:srgbClr val="0E2A47"/>
                </a:solidFill>
                <a:latin typeface="Arial"/>
                <a:cs typeface="Arial"/>
              </a:rPr>
              <a:t>2.0 ft</a:t>
            </a:r>
            <a:endParaRPr lang="en-US" sz="1700" dirty="0"/>
          </a:p>
        </p:txBody>
      </p:sp>
      <p:sp>
        <p:nvSpPr>
          <p:cNvPr id="685" name="Text 685"/>
          <p:cNvSpPr txBox="1"/>
          <p:nvPr/>
        </p:nvSpPr>
        <p:spPr>
          <a:xfrm>
            <a:off x="9652000" y="6350000"/>
            <a:ext cx="4826000" cy="3810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C8341F"/>
                </a:solidFill>
                <a:latin typeface="Arial"/>
                <a:cs typeface="Arial"/>
              </a:rPr>
              <a:t>Clearance needed below anchor</a:t>
            </a:r>
            <a:endParaRPr lang="en-US" sz="1900" dirty="0"/>
          </a:p>
        </p:txBody>
      </p:sp>
      <p:sp>
        <p:nvSpPr>
          <p:cNvPr id="686" name="Text 686"/>
          <p:cNvSpPr txBox="1"/>
          <p:nvPr/>
        </p:nvSpPr>
        <p:spPr>
          <a:xfrm>
            <a:off x="14535150" y="6350000"/>
            <a:ext cx="2540000" cy="381000"/>
          </a:xfrm>
          <a:prstGeom prst="rect">
            <a:avLst/>
          </a:prstGeom>
          <a:noFill/>
          <a:ln>
            <a:noFill/>
          </a:ln>
        </p:spPr>
        <p:txBody>
          <a:bodyPr wrap="square" lIns="0" tIns="0" rIns="0" bIns="0" rtlCol="0" anchor="t">
            <a:noAutofit/>
          </a:bodyPr>
          <a:lstStyle/>
          <a:p>
            <a:pPr marL="0" indent="0" algn="r">
              <a:lnSpc>
                <a:spcPct val="112000"/>
              </a:lnSpc>
              <a:buNone/>
            </a:pPr>
            <a:r>
              <a:rPr lang="en-US" sz="1900" b="1" dirty="0">
                <a:solidFill>
                  <a:srgbClr val="C8341F"/>
                </a:solidFill>
                <a:latin typeface="Arial"/>
                <a:cs typeface="Arial"/>
              </a:rPr>
              <a:t>17.5 ft</a:t>
            </a:r>
            <a:endParaRPr lang="en-US" sz="1900" dirty="0"/>
          </a:p>
        </p:txBody>
      </p:sp>
      <p:sp>
        <p:nvSpPr>
          <p:cNvPr id="687" name="Shape 687"/>
          <p:cNvSpPr/>
          <p:nvPr/>
        </p:nvSpPr>
        <p:spPr>
          <a:xfrm>
            <a:off x="9296400" y="7442200"/>
            <a:ext cx="8134350" cy="1651000"/>
          </a:xfrm>
          <a:prstGeom prst="rect">
            <a:avLst/>
          </a:prstGeom>
          <a:solidFill>
            <a:srgbClr val="FDF1EF"/>
          </a:solidFill>
          <a:ln>
            <a:noFill/>
          </a:ln>
        </p:spPr>
        <p:txBody>
          <a:bodyPr/>
          <a:lstStyle/>
          <a:p>
            <a:endParaRPr lang="en-US"/>
          </a:p>
        </p:txBody>
      </p:sp>
      <p:sp>
        <p:nvSpPr>
          <p:cNvPr id="688" name="Shape 688"/>
          <p:cNvSpPr/>
          <p:nvPr/>
        </p:nvSpPr>
        <p:spPr>
          <a:xfrm>
            <a:off x="9296400" y="7442200"/>
            <a:ext cx="63500" cy="1651000"/>
          </a:xfrm>
          <a:prstGeom prst="rect">
            <a:avLst/>
          </a:prstGeom>
          <a:solidFill>
            <a:srgbClr val="C8341F"/>
          </a:solidFill>
          <a:ln>
            <a:noFill/>
          </a:ln>
        </p:spPr>
        <p:txBody>
          <a:bodyPr/>
          <a:lstStyle/>
          <a:p>
            <a:endParaRPr lang="en-US"/>
          </a:p>
        </p:txBody>
      </p:sp>
      <p:sp>
        <p:nvSpPr>
          <p:cNvPr id="689" name="Text 689"/>
          <p:cNvSpPr txBox="1"/>
          <p:nvPr/>
        </p:nvSpPr>
        <p:spPr>
          <a:xfrm>
            <a:off x="9652000" y="7696200"/>
            <a:ext cx="7423150" cy="12700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The shock: </a:t>
            </a:r>
            <a:r>
              <a:rPr lang="en-US" sz="1700" dirty="0">
                <a:solidFill>
                  <a:srgbClr val="41505E"/>
                </a:solidFill>
                <a:latin typeface="Arial"/>
                <a:cs typeface="Arial"/>
              </a:rPr>
              <a:t>working 15 ft above the ground with this lanyard, you hit the ground before the fall is arrested. Use your own system’s numbers.</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2 · FALL FACTOR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Fall Factor — Where the Backup Sits Decides the Fall</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FORMULA</a:t>
            </a:r>
          </a:p>
          <a:p>
            <a:pPr marL="0" indent="0" algn="l">
              <a:spcBef>
                <a:spcPts val="400"/>
              </a:spcBef>
              <a:buNone/>
            </a:pPr>
            <a:r>
              <a:rPr lang="en-US" sz="1800" b="1" kern="0" dirty="0">
                <a:solidFill>
                  <a:srgbClr val="FFFFFF"/>
                </a:solidFill>
                <a:latin typeface="Arial"/>
                <a:ea typeface="Arial"/>
                <a:cs typeface="Arial"/>
              </a:rPr>
              <a:t>Fall factor = distance fallen ÷ length of lanyard</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HABIT</a:t>
            </a:r>
          </a:p>
          <a:p>
            <a:pPr marL="0" indent="0" algn="l">
              <a:spcBef>
                <a:spcPts val="400"/>
              </a:spcBef>
              <a:buNone/>
            </a:pPr>
            <a:r>
              <a:rPr lang="en-US" sz="1600" kern="0" dirty="0">
                <a:solidFill>
                  <a:srgbClr val="FFFFFF"/>
                </a:solidFill>
                <a:latin typeface="Arial"/>
                <a:ea typeface="Arial"/>
                <a:cs typeface="Arial"/>
              </a:rPr>
              <a:t>Keep the backup above your harness attachment — aim for FF 0 on every move.</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FALL FACTOR</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41</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255151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2551517"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Deviations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Redirect the rope path safely</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Approach under control, manage both systems, transfer the deviation connection in sequence and control pendulum / swing potential.</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deviations are used</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They redirect ropes around hazards, improve access geometry, or protect the system without creating a full re-anchor.</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when geometry supports it</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Consider deviation angle, rescue implications and whether the redirection creates dangerous swing or loading.</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Disconnecting in the wrong order</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Loss of protection, uncontrolled swing, trapping the device or loading a connector incorrectly.</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Continuous protection, correct sequence, controlled body position and awareness of swing hazards.</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“Is a deviation an anchor?”</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It redirects the rope path — teach the specific system design; do not assume it functions like a primary independent anchor.</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2 · DEVIATIONS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Deviations — The Bigger the Angle, the Bigger the Load</a:t>
            </a:r>
          </a:p>
        </p:txBody>
      </p:sp>
      <p:pic>
        <p:nvPicPr>
          <p:cNvPr id="13" name="Diagram 13"/>
          <p:cNvPicPr>
            <a:picLocks noChangeAspect="1"/>
          </p:cNvPicPr>
          <p:nvPr/>
        </p:nvPicPr>
        <p:blipFill>
          <a:blip r:embed="rId3"/>
          <a:stretch>
            <a:fillRect/>
          </a:stretch>
        </p:blipFill>
        <p:spPr>
          <a:xfrm>
            <a:off x="889000" y="1549400"/>
            <a:ext cx="16510000" cy="6096000"/>
          </a:xfrm>
          <a:prstGeom prst="rect">
            <a:avLst/>
          </a:prstGeom>
        </p:spPr>
      </p:pic>
      <p:sp>
        <p:nvSpPr>
          <p:cNvPr id="14" name="Shape 14"/>
          <p:cNvSpPr/>
          <p:nvPr/>
        </p:nvSpPr>
        <p:spPr>
          <a:xfrm>
            <a:off x="889000" y="7848600"/>
            <a:ext cx="16510000" cy="12192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WHY IT MATTERS</a:t>
            </a:r>
          </a:p>
          <a:p>
            <a:pPr marL="0" indent="0" algn="l">
              <a:spcBef>
                <a:spcPts val="400"/>
              </a:spcBef>
              <a:buNone/>
            </a:pPr>
            <a:r>
              <a:rPr lang="en-US" sz="1500" kern="0" dirty="0">
                <a:solidFill>
                  <a:srgbClr val="FFFFFF"/>
                </a:solidFill>
                <a:latin typeface="Arial"/>
                <a:ea typeface="Arial"/>
                <a:cs typeface="Arial"/>
              </a:rPr>
              <a:t>Load on the deviation = 2 × sin(½ × angle) × load. A small redirect puts little load on the deviation anchor and sling; at 60° the deviation carries as much as the main anchor, and beyond that it carries more. Choose deviation anchors and slings rated for that load.</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DEVIATION FORCES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3879213"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016102"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Re-belays / Re-anchors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Transfer past a new anchor station</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Build / verify the next protected section, transfer devices in a controlled order and never create an unprotected moment.</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re-belays are used</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They isolate rope sections, manage edges and obstructions, reduce stretch, or create better access geometry.</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Plan the sequence before arriving</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Know where each device and connection will go before unloading the existing section.</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Crowding and wrong sequence</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Loading both systems incorrectly, excessive loop slack, trapped devices, dropped connections or loss of redundancy.</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Safe order, controlled loading / unloading, tidy rope management and independent protection throughout.</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“Which device moves first?”</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Follow the approved technique and understand what is supporting / protecting you at every step — do not memorize an isolated trick.</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59042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868663"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Knot Passing &amp; Rope-to-Rope Transfers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2</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55372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Move around an obstruction or onto another system</a:t>
            </a:r>
            <a:endParaRPr lang="en-US" sz="1650" dirty="0"/>
          </a:p>
        </p:txBody>
      </p:sp>
      <p:sp>
        <p:nvSpPr>
          <p:cNvPr id="13" name="Text 11"/>
          <p:cNvSpPr/>
          <p:nvPr/>
        </p:nvSpPr>
        <p:spPr>
          <a:xfrm>
            <a:off x="1111250" y="2674620"/>
            <a:ext cx="5003775"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Establish the new support / protection before progressively unloading the old system; manage devices so no step creates uncontrolled movement.</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these skills matter</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Real access routes include knots, damaged-section isolation, separate drops and changes in work position.</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only with a planned destination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Verify the target ropes / anchors and manage swing, spacing and rescue implications.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Committing too early</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Unloading the old system before the new one is complete, attaching both devices to one rope, or creating excessive slack.</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Deliberate sequence, correct system identification and the ability to pause safely mid-transfer.</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55372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transfer faster by moving both devices together?”</a:t>
            </a:r>
            <a:endParaRPr lang="en-US" sz="1650" dirty="0"/>
          </a:p>
        </p:txBody>
      </p:sp>
      <p:sp>
        <p:nvSpPr>
          <p:cNvPr id="49" name="Text 47"/>
          <p:cNvSpPr/>
          <p:nvPr/>
        </p:nvSpPr>
        <p:spPr>
          <a:xfrm>
            <a:off x="12249100" y="6798945"/>
            <a:ext cx="5003850"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Speed is secondary. Maintain a clear support / protection strategy through each individual step.</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2</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45</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2 · KNOT PASSING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Knot-Pass Exercise — Pass a Knot on Descent</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KNOT PASSING</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48</a:t>
            </a:r>
            <a:endParaRPr lang="en-US" sz="900" dirty="0"/>
          </a:p>
        </p:txBody>
      </p:sp>
      <p:sp>
        <p:nvSpPr>
          <p:cNvPr id="1101" name="Shape 1101"/>
          <p:cNvSpPr/>
          <p:nvPr/>
        </p:nvSpPr>
        <p:spPr>
          <a:xfrm>
            <a:off x="857250" y="1778000"/>
            <a:ext cx="4572000" cy="7620000"/>
          </a:xfrm>
          <a:prstGeom prst="rect">
            <a:avLst/>
          </a:prstGeom>
          <a:solidFill>
            <a:srgbClr val="FFFFFF"/>
          </a:solidFill>
          <a:ln>
            <a:noFill/>
          </a:ln>
        </p:spPr>
        <p:txBody>
          <a:bodyPr/>
          <a:lstStyle/>
          <a:p>
            <a:endParaRPr lang="en-US"/>
          </a:p>
        </p:txBody>
      </p:sp>
      <p:pic>
        <p:nvPicPr>
          <p:cNvPr id="1102" name="Picture 1102"/>
          <p:cNvPicPr>
            <a:picLocks noChangeAspect="1"/>
          </p:cNvPicPr>
          <p:nvPr/>
        </p:nvPicPr>
        <p:blipFill>
          <a:blip r:embed="rId3"/>
          <a:stretch>
            <a:fillRect/>
          </a:stretch>
        </p:blipFill>
        <p:spPr>
          <a:xfrm>
            <a:off x="1917982" y="2032000"/>
            <a:ext cx="2450536" cy="7112000"/>
          </a:xfrm>
          <a:prstGeom prst="rect">
            <a:avLst/>
          </a:prstGeom>
        </p:spPr>
      </p:pic>
      <p:sp>
        <p:nvSpPr>
          <p:cNvPr id="1103" name="Text 1103"/>
          <p:cNvSpPr txBox="1"/>
          <p:nvPr/>
        </p:nvSpPr>
        <p:spPr>
          <a:xfrm>
            <a:off x="5937250" y="1905000"/>
            <a:ext cx="11493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SEQUENCE — NEVER FEWER THAN TWO ATTACHMENTS</a:t>
            </a:r>
          </a:p>
        </p:txBody>
      </p:sp>
      <p:sp>
        <p:nvSpPr>
          <p:cNvPr id="1104" name="Shape 1104"/>
          <p:cNvSpPr/>
          <p:nvPr/>
        </p:nvSpPr>
        <p:spPr>
          <a:xfrm>
            <a:off x="5937250" y="2387600"/>
            <a:ext cx="431800" cy="431800"/>
          </a:xfrm>
          <a:prstGeom prst="ellipse">
            <a:avLst/>
          </a:prstGeom>
          <a:solidFill>
            <a:srgbClr val="0E2A47"/>
          </a:solidFill>
          <a:ln>
            <a:noFill/>
          </a:ln>
        </p:spPr>
        <p:txBody>
          <a:bodyPr/>
          <a:lstStyle/>
          <a:p>
            <a:endParaRPr lang="en-US"/>
          </a:p>
        </p:txBody>
      </p:sp>
      <p:sp>
        <p:nvSpPr>
          <p:cNvPr id="1105" name="Text 1105"/>
          <p:cNvSpPr txBox="1"/>
          <p:nvPr/>
        </p:nvSpPr>
        <p:spPr>
          <a:xfrm>
            <a:off x="5937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106" name="Text 1106"/>
          <p:cNvSpPr txBox="1"/>
          <p:nvPr/>
        </p:nvSpPr>
        <p:spPr>
          <a:xfrm>
            <a:off x="6597650" y="23622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Stop just above the knot</a:t>
            </a:r>
          </a:p>
          <a:p>
            <a:pPr marL="0" indent="0" algn="l">
              <a:lnSpc>
                <a:spcPct val="110000"/>
              </a:lnSpc>
              <a:spcBef>
                <a:spcPts val="300"/>
              </a:spcBef>
              <a:buNone/>
            </a:pPr>
            <a:r>
              <a:rPr lang="en-US" sz="1500" dirty="0">
                <a:solidFill>
                  <a:srgbClr val="41505E"/>
                </a:solidFill>
                <a:latin typeface="Arial"/>
                <a:cs typeface="Arial"/>
              </a:rPr>
              <a:t>Lock off the descender; backup kept high</a:t>
            </a:r>
          </a:p>
        </p:txBody>
      </p:sp>
      <p:sp>
        <p:nvSpPr>
          <p:cNvPr id="1107" name="Shape 1107"/>
          <p:cNvSpPr/>
          <p:nvPr/>
        </p:nvSpPr>
        <p:spPr>
          <a:xfrm>
            <a:off x="5937250" y="3556000"/>
            <a:ext cx="431800" cy="431800"/>
          </a:xfrm>
          <a:prstGeom prst="ellipse">
            <a:avLst/>
          </a:prstGeom>
          <a:solidFill>
            <a:srgbClr val="0E2A47"/>
          </a:solidFill>
          <a:ln>
            <a:noFill/>
          </a:ln>
        </p:spPr>
        <p:txBody>
          <a:bodyPr/>
          <a:lstStyle/>
          <a:p>
            <a:endParaRPr lang="en-US"/>
          </a:p>
        </p:txBody>
      </p:sp>
      <p:sp>
        <p:nvSpPr>
          <p:cNvPr id="1108" name="Text 1108"/>
          <p:cNvSpPr txBox="1"/>
          <p:nvPr/>
        </p:nvSpPr>
        <p:spPr>
          <a:xfrm>
            <a:off x="5937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109" name="Text 1109"/>
          <p:cNvSpPr txBox="1"/>
          <p:nvPr/>
        </p:nvSpPr>
        <p:spPr>
          <a:xfrm>
            <a:off x="6597650" y="35306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Clip a short cowstail into the knot loop</a:t>
            </a:r>
          </a:p>
          <a:p>
            <a:pPr marL="0" indent="0" algn="l">
              <a:lnSpc>
                <a:spcPct val="110000"/>
              </a:lnSpc>
              <a:spcBef>
                <a:spcPts val="300"/>
              </a:spcBef>
              <a:buNone/>
            </a:pPr>
            <a:r>
              <a:rPr lang="en-US" sz="1500" dirty="0">
                <a:solidFill>
                  <a:srgbClr val="41505E"/>
                </a:solidFill>
                <a:latin typeface="Arial"/>
                <a:cs typeface="Arial"/>
              </a:rPr>
              <a:t>Safety connection, gate locked</a:t>
            </a:r>
          </a:p>
        </p:txBody>
      </p:sp>
      <p:sp>
        <p:nvSpPr>
          <p:cNvPr id="1110" name="Shape 1110"/>
          <p:cNvSpPr/>
          <p:nvPr/>
        </p:nvSpPr>
        <p:spPr>
          <a:xfrm>
            <a:off x="5937250" y="4724400"/>
            <a:ext cx="431800" cy="431800"/>
          </a:xfrm>
          <a:prstGeom prst="ellipse">
            <a:avLst/>
          </a:prstGeom>
          <a:solidFill>
            <a:srgbClr val="0E2A47"/>
          </a:solidFill>
          <a:ln>
            <a:noFill/>
          </a:ln>
        </p:spPr>
        <p:txBody>
          <a:bodyPr/>
          <a:lstStyle/>
          <a:p>
            <a:endParaRPr lang="en-US"/>
          </a:p>
        </p:txBody>
      </p:sp>
      <p:sp>
        <p:nvSpPr>
          <p:cNvPr id="1111" name="Text 1111"/>
          <p:cNvSpPr txBox="1"/>
          <p:nvPr/>
        </p:nvSpPr>
        <p:spPr>
          <a:xfrm>
            <a:off x="5937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112" name="Text 1112"/>
          <p:cNvSpPr txBox="1"/>
          <p:nvPr/>
        </p:nvSpPr>
        <p:spPr>
          <a:xfrm>
            <a:off x="6597650" y="46990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Fit the ascender above the descender, stand up</a:t>
            </a:r>
          </a:p>
          <a:p>
            <a:pPr marL="0" indent="0" algn="l">
              <a:lnSpc>
                <a:spcPct val="110000"/>
              </a:lnSpc>
              <a:spcBef>
                <a:spcPts val="300"/>
              </a:spcBef>
              <a:buNone/>
            </a:pPr>
            <a:r>
              <a:rPr lang="en-US" sz="1500" dirty="0">
                <a:solidFill>
                  <a:srgbClr val="41505E"/>
                </a:solidFill>
                <a:latin typeface="Arial"/>
                <a:cs typeface="Arial"/>
              </a:rPr>
              <a:t>Weight onto the ascender, then remove the descender</a:t>
            </a:r>
          </a:p>
        </p:txBody>
      </p:sp>
      <p:sp>
        <p:nvSpPr>
          <p:cNvPr id="1113" name="Shape 1113"/>
          <p:cNvSpPr/>
          <p:nvPr/>
        </p:nvSpPr>
        <p:spPr>
          <a:xfrm>
            <a:off x="5937250" y="5892800"/>
            <a:ext cx="431800" cy="431800"/>
          </a:xfrm>
          <a:prstGeom prst="ellipse">
            <a:avLst/>
          </a:prstGeom>
          <a:solidFill>
            <a:srgbClr val="0E2A47"/>
          </a:solidFill>
          <a:ln>
            <a:noFill/>
          </a:ln>
        </p:spPr>
        <p:txBody>
          <a:bodyPr/>
          <a:lstStyle/>
          <a:p>
            <a:endParaRPr lang="en-US"/>
          </a:p>
        </p:txBody>
      </p:sp>
      <p:sp>
        <p:nvSpPr>
          <p:cNvPr id="1114" name="Text 1114"/>
          <p:cNvSpPr txBox="1"/>
          <p:nvPr/>
        </p:nvSpPr>
        <p:spPr>
          <a:xfrm>
            <a:off x="5937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115" name="Text 1115"/>
          <p:cNvSpPr txBox="1"/>
          <p:nvPr/>
        </p:nvSpPr>
        <p:spPr>
          <a:xfrm>
            <a:off x="6597650" y="58674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Refit the descender below the knot</a:t>
            </a:r>
          </a:p>
          <a:p>
            <a:pPr marL="0" indent="0" algn="l">
              <a:lnSpc>
                <a:spcPct val="110000"/>
              </a:lnSpc>
              <a:spcBef>
                <a:spcPts val="300"/>
              </a:spcBef>
              <a:buNone/>
            </a:pPr>
            <a:r>
              <a:rPr lang="en-US" sz="1500" dirty="0">
                <a:solidFill>
                  <a:srgbClr val="41505E"/>
                </a:solidFill>
                <a:latin typeface="Arial"/>
                <a:cs typeface="Arial"/>
              </a:rPr>
              <a:t>Lock it, load it, then remove the ascender and cowstail</a:t>
            </a:r>
          </a:p>
        </p:txBody>
      </p:sp>
      <p:sp>
        <p:nvSpPr>
          <p:cNvPr id="1116" name="Shape 1116"/>
          <p:cNvSpPr/>
          <p:nvPr/>
        </p:nvSpPr>
        <p:spPr>
          <a:xfrm>
            <a:off x="5937250" y="7061200"/>
            <a:ext cx="431800" cy="431800"/>
          </a:xfrm>
          <a:prstGeom prst="ellipse">
            <a:avLst/>
          </a:prstGeom>
          <a:solidFill>
            <a:srgbClr val="0E2A47"/>
          </a:solidFill>
          <a:ln>
            <a:noFill/>
          </a:ln>
        </p:spPr>
        <p:txBody>
          <a:bodyPr/>
          <a:lstStyle/>
          <a:p>
            <a:endParaRPr lang="en-US"/>
          </a:p>
        </p:txBody>
      </p:sp>
      <p:sp>
        <p:nvSpPr>
          <p:cNvPr id="1117" name="Text 1117"/>
          <p:cNvSpPr txBox="1"/>
          <p:nvPr/>
        </p:nvSpPr>
        <p:spPr>
          <a:xfrm>
            <a:off x="5937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118" name="Text 1118"/>
          <p:cNvSpPr txBox="1"/>
          <p:nvPr/>
        </p:nvSpPr>
        <p:spPr>
          <a:xfrm>
            <a:off x="6597650" y="70358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Pass the backup separately</a:t>
            </a:r>
          </a:p>
          <a:p>
            <a:pPr marL="0" indent="0" algn="l">
              <a:lnSpc>
                <a:spcPct val="110000"/>
              </a:lnSpc>
              <a:spcBef>
                <a:spcPts val="300"/>
              </a:spcBef>
              <a:buNone/>
            </a:pPr>
            <a:r>
              <a:rPr lang="en-US" sz="1500" dirty="0">
                <a:solidFill>
                  <a:srgbClr val="41505E"/>
                </a:solidFill>
                <a:latin typeface="Arial"/>
                <a:cs typeface="Arial"/>
              </a:rPr>
              <a:t>Only if the knot is on the backup rope too — stay clipped while moving it</a:t>
            </a:r>
          </a:p>
        </p:txBody>
      </p:sp>
      <p:sp>
        <p:nvSpPr>
          <p:cNvPr id="1119" name="Shape 1119"/>
          <p:cNvSpPr/>
          <p:nvPr/>
        </p:nvSpPr>
        <p:spPr>
          <a:xfrm>
            <a:off x="5937250" y="8483600"/>
            <a:ext cx="11493500" cy="914400"/>
          </a:xfrm>
          <a:prstGeom prst="rect">
            <a:avLst/>
          </a:prstGeom>
          <a:solidFill>
            <a:srgbClr val="0E2A47"/>
          </a:solidFill>
          <a:ln>
            <a:noFill/>
          </a:ln>
        </p:spPr>
        <p:txBody>
          <a:bodyPr/>
          <a:lstStyle/>
          <a:p>
            <a:endParaRPr lang="en-US"/>
          </a:p>
        </p:txBody>
      </p:sp>
      <p:sp>
        <p:nvSpPr>
          <p:cNvPr id="1120" name="Text 1120"/>
          <p:cNvSpPr txBox="1"/>
          <p:nvPr/>
        </p:nvSpPr>
        <p:spPr>
          <a:xfrm>
            <a:off x="6292850" y="8483600"/>
            <a:ext cx="10782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Check: </a:t>
            </a:r>
            <a:r>
              <a:rPr lang="en-US" sz="1600" dirty="0">
                <a:solidFill>
                  <a:srgbClr val="C7D4E1"/>
                </a:solidFill>
                <a:latin typeface="Arial"/>
                <a:cs typeface="Arial"/>
              </a:rPr>
              <a:t>the new device is loaded and locked before the old one comes off.</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2 · ROPE-TO-ROPE TRANSFER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Rope-to-Rope Transfer — Move Across Without Losing Two Points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ROPE-TO-ROPE TRANSFER</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46</a:t>
            </a:r>
            <a:endParaRPr lang="en-US" sz="900" dirty="0"/>
          </a:p>
        </p:txBody>
      </p:sp>
      <p:sp>
        <p:nvSpPr>
          <p:cNvPr id="1121" name="Shape 1121"/>
          <p:cNvSpPr/>
          <p:nvPr/>
        </p:nvSpPr>
        <p:spPr>
          <a:xfrm>
            <a:off x="857250" y="1778000"/>
            <a:ext cx="6016576" cy="7620000"/>
          </a:xfrm>
          <a:prstGeom prst="rect">
            <a:avLst/>
          </a:prstGeom>
          <a:solidFill>
            <a:srgbClr val="FFFFFF"/>
          </a:solidFill>
          <a:ln>
            <a:noFill/>
          </a:ln>
        </p:spPr>
        <p:txBody>
          <a:bodyPr/>
          <a:lstStyle/>
          <a:p>
            <a:endParaRPr lang="en-US"/>
          </a:p>
        </p:txBody>
      </p:sp>
      <p:pic>
        <p:nvPicPr>
          <p:cNvPr id="1122" name="Picture 1122"/>
          <p:cNvPicPr>
            <a:picLocks noChangeAspect="1"/>
          </p:cNvPicPr>
          <p:nvPr/>
        </p:nvPicPr>
        <p:blipFill>
          <a:blip r:embed="rId3"/>
          <a:stretch>
            <a:fillRect/>
          </a:stretch>
        </p:blipFill>
        <p:spPr>
          <a:xfrm>
            <a:off x="1294869" y="2032000"/>
            <a:ext cx="5141337" cy="7112000"/>
          </a:xfrm>
          <a:prstGeom prst="rect">
            <a:avLst/>
          </a:prstGeom>
        </p:spPr>
      </p:pic>
      <p:sp>
        <p:nvSpPr>
          <p:cNvPr id="1123" name="Text 1123"/>
          <p:cNvSpPr txBox="1"/>
          <p:nvPr/>
        </p:nvSpPr>
        <p:spPr>
          <a:xfrm>
            <a:off x="7381826" y="1905000"/>
            <a:ext cx="10048924"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SEQUENCE</a:t>
            </a:r>
          </a:p>
        </p:txBody>
      </p:sp>
      <p:sp>
        <p:nvSpPr>
          <p:cNvPr id="1124" name="Shape 1124"/>
          <p:cNvSpPr/>
          <p:nvPr/>
        </p:nvSpPr>
        <p:spPr>
          <a:xfrm>
            <a:off x="7381826" y="2387600"/>
            <a:ext cx="431800" cy="431800"/>
          </a:xfrm>
          <a:prstGeom prst="ellipse">
            <a:avLst/>
          </a:prstGeom>
          <a:solidFill>
            <a:srgbClr val="0E2A47"/>
          </a:solidFill>
          <a:ln>
            <a:noFill/>
          </a:ln>
        </p:spPr>
        <p:txBody>
          <a:bodyPr/>
          <a:lstStyle/>
          <a:p>
            <a:endParaRPr lang="en-US"/>
          </a:p>
        </p:txBody>
      </p:sp>
      <p:sp>
        <p:nvSpPr>
          <p:cNvPr id="1125" name="Text 1125"/>
          <p:cNvSpPr txBox="1"/>
          <p:nvPr/>
        </p:nvSpPr>
        <p:spPr>
          <a:xfrm>
            <a:off x="7381826"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126" name="Text 1126"/>
          <p:cNvSpPr txBox="1"/>
          <p:nvPr/>
        </p:nvSpPr>
        <p:spPr>
          <a:xfrm>
            <a:off x="8042226" y="2362200"/>
            <a:ext cx="9388524"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Stop level with the new rope set</a:t>
            </a:r>
          </a:p>
          <a:p>
            <a:pPr marL="0" indent="0" algn="l">
              <a:lnSpc>
                <a:spcPct val="110000"/>
              </a:lnSpc>
              <a:spcBef>
                <a:spcPts val="300"/>
              </a:spcBef>
              <a:buNone/>
            </a:pPr>
            <a:r>
              <a:rPr lang="en-US" sz="1500" dirty="0">
                <a:solidFill>
                  <a:srgbClr val="41505E"/>
                </a:solidFill>
                <a:latin typeface="Arial"/>
                <a:cs typeface="Arial"/>
              </a:rPr>
              <a:t>Descender locked on the current working rope</a:t>
            </a:r>
          </a:p>
        </p:txBody>
      </p:sp>
      <p:sp>
        <p:nvSpPr>
          <p:cNvPr id="1127" name="Shape 1127"/>
          <p:cNvSpPr/>
          <p:nvPr/>
        </p:nvSpPr>
        <p:spPr>
          <a:xfrm>
            <a:off x="7381826" y="3556000"/>
            <a:ext cx="431800" cy="431800"/>
          </a:xfrm>
          <a:prstGeom prst="ellipse">
            <a:avLst/>
          </a:prstGeom>
          <a:solidFill>
            <a:srgbClr val="0E2A47"/>
          </a:solidFill>
          <a:ln>
            <a:noFill/>
          </a:ln>
        </p:spPr>
        <p:txBody>
          <a:bodyPr/>
          <a:lstStyle/>
          <a:p>
            <a:endParaRPr lang="en-US"/>
          </a:p>
        </p:txBody>
      </p:sp>
      <p:sp>
        <p:nvSpPr>
          <p:cNvPr id="1128" name="Text 1128"/>
          <p:cNvSpPr txBox="1"/>
          <p:nvPr/>
        </p:nvSpPr>
        <p:spPr>
          <a:xfrm>
            <a:off x="7381826"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129" name="Text 1129"/>
          <p:cNvSpPr txBox="1"/>
          <p:nvPr/>
        </p:nvSpPr>
        <p:spPr>
          <a:xfrm>
            <a:off x="8042226" y="3530600"/>
            <a:ext cx="9388524"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Connect a cowstail to the new ropes</a:t>
            </a:r>
          </a:p>
          <a:p>
            <a:pPr marL="0" indent="0" algn="l">
              <a:lnSpc>
                <a:spcPct val="110000"/>
              </a:lnSpc>
              <a:spcBef>
                <a:spcPts val="300"/>
              </a:spcBef>
              <a:buNone/>
            </a:pPr>
            <a:r>
              <a:rPr lang="en-US" sz="1500" dirty="0">
                <a:solidFill>
                  <a:srgbClr val="41505E"/>
                </a:solidFill>
                <a:latin typeface="Arial"/>
                <a:cs typeface="Arial"/>
              </a:rPr>
              <a:t>Clip the anchor knot or a rope grab</a:t>
            </a:r>
          </a:p>
        </p:txBody>
      </p:sp>
      <p:sp>
        <p:nvSpPr>
          <p:cNvPr id="1130" name="Shape 1130"/>
          <p:cNvSpPr/>
          <p:nvPr/>
        </p:nvSpPr>
        <p:spPr>
          <a:xfrm>
            <a:off x="7381826" y="4724400"/>
            <a:ext cx="431800" cy="431800"/>
          </a:xfrm>
          <a:prstGeom prst="ellipse">
            <a:avLst/>
          </a:prstGeom>
          <a:solidFill>
            <a:srgbClr val="0E2A47"/>
          </a:solidFill>
          <a:ln>
            <a:noFill/>
          </a:ln>
        </p:spPr>
        <p:txBody>
          <a:bodyPr/>
          <a:lstStyle/>
          <a:p>
            <a:endParaRPr lang="en-US"/>
          </a:p>
        </p:txBody>
      </p:sp>
      <p:sp>
        <p:nvSpPr>
          <p:cNvPr id="1131" name="Text 1131"/>
          <p:cNvSpPr txBox="1"/>
          <p:nvPr/>
        </p:nvSpPr>
        <p:spPr>
          <a:xfrm>
            <a:off x="7381826"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132" name="Text 1132"/>
          <p:cNvSpPr txBox="1"/>
          <p:nvPr/>
        </p:nvSpPr>
        <p:spPr>
          <a:xfrm>
            <a:off x="8042226" y="4699000"/>
            <a:ext cx="9388524"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Fit the backup on the new backup rope</a:t>
            </a:r>
          </a:p>
          <a:p>
            <a:pPr marL="0" indent="0" algn="l">
              <a:lnSpc>
                <a:spcPct val="110000"/>
              </a:lnSpc>
              <a:spcBef>
                <a:spcPts val="300"/>
              </a:spcBef>
              <a:buNone/>
            </a:pPr>
            <a:r>
              <a:rPr lang="en-US" sz="1500" dirty="0">
                <a:solidFill>
                  <a:srgbClr val="41505E"/>
                </a:solidFill>
                <a:latin typeface="Arial"/>
                <a:cs typeface="Arial"/>
              </a:rPr>
              <a:t>Above your attachment point</a:t>
            </a:r>
          </a:p>
        </p:txBody>
      </p:sp>
      <p:sp>
        <p:nvSpPr>
          <p:cNvPr id="1133" name="Shape 1133"/>
          <p:cNvSpPr/>
          <p:nvPr/>
        </p:nvSpPr>
        <p:spPr>
          <a:xfrm>
            <a:off x="7381826" y="5892800"/>
            <a:ext cx="431800" cy="431800"/>
          </a:xfrm>
          <a:prstGeom prst="ellipse">
            <a:avLst/>
          </a:prstGeom>
          <a:solidFill>
            <a:srgbClr val="0E2A47"/>
          </a:solidFill>
          <a:ln>
            <a:noFill/>
          </a:ln>
        </p:spPr>
        <p:txBody>
          <a:bodyPr/>
          <a:lstStyle/>
          <a:p>
            <a:endParaRPr lang="en-US"/>
          </a:p>
        </p:txBody>
      </p:sp>
      <p:sp>
        <p:nvSpPr>
          <p:cNvPr id="1134" name="Text 1134"/>
          <p:cNvSpPr txBox="1"/>
          <p:nvPr/>
        </p:nvSpPr>
        <p:spPr>
          <a:xfrm>
            <a:off x="7381826"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135" name="Text 1135"/>
          <p:cNvSpPr txBox="1"/>
          <p:nvPr/>
        </p:nvSpPr>
        <p:spPr>
          <a:xfrm>
            <a:off x="8042226" y="5867400"/>
            <a:ext cx="9388524"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Fit the descender on the new working rope</a:t>
            </a:r>
          </a:p>
          <a:p>
            <a:pPr marL="0" indent="0" algn="l">
              <a:lnSpc>
                <a:spcPct val="110000"/>
              </a:lnSpc>
              <a:spcBef>
                <a:spcPts val="300"/>
              </a:spcBef>
              <a:buNone/>
            </a:pPr>
            <a:r>
              <a:rPr lang="en-US" sz="1500" dirty="0">
                <a:solidFill>
                  <a:srgbClr val="41505E"/>
                </a:solidFill>
                <a:latin typeface="Arial"/>
                <a:cs typeface="Arial"/>
              </a:rPr>
              <a:t>Lock it, then take your weight onto it</a:t>
            </a:r>
          </a:p>
        </p:txBody>
      </p:sp>
      <p:sp>
        <p:nvSpPr>
          <p:cNvPr id="1136" name="Shape 1136"/>
          <p:cNvSpPr/>
          <p:nvPr/>
        </p:nvSpPr>
        <p:spPr>
          <a:xfrm>
            <a:off x="7381826" y="7061200"/>
            <a:ext cx="431800" cy="431800"/>
          </a:xfrm>
          <a:prstGeom prst="ellipse">
            <a:avLst/>
          </a:prstGeom>
          <a:solidFill>
            <a:srgbClr val="0E2A47"/>
          </a:solidFill>
          <a:ln>
            <a:noFill/>
          </a:ln>
        </p:spPr>
        <p:txBody>
          <a:bodyPr/>
          <a:lstStyle/>
          <a:p>
            <a:endParaRPr lang="en-US"/>
          </a:p>
        </p:txBody>
      </p:sp>
      <p:sp>
        <p:nvSpPr>
          <p:cNvPr id="1137" name="Text 1137"/>
          <p:cNvSpPr txBox="1"/>
          <p:nvPr/>
        </p:nvSpPr>
        <p:spPr>
          <a:xfrm>
            <a:off x="7381826"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138" name="Text 1138"/>
          <p:cNvSpPr txBox="1"/>
          <p:nvPr/>
        </p:nvSpPr>
        <p:spPr>
          <a:xfrm>
            <a:off x="8042226" y="7035800"/>
            <a:ext cx="9388524"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Remove devices from the old ropes</a:t>
            </a:r>
          </a:p>
          <a:p>
            <a:pPr marL="0" indent="0" algn="l">
              <a:lnSpc>
                <a:spcPct val="110000"/>
              </a:lnSpc>
              <a:spcBef>
                <a:spcPts val="300"/>
              </a:spcBef>
              <a:buNone/>
            </a:pPr>
            <a:r>
              <a:rPr lang="en-US" sz="1500" dirty="0">
                <a:solidFill>
                  <a:srgbClr val="41505E"/>
                </a:solidFill>
                <a:latin typeface="Arial"/>
                <a:cs typeface="Arial"/>
              </a:rPr>
              <a:t>One at a time, after the new system holds you</a:t>
            </a:r>
          </a:p>
        </p:txBody>
      </p:sp>
      <p:sp>
        <p:nvSpPr>
          <p:cNvPr id="1139" name="Shape 1139"/>
          <p:cNvSpPr/>
          <p:nvPr/>
        </p:nvSpPr>
        <p:spPr>
          <a:xfrm>
            <a:off x="7381826" y="8483600"/>
            <a:ext cx="10048924" cy="914400"/>
          </a:xfrm>
          <a:prstGeom prst="rect">
            <a:avLst/>
          </a:prstGeom>
          <a:solidFill>
            <a:srgbClr val="0E2A47"/>
          </a:solidFill>
          <a:ln>
            <a:noFill/>
          </a:ln>
        </p:spPr>
        <p:txBody>
          <a:bodyPr/>
          <a:lstStyle/>
          <a:p>
            <a:endParaRPr lang="en-US"/>
          </a:p>
        </p:txBody>
      </p:sp>
      <p:sp>
        <p:nvSpPr>
          <p:cNvPr id="1140" name="Text 1140"/>
          <p:cNvSpPr txBox="1"/>
          <p:nvPr/>
        </p:nvSpPr>
        <p:spPr>
          <a:xfrm>
            <a:off x="7737426" y="8483600"/>
            <a:ext cx="9337724"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Never unclip the old system </a:t>
            </a:r>
            <a:r>
              <a:rPr lang="en-US" sz="1600" dirty="0">
                <a:solidFill>
                  <a:srgbClr val="C7D4E1"/>
                </a:solidFill>
                <a:latin typeface="Arial"/>
                <a:cs typeface="Arial"/>
              </a:rPr>
              <a:t>until the new working rope and backup are both on and loaded.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5">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Shape 1"/>
          <p:cNvSpPr/>
          <p:nvPr/>
        </p:nvSpPr>
        <p:spPr>
          <a:xfrm>
            <a:off x="12070110" y="0"/>
            <a:ext cx="6217890" cy="10287000"/>
          </a:xfrm>
          <a:prstGeom prst="rect">
            <a:avLst/>
          </a:prstGeom>
          <a:solidFill>
            <a:srgbClr val="0E2A47"/>
          </a:solidFill>
          <a:ln/>
        </p:spPr>
        <p:txBody>
          <a:bodyPr/>
          <a:lstStyle/>
          <a:p>
            <a:endParaRPr lang="en-US"/>
          </a:p>
        </p:txBody>
      </p:sp>
      <p:pic>
        <p:nvPicPr>
          <p:cNvPr id="95" name="Day 2 photo"/>
          <p:cNvPicPr>
            <a:picLocks noChangeAspect="1"/>
          </p:cNvPicPr>
          <p:nvPr/>
        </p:nvPicPr>
        <p:blipFill>
          <a:blip r:embed="rId3"/>
          <a:stretch>
            <a:fillRect/>
          </a:stretch>
        </p:blipFill>
        <p:spPr>
          <a:xfrm>
            <a:off x="12098685" y="0"/>
            <a:ext cx="6189315" cy="10287000"/>
          </a:xfrm>
          <a:prstGeom prst="rect">
            <a:avLst/>
          </a:prstGeom>
        </p:spPr>
      </p:pic>
      <p:sp>
        <p:nvSpPr>
          <p:cNvPr id="4" name="Shape 2"/>
          <p:cNvSpPr/>
          <p:nvPr/>
        </p:nvSpPr>
        <p:spPr>
          <a:xfrm>
            <a:off x="12070110" y="0"/>
            <a:ext cx="28575" cy="10287000"/>
          </a:xfrm>
          <a:prstGeom prst="rect">
            <a:avLst/>
          </a:prstGeom>
          <a:solidFill>
            <a:srgbClr val="F26A1B"/>
          </a:solidFill>
          <a:ln/>
        </p:spPr>
        <p:txBody>
          <a:bodyPr/>
          <a:lstStyle/>
          <a:p>
            <a:endParaRPr lang="en-US"/>
          </a:p>
        </p:txBody>
      </p:sp>
      <p:sp>
        <p:nvSpPr>
          <p:cNvPr id="5" name="Shape 3"/>
          <p:cNvSpPr/>
          <p:nvPr/>
        </p:nvSpPr>
        <p:spPr>
          <a:xfrm>
            <a:off x="12400000" y="8929390"/>
            <a:ext cx="5716000" cy="557510"/>
          </a:xfrm>
          <a:prstGeom prst="rect">
            <a:avLst/>
          </a:prstGeom>
          <a:solidFill>
            <a:srgbClr val="0A1B2E"/>
          </a:solidFill>
          <a:ln/>
        </p:spPr>
        <p:txBody>
          <a:bodyPr/>
          <a:lstStyle/>
          <a:p>
            <a:endParaRPr lang="en-US"/>
          </a:p>
        </p:txBody>
      </p:sp>
      <p:sp>
        <p:nvSpPr>
          <p:cNvPr id="6" name="Text 4"/>
          <p:cNvSpPr/>
          <p:nvPr/>
        </p:nvSpPr>
        <p:spPr>
          <a:xfrm>
            <a:off x="12500000" y="8996065"/>
            <a:ext cx="5516000" cy="462260"/>
          </a:xfrm>
          <a:prstGeom prst="rect">
            <a:avLst/>
          </a:prstGeom>
          <a:noFill/>
          <a:ln/>
        </p:spPr>
        <p:txBody>
          <a:bodyPr wrap="square" lIns="25400" tIns="25400" rIns="25400" bIns="25400" rtlCol="0" anchor="t">
            <a:normAutofit/>
          </a:bodyPr>
          <a:lstStyle/>
          <a:p>
            <a:pPr marL="0" indent="0" algn="l">
              <a:lnSpc>
                <a:spcPct val="118800"/>
              </a:lnSpc>
              <a:buNone/>
            </a:pPr>
            <a:r>
              <a:rPr lang="en-US" sz="1100" kern="0" spc="50" dirty="0">
                <a:solidFill>
                  <a:srgbClr val="86B0DA"/>
                </a:solidFill>
                <a:latin typeface="Courier New" pitchFamily="34" charset="0"/>
                <a:ea typeface="Courier New" pitchFamily="34" charset="-122"/>
                <a:cs typeface="Courier New" pitchFamily="34" charset="-120"/>
              </a:rPr>
              <a:t>Photo: Archer7319 · public domain · Wikimedia Commons</a:t>
            </a:r>
            <a:endParaRPr lang="en-US" sz="825" dirty="0"/>
          </a:p>
        </p:txBody>
      </p:sp>
      <p:sp>
        <p:nvSpPr>
          <p:cNvPr id="7" name="Text 5"/>
          <p:cNvSpPr/>
          <p:nvPr/>
        </p:nvSpPr>
        <p:spPr>
          <a:xfrm>
            <a:off x="857250" y="3625304"/>
            <a:ext cx="112653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CLASSROOM → PRACTICAL</a:t>
            </a:r>
            <a:endParaRPr lang="en-US" sz="975" dirty="0"/>
          </a:p>
        </p:txBody>
      </p:sp>
      <p:sp>
        <p:nvSpPr>
          <p:cNvPr id="8" name="Text 6"/>
          <p:cNvSpPr/>
          <p:nvPr/>
        </p:nvSpPr>
        <p:spPr>
          <a:xfrm>
            <a:off x="857250" y="3901529"/>
            <a:ext cx="11265359"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Arial" pitchFamily="34" charset="0"/>
                <a:ea typeface="Arial" pitchFamily="34" charset="-122"/>
                <a:cs typeface="Arial" pitchFamily="34" charset="-120"/>
              </a:rPr>
              <a:t>Day 2 Practical Training Plan</a:t>
            </a:r>
            <a:endParaRPr lang="en-US" sz="3300" dirty="0"/>
          </a:p>
        </p:txBody>
      </p:sp>
      <p:sp>
        <p:nvSpPr>
          <p:cNvPr id="9" name="Text 7"/>
          <p:cNvSpPr/>
          <p:nvPr/>
        </p:nvSpPr>
        <p:spPr>
          <a:xfrm>
            <a:off x="857250" y="4668292"/>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081534" y="4654004"/>
            <a:ext cx="3940768"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Fall-protection setup discussion at the structure</a:t>
            </a:r>
            <a:endParaRPr lang="en-US" sz="1350" dirty="0"/>
          </a:p>
        </p:txBody>
      </p:sp>
      <p:sp>
        <p:nvSpPr>
          <p:cNvPr id="11" name="Text 9"/>
          <p:cNvSpPr/>
          <p:nvPr/>
        </p:nvSpPr>
        <p:spPr>
          <a:xfrm>
            <a:off x="857250" y="502354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2" name="Text 10"/>
          <p:cNvSpPr/>
          <p:nvPr/>
        </p:nvSpPr>
        <p:spPr>
          <a:xfrm>
            <a:off x="1081534" y="5009257"/>
            <a:ext cx="4642608"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Deviation progression: demo → coached → independent</a:t>
            </a:r>
            <a:endParaRPr lang="en-US" sz="1350" dirty="0"/>
          </a:p>
        </p:txBody>
      </p:sp>
      <p:sp>
        <p:nvSpPr>
          <p:cNvPr id="13" name="Text 11"/>
          <p:cNvSpPr/>
          <p:nvPr/>
        </p:nvSpPr>
        <p:spPr>
          <a:xfrm>
            <a:off x="857250" y="5378797"/>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4" name="Text 12"/>
          <p:cNvSpPr/>
          <p:nvPr/>
        </p:nvSpPr>
        <p:spPr>
          <a:xfrm>
            <a:off x="1081534" y="5364510"/>
            <a:ext cx="2732861"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Re-belay / re-anchor progression</a:t>
            </a:r>
            <a:endParaRPr lang="en-US" sz="1350" dirty="0"/>
          </a:p>
        </p:txBody>
      </p:sp>
      <p:sp>
        <p:nvSpPr>
          <p:cNvPr id="15" name="Text 13"/>
          <p:cNvSpPr/>
          <p:nvPr/>
        </p:nvSpPr>
        <p:spPr>
          <a:xfrm>
            <a:off x="857250" y="5734050"/>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081534" y="5719763"/>
            <a:ext cx="120761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Passing knots</a:t>
            </a:r>
            <a:endParaRPr lang="en-US" sz="1350" dirty="0"/>
          </a:p>
        </p:txBody>
      </p:sp>
      <p:sp>
        <p:nvSpPr>
          <p:cNvPr id="17" name="Text 15"/>
          <p:cNvSpPr/>
          <p:nvPr/>
        </p:nvSpPr>
        <p:spPr>
          <a:xfrm>
            <a:off x="857250" y="6089303"/>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1081534" y="6075015"/>
            <a:ext cx="1904485"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Rope-to-rope transfers</a:t>
            </a:r>
            <a:endParaRPr lang="en-US" sz="1350" dirty="0"/>
          </a:p>
        </p:txBody>
      </p:sp>
      <p:sp>
        <p:nvSpPr>
          <p:cNvPr id="19" name="Text 17"/>
          <p:cNvSpPr/>
          <p:nvPr/>
        </p:nvSpPr>
        <p:spPr>
          <a:xfrm>
            <a:off x="857250" y="644455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1081534" y="6430268"/>
            <a:ext cx="4908381"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Combined maneuver circuit with evaluator-style observation</a:t>
            </a:r>
            <a:endParaRPr lang="en-US" sz="1350" dirty="0"/>
          </a:p>
        </p:txBody>
      </p:sp>
      <p:sp>
        <p:nvSpPr>
          <p:cNvPr id="21" name="Shape 19"/>
          <p:cNvSpPr/>
          <p:nvPr/>
        </p:nvSpPr>
        <p:spPr>
          <a:xfrm>
            <a:off x="0" y="9753600"/>
            <a:ext cx="18288000" cy="9525"/>
          </a:xfrm>
          <a:prstGeom prst="rect">
            <a:avLst/>
          </a:prstGeom>
          <a:solidFill>
            <a:srgbClr val="1C3551"/>
          </a:solidFill>
          <a:ln/>
        </p:spPr>
        <p:txBody>
          <a:bodyPr/>
          <a:lstStyle/>
          <a:p>
            <a:endParaRPr lang="en-US"/>
          </a:p>
        </p:txBody>
      </p:sp>
      <p:sp>
        <p:nvSpPr>
          <p:cNvPr id="22" name="Text 20"/>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3" name="Text 21"/>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DAY 2 · PRACTICAL</a:t>
            </a:r>
            <a:endParaRPr lang="en-US" sz="900" dirty="0"/>
          </a:p>
        </p:txBody>
      </p:sp>
      <p:sp>
        <p:nvSpPr>
          <p:cNvPr id="24" name="Text 22"/>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49</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6">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7">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52450"/>
            <a:ext cx="1086418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CLASSROOM</a:t>
            </a:r>
            <a:endParaRPr lang="en-US" sz="975" dirty="0"/>
          </a:p>
        </p:txBody>
      </p:sp>
      <p:sp>
        <p:nvSpPr>
          <p:cNvPr id="3" name="Text 1"/>
          <p:cNvSpPr/>
          <p:nvPr/>
        </p:nvSpPr>
        <p:spPr>
          <a:xfrm>
            <a:off x="857250" y="819150"/>
            <a:ext cx="11290154"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1–2 Hour Classroom — Anchors, Load Physics, Rigging &amp; Rescue</a:t>
            </a:r>
            <a:endParaRPr lang="en-US" sz="2700" dirty="0"/>
          </a:p>
        </p:txBody>
      </p:sp>
      <p:sp>
        <p:nvSpPr>
          <p:cNvPr id="60" name="Shape 58"/>
          <p:cNvSpPr/>
          <p:nvPr/>
        </p:nvSpPr>
        <p:spPr>
          <a:xfrm>
            <a:off x="857250" y="9115425"/>
            <a:ext cx="16573500" cy="485775"/>
          </a:xfrm>
          <a:prstGeom prst="roundRect">
            <a:avLst>
              <a:gd name="adj" fmla="val 7843"/>
            </a:avLst>
          </a:prstGeom>
          <a:solidFill>
            <a:srgbClr val="0E2A47"/>
          </a:solidFill>
          <a:ln/>
        </p:spPr>
        <p:txBody>
          <a:bodyPr/>
          <a:lstStyle/>
          <a:p>
            <a:endParaRPr lang="en-US"/>
          </a:p>
        </p:txBody>
      </p:sp>
      <p:sp>
        <p:nvSpPr>
          <p:cNvPr id="61" name="Text 59"/>
          <p:cNvSpPr/>
          <p:nvPr/>
        </p:nvSpPr>
        <p:spPr>
          <a:xfrm>
            <a:off x="1104900" y="9298781"/>
            <a:ext cx="1310155" cy="157163"/>
          </a:xfrm>
          <a:prstGeom prst="rect">
            <a:avLst/>
          </a:prstGeom>
          <a:noFill/>
          <a:ln/>
        </p:spPr>
        <p:txBody>
          <a:bodyPr wrap="non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INSTRUCTOR NOTE</a:t>
            </a:r>
            <a:endParaRPr lang="en-US" sz="825" dirty="0"/>
          </a:p>
        </p:txBody>
      </p:sp>
      <p:sp>
        <p:nvSpPr>
          <p:cNvPr id="62" name="Text 60"/>
          <p:cNvSpPr/>
          <p:nvPr/>
        </p:nvSpPr>
        <p:spPr>
          <a:xfrm>
            <a:off x="2458566" y="9258300"/>
            <a:ext cx="9690750" cy="238125"/>
          </a:xfrm>
          <a:prstGeom prst="rect">
            <a:avLst/>
          </a:prstGeom>
          <a:noFill/>
          <a:ln/>
        </p:spPr>
        <p:txBody>
          <a:bodyPr wrap="square" lIns="25400" tIns="25400" rIns="25400" bIns="25400" rtlCol="0" anchor="t">
            <a:normAutofit/>
          </a:bodyPr>
          <a:lstStyle/>
          <a:p>
            <a:pPr marL="0" indent="0" algn="l">
              <a:lnSpc>
                <a:spcPct val="123529"/>
              </a:lnSpc>
              <a:buNone/>
            </a:pPr>
            <a:r>
              <a:rPr lang="en-US" sz="1125" dirty="0">
                <a:solidFill>
                  <a:srgbClr val="C7D4E1"/>
                </a:solidFill>
                <a:latin typeface="Arial" pitchFamily="34" charset="0"/>
                <a:ea typeface="Arial" pitchFamily="34" charset="-122"/>
                <a:cs typeface="Arial" pitchFamily="34" charset="-120"/>
              </a:rPr>
              <a:t>Seven topics today — keep each tight and lean on demonstrations. Load physics must be understood before rigging, and rigging before rescue.</a:t>
            </a:r>
            <a:endParaRPr lang="en-US" sz="1125" dirty="0"/>
          </a:p>
        </p:txBody>
      </p:sp>
      <p:sp>
        <p:nvSpPr>
          <p:cNvPr id="63" name="Shape 61"/>
          <p:cNvSpPr/>
          <p:nvPr/>
        </p:nvSpPr>
        <p:spPr>
          <a:xfrm>
            <a:off x="0" y="9753600"/>
            <a:ext cx="18288000" cy="9525"/>
          </a:xfrm>
          <a:prstGeom prst="rect">
            <a:avLst/>
          </a:prstGeom>
          <a:solidFill>
            <a:srgbClr val="E1E6EC"/>
          </a:solidFill>
          <a:ln/>
        </p:spPr>
        <p:txBody>
          <a:bodyPr/>
          <a:lstStyle/>
          <a:p>
            <a:endParaRPr lang="en-US"/>
          </a:p>
        </p:txBody>
      </p:sp>
      <p:sp>
        <p:nvSpPr>
          <p:cNvPr id="64" name="Text 62"/>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65" name="Text 63"/>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 · AGENDA</a:t>
            </a:r>
            <a:endParaRPr lang="en-US" sz="900" dirty="0"/>
          </a:p>
        </p:txBody>
      </p:sp>
      <p:sp>
        <p:nvSpPr>
          <p:cNvPr id="66" name="Text 64"/>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51</a:t>
            </a:r>
            <a:endParaRPr lang="en-US" sz="900" dirty="0"/>
          </a:p>
        </p:txBody>
      </p:sp>
      <p:sp>
        <p:nvSpPr>
          <p:cNvPr id="761" name="Shape 761"/>
          <p:cNvSpPr/>
          <p:nvPr/>
        </p:nvSpPr>
        <p:spPr>
          <a:xfrm>
            <a:off x="857250" y="3524845"/>
            <a:ext cx="8159750" cy="19050"/>
          </a:xfrm>
          <a:prstGeom prst="rect">
            <a:avLst/>
          </a:prstGeom>
          <a:solidFill>
            <a:srgbClr val="E2E7ED"/>
          </a:solidFill>
          <a:ln>
            <a:noFill/>
          </a:ln>
        </p:spPr>
        <p:txBody>
          <a:bodyPr/>
          <a:lstStyle/>
          <a:p>
            <a:endParaRPr lang="en-US"/>
          </a:p>
        </p:txBody>
      </p:sp>
      <p:sp>
        <p:nvSpPr>
          <p:cNvPr id="762" name="Shape 762"/>
          <p:cNvSpPr/>
          <p:nvPr/>
        </p:nvSpPr>
        <p:spPr>
          <a:xfrm>
            <a:off x="857250" y="1905000"/>
            <a:ext cx="8159750" cy="1619845"/>
          </a:xfrm>
          <a:prstGeom prst="rect">
            <a:avLst/>
          </a:prstGeom>
          <a:solidFill>
            <a:srgbClr val="FFFFFF"/>
          </a:solidFill>
          <a:ln>
            <a:noFill/>
          </a:ln>
        </p:spPr>
        <p:txBody>
          <a:bodyPr/>
          <a:lstStyle/>
          <a:p>
            <a:endParaRPr lang="en-US"/>
          </a:p>
        </p:txBody>
      </p:sp>
      <p:sp>
        <p:nvSpPr>
          <p:cNvPr id="763" name="Shape 763"/>
          <p:cNvSpPr/>
          <p:nvPr/>
        </p:nvSpPr>
        <p:spPr>
          <a:xfrm>
            <a:off x="857250" y="1905000"/>
            <a:ext cx="76200" cy="1619845"/>
          </a:xfrm>
          <a:prstGeom prst="rect">
            <a:avLst/>
          </a:prstGeom>
          <a:solidFill>
            <a:srgbClr val="F26A1B"/>
          </a:solidFill>
          <a:ln>
            <a:noFill/>
          </a:ln>
        </p:spPr>
        <p:txBody>
          <a:bodyPr/>
          <a:lstStyle/>
          <a:p>
            <a:endParaRPr lang="en-US"/>
          </a:p>
        </p:txBody>
      </p:sp>
      <p:sp>
        <p:nvSpPr>
          <p:cNvPr id="764" name="Text 764"/>
          <p:cNvSpPr txBox="1"/>
          <p:nvPr/>
        </p:nvSpPr>
        <p:spPr>
          <a:xfrm>
            <a:off x="1212850" y="1905000"/>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01</a:t>
            </a:r>
          </a:p>
        </p:txBody>
      </p:sp>
      <p:sp>
        <p:nvSpPr>
          <p:cNvPr id="765" name="Text 765"/>
          <p:cNvSpPr txBox="1"/>
          <p:nvPr/>
        </p:nvSpPr>
        <p:spPr>
          <a:xfrm>
            <a:off x="2076450" y="2057400"/>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Anchor selection &amp; independence</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Verified anchor — or just convenient?</a:t>
            </a:r>
          </a:p>
        </p:txBody>
      </p:sp>
      <p:sp>
        <p:nvSpPr>
          <p:cNvPr id="766" name="Shape 766"/>
          <p:cNvSpPr/>
          <p:nvPr/>
        </p:nvSpPr>
        <p:spPr>
          <a:xfrm>
            <a:off x="9271000" y="3524845"/>
            <a:ext cx="8159750" cy="19050"/>
          </a:xfrm>
          <a:prstGeom prst="rect">
            <a:avLst/>
          </a:prstGeom>
          <a:solidFill>
            <a:srgbClr val="E2E7ED"/>
          </a:solidFill>
          <a:ln>
            <a:noFill/>
          </a:ln>
        </p:spPr>
        <p:txBody>
          <a:bodyPr/>
          <a:lstStyle/>
          <a:p>
            <a:endParaRPr lang="en-US"/>
          </a:p>
        </p:txBody>
      </p:sp>
      <p:sp>
        <p:nvSpPr>
          <p:cNvPr id="767" name="Shape 767"/>
          <p:cNvSpPr/>
          <p:nvPr/>
        </p:nvSpPr>
        <p:spPr>
          <a:xfrm>
            <a:off x="9271000" y="1905000"/>
            <a:ext cx="8159750" cy="1619845"/>
          </a:xfrm>
          <a:prstGeom prst="rect">
            <a:avLst/>
          </a:prstGeom>
          <a:solidFill>
            <a:srgbClr val="FFFFFF"/>
          </a:solidFill>
          <a:ln>
            <a:noFill/>
          </a:ln>
        </p:spPr>
        <p:txBody>
          <a:bodyPr/>
          <a:lstStyle/>
          <a:p>
            <a:endParaRPr lang="en-US"/>
          </a:p>
        </p:txBody>
      </p:sp>
      <p:sp>
        <p:nvSpPr>
          <p:cNvPr id="768" name="Shape 768"/>
          <p:cNvSpPr/>
          <p:nvPr/>
        </p:nvSpPr>
        <p:spPr>
          <a:xfrm>
            <a:off x="9271000" y="1905000"/>
            <a:ext cx="76200" cy="1619845"/>
          </a:xfrm>
          <a:prstGeom prst="rect">
            <a:avLst/>
          </a:prstGeom>
          <a:solidFill>
            <a:srgbClr val="F26A1B"/>
          </a:solidFill>
          <a:ln>
            <a:noFill/>
          </a:ln>
        </p:spPr>
        <p:txBody>
          <a:bodyPr/>
          <a:lstStyle/>
          <a:p>
            <a:endParaRPr lang="en-US"/>
          </a:p>
        </p:txBody>
      </p:sp>
      <p:sp>
        <p:nvSpPr>
          <p:cNvPr id="769" name="Text 769"/>
          <p:cNvSpPr txBox="1"/>
          <p:nvPr/>
        </p:nvSpPr>
        <p:spPr>
          <a:xfrm>
            <a:off x="9626600" y="1905000"/>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02</a:t>
            </a:r>
          </a:p>
        </p:txBody>
      </p:sp>
      <p:sp>
        <p:nvSpPr>
          <p:cNvPr id="770" name="Text 770"/>
          <p:cNvSpPr txBox="1"/>
          <p:nvPr/>
        </p:nvSpPr>
        <p:spPr>
          <a:xfrm>
            <a:off x="10490200" y="2057400"/>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Anchor angles &amp; load sharing</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does each leg see at this angle?</a:t>
            </a:r>
          </a:p>
        </p:txBody>
      </p:sp>
      <p:sp>
        <p:nvSpPr>
          <p:cNvPr id="771" name="Shape 771"/>
          <p:cNvSpPr/>
          <p:nvPr/>
        </p:nvSpPr>
        <p:spPr>
          <a:xfrm>
            <a:off x="857250" y="5347891"/>
            <a:ext cx="8159750" cy="19050"/>
          </a:xfrm>
          <a:prstGeom prst="rect">
            <a:avLst/>
          </a:prstGeom>
          <a:solidFill>
            <a:srgbClr val="E2E7ED"/>
          </a:solidFill>
          <a:ln>
            <a:noFill/>
          </a:ln>
        </p:spPr>
        <p:txBody>
          <a:bodyPr/>
          <a:lstStyle/>
          <a:p>
            <a:endParaRPr lang="en-US"/>
          </a:p>
        </p:txBody>
      </p:sp>
      <p:sp>
        <p:nvSpPr>
          <p:cNvPr id="772" name="Shape 772"/>
          <p:cNvSpPr/>
          <p:nvPr/>
        </p:nvSpPr>
        <p:spPr>
          <a:xfrm>
            <a:off x="857250" y="3728045"/>
            <a:ext cx="8159750" cy="1619845"/>
          </a:xfrm>
          <a:prstGeom prst="rect">
            <a:avLst/>
          </a:prstGeom>
          <a:solidFill>
            <a:srgbClr val="FFFFFF"/>
          </a:solidFill>
          <a:ln>
            <a:noFill/>
          </a:ln>
        </p:spPr>
        <p:txBody>
          <a:bodyPr/>
          <a:lstStyle/>
          <a:p>
            <a:endParaRPr lang="en-US"/>
          </a:p>
        </p:txBody>
      </p:sp>
      <p:sp>
        <p:nvSpPr>
          <p:cNvPr id="773" name="Shape 773"/>
          <p:cNvSpPr/>
          <p:nvPr/>
        </p:nvSpPr>
        <p:spPr>
          <a:xfrm>
            <a:off x="857250" y="3728045"/>
            <a:ext cx="76200" cy="1619845"/>
          </a:xfrm>
          <a:prstGeom prst="rect">
            <a:avLst/>
          </a:prstGeom>
          <a:solidFill>
            <a:srgbClr val="F26A1B"/>
          </a:solidFill>
          <a:ln>
            <a:noFill/>
          </a:ln>
        </p:spPr>
        <p:txBody>
          <a:bodyPr/>
          <a:lstStyle/>
          <a:p>
            <a:endParaRPr lang="en-US"/>
          </a:p>
        </p:txBody>
      </p:sp>
      <p:sp>
        <p:nvSpPr>
          <p:cNvPr id="774" name="Text 774"/>
          <p:cNvSpPr txBox="1"/>
          <p:nvPr/>
        </p:nvSpPr>
        <p:spPr>
          <a:xfrm>
            <a:off x="1212850" y="3728045"/>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03</a:t>
            </a:r>
          </a:p>
        </p:txBody>
      </p:sp>
      <p:sp>
        <p:nvSpPr>
          <p:cNvPr id="775" name="Text 775"/>
          <p:cNvSpPr txBox="1"/>
          <p:nvPr/>
        </p:nvSpPr>
        <p:spPr>
          <a:xfrm>
            <a:off x="2076450" y="3880445"/>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MBS, WLL / SWL &amp; equipment limits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Where is the working limit written?</a:t>
            </a:r>
          </a:p>
        </p:txBody>
      </p:sp>
      <p:sp>
        <p:nvSpPr>
          <p:cNvPr id="776" name="Shape 776"/>
          <p:cNvSpPr/>
          <p:nvPr/>
        </p:nvSpPr>
        <p:spPr>
          <a:xfrm>
            <a:off x="9271000" y="5347891"/>
            <a:ext cx="8159750" cy="19050"/>
          </a:xfrm>
          <a:prstGeom prst="rect">
            <a:avLst/>
          </a:prstGeom>
          <a:solidFill>
            <a:srgbClr val="E2E7ED"/>
          </a:solidFill>
          <a:ln>
            <a:noFill/>
          </a:ln>
        </p:spPr>
        <p:txBody>
          <a:bodyPr/>
          <a:lstStyle/>
          <a:p>
            <a:endParaRPr lang="en-US"/>
          </a:p>
        </p:txBody>
      </p:sp>
      <p:sp>
        <p:nvSpPr>
          <p:cNvPr id="777" name="Shape 777"/>
          <p:cNvSpPr/>
          <p:nvPr/>
        </p:nvSpPr>
        <p:spPr>
          <a:xfrm>
            <a:off x="9271000" y="3728045"/>
            <a:ext cx="8159750" cy="1619845"/>
          </a:xfrm>
          <a:prstGeom prst="rect">
            <a:avLst/>
          </a:prstGeom>
          <a:solidFill>
            <a:srgbClr val="FFFFFF"/>
          </a:solidFill>
          <a:ln>
            <a:noFill/>
          </a:ln>
        </p:spPr>
        <p:txBody>
          <a:bodyPr/>
          <a:lstStyle/>
          <a:p>
            <a:endParaRPr lang="en-US"/>
          </a:p>
        </p:txBody>
      </p:sp>
      <p:sp>
        <p:nvSpPr>
          <p:cNvPr id="778" name="Shape 778"/>
          <p:cNvSpPr/>
          <p:nvPr/>
        </p:nvSpPr>
        <p:spPr>
          <a:xfrm>
            <a:off x="9271000" y="3728045"/>
            <a:ext cx="76200" cy="1619845"/>
          </a:xfrm>
          <a:prstGeom prst="rect">
            <a:avLst/>
          </a:prstGeom>
          <a:solidFill>
            <a:srgbClr val="F26A1B"/>
          </a:solidFill>
          <a:ln>
            <a:noFill/>
          </a:ln>
        </p:spPr>
        <p:txBody>
          <a:bodyPr/>
          <a:lstStyle/>
          <a:p>
            <a:endParaRPr lang="en-US"/>
          </a:p>
        </p:txBody>
      </p:sp>
      <p:sp>
        <p:nvSpPr>
          <p:cNvPr id="779" name="Text 779"/>
          <p:cNvSpPr txBox="1"/>
          <p:nvPr/>
        </p:nvSpPr>
        <p:spPr>
          <a:xfrm>
            <a:off x="9626600" y="3728045"/>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04</a:t>
            </a:r>
          </a:p>
        </p:txBody>
      </p:sp>
      <p:sp>
        <p:nvSpPr>
          <p:cNvPr id="780" name="Text 780"/>
          <p:cNvSpPr txBox="1"/>
          <p:nvPr/>
        </p:nvSpPr>
        <p:spPr>
          <a:xfrm>
            <a:off x="10490200" y="3880445"/>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Lowering &amp; hauling systems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Lower or haul — and why?</a:t>
            </a:r>
          </a:p>
        </p:txBody>
      </p:sp>
      <p:sp>
        <p:nvSpPr>
          <p:cNvPr id="781" name="Shape 781"/>
          <p:cNvSpPr/>
          <p:nvPr/>
        </p:nvSpPr>
        <p:spPr>
          <a:xfrm>
            <a:off x="857250" y="7170936"/>
            <a:ext cx="8159750" cy="19050"/>
          </a:xfrm>
          <a:prstGeom prst="rect">
            <a:avLst/>
          </a:prstGeom>
          <a:solidFill>
            <a:srgbClr val="E2E7ED"/>
          </a:solidFill>
          <a:ln>
            <a:noFill/>
          </a:ln>
        </p:spPr>
        <p:txBody>
          <a:bodyPr/>
          <a:lstStyle/>
          <a:p>
            <a:endParaRPr lang="en-US"/>
          </a:p>
        </p:txBody>
      </p:sp>
      <p:sp>
        <p:nvSpPr>
          <p:cNvPr id="782" name="Shape 782"/>
          <p:cNvSpPr/>
          <p:nvPr/>
        </p:nvSpPr>
        <p:spPr>
          <a:xfrm>
            <a:off x="857250" y="5551091"/>
            <a:ext cx="8159750" cy="1619845"/>
          </a:xfrm>
          <a:prstGeom prst="rect">
            <a:avLst/>
          </a:prstGeom>
          <a:solidFill>
            <a:srgbClr val="FFFFFF"/>
          </a:solidFill>
          <a:ln>
            <a:noFill/>
          </a:ln>
        </p:spPr>
        <p:txBody>
          <a:bodyPr/>
          <a:lstStyle/>
          <a:p>
            <a:endParaRPr lang="en-US"/>
          </a:p>
        </p:txBody>
      </p:sp>
      <p:sp>
        <p:nvSpPr>
          <p:cNvPr id="783" name="Shape 783"/>
          <p:cNvSpPr/>
          <p:nvPr/>
        </p:nvSpPr>
        <p:spPr>
          <a:xfrm>
            <a:off x="857250" y="5551091"/>
            <a:ext cx="76200" cy="1619845"/>
          </a:xfrm>
          <a:prstGeom prst="rect">
            <a:avLst/>
          </a:prstGeom>
          <a:solidFill>
            <a:srgbClr val="F26A1B"/>
          </a:solidFill>
          <a:ln>
            <a:noFill/>
          </a:ln>
        </p:spPr>
        <p:txBody>
          <a:bodyPr/>
          <a:lstStyle/>
          <a:p>
            <a:endParaRPr lang="en-US"/>
          </a:p>
        </p:txBody>
      </p:sp>
      <p:sp>
        <p:nvSpPr>
          <p:cNvPr id="784" name="Text 784"/>
          <p:cNvSpPr txBox="1"/>
          <p:nvPr/>
        </p:nvSpPr>
        <p:spPr>
          <a:xfrm>
            <a:off x="1212850" y="5551091"/>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05</a:t>
            </a:r>
          </a:p>
        </p:txBody>
      </p:sp>
      <p:sp>
        <p:nvSpPr>
          <p:cNvPr id="785" name="Text 785"/>
          <p:cNvSpPr txBox="1"/>
          <p:nvPr/>
        </p:nvSpPr>
        <p:spPr>
          <a:xfrm>
            <a:off x="2076450" y="5703491"/>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Releasable rigging &amp; edge management</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Can this rig be lowered under load?</a:t>
            </a:r>
          </a:p>
        </p:txBody>
      </p:sp>
      <p:sp>
        <p:nvSpPr>
          <p:cNvPr id="786" name="Shape 786"/>
          <p:cNvSpPr/>
          <p:nvPr/>
        </p:nvSpPr>
        <p:spPr>
          <a:xfrm>
            <a:off x="9271000" y="7170936"/>
            <a:ext cx="8159750" cy="19050"/>
          </a:xfrm>
          <a:prstGeom prst="rect">
            <a:avLst/>
          </a:prstGeom>
          <a:solidFill>
            <a:srgbClr val="E2E7ED"/>
          </a:solidFill>
          <a:ln>
            <a:noFill/>
          </a:ln>
        </p:spPr>
        <p:txBody>
          <a:bodyPr/>
          <a:lstStyle/>
          <a:p>
            <a:endParaRPr lang="en-US"/>
          </a:p>
        </p:txBody>
      </p:sp>
      <p:sp>
        <p:nvSpPr>
          <p:cNvPr id="787" name="Shape 787"/>
          <p:cNvSpPr/>
          <p:nvPr/>
        </p:nvSpPr>
        <p:spPr>
          <a:xfrm>
            <a:off x="9271000" y="5551091"/>
            <a:ext cx="8159750" cy="1619845"/>
          </a:xfrm>
          <a:prstGeom prst="rect">
            <a:avLst/>
          </a:prstGeom>
          <a:solidFill>
            <a:srgbClr val="FFFFFF"/>
          </a:solidFill>
          <a:ln>
            <a:noFill/>
          </a:ln>
        </p:spPr>
        <p:txBody>
          <a:bodyPr/>
          <a:lstStyle/>
          <a:p>
            <a:endParaRPr lang="en-US"/>
          </a:p>
        </p:txBody>
      </p:sp>
      <p:sp>
        <p:nvSpPr>
          <p:cNvPr id="788" name="Shape 788"/>
          <p:cNvSpPr/>
          <p:nvPr/>
        </p:nvSpPr>
        <p:spPr>
          <a:xfrm>
            <a:off x="9271000" y="5551091"/>
            <a:ext cx="76200" cy="1619845"/>
          </a:xfrm>
          <a:prstGeom prst="rect">
            <a:avLst/>
          </a:prstGeom>
          <a:solidFill>
            <a:srgbClr val="F26A1B"/>
          </a:solidFill>
          <a:ln>
            <a:noFill/>
          </a:ln>
        </p:spPr>
        <p:txBody>
          <a:bodyPr/>
          <a:lstStyle/>
          <a:p>
            <a:endParaRPr lang="en-US"/>
          </a:p>
        </p:txBody>
      </p:sp>
      <p:sp>
        <p:nvSpPr>
          <p:cNvPr id="789" name="Text 789"/>
          <p:cNvSpPr txBox="1"/>
          <p:nvPr/>
        </p:nvSpPr>
        <p:spPr>
          <a:xfrm>
            <a:off x="9626600" y="5551091"/>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06</a:t>
            </a:r>
          </a:p>
        </p:txBody>
      </p:sp>
      <p:sp>
        <p:nvSpPr>
          <p:cNvPr id="790" name="Text 790"/>
          <p:cNvSpPr txBox="1"/>
          <p:nvPr/>
        </p:nvSpPr>
        <p:spPr>
          <a:xfrm>
            <a:off x="10490200" y="5703491"/>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Rescue fundamentals &amp; Level 1 progression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Is the rescuer safe first?</a:t>
            </a:r>
          </a:p>
        </p:txBody>
      </p:sp>
      <p:sp>
        <p:nvSpPr>
          <p:cNvPr id="791" name="Shape 791"/>
          <p:cNvSpPr/>
          <p:nvPr/>
        </p:nvSpPr>
        <p:spPr>
          <a:xfrm>
            <a:off x="857250" y="8993981"/>
            <a:ext cx="8159750" cy="19050"/>
          </a:xfrm>
          <a:prstGeom prst="rect">
            <a:avLst/>
          </a:prstGeom>
          <a:solidFill>
            <a:srgbClr val="E2E7ED"/>
          </a:solidFill>
          <a:ln>
            <a:noFill/>
          </a:ln>
        </p:spPr>
        <p:txBody>
          <a:bodyPr/>
          <a:lstStyle/>
          <a:p>
            <a:endParaRPr lang="en-US"/>
          </a:p>
        </p:txBody>
      </p:sp>
      <p:sp>
        <p:nvSpPr>
          <p:cNvPr id="792" name="Shape 792"/>
          <p:cNvSpPr/>
          <p:nvPr/>
        </p:nvSpPr>
        <p:spPr>
          <a:xfrm>
            <a:off x="857250" y="7374136"/>
            <a:ext cx="8159750" cy="1619845"/>
          </a:xfrm>
          <a:prstGeom prst="rect">
            <a:avLst/>
          </a:prstGeom>
          <a:solidFill>
            <a:srgbClr val="FFFFFF"/>
          </a:solidFill>
          <a:ln>
            <a:noFill/>
          </a:ln>
        </p:spPr>
        <p:txBody>
          <a:bodyPr/>
          <a:lstStyle/>
          <a:p>
            <a:endParaRPr lang="en-US"/>
          </a:p>
        </p:txBody>
      </p:sp>
      <p:sp>
        <p:nvSpPr>
          <p:cNvPr id="793" name="Shape 793"/>
          <p:cNvSpPr/>
          <p:nvPr/>
        </p:nvSpPr>
        <p:spPr>
          <a:xfrm>
            <a:off x="857250" y="7374136"/>
            <a:ext cx="76200" cy="1619845"/>
          </a:xfrm>
          <a:prstGeom prst="rect">
            <a:avLst/>
          </a:prstGeom>
          <a:solidFill>
            <a:srgbClr val="F26A1B"/>
          </a:solidFill>
          <a:ln>
            <a:noFill/>
          </a:ln>
        </p:spPr>
        <p:txBody>
          <a:bodyPr/>
          <a:lstStyle/>
          <a:p>
            <a:endParaRPr lang="en-US"/>
          </a:p>
        </p:txBody>
      </p:sp>
      <p:sp>
        <p:nvSpPr>
          <p:cNvPr id="794" name="Text 794"/>
          <p:cNvSpPr txBox="1"/>
          <p:nvPr/>
        </p:nvSpPr>
        <p:spPr>
          <a:xfrm>
            <a:off x="1212850" y="7374136"/>
            <a:ext cx="711200" cy="1619845"/>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07</a:t>
            </a:r>
          </a:p>
        </p:txBody>
      </p:sp>
      <p:sp>
        <p:nvSpPr>
          <p:cNvPr id="795" name="Text 795"/>
          <p:cNvSpPr txBox="1"/>
          <p:nvPr/>
        </p:nvSpPr>
        <p:spPr>
          <a:xfrm>
            <a:off x="2076450" y="7526536"/>
            <a:ext cx="6635750" cy="1315045"/>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Level 2 rescue through obstacles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is the plan for every obstacle?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58704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860924"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Anchor Selection &amp; Independence</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Verify the structure and load path</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suitable anchorages for the intended direction and system. Maintain independence and avoid common-mode failure.</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“strong-looking” is not enough</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Unknown structure, corrosion, poor load direction or shared failure points can defeat otherwise strong equipment.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Before rigging</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Confirm structural suitability through the approved process and protect ropes from edges, heat, chemicals and movement.</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Convenience anchoring</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Handrails, pipework, cable tray or unverified steel selected simply because they are nearby.</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Anchor choice, direction of load, independence, edge protection and rescue implications.</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use this beam / rail?”</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Only after it is verified as suitable under the applicable engineering / site process — not by appearance alone.</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Anchor Independence — One Failure Must Not Drop Both Ropes">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3 · ANCHORS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Anchor Independence — One Failure Must Not Drop Both Ropes</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TEST</a:t>
            </a:r>
          </a:p>
          <a:p>
            <a:pPr marL="0" indent="0" algn="l">
              <a:spcBef>
                <a:spcPts val="400"/>
              </a:spcBef>
              <a:buNone/>
            </a:pPr>
            <a:r>
              <a:rPr lang="en-US" sz="1800" b="1" kern="0" dirty="0">
                <a:solidFill>
                  <a:srgbClr val="FFFFFF"/>
                </a:solidFill>
                <a:latin typeface="Arial"/>
                <a:ea typeface="Arial"/>
                <a:cs typeface="Arial"/>
              </a:rPr>
              <a:t>Is the structure verified, and can one anchor fail without affecting the other?</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TRAP</a:t>
            </a:r>
          </a:p>
          <a:p>
            <a:pPr marL="0" indent="0" algn="l">
              <a:spcBef>
                <a:spcPts val="400"/>
              </a:spcBef>
              <a:buNone/>
            </a:pPr>
            <a:r>
              <a:rPr lang="en-US" sz="1600" kern="0" dirty="0">
                <a:solidFill>
                  <a:srgbClr val="FFFFFF"/>
                </a:solidFill>
                <a:latin typeface="Arial"/>
                <a:ea typeface="Arial"/>
                <a:cs typeface="Arial"/>
              </a:rPr>
              <a:t>Handrails, pipework or cable tray chosen because they are nearby.</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ANCHORS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53</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ANCHORS — STRUCTURAL STEEL</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Structural Steel Anchors — Know the Load Case</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ANCHORS · LOAD CASES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54</a:t>
            </a:r>
            <a:endParaRPr lang="en-US" sz="900" dirty="0"/>
          </a:p>
        </p:txBody>
      </p:sp>
      <p:sp>
        <p:nvSpPr>
          <p:cNvPr id="1801" name="Shape 1801"/>
          <p:cNvSpPr/>
          <p:nvPr/>
        </p:nvSpPr>
        <p:spPr>
          <a:xfrm>
            <a:off x="863600" y="1651000"/>
            <a:ext cx="3949700" cy="6350000"/>
          </a:xfrm>
          <a:prstGeom prst="rect">
            <a:avLst/>
          </a:prstGeom>
          <a:solidFill>
            <a:srgbClr val="FFFFFF"/>
          </a:solidFill>
          <a:ln>
            <a:noFill/>
          </a:ln>
        </p:spPr>
        <p:txBody>
          <a:bodyPr/>
          <a:lstStyle/>
          <a:p>
            <a:endParaRPr lang="en-US"/>
          </a:p>
        </p:txBody>
      </p:sp>
      <p:pic>
        <p:nvPicPr>
          <p:cNvPr id="1802" name="Picture 1802"/>
          <p:cNvPicPr>
            <a:picLocks noChangeAspect="1"/>
          </p:cNvPicPr>
          <p:nvPr/>
        </p:nvPicPr>
        <p:blipFill>
          <a:blip r:embed="rId3"/>
          <a:stretch>
            <a:fillRect/>
          </a:stretch>
        </p:blipFill>
        <p:spPr>
          <a:xfrm>
            <a:off x="1054100" y="2170892"/>
            <a:ext cx="3568700" cy="3049616"/>
          </a:xfrm>
          <a:prstGeom prst="rect">
            <a:avLst/>
          </a:prstGeom>
        </p:spPr>
      </p:pic>
      <p:sp>
        <p:nvSpPr>
          <p:cNvPr id="1803" name="Text 1803"/>
          <p:cNvSpPr txBox="1"/>
          <p:nvPr/>
        </p:nvSpPr>
        <p:spPr>
          <a:xfrm>
            <a:off x="1092200" y="5740400"/>
            <a:ext cx="3492500" cy="2032000"/>
          </a:xfrm>
          <a:prstGeom prst="rect">
            <a:avLst/>
          </a:prstGeom>
          <a:noFill/>
          <a:ln>
            <a:noFill/>
          </a:ln>
        </p:spPr>
        <p:txBody>
          <a:bodyPr wrap="square" lIns="0" tIns="0" rIns="0" bIns="0" anchor="t">
            <a:noAutofit/>
          </a:bodyPr>
          <a:lstStyle/>
          <a:p>
            <a:pPr marL="0" indent="0" algn="l">
              <a:lnSpc>
                <a:spcPct val="105000"/>
              </a:lnSpc>
              <a:buNone/>
            </a:pPr>
            <a:r>
              <a:rPr lang="en-US" sz="1100" b="1" spc="150" dirty="0">
                <a:solidFill>
                  <a:srgbClr val="F26A1B"/>
                </a:solidFill>
                <a:latin typeface="Courier New"/>
                <a:cs typeface="Courier New"/>
              </a:rPr>
              <a:t>FIG 1 · MIDSPAN</a:t>
            </a:r>
          </a:p>
          <a:p>
            <a:pPr marL="0" indent="0" algn="l">
              <a:lnSpc>
                <a:spcPct val="105000"/>
              </a:lnSpc>
              <a:spcBef>
                <a:spcPts val="600"/>
              </a:spcBef>
              <a:buNone/>
            </a:pPr>
            <a:r>
              <a:rPr lang="en-US" sz="1700" b="1" dirty="0">
                <a:solidFill>
                  <a:srgbClr val="0E2A47"/>
                </a:solidFill>
                <a:latin typeface="Arial"/>
                <a:cs typeface="Arial"/>
              </a:rPr>
              <a:t>Load hangs between two supports</a:t>
            </a:r>
          </a:p>
          <a:p>
            <a:pPr marL="0" indent="0" algn="l">
              <a:lnSpc>
                <a:spcPct val="105000"/>
              </a:lnSpc>
              <a:spcBef>
                <a:spcPts val="600"/>
              </a:spcBef>
              <a:buNone/>
            </a:pPr>
            <a:r>
              <a:rPr lang="en-US" sz="1400" dirty="0">
                <a:solidFill>
                  <a:srgbClr val="41505E"/>
                </a:solidFill>
                <a:latin typeface="Arial"/>
                <a:cs typeface="Arial"/>
              </a:rPr>
              <a:t>Span = distance between the supports</a:t>
            </a:r>
          </a:p>
        </p:txBody>
      </p:sp>
      <p:sp>
        <p:nvSpPr>
          <p:cNvPr id="1804" name="Shape 1804"/>
          <p:cNvSpPr/>
          <p:nvPr/>
        </p:nvSpPr>
        <p:spPr>
          <a:xfrm>
            <a:off x="5067300" y="1651000"/>
            <a:ext cx="3949700" cy="6350000"/>
          </a:xfrm>
          <a:prstGeom prst="rect">
            <a:avLst/>
          </a:prstGeom>
          <a:solidFill>
            <a:srgbClr val="FFFFFF"/>
          </a:solidFill>
          <a:ln>
            <a:noFill/>
          </a:ln>
        </p:spPr>
        <p:txBody>
          <a:bodyPr/>
          <a:lstStyle/>
          <a:p>
            <a:endParaRPr lang="en-US"/>
          </a:p>
        </p:txBody>
      </p:sp>
      <p:pic>
        <p:nvPicPr>
          <p:cNvPr id="1805" name="Picture 1805"/>
          <p:cNvPicPr>
            <a:picLocks noChangeAspect="1"/>
          </p:cNvPicPr>
          <p:nvPr/>
        </p:nvPicPr>
        <p:blipFill>
          <a:blip r:embed="rId4"/>
          <a:stretch>
            <a:fillRect/>
          </a:stretch>
        </p:blipFill>
        <p:spPr>
          <a:xfrm>
            <a:off x="5257800" y="2359377"/>
            <a:ext cx="3568700" cy="2672646"/>
          </a:xfrm>
          <a:prstGeom prst="rect">
            <a:avLst/>
          </a:prstGeom>
        </p:spPr>
      </p:pic>
      <p:sp>
        <p:nvSpPr>
          <p:cNvPr id="1806" name="Text 1806"/>
          <p:cNvSpPr txBox="1"/>
          <p:nvPr/>
        </p:nvSpPr>
        <p:spPr>
          <a:xfrm>
            <a:off x="5295900" y="5740400"/>
            <a:ext cx="3492500" cy="2032000"/>
          </a:xfrm>
          <a:prstGeom prst="rect">
            <a:avLst/>
          </a:prstGeom>
          <a:noFill/>
          <a:ln>
            <a:noFill/>
          </a:ln>
        </p:spPr>
        <p:txBody>
          <a:bodyPr wrap="square" lIns="0" tIns="0" rIns="0" bIns="0" anchor="t">
            <a:noAutofit/>
          </a:bodyPr>
          <a:lstStyle/>
          <a:p>
            <a:pPr marL="0" indent="0" algn="l">
              <a:lnSpc>
                <a:spcPct val="105000"/>
              </a:lnSpc>
              <a:buNone/>
            </a:pPr>
            <a:r>
              <a:rPr lang="en-US" sz="1100" b="1" spc="150" dirty="0">
                <a:solidFill>
                  <a:srgbClr val="F26A1B"/>
                </a:solidFill>
                <a:latin typeface="Courier New"/>
                <a:cs typeface="Courier New"/>
              </a:rPr>
              <a:t>FIG 2 · CANTILEVER</a:t>
            </a:r>
          </a:p>
          <a:p>
            <a:pPr marL="0" indent="0" algn="l">
              <a:lnSpc>
                <a:spcPct val="105000"/>
              </a:lnSpc>
              <a:spcBef>
                <a:spcPts val="600"/>
              </a:spcBef>
              <a:buNone/>
            </a:pPr>
            <a:r>
              <a:rPr lang="en-US" sz="1700" b="1" dirty="0">
                <a:solidFill>
                  <a:srgbClr val="0E2A47"/>
                </a:solidFill>
                <a:latin typeface="Arial"/>
                <a:cs typeface="Arial"/>
              </a:rPr>
              <a:t>Load at the free end of an overhang</a:t>
            </a:r>
          </a:p>
          <a:p>
            <a:pPr marL="0" indent="0" algn="l">
              <a:lnSpc>
                <a:spcPct val="105000"/>
              </a:lnSpc>
              <a:spcBef>
                <a:spcPts val="600"/>
              </a:spcBef>
              <a:buNone/>
            </a:pPr>
            <a:r>
              <a:rPr lang="en-US" sz="1400" dirty="0">
                <a:solidFill>
                  <a:srgbClr val="41505E"/>
                </a:solidFill>
                <a:latin typeface="Arial"/>
                <a:cs typeface="Arial"/>
              </a:rPr>
              <a:t>Span = overhang past the support</a:t>
            </a:r>
          </a:p>
        </p:txBody>
      </p:sp>
      <p:sp>
        <p:nvSpPr>
          <p:cNvPr id="1807" name="Shape 1807"/>
          <p:cNvSpPr/>
          <p:nvPr/>
        </p:nvSpPr>
        <p:spPr>
          <a:xfrm>
            <a:off x="9271000" y="1651000"/>
            <a:ext cx="3949700" cy="6350000"/>
          </a:xfrm>
          <a:prstGeom prst="rect">
            <a:avLst/>
          </a:prstGeom>
          <a:solidFill>
            <a:srgbClr val="FFFFFF"/>
          </a:solidFill>
          <a:ln>
            <a:noFill/>
          </a:ln>
        </p:spPr>
        <p:txBody>
          <a:bodyPr/>
          <a:lstStyle/>
          <a:p>
            <a:endParaRPr lang="en-US"/>
          </a:p>
        </p:txBody>
      </p:sp>
      <p:pic>
        <p:nvPicPr>
          <p:cNvPr id="1808" name="Picture 1808"/>
          <p:cNvPicPr>
            <a:picLocks noChangeAspect="1"/>
          </p:cNvPicPr>
          <p:nvPr/>
        </p:nvPicPr>
        <p:blipFill>
          <a:blip r:embed="rId5"/>
          <a:stretch>
            <a:fillRect/>
          </a:stretch>
        </p:blipFill>
        <p:spPr>
          <a:xfrm>
            <a:off x="9501578" y="1854200"/>
            <a:ext cx="3488544" cy="3683000"/>
          </a:xfrm>
          <a:prstGeom prst="rect">
            <a:avLst/>
          </a:prstGeom>
        </p:spPr>
      </p:pic>
      <p:sp>
        <p:nvSpPr>
          <p:cNvPr id="1809" name="Text 1809"/>
          <p:cNvSpPr txBox="1"/>
          <p:nvPr/>
        </p:nvSpPr>
        <p:spPr>
          <a:xfrm>
            <a:off x="9499600" y="5740400"/>
            <a:ext cx="3492500" cy="2032000"/>
          </a:xfrm>
          <a:prstGeom prst="rect">
            <a:avLst/>
          </a:prstGeom>
          <a:noFill/>
          <a:ln>
            <a:noFill/>
          </a:ln>
        </p:spPr>
        <p:txBody>
          <a:bodyPr wrap="square" lIns="0" tIns="0" rIns="0" bIns="0" anchor="t">
            <a:noAutofit/>
          </a:bodyPr>
          <a:lstStyle/>
          <a:p>
            <a:pPr marL="0" indent="0" algn="l">
              <a:lnSpc>
                <a:spcPct val="105000"/>
              </a:lnSpc>
              <a:buNone/>
            </a:pPr>
            <a:r>
              <a:rPr lang="en-US" sz="1100" b="1" spc="150" dirty="0">
                <a:solidFill>
                  <a:srgbClr val="F26A1B"/>
                </a:solidFill>
                <a:latin typeface="Courier New"/>
                <a:cs typeface="Courier New"/>
              </a:rPr>
              <a:t>FIG 3 · CANTILEVER (SIDE PULL)</a:t>
            </a:r>
          </a:p>
          <a:p>
            <a:pPr marL="0" indent="0" algn="l">
              <a:lnSpc>
                <a:spcPct val="105000"/>
              </a:lnSpc>
              <a:spcBef>
                <a:spcPts val="600"/>
              </a:spcBef>
              <a:buNone/>
            </a:pPr>
            <a:r>
              <a:rPr lang="en-US" sz="1700" b="1" dirty="0">
                <a:solidFill>
                  <a:srgbClr val="0E2A47"/>
                </a:solidFill>
                <a:latin typeface="Arial"/>
                <a:cs typeface="Arial"/>
              </a:rPr>
              <a:t>Load pulls sideways on a hanging member</a:t>
            </a:r>
          </a:p>
          <a:p>
            <a:pPr marL="0" indent="0" algn="l">
              <a:lnSpc>
                <a:spcPct val="105000"/>
              </a:lnSpc>
              <a:spcBef>
                <a:spcPts val="600"/>
              </a:spcBef>
              <a:buNone/>
            </a:pPr>
            <a:r>
              <a:rPr lang="en-US" sz="1400" dirty="0">
                <a:solidFill>
                  <a:srgbClr val="41505E"/>
                </a:solidFill>
                <a:latin typeface="Arial"/>
                <a:cs typeface="Arial"/>
              </a:rPr>
              <a:t>Span = drop below the support</a:t>
            </a:r>
          </a:p>
        </p:txBody>
      </p:sp>
      <p:sp>
        <p:nvSpPr>
          <p:cNvPr id="1810" name="Shape 1810"/>
          <p:cNvSpPr/>
          <p:nvPr/>
        </p:nvSpPr>
        <p:spPr>
          <a:xfrm>
            <a:off x="13474700" y="1651000"/>
            <a:ext cx="3949700" cy="6350000"/>
          </a:xfrm>
          <a:prstGeom prst="rect">
            <a:avLst/>
          </a:prstGeom>
          <a:solidFill>
            <a:srgbClr val="FFFFFF"/>
          </a:solidFill>
          <a:ln>
            <a:noFill/>
          </a:ln>
        </p:spPr>
        <p:txBody>
          <a:bodyPr/>
          <a:lstStyle/>
          <a:p>
            <a:endParaRPr lang="en-US"/>
          </a:p>
        </p:txBody>
      </p:sp>
      <p:pic>
        <p:nvPicPr>
          <p:cNvPr id="1811" name="Picture 1811"/>
          <p:cNvPicPr>
            <a:picLocks noChangeAspect="1"/>
          </p:cNvPicPr>
          <p:nvPr/>
        </p:nvPicPr>
        <p:blipFill>
          <a:blip r:embed="rId6"/>
          <a:stretch>
            <a:fillRect/>
          </a:stretch>
        </p:blipFill>
        <p:spPr>
          <a:xfrm>
            <a:off x="13773932" y="1854200"/>
            <a:ext cx="3351236" cy="3683000"/>
          </a:xfrm>
          <a:prstGeom prst="rect">
            <a:avLst/>
          </a:prstGeom>
        </p:spPr>
      </p:pic>
      <p:sp>
        <p:nvSpPr>
          <p:cNvPr id="1812" name="Text 1812"/>
          <p:cNvSpPr txBox="1"/>
          <p:nvPr/>
        </p:nvSpPr>
        <p:spPr>
          <a:xfrm>
            <a:off x="13703300" y="5740400"/>
            <a:ext cx="3492500" cy="2032000"/>
          </a:xfrm>
          <a:prstGeom prst="rect">
            <a:avLst/>
          </a:prstGeom>
          <a:noFill/>
          <a:ln>
            <a:noFill/>
          </a:ln>
        </p:spPr>
        <p:txBody>
          <a:bodyPr wrap="square" lIns="0" tIns="0" rIns="0" bIns="0" anchor="t">
            <a:noAutofit/>
          </a:bodyPr>
          <a:lstStyle/>
          <a:p>
            <a:pPr marL="0" indent="0" algn="l">
              <a:lnSpc>
                <a:spcPct val="105000"/>
              </a:lnSpc>
              <a:buNone/>
            </a:pPr>
            <a:r>
              <a:rPr lang="en-US" sz="1100" b="1" spc="150" dirty="0">
                <a:solidFill>
                  <a:srgbClr val="F26A1B"/>
                </a:solidFill>
                <a:latin typeface="Courier New"/>
                <a:cs typeface="Courier New"/>
              </a:rPr>
              <a:t>FIG 4 · TENSION</a:t>
            </a:r>
          </a:p>
          <a:p>
            <a:pPr marL="0" indent="0" algn="l">
              <a:lnSpc>
                <a:spcPct val="105000"/>
              </a:lnSpc>
              <a:spcBef>
                <a:spcPts val="600"/>
              </a:spcBef>
              <a:buNone/>
            </a:pPr>
            <a:r>
              <a:rPr lang="en-US" sz="1700" b="1" dirty="0">
                <a:solidFill>
                  <a:srgbClr val="0E2A47"/>
                </a:solidFill>
                <a:latin typeface="Arial"/>
                <a:cs typeface="Arial"/>
              </a:rPr>
              <a:t>Load pulls straight down the member</a:t>
            </a:r>
          </a:p>
          <a:p>
            <a:pPr marL="0" indent="0" algn="l">
              <a:lnSpc>
                <a:spcPct val="105000"/>
              </a:lnSpc>
              <a:spcBef>
                <a:spcPts val="600"/>
              </a:spcBef>
              <a:buNone/>
            </a:pPr>
            <a:r>
              <a:rPr lang="en-US" sz="1400" dirty="0">
                <a:solidFill>
                  <a:srgbClr val="41505E"/>
                </a:solidFill>
                <a:latin typeface="Arial"/>
                <a:cs typeface="Arial"/>
              </a:rPr>
              <a:t>Span = drop below the support</a:t>
            </a:r>
          </a:p>
        </p:txBody>
      </p:sp>
      <p:sp>
        <p:nvSpPr>
          <p:cNvPr id="1813" name="Shape 1813"/>
          <p:cNvSpPr/>
          <p:nvPr/>
        </p:nvSpPr>
        <p:spPr>
          <a:xfrm>
            <a:off x="863600" y="8229600"/>
            <a:ext cx="16535400" cy="990600"/>
          </a:xfrm>
          <a:prstGeom prst="rect">
            <a:avLst/>
          </a:prstGeom>
          <a:solidFill>
            <a:srgbClr val="0E2A47"/>
          </a:solidFill>
          <a:ln>
            <a:noFill/>
          </a:ln>
        </p:spPr>
        <p:txBody>
          <a:bodyPr/>
          <a:lstStyle/>
          <a:p>
            <a:endParaRPr lang="en-US"/>
          </a:p>
        </p:txBody>
      </p:sp>
      <p:sp>
        <p:nvSpPr>
          <p:cNvPr id="1814" name="Text 1814"/>
          <p:cNvSpPr txBox="1"/>
          <p:nvPr/>
        </p:nvSpPr>
        <p:spPr>
          <a:xfrm>
            <a:off x="1219200" y="8229600"/>
            <a:ext cx="15824200" cy="990600"/>
          </a:xfrm>
          <a:prstGeom prst="rect">
            <a:avLst/>
          </a:prstGeom>
          <a:noFill/>
          <a:ln>
            <a:noFill/>
          </a:ln>
        </p:spPr>
        <p:txBody>
          <a:bodyPr wrap="square" lIns="0" tIns="0" rIns="0" bIns="0" anchor="ctr">
            <a:noAutofit/>
          </a:bodyPr>
          <a:lstStyle/>
          <a:p>
            <a:pPr marL="0" indent="0" algn="l">
              <a:lnSpc>
                <a:spcPct val="105000"/>
              </a:lnSpc>
              <a:buNone/>
            </a:pPr>
            <a:r>
              <a:rPr lang="en-US" sz="1700" b="1" dirty="0">
                <a:solidFill>
                  <a:srgbClr val="FFFFFF"/>
                </a:solidFill>
                <a:latin typeface="Arial"/>
                <a:cs typeface="Arial"/>
              </a:rPr>
              <a:t>Same member, different answer. </a:t>
            </a:r>
            <a:r>
              <a:rPr lang="en-US" sz="1600" dirty="0">
                <a:solidFill>
                  <a:srgbClr val="C7D4E1"/>
                </a:solidFill>
                <a:latin typeface="Arial"/>
                <a:cs typeface="Arial"/>
              </a:rPr>
              <a:t>A beam that holds in tension can fail as a cantilever. Identify the load case and the span before you pick the anchor.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ANCHORS — STRUCTURAL STEEL</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Is This Steel Member a Suitable Anchor?</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ANCHORS · STEEL MEMBER CHART</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55</a:t>
            </a:r>
            <a:endParaRPr lang="en-US" sz="900" dirty="0"/>
          </a:p>
        </p:txBody>
      </p:sp>
      <p:sp>
        <p:nvSpPr>
          <p:cNvPr id="1815" name="Text 1815"/>
          <p:cNvSpPr txBox="1"/>
          <p:nvPr/>
        </p:nvSpPr>
        <p:spPr>
          <a:xfrm>
            <a:off x="19812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MIDSPAN</a:t>
            </a:r>
          </a:p>
        </p:txBody>
      </p:sp>
      <p:sp>
        <p:nvSpPr>
          <p:cNvPr id="1816" name="Text 1816"/>
          <p:cNvSpPr txBox="1"/>
          <p:nvPr/>
        </p:nvSpPr>
        <p:spPr>
          <a:xfrm>
            <a:off x="19812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817" name="Text 1817"/>
          <p:cNvSpPr txBox="1"/>
          <p:nvPr/>
        </p:nvSpPr>
        <p:spPr>
          <a:xfrm>
            <a:off x="26416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818" name="Text 1818"/>
          <p:cNvSpPr txBox="1"/>
          <p:nvPr/>
        </p:nvSpPr>
        <p:spPr>
          <a:xfrm>
            <a:off x="33020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819" name="Text 1819"/>
          <p:cNvSpPr txBox="1"/>
          <p:nvPr/>
        </p:nvSpPr>
        <p:spPr>
          <a:xfrm>
            <a:off x="40640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CANTILEVER</a:t>
            </a:r>
          </a:p>
        </p:txBody>
      </p:sp>
      <p:sp>
        <p:nvSpPr>
          <p:cNvPr id="1820" name="Text 1820"/>
          <p:cNvSpPr txBox="1"/>
          <p:nvPr/>
        </p:nvSpPr>
        <p:spPr>
          <a:xfrm>
            <a:off x="40640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821" name="Text 1821"/>
          <p:cNvSpPr txBox="1"/>
          <p:nvPr/>
        </p:nvSpPr>
        <p:spPr>
          <a:xfrm>
            <a:off x="47244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822" name="Text 1822"/>
          <p:cNvSpPr txBox="1"/>
          <p:nvPr/>
        </p:nvSpPr>
        <p:spPr>
          <a:xfrm>
            <a:off x="53848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823" name="Text 1823"/>
          <p:cNvSpPr txBox="1"/>
          <p:nvPr/>
        </p:nvSpPr>
        <p:spPr>
          <a:xfrm>
            <a:off x="61468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TENSION</a:t>
            </a:r>
          </a:p>
        </p:txBody>
      </p:sp>
      <p:sp>
        <p:nvSpPr>
          <p:cNvPr id="1824" name="Text 1824"/>
          <p:cNvSpPr txBox="1"/>
          <p:nvPr/>
        </p:nvSpPr>
        <p:spPr>
          <a:xfrm>
            <a:off x="61468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825" name="Text 1825"/>
          <p:cNvSpPr txBox="1"/>
          <p:nvPr/>
        </p:nvSpPr>
        <p:spPr>
          <a:xfrm>
            <a:off x="68072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826" name="Text 1826"/>
          <p:cNvSpPr txBox="1"/>
          <p:nvPr/>
        </p:nvSpPr>
        <p:spPr>
          <a:xfrm>
            <a:off x="74676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827" name="Text 1827"/>
          <p:cNvSpPr txBox="1"/>
          <p:nvPr/>
        </p:nvSpPr>
        <p:spPr>
          <a:xfrm>
            <a:off x="863600" y="2426970"/>
            <a:ext cx="7620000" cy="231140"/>
          </a:xfrm>
          <a:prstGeom prst="rect">
            <a:avLst/>
          </a:prstGeom>
          <a:noFill/>
          <a:ln>
            <a:noFill/>
          </a:ln>
        </p:spPr>
        <p:txBody>
          <a:bodyPr wrap="square" lIns="0" tIns="0" rIns="0" bIns="0" anchor="t">
            <a:noAutofit/>
          </a:bodyPr>
          <a:lstStyle/>
          <a:p>
            <a:pPr marL="0" indent="0" algn="l">
              <a:lnSpc>
                <a:spcPct val="105000"/>
              </a:lnSpc>
              <a:buNone/>
            </a:pPr>
            <a:r>
              <a:rPr lang="en-US" sz="1150" b="1" spc="150" dirty="0">
                <a:solidFill>
                  <a:srgbClr val="F26A1B"/>
                </a:solidFill>
                <a:latin typeface="Courier New"/>
                <a:cs typeface="Courier New"/>
              </a:rPr>
              <a:t>I-BEAM (W)</a:t>
            </a:r>
          </a:p>
        </p:txBody>
      </p:sp>
      <p:sp>
        <p:nvSpPr>
          <p:cNvPr id="1828" name="Text 1828"/>
          <p:cNvSpPr txBox="1"/>
          <p:nvPr/>
        </p:nvSpPr>
        <p:spPr>
          <a:xfrm>
            <a:off x="863600" y="270764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W4</a:t>
            </a:r>
          </a:p>
        </p:txBody>
      </p:sp>
      <p:sp>
        <p:nvSpPr>
          <p:cNvPr id="1829" name="Text 1829"/>
          <p:cNvSpPr txBox="1"/>
          <p:nvPr/>
        </p:nvSpPr>
        <p:spPr>
          <a:xfrm>
            <a:off x="2000250" y="27076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30" name="Text 1830"/>
          <p:cNvSpPr txBox="1"/>
          <p:nvPr/>
        </p:nvSpPr>
        <p:spPr>
          <a:xfrm>
            <a:off x="2660650" y="27076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31" name="Text 1831"/>
          <p:cNvSpPr txBox="1"/>
          <p:nvPr/>
        </p:nvSpPr>
        <p:spPr>
          <a:xfrm>
            <a:off x="33210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32" name="Text 1832"/>
          <p:cNvSpPr txBox="1"/>
          <p:nvPr/>
        </p:nvSpPr>
        <p:spPr>
          <a:xfrm>
            <a:off x="40830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33" name="Text 1833"/>
          <p:cNvSpPr txBox="1"/>
          <p:nvPr/>
        </p:nvSpPr>
        <p:spPr>
          <a:xfrm>
            <a:off x="47434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34" name="Text 1834"/>
          <p:cNvSpPr txBox="1"/>
          <p:nvPr/>
        </p:nvSpPr>
        <p:spPr>
          <a:xfrm>
            <a:off x="54038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35" name="Text 1835"/>
          <p:cNvSpPr txBox="1"/>
          <p:nvPr/>
        </p:nvSpPr>
        <p:spPr>
          <a:xfrm>
            <a:off x="6165850" y="27076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36" name="Text 1836"/>
          <p:cNvSpPr txBox="1"/>
          <p:nvPr/>
        </p:nvSpPr>
        <p:spPr>
          <a:xfrm>
            <a:off x="6826250" y="27076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37" name="Text 1837"/>
          <p:cNvSpPr txBox="1"/>
          <p:nvPr/>
        </p:nvSpPr>
        <p:spPr>
          <a:xfrm>
            <a:off x="7486650" y="27076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38" name="Text 1838"/>
          <p:cNvSpPr txBox="1"/>
          <p:nvPr/>
        </p:nvSpPr>
        <p:spPr>
          <a:xfrm>
            <a:off x="863600" y="311213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W6</a:t>
            </a:r>
          </a:p>
        </p:txBody>
      </p:sp>
      <p:sp>
        <p:nvSpPr>
          <p:cNvPr id="1839" name="Text 1839"/>
          <p:cNvSpPr txBox="1"/>
          <p:nvPr/>
        </p:nvSpPr>
        <p:spPr>
          <a:xfrm>
            <a:off x="20002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40" name="Text 1840"/>
          <p:cNvSpPr txBox="1"/>
          <p:nvPr/>
        </p:nvSpPr>
        <p:spPr>
          <a:xfrm>
            <a:off x="26606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41" name="Text 1841"/>
          <p:cNvSpPr txBox="1"/>
          <p:nvPr/>
        </p:nvSpPr>
        <p:spPr>
          <a:xfrm>
            <a:off x="33210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42" name="Text 1842"/>
          <p:cNvSpPr txBox="1"/>
          <p:nvPr/>
        </p:nvSpPr>
        <p:spPr>
          <a:xfrm>
            <a:off x="40830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43" name="Text 1843"/>
          <p:cNvSpPr txBox="1"/>
          <p:nvPr/>
        </p:nvSpPr>
        <p:spPr>
          <a:xfrm>
            <a:off x="47434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44" name="Text 1844"/>
          <p:cNvSpPr txBox="1"/>
          <p:nvPr/>
        </p:nvSpPr>
        <p:spPr>
          <a:xfrm>
            <a:off x="54038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45" name="Text 1845"/>
          <p:cNvSpPr txBox="1"/>
          <p:nvPr/>
        </p:nvSpPr>
        <p:spPr>
          <a:xfrm>
            <a:off x="61658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46" name="Text 1846"/>
          <p:cNvSpPr txBox="1"/>
          <p:nvPr/>
        </p:nvSpPr>
        <p:spPr>
          <a:xfrm>
            <a:off x="68262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47" name="Text 1847"/>
          <p:cNvSpPr txBox="1"/>
          <p:nvPr/>
        </p:nvSpPr>
        <p:spPr>
          <a:xfrm>
            <a:off x="74866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48" name="Text 1848"/>
          <p:cNvSpPr txBox="1"/>
          <p:nvPr/>
        </p:nvSpPr>
        <p:spPr>
          <a:xfrm>
            <a:off x="863600" y="351663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W8</a:t>
            </a:r>
          </a:p>
        </p:txBody>
      </p:sp>
      <p:sp>
        <p:nvSpPr>
          <p:cNvPr id="1849" name="Text 1849"/>
          <p:cNvSpPr txBox="1"/>
          <p:nvPr/>
        </p:nvSpPr>
        <p:spPr>
          <a:xfrm>
            <a:off x="20002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0" name="Text 1850"/>
          <p:cNvSpPr txBox="1"/>
          <p:nvPr/>
        </p:nvSpPr>
        <p:spPr>
          <a:xfrm>
            <a:off x="26606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1" name="Text 1851"/>
          <p:cNvSpPr txBox="1"/>
          <p:nvPr/>
        </p:nvSpPr>
        <p:spPr>
          <a:xfrm>
            <a:off x="33210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2" name="Text 1852"/>
          <p:cNvSpPr txBox="1"/>
          <p:nvPr/>
        </p:nvSpPr>
        <p:spPr>
          <a:xfrm>
            <a:off x="40830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3" name="Text 1853"/>
          <p:cNvSpPr txBox="1"/>
          <p:nvPr/>
        </p:nvSpPr>
        <p:spPr>
          <a:xfrm>
            <a:off x="47434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54" name="Text 1854"/>
          <p:cNvSpPr txBox="1"/>
          <p:nvPr/>
        </p:nvSpPr>
        <p:spPr>
          <a:xfrm>
            <a:off x="54038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55" name="Text 1855"/>
          <p:cNvSpPr txBox="1"/>
          <p:nvPr/>
        </p:nvSpPr>
        <p:spPr>
          <a:xfrm>
            <a:off x="61658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6" name="Text 1856"/>
          <p:cNvSpPr txBox="1"/>
          <p:nvPr/>
        </p:nvSpPr>
        <p:spPr>
          <a:xfrm>
            <a:off x="68262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7" name="Text 1857"/>
          <p:cNvSpPr txBox="1"/>
          <p:nvPr/>
        </p:nvSpPr>
        <p:spPr>
          <a:xfrm>
            <a:off x="74866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58" name="Text 1858"/>
          <p:cNvSpPr txBox="1"/>
          <p:nvPr/>
        </p:nvSpPr>
        <p:spPr>
          <a:xfrm>
            <a:off x="863600" y="392112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W10</a:t>
            </a:r>
          </a:p>
        </p:txBody>
      </p:sp>
      <p:sp>
        <p:nvSpPr>
          <p:cNvPr id="1859" name="Text 1859"/>
          <p:cNvSpPr txBox="1"/>
          <p:nvPr/>
        </p:nvSpPr>
        <p:spPr>
          <a:xfrm>
            <a:off x="20002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0" name="Text 1860"/>
          <p:cNvSpPr txBox="1"/>
          <p:nvPr/>
        </p:nvSpPr>
        <p:spPr>
          <a:xfrm>
            <a:off x="26606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1" name="Text 1861"/>
          <p:cNvSpPr txBox="1"/>
          <p:nvPr/>
        </p:nvSpPr>
        <p:spPr>
          <a:xfrm>
            <a:off x="33210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2" name="Text 1862"/>
          <p:cNvSpPr txBox="1"/>
          <p:nvPr/>
        </p:nvSpPr>
        <p:spPr>
          <a:xfrm>
            <a:off x="40830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3" name="Text 1863"/>
          <p:cNvSpPr txBox="1"/>
          <p:nvPr/>
        </p:nvSpPr>
        <p:spPr>
          <a:xfrm>
            <a:off x="47434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64" name="Text 1864"/>
          <p:cNvSpPr txBox="1"/>
          <p:nvPr/>
        </p:nvSpPr>
        <p:spPr>
          <a:xfrm>
            <a:off x="54038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65" name="Text 1865"/>
          <p:cNvSpPr txBox="1"/>
          <p:nvPr/>
        </p:nvSpPr>
        <p:spPr>
          <a:xfrm>
            <a:off x="61658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6" name="Text 1866"/>
          <p:cNvSpPr txBox="1"/>
          <p:nvPr/>
        </p:nvSpPr>
        <p:spPr>
          <a:xfrm>
            <a:off x="68262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7" name="Text 1867"/>
          <p:cNvSpPr txBox="1"/>
          <p:nvPr/>
        </p:nvSpPr>
        <p:spPr>
          <a:xfrm>
            <a:off x="74866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68" name="Text 1868"/>
          <p:cNvSpPr txBox="1"/>
          <p:nvPr/>
        </p:nvSpPr>
        <p:spPr>
          <a:xfrm>
            <a:off x="863600" y="432562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W12</a:t>
            </a:r>
          </a:p>
        </p:txBody>
      </p:sp>
      <p:sp>
        <p:nvSpPr>
          <p:cNvPr id="1869" name="Text 1869"/>
          <p:cNvSpPr txBox="1"/>
          <p:nvPr/>
        </p:nvSpPr>
        <p:spPr>
          <a:xfrm>
            <a:off x="20002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0" name="Text 1870"/>
          <p:cNvSpPr txBox="1"/>
          <p:nvPr/>
        </p:nvSpPr>
        <p:spPr>
          <a:xfrm>
            <a:off x="26606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1" name="Text 1871"/>
          <p:cNvSpPr txBox="1"/>
          <p:nvPr/>
        </p:nvSpPr>
        <p:spPr>
          <a:xfrm>
            <a:off x="33210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2" name="Text 1872"/>
          <p:cNvSpPr txBox="1"/>
          <p:nvPr/>
        </p:nvSpPr>
        <p:spPr>
          <a:xfrm>
            <a:off x="40830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3" name="Text 1873"/>
          <p:cNvSpPr txBox="1"/>
          <p:nvPr/>
        </p:nvSpPr>
        <p:spPr>
          <a:xfrm>
            <a:off x="47434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4" name="Text 1874"/>
          <p:cNvSpPr txBox="1"/>
          <p:nvPr/>
        </p:nvSpPr>
        <p:spPr>
          <a:xfrm>
            <a:off x="5403850" y="432562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75" name="Text 1875"/>
          <p:cNvSpPr txBox="1"/>
          <p:nvPr/>
        </p:nvSpPr>
        <p:spPr>
          <a:xfrm>
            <a:off x="61658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6" name="Text 1876"/>
          <p:cNvSpPr txBox="1"/>
          <p:nvPr/>
        </p:nvSpPr>
        <p:spPr>
          <a:xfrm>
            <a:off x="68262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7" name="Text 1877"/>
          <p:cNvSpPr txBox="1"/>
          <p:nvPr/>
        </p:nvSpPr>
        <p:spPr>
          <a:xfrm>
            <a:off x="74866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78" name="Text 1878"/>
          <p:cNvSpPr txBox="1"/>
          <p:nvPr/>
        </p:nvSpPr>
        <p:spPr>
          <a:xfrm>
            <a:off x="863600" y="4845685"/>
            <a:ext cx="7620000" cy="231140"/>
          </a:xfrm>
          <a:prstGeom prst="rect">
            <a:avLst/>
          </a:prstGeom>
          <a:noFill/>
          <a:ln>
            <a:noFill/>
          </a:ln>
        </p:spPr>
        <p:txBody>
          <a:bodyPr wrap="square" lIns="0" tIns="0" rIns="0" bIns="0" anchor="t">
            <a:noAutofit/>
          </a:bodyPr>
          <a:lstStyle/>
          <a:p>
            <a:pPr marL="0" indent="0" algn="l">
              <a:lnSpc>
                <a:spcPct val="105000"/>
              </a:lnSpc>
              <a:buNone/>
            </a:pPr>
            <a:r>
              <a:rPr lang="en-US" sz="1150" b="1" spc="150" dirty="0">
                <a:solidFill>
                  <a:srgbClr val="F26A1B"/>
                </a:solidFill>
                <a:latin typeface="Courier New"/>
                <a:cs typeface="Courier New"/>
              </a:rPr>
              <a:t>SQUARE TUBE (TS)</a:t>
            </a:r>
          </a:p>
        </p:txBody>
      </p:sp>
      <p:sp>
        <p:nvSpPr>
          <p:cNvPr id="1879" name="Text 1879"/>
          <p:cNvSpPr txBox="1"/>
          <p:nvPr/>
        </p:nvSpPr>
        <p:spPr>
          <a:xfrm>
            <a:off x="863600" y="512635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TS 2×2</a:t>
            </a:r>
          </a:p>
        </p:txBody>
      </p:sp>
      <p:sp>
        <p:nvSpPr>
          <p:cNvPr id="1880" name="Text 1880"/>
          <p:cNvSpPr txBox="1"/>
          <p:nvPr/>
        </p:nvSpPr>
        <p:spPr>
          <a:xfrm>
            <a:off x="20002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1" name="Text 1881"/>
          <p:cNvSpPr txBox="1"/>
          <p:nvPr/>
        </p:nvSpPr>
        <p:spPr>
          <a:xfrm>
            <a:off x="26606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2" name="Text 1882"/>
          <p:cNvSpPr txBox="1"/>
          <p:nvPr/>
        </p:nvSpPr>
        <p:spPr>
          <a:xfrm>
            <a:off x="33210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3" name="Text 1883"/>
          <p:cNvSpPr txBox="1"/>
          <p:nvPr/>
        </p:nvSpPr>
        <p:spPr>
          <a:xfrm>
            <a:off x="40830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4" name="Text 1884"/>
          <p:cNvSpPr txBox="1"/>
          <p:nvPr/>
        </p:nvSpPr>
        <p:spPr>
          <a:xfrm>
            <a:off x="47434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5" name="Text 1885"/>
          <p:cNvSpPr txBox="1"/>
          <p:nvPr/>
        </p:nvSpPr>
        <p:spPr>
          <a:xfrm>
            <a:off x="54038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86" name="Text 1886"/>
          <p:cNvSpPr txBox="1"/>
          <p:nvPr/>
        </p:nvSpPr>
        <p:spPr>
          <a:xfrm>
            <a:off x="6165850" y="512635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87" name="Text 1887"/>
          <p:cNvSpPr txBox="1"/>
          <p:nvPr/>
        </p:nvSpPr>
        <p:spPr>
          <a:xfrm>
            <a:off x="6826250" y="512635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88" name="Text 1888"/>
          <p:cNvSpPr txBox="1"/>
          <p:nvPr/>
        </p:nvSpPr>
        <p:spPr>
          <a:xfrm>
            <a:off x="7486650" y="512635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89" name="Text 1889"/>
          <p:cNvSpPr txBox="1"/>
          <p:nvPr/>
        </p:nvSpPr>
        <p:spPr>
          <a:xfrm>
            <a:off x="863600" y="553085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TS 3×3</a:t>
            </a:r>
          </a:p>
        </p:txBody>
      </p:sp>
      <p:sp>
        <p:nvSpPr>
          <p:cNvPr id="1890" name="Text 1890"/>
          <p:cNvSpPr txBox="1"/>
          <p:nvPr/>
        </p:nvSpPr>
        <p:spPr>
          <a:xfrm>
            <a:off x="20002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91" name="Text 1891"/>
          <p:cNvSpPr txBox="1"/>
          <p:nvPr/>
        </p:nvSpPr>
        <p:spPr>
          <a:xfrm>
            <a:off x="26606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92" name="Text 1892"/>
          <p:cNvSpPr txBox="1"/>
          <p:nvPr/>
        </p:nvSpPr>
        <p:spPr>
          <a:xfrm>
            <a:off x="33210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93" name="Text 1893"/>
          <p:cNvSpPr txBox="1"/>
          <p:nvPr/>
        </p:nvSpPr>
        <p:spPr>
          <a:xfrm>
            <a:off x="40830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94" name="Text 1894"/>
          <p:cNvSpPr txBox="1"/>
          <p:nvPr/>
        </p:nvSpPr>
        <p:spPr>
          <a:xfrm>
            <a:off x="47434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95" name="Text 1895"/>
          <p:cNvSpPr txBox="1"/>
          <p:nvPr/>
        </p:nvSpPr>
        <p:spPr>
          <a:xfrm>
            <a:off x="54038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896" name="Text 1896"/>
          <p:cNvSpPr txBox="1"/>
          <p:nvPr/>
        </p:nvSpPr>
        <p:spPr>
          <a:xfrm>
            <a:off x="61658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97" name="Text 1897"/>
          <p:cNvSpPr txBox="1"/>
          <p:nvPr/>
        </p:nvSpPr>
        <p:spPr>
          <a:xfrm>
            <a:off x="68262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98" name="Text 1898"/>
          <p:cNvSpPr txBox="1"/>
          <p:nvPr/>
        </p:nvSpPr>
        <p:spPr>
          <a:xfrm>
            <a:off x="74866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899" name="Text 1899"/>
          <p:cNvSpPr txBox="1"/>
          <p:nvPr/>
        </p:nvSpPr>
        <p:spPr>
          <a:xfrm>
            <a:off x="863600" y="593534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TS 4×4</a:t>
            </a:r>
          </a:p>
        </p:txBody>
      </p:sp>
      <p:sp>
        <p:nvSpPr>
          <p:cNvPr id="1900" name="Text 1900"/>
          <p:cNvSpPr txBox="1"/>
          <p:nvPr/>
        </p:nvSpPr>
        <p:spPr>
          <a:xfrm>
            <a:off x="20002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01" name="Text 1901"/>
          <p:cNvSpPr txBox="1"/>
          <p:nvPr/>
        </p:nvSpPr>
        <p:spPr>
          <a:xfrm>
            <a:off x="26606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02" name="Text 1902"/>
          <p:cNvSpPr txBox="1"/>
          <p:nvPr/>
        </p:nvSpPr>
        <p:spPr>
          <a:xfrm>
            <a:off x="33210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03" name="Text 1903"/>
          <p:cNvSpPr txBox="1"/>
          <p:nvPr/>
        </p:nvSpPr>
        <p:spPr>
          <a:xfrm>
            <a:off x="40830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04" name="Text 1904"/>
          <p:cNvSpPr txBox="1"/>
          <p:nvPr/>
        </p:nvSpPr>
        <p:spPr>
          <a:xfrm>
            <a:off x="47434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05" name="Text 1905"/>
          <p:cNvSpPr txBox="1"/>
          <p:nvPr/>
        </p:nvSpPr>
        <p:spPr>
          <a:xfrm>
            <a:off x="54038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06" name="Text 1906"/>
          <p:cNvSpPr txBox="1"/>
          <p:nvPr/>
        </p:nvSpPr>
        <p:spPr>
          <a:xfrm>
            <a:off x="61658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07" name="Text 1907"/>
          <p:cNvSpPr txBox="1"/>
          <p:nvPr/>
        </p:nvSpPr>
        <p:spPr>
          <a:xfrm>
            <a:off x="68262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08" name="Text 1908"/>
          <p:cNvSpPr txBox="1"/>
          <p:nvPr/>
        </p:nvSpPr>
        <p:spPr>
          <a:xfrm>
            <a:off x="74866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09" name="Text 1909"/>
          <p:cNvSpPr txBox="1"/>
          <p:nvPr/>
        </p:nvSpPr>
        <p:spPr>
          <a:xfrm>
            <a:off x="863600" y="633984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TS 5×5</a:t>
            </a:r>
          </a:p>
        </p:txBody>
      </p:sp>
      <p:sp>
        <p:nvSpPr>
          <p:cNvPr id="1910" name="Text 1910"/>
          <p:cNvSpPr txBox="1"/>
          <p:nvPr/>
        </p:nvSpPr>
        <p:spPr>
          <a:xfrm>
            <a:off x="20002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11" name="Text 1911"/>
          <p:cNvSpPr txBox="1"/>
          <p:nvPr/>
        </p:nvSpPr>
        <p:spPr>
          <a:xfrm>
            <a:off x="26606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12" name="Text 1912"/>
          <p:cNvSpPr txBox="1"/>
          <p:nvPr/>
        </p:nvSpPr>
        <p:spPr>
          <a:xfrm>
            <a:off x="33210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13" name="Text 1913"/>
          <p:cNvSpPr txBox="1"/>
          <p:nvPr/>
        </p:nvSpPr>
        <p:spPr>
          <a:xfrm>
            <a:off x="40830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14" name="Text 1914"/>
          <p:cNvSpPr txBox="1"/>
          <p:nvPr/>
        </p:nvSpPr>
        <p:spPr>
          <a:xfrm>
            <a:off x="47434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15" name="Text 1915"/>
          <p:cNvSpPr txBox="1"/>
          <p:nvPr/>
        </p:nvSpPr>
        <p:spPr>
          <a:xfrm>
            <a:off x="54038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16" name="Text 1916"/>
          <p:cNvSpPr txBox="1"/>
          <p:nvPr/>
        </p:nvSpPr>
        <p:spPr>
          <a:xfrm>
            <a:off x="61658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17" name="Text 1917"/>
          <p:cNvSpPr txBox="1"/>
          <p:nvPr/>
        </p:nvSpPr>
        <p:spPr>
          <a:xfrm>
            <a:off x="68262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18" name="Text 1918"/>
          <p:cNvSpPr txBox="1"/>
          <p:nvPr/>
        </p:nvSpPr>
        <p:spPr>
          <a:xfrm>
            <a:off x="74866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19" name="Text 1919"/>
          <p:cNvSpPr txBox="1"/>
          <p:nvPr/>
        </p:nvSpPr>
        <p:spPr>
          <a:xfrm>
            <a:off x="863600" y="674433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TS 6×6</a:t>
            </a:r>
          </a:p>
        </p:txBody>
      </p:sp>
      <p:sp>
        <p:nvSpPr>
          <p:cNvPr id="1920" name="Text 1920"/>
          <p:cNvSpPr txBox="1"/>
          <p:nvPr/>
        </p:nvSpPr>
        <p:spPr>
          <a:xfrm>
            <a:off x="20002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1" name="Text 1921"/>
          <p:cNvSpPr txBox="1"/>
          <p:nvPr/>
        </p:nvSpPr>
        <p:spPr>
          <a:xfrm>
            <a:off x="26606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2" name="Text 1922"/>
          <p:cNvSpPr txBox="1"/>
          <p:nvPr/>
        </p:nvSpPr>
        <p:spPr>
          <a:xfrm>
            <a:off x="33210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3" name="Text 1923"/>
          <p:cNvSpPr txBox="1"/>
          <p:nvPr/>
        </p:nvSpPr>
        <p:spPr>
          <a:xfrm>
            <a:off x="40830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4" name="Text 1924"/>
          <p:cNvSpPr txBox="1"/>
          <p:nvPr/>
        </p:nvSpPr>
        <p:spPr>
          <a:xfrm>
            <a:off x="4743450" y="67443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25" name="Text 1925"/>
          <p:cNvSpPr txBox="1"/>
          <p:nvPr/>
        </p:nvSpPr>
        <p:spPr>
          <a:xfrm>
            <a:off x="5403850" y="67443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26" name="Text 1926"/>
          <p:cNvSpPr txBox="1"/>
          <p:nvPr/>
        </p:nvSpPr>
        <p:spPr>
          <a:xfrm>
            <a:off x="61658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7" name="Text 1927"/>
          <p:cNvSpPr txBox="1"/>
          <p:nvPr/>
        </p:nvSpPr>
        <p:spPr>
          <a:xfrm>
            <a:off x="68262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8" name="Text 1928"/>
          <p:cNvSpPr txBox="1"/>
          <p:nvPr/>
        </p:nvSpPr>
        <p:spPr>
          <a:xfrm>
            <a:off x="7486650" y="67443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29" name="Text 1929"/>
          <p:cNvSpPr txBox="1"/>
          <p:nvPr/>
        </p:nvSpPr>
        <p:spPr>
          <a:xfrm>
            <a:off x="104648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MIDSPAN</a:t>
            </a:r>
          </a:p>
        </p:txBody>
      </p:sp>
      <p:sp>
        <p:nvSpPr>
          <p:cNvPr id="1930" name="Text 1930"/>
          <p:cNvSpPr txBox="1"/>
          <p:nvPr/>
        </p:nvSpPr>
        <p:spPr>
          <a:xfrm>
            <a:off x="104648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931" name="Text 1931"/>
          <p:cNvSpPr txBox="1"/>
          <p:nvPr/>
        </p:nvSpPr>
        <p:spPr>
          <a:xfrm>
            <a:off x="111252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932" name="Text 1932"/>
          <p:cNvSpPr txBox="1"/>
          <p:nvPr/>
        </p:nvSpPr>
        <p:spPr>
          <a:xfrm>
            <a:off x="117856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933" name="Text 1933"/>
          <p:cNvSpPr txBox="1"/>
          <p:nvPr/>
        </p:nvSpPr>
        <p:spPr>
          <a:xfrm>
            <a:off x="125476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CANTILEVER</a:t>
            </a:r>
          </a:p>
        </p:txBody>
      </p:sp>
      <p:sp>
        <p:nvSpPr>
          <p:cNvPr id="1934" name="Text 1934"/>
          <p:cNvSpPr txBox="1"/>
          <p:nvPr/>
        </p:nvSpPr>
        <p:spPr>
          <a:xfrm>
            <a:off x="125476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935" name="Text 1935"/>
          <p:cNvSpPr txBox="1"/>
          <p:nvPr/>
        </p:nvSpPr>
        <p:spPr>
          <a:xfrm>
            <a:off x="132080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936" name="Text 1936"/>
          <p:cNvSpPr txBox="1"/>
          <p:nvPr/>
        </p:nvSpPr>
        <p:spPr>
          <a:xfrm>
            <a:off x="138684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937" name="Text 1937"/>
          <p:cNvSpPr txBox="1"/>
          <p:nvPr/>
        </p:nvSpPr>
        <p:spPr>
          <a:xfrm>
            <a:off x="14630400" y="1684020"/>
            <a:ext cx="1981200" cy="264160"/>
          </a:xfrm>
          <a:prstGeom prst="rect">
            <a:avLst/>
          </a:prstGeom>
          <a:noFill/>
          <a:ln>
            <a:noFill/>
          </a:ln>
        </p:spPr>
        <p:txBody>
          <a:bodyPr wrap="square" lIns="0" tIns="0" rIns="0" bIns="0" anchor="t">
            <a:noAutofit/>
          </a:bodyPr>
          <a:lstStyle/>
          <a:p>
            <a:pPr marL="0" indent="0" algn="ctr">
              <a:lnSpc>
                <a:spcPct val="105000"/>
              </a:lnSpc>
              <a:buNone/>
            </a:pPr>
            <a:r>
              <a:rPr lang="en-US" sz="1265" b="1" spc="120" dirty="0">
                <a:solidFill>
                  <a:srgbClr val="0E2A47"/>
                </a:solidFill>
                <a:latin typeface="Courier New"/>
                <a:cs typeface="Courier New"/>
              </a:rPr>
              <a:t>TENSION</a:t>
            </a:r>
          </a:p>
        </p:txBody>
      </p:sp>
      <p:sp>
        <p:nvSpPr>
          <p:cNvPr id="1938" name="Text 1938"/>
          <p:cNvSpPr txBox="1"/>
          <p:nvPr/>
        </p:nvSpPr>
        <p:spPr>
          <a:xfrm>
            <a:off x="146304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2 ft</a:t>
            </a:r>
          </a:p>
        </p:txBody>
      </p:sp>
      <p:sp>
        <p:nvSpPr>
          <p:cNvPr id="1939" name="Text 1939"/>
          <p:cNvSpPr txBox="1"/>
          <p:nvPr/>
        </p:nvSpPr>
        <p:spPr>
          <a:xfrm>
            <a:off x="152908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5 ft</a:t>
            </a:r>
          </a:p>
        </p:txBody>
      </p:sp>
      <p:sp>
        <p:nvSpPr>
          <p:cNvPr id="1940" name="Text 1940"/>
          <p:cNvSpPr txBox="1"/>
          <p:nvPr/>
        </p:nvSpPr>
        <p:spPr>
          <a:xfrm>
            <a:off x="15951200" y="2014220"/>
            <a:ext cx="660400" cy="231140"/>
          </a:xfrm>
          <a:prstGeom prst="rect">
            <a:avLst/>
          </a:prstGeom>
          <a:noFill/>
          <a:ln>
            <a:noFill/>
          </a:ln>
        </p:spPr>
        <p:txBody>
          <a:bodyPr wrap="square" lIns="0" tIns="0" rIns="0" bIns="0" anchor="t">
            <a:noAutofit/>
          </a:bodyPr>
          <a:lstStyle/>
          <a:p>
            <a:pPr marL="0" indent="0" algn="ctr">
              <a:lnSpc>
                <a:spcPct val="105000"/>
              </a:lnSpc>
              <a:buNone/>
            </a:pPr>
            <a:r>
              <a:rPr lang="en-US" sz="1208" b="1" dirty="0">
                <a:solidFill>
                  <a:srgbClr val="8593A2"/>
                </a:solidFill>
                <a:latin typeface="Arial"/>
                <a:cs typeface="Arial"/>
              </a:rPr>
              <a:t>10 ft</a:t>
            </a:r>
          </a:p>
        </p:txBody>
      </p:sp>
      <p:sp>
        <p:nvSpPr>
          <p:cNvPr id="1941" name="Text 1941"/>
          <p:cNvSpPr txBox="1"/>
          <p:nvPr/>
        </p:nvSpPr>
        <p:spPr>
          <a:xfrm>
            <a:off x="9347200" y="2426970"/>
            <a:ext cx="7620000" cy="231140"/>
          </a:xfrm>
          <a:prstGeom prst="rect">
            <a:avLst/>
          </a:prstGeom>
          <a:noFill/>
          <a:ln>
            <a:noFill/>
          </a:ln>
        </p:spPr>
        <p:txBody>
          <a:bodyPr wrap="square" lIns="0" tIns="0" rIns="0" bIns="0" anchor="t">
            <a:noAutofit/>
          </a:bodyPr>
          <a:lstStyle/>
          <a:p>
            <a:pPr marL="0" indent="0" algn="l">
              <a:lnSpc>
                <a:spcPct val="105000"/>
              </a:lnSpc>
              <a:buNone/>
            </a:pPr>
            <a:r>
              <a:rPr lang="en-US" sz="1150" b="1" spc="150" dirty="0">
                <a:solidFill>
                  <a:srgbClr val="F26A1B"/>
                </a:solidFill>
                <a:latin typeface="Courier New"/>
                <a:cs typeface="Courier New"/>
              </a:rPr>
              <a:t>PIPE (SCHD 40)</a:t>
            </a:r>
          </a:p>
        </p:txBody>
      </p:sp>
      <p:sp>
        <p:nvSpPr>
          <p:cNvPr id="1942" name="Text 1942"/>
          <p:cNvSpPr txBox="1"/>
          <p:nvPr/>
        </p:nvSpPr>
        <p:spPr>
          <a:xfrm>
            <a:off x="9347200" y="270764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2″</a:t>
            </a:r>
          </a:p>
        </p:txBody>
      </p:sp>
      <p:sp>
        <p:nvSpPr>
          <p:cNvPr id="1943" name="Text 1943"/>
          <p:cNvSpPr txBox="1"/>
          <p:nvPr/>
        </p:nvSpPr>
        <p:spPr>
          <a:xfrm>
            <a:off x="104838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4" name="Text 1944"/>
          <p:cNvSpPr txBox="1"/>
          <p:nvPr/>
        </p:nvSpPr>
        <p:spPr>
          <a:xfrm>
            <a:off x="111442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5" name="Text 1945"/>
          <p:cNvSpPr txBox="1"/>
          <p:nvPr/>
        </p:nvSpPr>
        <p:spPr>
          <a:xfrm>
            <a:off x="118046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6" name="Text 1946"/>
          <p:cNvSpPr txBox="1"/>
          <p:nvPr/>
        </p:nvSpPr>
        <p:spPr>
          <a:xfrm>
            <a:off x="125666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7" name="Text 1947"/>
          <p:cNvSpPr txBox="1"/>
          <p:nvPr/>
        </p:nvSpPr>
        <p:spPr>
          <a:xfrm>
            <a:off x="132270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8" name="Text 1948"/>
          <p:cNvSpPr txBox="1"/>
          <p:nvPr/>
        </p:nvSpPr>
        <p:spPr>
          <a:xfrm>
            <a:off x="138874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49" name="Text 1949"/>
          <p:cNvSpPr txBox="1"/>
          <p:nvPr/>
        </p:nvSpPr>
        <p:spPr>
          <a:xfrm>
            <a:off x="146494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0" name="Text 1950"/>
          <p:cNvSpPr txBox="1"/>
          <p:nvPr/>
        </p:nvSpPr>
        <p:spPr>
          <a:xfrm>
            <a:off x="153098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1" name="Text 1951"/>
          <p:cNvSpPr txBox="1"/>
          <p:nvPr/>
        </p:nvSpPr>
        <p:spPr>
          <a:xfrm>
            <a:off x="15970250" y="27076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2" name="Text 1952"/>
          <p:cNvSpPr txBox="1"/>
          <p:nvPr/>
        </p:nvSpPr>
        <p:spPr>
          <a:xfrm>
            <a:off x="9347200" y="311213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3″</a:t>
            </a:r>
          </a:p>
        </p:txBody>
      </p:sp>
      <p:sp>
        <p:nvSpPr>
          <p:cNvPr id="1953" name="Text 1953"/>
          <p:cNvSpPr txBox="1"/>
          <p:nvPr/>
        </p:nvSpPr>
        <p:spPr>
          <a:xfrm>
            <a:off x="104838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54" name="Text 1954"/>
          <p:cNvSpPr txBox="1"/>
          <p:nvPr/>
        </p:nvSpPr>
        <p:spPr>
          <a:xfrm>
            <a:off x="111442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5" name="Text 1955"/>
          <p:cNvSpPr txBox="1"/>
          <p:nvPr/>
        </p:nvSpPr>
        <p:spPr>
          <a:xfrm>
            <a:off x="118046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6" name="Text 1956"/>
          <p:cNvSpPr txBox="1"/>
          <p:nvPr/>
        </p:nvSpPr>
        <p:spPr>
          <a:xfrm>
            <a:off x="125666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7" name="Text 1957"/>
          <p:cNvSpPr txBox="1"/>
          <p:nvPr/>
        </p:nvSpPr>
        <p:spPr>
          <a:xfrm>
            <a:off x="132270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8" name="Text 1958"/>
          <p:cNvSpPr txBox="1"/>
          <p:nvPr/>
        </p:nvSpPr>
        <p:spPr>
          <a:xfrm>
            <a:off x="13887450" y="311213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59" name="Text 1959"/>
          <p:cNvSpPr txBox="1"/>
          <p:nvPr/>
        </p:nvSpPr>
        <p:spPr>
          <a:xfrm>
            <a:off x="146494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60" name="Text 1960"/>
          <p:cNvSpPr txBox="1"/>
          <p:nvPr/>
        </p:nvSpPr>
        <p:spPr>
          <a:xfrm>
            <a:off x="153098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61" name="Text 1961"/>
          <p:cNvSpPr txBox="1"/>
          <p:nvPr/>
        </p:nvSpPr>
        <p:spPr>
          <a:xfrm>
            <a:off x="15970250" y="311213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62" name="Text 1962"/>
          <p:cNvSpPr txBox="1"/>
          <p:nvPr/>
        </p:nvSpPr>
        <p:spPr>
          <a:xfrm>
            <a:off x="9347200" y="351663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4″</a:t>
            </a:r>
          </a:p>
        </p:txBody>
      </p:sp>
      <p:sp>
        <p:nvSpPr>
          <p:cNvPr id="1963" name="Text 1963"/>
          <p:cNvSpPr txBox="1"/>
          <p:nvPr/>
        </p:nvSpPr>
        <p:spPr>
          <a:xfrm>
            <a:off x="104838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64" name="Text 1964"/>
          <p:cNvSpPr txBox="1"/>
          <p:nvPr/>
        </p:nvSpPr>
        <p:spPr>
          <a:xfrm>
            <a:off x="111442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65" name="Text 1965"/>
          <p:cNvSpPr txBox="1"/>
          <p:nvPr/>
        </p:nvSpPr>
        <p:spPr>
          <a:xfrm>
            <a:off x="118046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66" name="Text 1966"/>
          <p:cNvSpPr txBox="1"/>
          <p:nvPr/>
        </p:nvSpPr>
        <p:spPr>
          <a:xfrm>
            <a:off x="125666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67" name="Text 1967"/>
          <p:cNvSpPr txBox="1"/>
          <p:nvPr/>
        </p:nvSpPr>
        <p:spPr>
          <a:xfrm>
            <a:off x="132270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68" name="Text 1968"/>
          <p:cNvSpPr txBox="1"/>
          <p:nvPr/>
        </p:nvSpPr>
        <p:spPr>
          <a:xfrm>
            <a:off x="13887450" y="351663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69" name="Text 1969"/>
          <p:cNvSpPr txBox="1"/>
          <p:nvPr/>
        </p:nvSpPr>
        <p:spPr>
          <a:xfrm>
            <a:off x="146494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70" name="Text 1970"/>
          <p:cNvSpPr txBox="1"/>
          <p:nvPr/>
        </p:nvSpPr>
        <p:spPr>
          <a:xfrm>
            <a:off x="153098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71" name="Text 1971"/>
          <p:cNvSpPr txBox="1"/>
          <p:nvPr/>
        </p:nvSpPr>
        <p:spPr>
          <a:xfrm>
            <a:off x="15970250" y="351663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72" name="Text 1972"/>
          <p:cNvSpPr txBox="1"/>
          <p:nvPr/>
        </p:nvSpPr>
        <p:spPr>
          <a:xfrm>
            <a:off x="9347200" y="392112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5″</a:t>
            </a:r>
          </a:p>
        </p:txBody>
      </p:sp>
      <p:sp>
        <p:nvSpPr>
          <p:cNvPr id="1973" name="Text 1973"/>
          <p:cNvSpPr txBox="1"/>
          <p:nvPr/>
        </p:nvSpPr>
        <p:spPr>
          <a:xfrm>
            <a:off x="104838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74" name="Text 1974"/>
          <p:cNvSpPr txBox="1"/>
          <p:nvPr/>
        </p:nvSpPr>
        <p:spPr>
          <a:xfrm>
            <a:off x="111442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75" name="Text 1975"/>
          <p:cNvSpPr txBox="1"/>
          <p:nvPr/>
        </p:nvSpPr>
        <p:spPr>
          <a:xfrm>
            <a:off x="118046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76" name="Text 1976"/>
          <p:cNvSpPr txBox="1"/>
          <p:nvPr/>
        </p:nvSpPr>
        <p:spPr>
          <a:xfrm>
            <a:off x="125666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77" name="Text 1977"/>
          <p:cNvSpPr txBox="1"/>
          <p:nvPr/>
        </p:nvSpPr>
        <p:spPr>
          <a:xfrm>
            <a:off x="132270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78" name="Text 1978"/>
          <p:cNvSpPr txBox="1"/>
          <p:nvPr/>
        </p:nvSpPr>
        <p:spPr>
          <a:xfrm>
            <a:off x="13887450" y="392112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79" name="Text 1979"/>
          <p:cNvSpPr txBox="1"/>
          <p:nvPr/>
        </p:nvSpPr>
        <p:spPr>
          <a:xfrm>
            <a:off x="146494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0" name="Text 1980"/>
          <p:cNvSpPr txBox="1"/>
          <p:nvPr/>
        </p:nvSpPr>
        <p:spPr>
          <a:xfrm>
            <a:off x="153098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1" name="Text 1981"/>
          <p:cNvSpPr txBox="1"/>
          <p:nvPr/>
        </p:nvSpPr>
        <p:spPr>
          <a:xfrm>
            <a:off x="15970250" y="392112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2" name="Text 1982"/>
          <p:cNvSpPr txBox="1"/>
          <p:nvPr/>
        </p:nvSpPr>
        <p:spPr>
          <a:xfrm>
            <a:off x="9347200" y="432562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6″</a:t>
            </a:r>
          </a:p>
        </p:txBody>
      </p:sp>
      <p:sp>
        <p:nvSpPr>
          <p:cNvPr id="1983" name="Text 1983"/>
          <p:cNvSpPr txBox="1"/>
          <p:nvPr/>
        </p:nvSpPr>
        <p:spPr>
          <a:xfrm>
            <a:off x="104838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4" name="Text 1984"/>
          <p:cNvSpPr txBox="1"/>
          <p:nvPr/>
        </p:nvSpPr>
        <p:spPr>
          <a:xfrm>
            <a:off x="111442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5" name="Text 1985"/>
          <p:cNvSpPr txBox="1"/>
          <p:nvPr/>
        </p:nvSpPr>
        <p:spPr>
          <a:xfrm>
            <a:off x="118046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6" name="Text 1986"/>
          <p:cNvSpPr txBox="1"/>
          <p:nvPr/>
        </p:nvSpPr>
        <p:spPr>
          <a:xfrm>
            <a:off x="125666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87" name="Text 1987"/>
          <p:cNvSpPr txBox="1"/>
          <p:nvPr/>
        </p:nvSpPr>
        <p:spPr>
          <a:xfrm>
            <a:off x="13227050" y="432562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88" name="Text 1988"/>
          <p:cNvSpPr txBox="1"/>
          <p:nvPr/>
        </p:nvSpPr>
        <p:spPr>
          <a:xfrm>
            <a:off x="13887450" y="432562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89" name="Text 1989"/>
          <p:cNvSpPr txBox="1"/>
          <p:nvPr/>
        </p:nvSpPr>
        <p:spPr>
          <a:xfrm>
            <a:off x="146494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90" name="Text 1990"/>
          <p:cNvSpPr txBox="1"/>
          <p:nvPr/>
        </p:nvSpPr>
        <p:spPr>
          <a:xfrm>
            <a:off x="153098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91" name="Text 1991"/>
          <p:cNvSpPr txBox="1"/>
          <p:nvPr/>
        </p:nvSpPr>
        <p:spPr>
          <a:xfrm>
            <a:off x="15970250" y="432562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1992" name="Text 1992"/>
          <p:cNvSpPr txBox="1"/>
          <p:nvPr/>
        </p:nvSpPr>
        <p:spPr>
          <a:xfrm>
            <a:off x="9347200" y="4845685"/>
            <a:ext cx="7620000" cy="231140"/>
          </a:xfrm>
          <a:prstGeom prst="rect">
            <a:avLst/>
          </a:prstGeom>
          <a:noFill/>
          <a:ln>
            <a:noFill/>
          </a:ln>
        </p:spPr>
        <p:txBody>
          <a:bodyPr wrap="square" lIns="0" tIns="0" rIns="0" bIns="0" anchor="t">
            <a:noAutofit/>
          </a:bodyPr>
          <a:lstStyle/>
          <a:p>
            <a:pPr marL="0" indent="0" algn="l">
              <a:lnSpc>
                <a:spcPct val="105000"/>
              </a:lnSpc>
              <a:buNone/>
            </a:pPr>
            <a:r>
              <a:rPr lang="en-US" sz="1150" b="1" spc="150" dirty="0">
                <a:solidFill>
                  <a:srgbClr val="F26A1B"/>
                </a:solidFill>
                <a:latin typeface="Courier New"/>
                <a:cs typeface="Courier New"/>
              </a:rPr>
              <a:t>ANGLE (L)</a:t>
            </a:r>
          </a:p>
        </p:txBody>
      </p:sp>
      <p:sp>
        <p:nvSpPr>
          <p:cNvPr id="1993" name="Text 1993"/>
          <p:cNvSpPr txBox="1"/>
          <p:nvPr/>
        </p:nvSpPr>
        <p:spPr>
          <a:xfrm>
            <a:off x="9347200" y="512635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L 3×3</a:t>
            </a:r>
          </a:p>
        </p:txBody>
      </p:sp>
      <p:sp>
        <p:nvSpPr>
          <p:cNvPr id="1994" name="Text 1994"/>
          <p:cNvSpPr txBox="1"/>
          <p:nvPr/>
        </p:nvSpPr>
        <p:spPr>
          <a:xfrm>
            <a:off x="104838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95" name="Text 1995"/>
          <p:cNvSpPr txBox="1"/>
          <p:nvPr/>
        </p:nvSpPr>
        <p:spPr>
          <a:xfrm>
            <a:off x="111442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96" name="Text 1996"/>
          <p:cNvSpPr txBox="1"/>
          <p:nvPr/>
        </p:nvSpPr>
        <p:spPr>
          <a:xfrm>
            <a:off x="118046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97" name="Text 1997"/>
          <p:cNvSpPr txBox="1"/>
          <p:nvPr/>
        </p:nvSpPr>
        <p:spPr>
          <a:xfrm>
            <a:off x="125666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98" name="Text 1998"/>
          <p:cNvSpPr txBox="1"/>
          <p:nvPr/>
        </p:nvSpPr>
        <p:spPr>
          <a:xfrm>
            <a:off x="132270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1999" name="Text 1999"/>
          <p:cNvSpPr txBox="1"/>
          <p:nvPr/>
        </p:nvSpPr>
        <p:spPr>
          <a:xfrm>
            <a:off x="138874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0" name="Text 2000"/>
          <p:cNvSpPr txBox="1"/>
          <p:nvPr/>
        </p:nvSpPr>
        <p:spPr>
          <a:xfrm>
            <a:off x="146494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1" name="Text 2001"/>
          <p:cNvSpPr txBox="1"/>
          <p:nvPr/>
        </p:nvSpPr>
        <p:spPr>
          <a:xfrm>
            <a:off x="153098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2" name="Text 2002"/>
          <p:cNvSpPr txBox="1"/>
          <p:nvPr/>
        </p:nvSpPr>
        <p:spPr>
          <a:xfrm>
            <a:off x="15970250" y="512635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3" name="Text 2003"/>
          <p:cNvSpPr txBox="1"/>
          <p:nvPr/>
        </p:nvSpPr>
        <p:spPr>
          <a:xfrm>
            <a:off x="9347200" y="553085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L 4×4</a:t>
            </a:r>
          </a:p>
        </p:txBody>
      </p:sp>
      <p:sp>
        <p:nvSpPr>
          <p:cNvPr id="2004" name="Text 2004"/>
          <p:cNvSpPr txBox="1"/>
          <p:nvPr/>
        </p:nvSpPr>
        <p:spPr>
          <a:xfrm>
            <a:off x="104838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5" name="Text 2005"/>
          <p:cNvSpPr txBox="1"/>
          <p:nvPr/>
        </p:nvSpPr>
        <p:spPr>
          <a:xfrm>
            <a:off x="111442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6" name="Text 2006"/>
          <p:cNvSpPr txBox="1"/>
          <p:nvPr/>
        </p:nvSpPr>
        <p:spPr>
          <a:xfrm>
            <a:off x="118046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7" name="Text 2007"/>
          <p:cNvSpPr txBox="1"/>
          <p:nvPr/>
        </p:nvSpPr>
        <p:spPr>
          <a:xfrm>
            <a:off x="125666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8" name="Text 2008"/>
          <p:cNvSpPr txBox="1"/>
          <p:nvPr/>
        </p:nvSpPr>
        <p:spPr>
          <a:xfrm>
            <a:off x="132270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09" name="Text 2009"/>
          <p:cNvSpPr txBox="1"/>
          <p:nvPr/>
        </p:nvSpPr>
        <p:spPr>
          <a:xfrm>
            <a:off x="13887450" y="553085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10" name="Text 2010"/>
          <p:cNvSpPr txBox="1"/>
          <p:nvPr/>
        </p:nvSpPr>
        <p:spPr>
          <a:xfrm>
            <a:off x="146494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11" name="Text 2011"/>
          <p:cNvSpPr txBox="1"/>
          <p:nvPr/>
        </p:nvSpPr>
        <p:spPr>
          <a:xfrm>
            <a:off x="153098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12" name="Text 2012"/>
          <p:cNvSpPr txBox="1"/>
          <p:nvPr/>
        </p:nvSpPr>
        <p:spPr>
          <a:xfrm>
            <a:off x="15970250" y="553085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13" name="Text 2013"/>
          <p:cNvSpPr txBox="1"/>
          <p:nvPr/>
        </p:nvSpPr>
        <p:spPr>
          <a:xfrm>
            <a:off x="9347200" y="593534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L 5×5</a:t>
            </a:r>
          </a:p>
        </p:txBody>
      </p:sp>
      <p:sp>
        <p:nvSpPr>
          <p:cNvPr id="2014" name="Text 2014"/>
          <p:cNvSpPr txBox="1"/>
          <p:nvPr/>
        </p:nvSpPr>
        <p:spPr>
          <a:xfrm>
            <a:off x="104838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15" name="Text 2015"/>
          <p:cNvSpPr txBox="1"/>
          <p:nvPr/>
        </p:nvSpPr>
        <p:spPr>
          <a:xfrm>
            <a:off x="111442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16" name="Text 2016"/>
          <p:cNvSpPr txBox="1"/>
          <p:nvPr/>
        </p:nvSpPr>
        <p:spPr>
          <a:xfrm>
            <a:off x="118046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17" name="Text 2017"/>
          <p:cNvSpPr txBox="1"/>
          <p:nvPr/>
        </p:nvSpPr>
        <p:spPr>
          <a:xfrm>
            <a:off x="125666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18" name="Text 2018"/>
          <p:cNvSpPr txBox="1"/>
          <p:nvPr/>
        </p:nvSpPr>
        <p:spPr>
          <a:xfrm>
            <a:off x="132270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19" name="Text 2019"/>
          <p:cNvSpPr txBox="1"/>
          <p:nvPr/>
        </p:nvSpPr>
        <p:spPr>
          <a:xfrm>
            <a:off x="13887450" y="593534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20" name="Text 2020"/>
          <p:cNvSpPr txBox="1"/>
          <p:nvPr/>
        </p:nvSpPr>
        <p:spPr>
          <a:xfrm>
            <a:off x="146494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21" name="Text 2021"/>
          <p:cNvSpPr txBox="1"/>
          <p:nvPr/>
        </p:nvSpPr>
        <p:spPr>
          <a:xfrm>
            <a:off x="153098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22" name="Text 2022"/>
          <p:cNvSpPr txBox="1"/>
          <p:nvPr/>
        </p:nvSpPr>
        <p:spPr>
          <a:xfrm>
            <a:off x="15970250" y="593534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23" name="Text 2023"/>
          <p:cNvSpPr txBox="1"/>
          <p:nvPr/>
        </p:nvSpPr>
        <p:spPr>
          <a:xfrm>
            <a:off x="9347200" y="633984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L 6×6</a:t>
            </a:r>
          </a:p>
        </p:txBody>
      </p:sp>
      <p:sp>
        <p:nvSpPr>
          <p:cNvPr id="2024" name="Text 2024"/>
          <p:cNvSpPr txBox="1"/>
          <p:nvPr/>
        </p:nvSpPr>
        <p:spPr>
          <a:xfrm>
            <a:off x="104838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25" name="Text 2025"/>
          <p:cNvSpPr txBox="1"/>
          <p:nvPr/>
        </p:nvSpPr>
        <p:spPr>
          <a:xfrm>
            <a:off x="111442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26" name="Text 2026"/>
          <p:cNvSpPr txBox="1"/>
          <p:nvPr/>
        </p:nvSpPr>
        <p:spPr>
          <a:xfrm>
            <a:off x="118046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27" name="Text 2027"/>
          <p:cNvSpPr txBox="1"/>
          <p:nvPr/>
        </p:nvSpPr>
        <p:spPr>
          <a:xfrm>
            <a:off x="125666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28" name="Text 2028"/>
          <p:cNvSpPr txBox="1"/>
          <p:nvPr/>
        </p:nvSpPr>
        <p:spPr>
          <a:xfrm>
            <a:off x="132270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29" name="Text 2029"/>
          <p:cNvSpPr txBox="1"/>
          <p:nvPr/>
        </p:nvSpPr>
        <p:spPr>
          <a:xfrm>
            <a:off x="13887450" y="633984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30" name="Text 2030"/>
          <p:cNvSpPr txBox="1"/>
          <p:nvPr/>
        </p:nvSpPr>
        <p:spPr>
          <a:xfrm>
            <a:off x="146494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31" name="Text 2031"/>
          <p:cNvSpPr txBox="1"/>
          <p:nvPr/>
        </p:nvSpPr>
        <p:spPr>
          <a:xfrm>
            <a:off x="153098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32" name="Text 2032"/>
          <p:cNvSpPr txBox="1"/>
          <p:nvPr/>
        </p:nvSpPr>
        <p:spPr>
          <a:xfrm>
            <a:off x="15970250" y="633984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33" name="Text 2033"/>
          <p:cNvSpPr txBox="1"/>
          <p:nvPr/>
        </p:nvSpPr>
        <p:spPr>
          <a:xfrm>
            <a:off x="9347200" y="6859905"/>
            <a:ext cx="7620000" cy="231140"/>
          </a:xfrm>
          <a:prstGeom prst="rect">
            <a:avLst/>
          </a:prstGeom>
          <a:noFill/>
          <a:ln>
            <a:noFill/>
          </a:ln>
        </p:spPr>
        <p:txBody>
          <a:bodyPr wrap="square" lIns="0" tIns="0" rIns="0" bIns="0" anchor="t">
            <a:noAutofit/>
          </a:bodyPr>
          <a:lstStyle/>
          <a:p>
            <a:pPr marL="0" indent="0" algn="l">
              <a:lnSpc>
                <a:spcPct val="105000"/>
              </a:lnSpc>
              <a:buNone/>
            </a:pPr>
            <a:r>
              <a:rPr lang="en-US" sz="1150" b="1" spc="150" dirty="0">
                <a:solidFill>
                  <a:srgbClr val="F26A1B"/>
                </a:solidFill>
                <a:latin typeface="Courier New"/>
                <a:cs typeface="Courier New"/>
              </a:rPr>
              <a:t>CHANNEL (C)</a:t>
            </a:r>
          </a:p>
        </p:txBody>
      </p:sp>
      <p:sp>
        <p:nvSpPr>
          <p:cNvPr id="2034" name="Text 2034"/>
          <p:cNvSpPr txBox="1"/>
          <p:nvPr/>
        </p:nvSpPr>
        <p:spPr>
          <a:xfrm>
            <a:off x="9347200" y="714057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C4</a:t>
            </a:r>
          </a:p>
        </p:txBody>
      </p:sp>
      <p:sp>
        <p:nvSpPr>
          <p:cNvPr id="2035" name="Text 2035"/>
          <p:cNvSpPr txBox="1"/>
          <p:nvPr/>
        </p:nvSpPr>
        <p:spPr>
          <a:xfrm>
            <a:off x="10483850" y="714057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36" name="Text 2036"/>
          <p:cNvSpPr txBox="1"/>
          <p:nvPr/>
        </p:nvSpPr>
        <p:spPr>
          <a:xfrm>
            <a:off x="11144250" y="714057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37" name="Text 2037"/>
          <p:cNvSpPr txBox="1"/>
          <p:nvPr/>
        </p:nvSpPr>
        <p:spPr>
          <a:xfrm>
            <a:off x="11804650" y="714057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38" name="Text 2038"/>
          <p:cNvSpPr txBox="1"/>
          <p:nvPr/>
        </p:nvSpPr>
        <p:spPr>
          <a:xfrm>
            <a:off x="12566650" y="714057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39" name="Text 2039"/>
          <p:cNvSpPr txBox="1"/>
          <p:nvPr/>
        </p:nvSpPr>
        <p:spPr>
          <a:xfrm>
            <a:off x="13227050" y="714057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40" name="Text 2040"/>
          <p:cNvSpPr txBox="1"/>
          <p:nvPr/>
        </p:nvSpPr>
        <p:spPr>
          <a:xfrm>
            <a:off x="13887450" y="714057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41" name="Text 2041"/>
          <p:cNvSpPr txBox="1"/>
          <p:nvPr/>
        </p:nvSpPr>
        <p:spPr>
          <a:xfrm>
            <a:off x="14649450" y="714057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42" name="Text 2042"/>
          <p:cNvSpPr txBox="1"/>
          <p:nvPr/>
        </p:nvSpPr>
        <p:spPr>
          <a:xfrm>
            <a:off x="15309850" y="714057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43" name="Text 2043"/>
          <p:cNvSpPr txBox="1"/>
          <p:nvPr/>
        </p:nvSpPr>
        <p:spPr>
          <a:xfrm>
            <a:off x="15970250" y="714057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44" name="Text 2044"/>
          <p:cNvSpPr txBox="1"/>
          <p:nvPr/>
        </p:nvSpPr>
        <p:spPr>
          <a:xfrm>
            <a:off x="9347200" y="754507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C6</a:t>
            </a:r>
          </a:p>
        </p:txBody>
      </p:sp>
      <p:sp>
        <p:nvSpPr>
          <p:cNvPr id="2045" name="Text 2045"/>
          <p:cNvSpPr txBox="1"/>
          <p:nvPr/>
        </p:nvSpPr>
        <p:spPr>
          <a:xfrm>
            <a:off x="10483850" y="754507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46" name="Text 2046"/>
          <p:cNvSpPr txBox="1"/>
          <p:nvPr/>
        </p:nvSpPr>
        <p:spPr>
          <a:xfrm>
            <a:off x="11144250" y="754507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47" name="Text 2047"/>
          <p:cNvSpPr txBox="1"/>
          <p:nvPr/>
        </p:nvSpPr>
        <p:spPr>
          <a:xfrm>
            <a:off x="11804650" y="754507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48" name="Text 2048"/>
          <p:cNvSpPr txBox="1"/>
          <p:nvPr/>
        </p:nvSpPr>
        <p:spPr>
          <a:xfrm>
            <a:off x="12566650" y="754507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49" name="Text 2049"/>
          <p:cNvSpPr txBox="1"/>
          <p:nvPr/>
        </p:nvSpPr>
        <p:spPr>
          <a:xfrm>
            <a:off x="13227050" y="754507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50" name="Text 2050"/>
          <p:cNvSpPr txBox="1"/>
          <p:nvPr/>
        </p:nvSpPr>
        <p:spPr>
          <a:xfrm>
            <a:off x="13887450" y="754507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51" name="Text 2051"/>
          <p:cNvSpPr txBox="1"/>
          <p:nvPr/>
        </p:nvSpPr>
        <p:spPr>
          <a:xfrm>
            <a:off x="14649450" y="754507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2" name="Text 2052"/>
          <p:cNvSpPr txBox="1"/>
          <p:nvPr/>
        </p:nvSpPr>
        <p:spPr>
          <a:xfrm>
            <a:off x="15309850" y="754507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3" name="Text 2053"/>
          <p:cNvSpPr txBox="1"/>
          <p:nvPr/>
        </p:nvSpPr>
        <p:spPr>
          <a:xfrm>
            <a:off x="15970250" y="754507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4" name="Text 2054"/>
          <p:cNvSpPr txBox="1"/>
          <p:nvPr/>
        </p:nvSpPr>
        <p:spPr>
          <a:xfrm>
            <a:off x="9347200" y="7949565"/>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C8</a:t>
            </a:r>
          </a:p>
        </p:txBody>
      </p:sp>
      <p:sp>
        <p:nvSpPr>
          <p:cNvPr id="2055" name="Text 2055"/>
          <p:cNvSpPr txBox="1"/>
          <p:nvPr/>
        </p:nvSpPr>
        <p:spPr>
          <a:xfrm>
            <a:off x="10483850" y="794956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6" name="Text 2056"/>
          <p:cNvSpPr txBox="1"/>
          <p:nvPr/>
        </p:nvSpPr>
        <p:spPr>
          <a:xfrm>
            <a:off x="11144250" y="794956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7" name="Text 2057"/>
          <p:cNvSpPr txBox="1"/>
          <p:nvPr/>
        </p:nvSpPr>
        <p:spPr>
          <a:xfrm>
            <a:off x="11804650" y="7949565"/>
            <a:ext cx="622300" cy="354965"/>
          </a:xfrm>
          <a:prstGeom prst="rect">
            <a:avLst/>
          </a:prstGeom>
          <a:solidFill>
            <a:srgbClr val="EEF1F4"/>
          </a:solidFill>
          <a:ln>
            <a:noFill/>
          </a:ln>
        </p:spPr>
        <p:txBody>
          <a:bodyPr wrap="square" lIns="0" tIns="0" rIns="0" bIns="0" anchor="ctr">
            <a:noAutofit/>
          </a:bodyPr>
          <a:lstStyle/>
          <a:p>
            <a:pPr marL="0" indent="0" algn="ctr">
              <a:lnSpc>
                <a:spcPct val="105000"/>
              </a:lnSpc>
              <a:buNone/>
            </a:pPr>
            <a:r>
              <a:rPr lang="en-US" sz="1208" b="1" dirty="0">
                <a:solidFill>
                  <a:srgbClr val="8593A2"/>
                </a:solidFill>
                <a:latin typeface="Arial"/>
                <a:cs typeface="Arial"/>
              </a:rPr>
              <a:t>—</a:t>
            </a:r>
          </a:p>
        </p:txBody>
      </p:sp>
      <p:sp>
        <p:nvSpPr>
          <p:cNvPr id="2058" name="Text 2058"/>
          <p:cNvSpPr txBox="1"/>
          <p:nvPr/>
        </p:nvSpPr>
        <p:spPr>
          <a:xfrm>
            <a:off x="12566650" y="794956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59" name="Text 2059"/>
          <p:cNvSpPr txBox="1"/>
          <p:nvPr/>
        </p:nvSpPr>
        <p:spPr>
          <a:xfrm>
            <a:off x="13227050" y="7949565"/>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60" name="Text 2060"/>
          <p:cNvSpPr txBox="1"/>
          <p:nvPr/>
        </p:nvSpPr>
        <p:spPr>
          <a:xfrm>
            <a:off x="13887450" y="7949565"/>
            <a:ext cx="622300" cy="354965"/>
          </a:xfrm>
          <a:prstGeom prst="rect">
            <a:avLst/>
          </a:prstGeom>
          <a:solidFill>
            <a:srgbClr val="EEF1F4"/>
          </a:solidFill>
          <a:ln>
            <a:noFill/>
          </a:ln>
        </p:spPr>
        <p:txBody>
          <a:bodyPr wrap="square" lIns="0" tIns="0" rIns="0" bIns="0" anchor="ctr">
            <a:noAutofit/>
          </a:bodyPr>
          <a:lstStyle/>
          <a:p>
            <a:pPr marL="0" indent="0" algn="ctr">
              <a:lnSpc>
                <a:spcPct val="105000"/>
              </a:lnSpc>
              <a:buNone/>
            </a:pPr>
            <a:r>
              <a:rPr lang="en-US" sz="1208" b="1" dirty="0">
                <a:solidFill>
                  <a:srgbClr val="8593A2"/>
                </a:solidFill>
                <a:latin typeface="Arial"/>
                <a:cs typeface="Arial"/>
              </a:rPr>
              <a:t>—</a:t>
            </a:r>
          </a:p>
        </p:txBody>
      </p:sp>
      <p:sp>
        <p:nvSpPr>
          <p:cNvPr id="2061" name="Text 2061"/>
          <p:cNvSpPr txBox="1"/>
          <p:nvPr/>
        </p:nvSpPr>
        <p:spPr>
          <a:xfrm>
            <a:off x="14649450" y="794956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2" name="Text 2062"/>
          <p:cNvSpPr txBox="1"/>
          <p:nvPr/>
        </p:nvSpPr>
        <p:spPr>
          <a:xfrm>
            <a:off x="15309850" y="7949565"/>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3" name="Text 2063"/>
          <p:cNvSpPr txBox="1"/>
          <p:nvPr/>
        </p:nvSpPr>
        <p:spPr>
          <a:xfrm>
            <a:off x="15970250" y="7949565"/>
            <a:ext cx="622300" cy="354965"/>
          </a:xfrm>
          <a:prstGeom prst="rect">
            <a:avLst/>
          </a:prstGeom>
          <a:solidFill>
            <a:srgbClr val="EEF1F4"/>
          </a:solidFill>
          <a:ln>
            <a:noFill/>
          </a:ln>
        </p:spPr>
        <p:txBody>
          <a:bodyPr wrap="square" lIns="0" tIns="0" rIns="0" bIns="0" anchor="ctr">
            <a:noAutofit/>
          </a:bodyPr>
          <a:lstStyle/>
          <a:p>
            <a:pPr marL="0" indent="0" algn="ctr">
              <a:lnSpc>
                <a:spcPct val="105000"/>
              </a:lnSpc>
              <a:buNone/>
            </a:pPr>
            <a:r>
              <a:rPr lang="en-US" sz="1208" b="1" dirty="0">
                <a:solidFill>
                  <a:srgbClr val="8593A2"/>
                </a:solidFill>
                <a:latin typeface="Arial"/>
                <a:cs typeface="Arial"/>
              </a:rPr>
              <a:t>—</a:t>
            </a:r>
          </a:p>
        </p:txBody>
      </p:sp>
      <p:sp>
        <p:nvSpPr>
          <p:cNvPr id="2064" name="Text 2064"/>
          <p:cNvSpPr txBox="1"/>
          <p:nvPr/>
        </p:nvSpPr>
        <p:spPr>
          <a:xfrm>
            <a:off x="9347200" y="8354060"/>
            <a:ext cx="1041400" cy="354965"/>
          </a:xfrm>
          <a:prstGeom prst="rect">
            <a:avLst/>
          </a:prstGeom>
          <a:noFill/>
          <a:ln>
            <a:noFill/>
          </a:ln>
        </p:spPr>
        <p:txBody>
          <a:bodyPr wrap="square" lIns="0" tIns="0" rIns="0" bIns="0" anchor="ctr">
            <a:noAutofit/>
          </a:bodyPr>
          <a:lstStyle/>
          <a:p>
            <a:pPr marL="0" indent="0" algn="l">
              <a:lnSpc>
                <a:spcPct val="105000"/>
              </a:lnSpc>
              <a:buNone/>
            </a:pPr>
            <a:r>
              <a:rPr lang="en-US" sz="1495" b="1" dirty="0">
                <a:solidFill>
                  <a:srgbClr val="0E2A47"/>
                </a:solidFill>
                <a:latin typeface="Arial"/>
                <a:cs typeface="Arial"/>
              </a:rPr>
              <a:t>C10</a:t>
            </a:r>
          </a:p>
        </p:txBody>
      </p:sp>
      <p:sp>
        <p:nvSpPr>
          <p:cNvPr id="2065" name="Text 2065"/>
          <p:cNvSpPr txBox="1"/>
          <p:nvPr/>
        </p:nvSpPr>
        <p:spPr>
          <a:xfrm>
            <a:off x="104838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6" name="Text 2066"/>
          <p:cNvSpPr txBox="1"/>
          <p:nvPr/>
        </p:nvSpPr>
        <p:spPr>
          <a:xfrm>
            <a:off x="111442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7" name="Text 2067"/>
          <p:cNvSpPr txBox="1"/>
          <p:nvPr/>
        </p:nvSpPr>
        <p:spPr>
          <a:xfrm>
            <a:off x="118046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8" name="Text 2068"/>
          <p:cNvSpPr txBox="1"/>
          <p:nvPr/>
        </p:nvSpPr>
        <p:spPr>
          <a:xfrm>
            <a:off x="125666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69" name="Text 2069"/>
          <p:cNvSpPr txBox="1"/>
          <p:nvPr/>
        </p:nvSpPr>
        <p:spPr>
          <a:xfrm>
            <a:off x="13227050" y="835406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70" name="Text 2070"/>
          <p:cNvSpPr txBox="1"/>
          <p:nvPr/>
        </p:nvSpPr>
        <p:spPr>
          <a:xfrm>
            <a:off x="13887450" y="8354060"/>
            <a:ext cx="622300" cy="354965"/>
          </a:xfrm>
          <a:prstGeom prst="rect">
            <a:avLst/>
          </a:prstGeom>
          <a:solidFill>
            <a:srgbClr val="FBE3DF"/>
          </a:solidFill>
          <a:ln>
            <a:noFill/>
          </a:ln>
        </p:spPr>
        <p:txBody>
          <a:bodyPr wrap="square" lIns="0" tIns="0" rIns="0" bIns="0" anchor="ctr">
            <a:noAutofit/>
          </a:bodyPr>
          <a:lstStyle/>
          <a:p>
            <a:pPr marL="0" indent="0" algn="ctr">
              <a:lnSpc>
                <a:spcPct val="105000"/>
              </a:lnSpc>
              <a:buNone/>
            </a:pPr>
            <a:r>
              <a:rPr lang="en-US" sz="1208" b="1" dirty="0">
                <a:solidFill>
                  <a:srgbClr val="B4321C"/>
                </a:solidFill>
                <a:latin typeface="Arial"/>
                <a:cs typeface="Arial"/>
              </a:rPr>
              <a:t>NO</a:t>
            </a:r>
          </a:p>
        </p:txBody>
      </p:sp>
      <p:sp>
        <p:nvSpPr>
          <p:cNvPr id="2071" name="Text 2071"/>
          <p:cNvSpPr txBox="1"/>
          <p:nvPr/>
        </p:nvSpPr>
        <p:spPr>
          <a:xfrm>
            <a:off x="146494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72" name="Text 2072"/>
          <p:cNvSpPr txBox="1"/>
          <p:nvPr/>
        </p:nvSpPr>
        <p:spPr>
          <a:xfrm>
            <a:off x="153098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73" name="Text 2073"/>
          <p:cNvSpPr txBox="1"/>
          <p:nvPr/>
        </p:nvSpPr>
        <p:spPr>
          <a:xfrm>
            <a:off x="15970250" y="8354060"/>
            <a:ext cx="622300" cy="354965"/>
          </a:xfrm>
          <a:prstGeom prst="rect">
            <a:avLst/>
          </a:prstGeom>
          <a:solidFill>
            <a:srgbClr val="DDF1E6"/>
          </a:solidFill>
          <a:ln>
            <a:noFill/>
          </a:ln>
        </p:spPr>
        <p:txBody>
          <a:bodyPr wrap="square" lIns="0" tIns="0" rIns="0" bIns="0" anchor="ctr">
            <a:noAutofit/>
          </a:bodyPr>
          <a:lstStyle/>
          <a:p>
            <a:pPr marL="0" indent="0" algn="ctr">
              <a:lnSpc>
                <a:spcPct val="105000"/>
              </a:lnSpc>
              <a:buNone/>
            </a:pPr>
            <a:r>
              <a:rPr lang="en-US" sz="1208" b="1" dirty="0">
                <a:solidFill>
                  <a:srgbClr val="1F7A50"/>
                </a:solidFill>
                <a:latin typeface="Arial"/>
                <a:cs typeface="Arial"/>
              </a:rPr>
              <a:t>YES</a:t>
            </a:r>
          </a:p>
        </p:txBody>
      </p:sp>
      <p:sp>
        <p:nvSpPr>
          <p:cNvPr id="2074" name="Text 2074"/>
          <p:cNvSpPr txBox="1"/>
          <p:nvPr/>
        </p:nvSpPr>
        <p:spPr>
          <a:xfrm>
            <a:off x="863600" y="9042400"/>
            <a:ext cx="16535400" cy="203200"/>
          </a:xfrm>
          <a:prstGeom prst="rect">
            <a:avLst/>
          </a:prstGeom>
          <a:noFill/>
          <a:ln>
            <a:noFill/>
          </a:ln>
        </p:spPr>
        <p:txBody>
          <a:bodyPr wrap="square" lIns="0" tIns="0" rIns="0" bIns="0" anchor="t">
            <a:noAutofit/>
          </a:bodyPr>
          <a:lstStyle/>
          <a:p>
            <a:pPr marL="0" indent="0" algn="l">
              <a:lnSpc>
                <a:spcPct val="105000"/>
              </a:lnSpc>
              <a:buNone/>
            </a:pPr>
            <a:r>
              <a:rPr lang="en-US" sz="1150" dirty="0">
                <a:solidFill>
                  <a:srgbClr val="41505E"/>
                </a:solidFill>
                <a:latin typeface="Arial"/>
                <a:cs typeface="Arial"/>
              </a:rPr>
              <a:t>Acceptable per fall-protection standard for the loading shown (figures on the previous slide). Blank = not listed. Planning aid only — a qualified person approves every anchor.</a:t>
            </a:r>
          </a:p>
        </p:txBody>
      </p:sp>
      <p:sp>
        <p:nvSpPr>
          <p:cNvPr id="2075" name="Text 2075"/>
          <p:cNvSpPr txBox="1"/>
          <p:nvPr/>
        </p:nvSpPr>
        <p:spPr>
          <a:xfrm>
            <a:off x="863600" y="7696200"/>
            <a:ext cx="7620000" cy="1143000"/>
          </a:xfrm>
          <a:prstGeom prst="rect">
            <a:avLst/>
          </a:prstGeom>
          <a:noFill/>
          <a:ln>
            <a:noFill/>
          </a:ln>
        </p:spPr>
        <p:txBody>
          <a:bodyPr wrap="square" lIns="0" tIns="0" rIns="0" bIns="0" anchor="t">
            <a:noAutofit/>
          </a:bodyPr>
          <a:lstStyle/>
          <a:p>
            <a:pPr marL="0" indent="0" algn="l">
              <a:lnSpc>
                <a:spcPct val="105000"/>
              </a:lnSpc>
              <a:buNone/>
            </a:pPr>
            <a:r>
              <a:rPr lang="en-US" sz="1050" b="1" spc="150" dirty="0">
                <a:solidFill>
                  <a:srgbClr val="F26A1B"/>
                </a:solidFill>
                <a:latin typeface="Courier New"/>
                <a:cs typeface="Courier New"/>
              </a:rPr>
              <a:t>READ IT LIKE THIS</a:t>
            </a:r>
          </a:p>
          <a:p>
            <a:pPr marL="0" indent="0" algn="l">
              <a:lnSpc>
                <a:spcPct val="105000"/>
              </a:lnSpc>
              <a:spcBef>
                <a:spcPts val="400"/>
              </a:spcBef>
              <a:buNone/>
            </a:pPr>
            <a:r>
              <a:rPr lang="en-US" sz="1600" b="1" dirty="0">
                <a:solidFill>
                  <a:srgbClr val="0E2A47"/>
                </a:solidFill>
                <a:latin typeface="Arial"/>
                <a:cs typeface="Arial"/>
              </a:rPr>
              <a:t>Tension is almost always YES. Cantilever is almost always NO. Longer span = weaker anchor.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031983"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346140"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Anchor Angles &amp; Load Sharing</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Geometry changes force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Explain how the included angle affects leg tension and why increasingly wide bridles create high forces.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this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multi-anchor system can overload components if geometry is poor — even when the suspended load itself seems modest.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Keep geometry conservative</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manufacturer / engineering guidance for exact limits and avoid unnecessarily wide included angles.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False “equalization” assumptions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Unequal leg lengths, stretch, direction changes and movement can prevent true equal load sharing.</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 recognizes poor geometry and can explain why flattening a bridle increases leg force.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“Is 120° always safe?”</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angle is automatically safe. The complete engineered / approved system and component limits control.</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56</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0710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LOAD PHYSICS REFERENCE</a:t>
            </a:r>
            <a:endParaRPr lang="en-US" sz="975" dirty="0"/>
          </a:p>
        </p:txBody>
      </p:sp>
      <p:sp>
        <p:nvSpPr>
          <p:cNvPr id="3" name="Text 1"/>
          <p:cNvSpPr/>
          <p:nvPr/>
        </p:nvSpPr>
        <p:spPr>
          <a:xfrm>
            <a:off x="857250" y="838200"/>
            <a:ext cx="945982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Included Angles — the Wide V Multiplies the Load</a:t>
            </a:r>
            <a:endParaRPr lang="en-US" sz="3000" dirty="0"/>
          </a:p>
        </p:txBody>
      </p:sp>
      <p:sp>
        <p:nvSpPr>
          <p:cNvPr id="73" name="Shape 71"/>
          <p:cNvSpPr/>
          <p:nvPr/>
        </p:nvSpPr>
        <p:spPr>
          <a:xfrm>
            <a:off x="0" y="9753600"/>
            <a:ext cx="18288000" cy="9525"/>
          </a:xfrm>
          <a:prstGeom prst="rect">
            <a:avLst/>
          </a:prstGeom>
          <a:solidFill>
            <a:srgbClr val="E1E6EC"/>
          </a:solidFill>
          <a:ln/>
        </p:spPr>
        <p:txBody>
          <a:bodyPr/>
          <a:lstStyle/>
          <a:p>
            <a:endParaRPr lang="en-US"/>
          </a:p>
        </p:txBody>
      </p:sp>
      <p:sp>
        <p:nvSpPr>
          <p:cNvPr id="74" name="Text 72"/>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75" name="Text 73"/>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ANCHOR INCLUDED ANGLES</a:t>
            </a:r>
            <a:endParaRPr lang="en-US" sz="900" dirty="0"/>
          </a:p>
        </p:txBody>
      </p:sp>
      <p:sp>
        <p:nvSpPr>
          <p:cNvPr id="76" name="Text 74"/>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57</a:t>
            </a:r>
            <a:endParaRPr lang="en-US" sz="900" dirty="0"/>
          </a:p>
        </p:txBody>
      </p:sp>
      <p:sp>
        <p:nvSpPr>
          <p:cNvPr id="690" name="Shape 690"/>
          <p:cNvSpPr/>
          <p:nvPr/>
        </p:nvSpPr>
        <p:spPr>
          <a:xfrm>
            <a:off x="857250" y="1905000"/>
            <a:ext cx="7620000" cy="508000"/>
          </a:xfrm>
          <a:prstGeom prst="rect">
            <a:avLst/>
          </a:prstGeom>
          <a:solidFill>
            <a:srgbClr val="0E2A47"/>
          </a:solidFill>
          <a:ln>
            <a:noFill/>
          </a:ln>
        </p:spPr>
        <p:txBody>
          <a:bodyPr/>
          <a:lstStyle/>
          <a:p>
            <a:endParaRPr lang="en-US"/>
          </a:p>
        </p:txBody>
      </p:sp>
      <p:sp>
        <p:nvSpPr>
          <p:cNvPr id="691" name="Text 691"/>
          <p:cNvSpPr txBox="1"/>
          <p:nvPr/>
        </p:nvSpPr>
        <p:spPr>
          <a:xfrm>
            <a:off x="1136650" y="20701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ANGLE</a:t>
            </a:r>
            <a:endParaRPr lang="en-US" sz="1100" dirty="0"/>
          </a:p>
        </p:txBody>
      </p:sp>
      <p:sp>
        <p:nvSpPr>
          <p:cNvPr id="692" name="Text 692"/>
          <p:cNvSpPr txBox="1"/>
          <p:nvPr/>
        </p:nvSpPr>
        <p:spPr>
          <a:xfrm>
            <a:off x="3016250" y="20701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FORCE / ANCHOR</a:t>
            </a:r>
            <a:endParaRPr lang="en-US" sz="1100" dirty="0"/>
          </a:p>
        </p:txBody>
      </p:sp>
      <p:sp>
        <p:nvSpPr>
          <p:cNvPr id="693" name="Text 693"/>
          <p:cNvSpPr txBox="1"/>
          <p:nvPr/>
        </p:nvSpPr>
        <p:spPr>
          <a:xfrm>
            <a:off x="5937250" y="20701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STATUS</a:t>
            </a:r>
            <a:endParaRPr lang="en-US" sz="1100" dirty="0"/>
          </a:p>
        </p:txBody>
      </p:sp>
      <p:sp>
        <p:nvSpPr>
          <p:cNvPr id="694" name="Shape 694"/>
          <p:cNvSpPr/>
          <p:nvPr/>
        </p:nvSpPr>
        <p:spPr>
          <a:xfrm>
            <a:off x="857250" y="2413000"/>
            <a:ext cx="7620000" cy="965200"/>
          </a:xfrm>
          <a:prstGeom prst="rect">
            <a:avLst/>
          </a:prstGeom>
          <a:solidFill>
            <a:srgbClr val="FFFFFF"/>
          </a:solidFill>
          <a:ln>
            <a:noFill/>
          </a:ln>
        </p:spPr>
        <p:txBody>
          <a:bodyPr/>
          <a:lstStyle/>
          <a:p>
            <a:endParaRPr lang="en-US"/>
          </a:p>
        </p:txBody>
      </p:sp>
      <p:sp>
        <p:nvSpPr>
          <p:cNvPr id="695" name="Shape 695"/>
          <p:cNvSpPr/>
          <p:nvPr/>
        </p:nvSpPr>
        <p:spPr>
          <a:xfrm>
            <a:off x="857250" y="3365500"/>
            <a:ext cx="7620000" cy="12700"/>
          </a:xfrm>
          <a:prstGeom prst="rect">
            <a:avLst/>
          </a:prstGeom>
          <a:solidFill>
            <a:srgbClr val="E2E7ED"/>
          </a:solidFill>
          <a:ln>
            <a:noFill/>
          </a:ln>
        </p:spPr>
        <p:txBody>
          <a:bodyPr/>
          <a:lstStyle/>
          <a:p>
            <a:endParaRPr lang="en-US"/>
          </a:p>
        </p:txBody>
      </p:sp>
      <p:sp>
        <p:nvSpPr>
          <p:cNvPr id="696" name="Text 696"/>
          <p:cNvSpPr txBox="1"/>
          <p:nvPr/>
        </p:nvSpPr>
        <p:spPr>
          <a:xfrm>
            <a:off x="1136650" y="27178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1F8A5B"/>
                </a:solidFill>
                <a:latin typeface="Arial"/>
                <a:cs typeface="Arial"/>
              </a:rPr>
              <a:t>0°</a:t>
            </a:r>
            <a:endParaRPr lang="en-US" sz="2200" dirty="0"/>
          </a:p>
        </p:txBody>
      </p:sp>
      <p:sp>
        <p:nvSpPr>
          <p:cNvPr id="697" name="Text 697"/>
          <p:cNvSpPr txBox="1"/>
          <p:nvPr/>
        </p:nvSpPr>
        <p:spPr>
          <a:xfrm>
            <a:off x="3016250" y="27432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50% of load</a:t>
            </a:r>
            <a:endParaRPr lang="en-US" sz="1800" dirty="0"/>
          </a:p>
        </p:txBody>
      </p:sp>
      <p:sp>
        <p:nvSpPr>
          <p:cNvPr id="698" name="Text 698"/>
          <p:cNvSpPr txBox="1"/>
          <p:nvPr/>
        </p:nvSpPr>
        <p:spPr>
          <a:xfrm>
            <a:off x="5937250" y="27432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1F8A5B"/>
                </a:solidFill>
                <a:latin typeface="Arial"/>
                <a:cs typeface="Arial"/>
              </a:rPr>
              <a:t>Ideal</a:t>
            </a:r>
            <a:endParaRPr lang="en-US" sz="1700" dirty="0"/>
          </a:p>
        </p:txBody>
      </p:sp>
      <p:sp>
        <p:nvSpPr>
          <p:cNvPr id="699" name="Shape 699"/>
          <p:cNvSpPr/>
          <p:nvPr/>
        </p:nvSpPr>
        <p:spPr>
          <a:xfrm>
            <a:off x="857250" y="3378200"/>
            <a:ext cx="7620000" cy="965200"/>
          </a:xfrm>
          <a:prstGeom prst="rect">
            <a:avLst/>
          </a:prstGeom>
          <a:solidFill>
            <a:srgbClr val="F5F7F9"/>
          </a:solidFill>
          <a:ln>
            <a:noFill/>
          </a:ln>
        </p:spPr>
        <p:txBody>
          <a:bodyPr/>
          <a:lstStyle/>
          <a:p>
            <a:endParaRPr lang="en-US"/>
          </a:p>
        </p:txBody>
      </p:sp>
      <p:sp>
        <p:nvSpPr>
          <p:cNvPr id="700" name="Shape 700"/>
          <p:cNvSpPr/>
          <p:nvPr/>
        </p:nvSpPr>
        <p:spPr>
          <a:xfrm>
            <a:off x="857250" y="4330700"/>
            <a:ext cx="7620000" cy="12700"/>
          </a:xfrm>
          <a:prstGeom prst="rect">
            <a:avLst/>
          </a:prstGeom>
          <a:solidFill>
            <a:srgbClr val="E2E7ED"/>
          </a:solidFill>
          <a:ln>
            <a:noFill/>
          </a:ln>
        </p:spPr>
        <p:txBody>
          <a:bodyPr/>
          <a:lstStyle/>
          <a:p>
            <a:endParaRPr lang="en-US"/>
          </a:p>
        </p:txBody>
      </p:sp>
      <p:sp>
        <p:nvSpPr>
          <p:cNvPr id="701" name="Text 701"/>
          <p:cNvSpPr txBox="1"/>
          <p:nvPr/>
        </p:nvSpPr>
        <p:spPr>
          <a:xfrm>
            <a:off x="1136650" y="36830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1F8A5B"/>
                </a:solidFill>
                <a:latin typeface="Arial"/>
                <a:cs typeface="Arial"/>
              </a:rPr>
              <a:t>45°</a:t>
            </a:r>
            <a:endParaRPr lang="en-US" sz="2200" dirty="0"/>
          </a:p>
        </p:txBody>
      </p:sp>
      <p:sp>
        <p:nvSpPr>
          <p:cNvPr id="702" name="Text 702"/>
          <p:cNvSpPr txBox="1"/>
          <p:nvPr/>
        </p:nvSpPr>
        <p:spPr>
          <a:xfrm>
            <a:off x="3016250" y="37084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54%</a:t>
            </a:r>
            <a:endParaRPr lang="en-US" sz="1800" dirty="0"/>
          </a:p>
        </p:txBody>
      </p:sp>
      <p:sp>
        <p:nvSpPr>
          <p:cNvPr id="703" name="Text 703"/>
          <p:cNvSpPr txBox="1"/>
          <p:nvPr/>
        </p:nvSpPr>
        <p:spPr>
          <a:xfrm>
            <a:off x="5937250" y="37084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1F8A5B"/>
                </a:solidFill>
                <a:latin typeface="Arial"/>
                <a:cs typeface="Arial"/>
              </a:rPr>
              <a:t>Good</a:t>
            </a:r>
            <a:endParaRPr lang="en-US" sz="1700" dirty="0"/>
          </a:p>
        </p:txBody>
      </p:sp>
      <p:sp>
        <p:nvSpPr>
          <p:cNvPr id="704" name="Shape 704"/>
          <p:cNvSpPr/>
          <p:nvPr/>
        </p:nvSpPr>
        <p:spPr>
          <a:xfrm>
            <a:off x="857250" y="4343400"/>
            <a:ext cx="7620000" cy="965200"/>
          </a:xfrm>
          <a:prstGeom prst="rect">
            <a:avLst/>
          </a:prstGeom>
          <a:solidFill>
            <a:srgbClr val="FFFFFF"/>
          </a:solidFill>
          <a:ln>
            <a:noFill/>
          </a:ln>
        </p:spPr>
        <p:txBody>
          <a:bodyPr/>
          <a:lstStyle/>
          <a:p>
            <a:endParaRPr lang="en-US"/>
          </a:p>
        </p:txBody>
      </p:sp>
      <p:sp>
        <p:nvSpPr>
          <p:cNvPr id="705" name="Shape 705"/>
          <p:cNvSpPr/>
          <p:nvPr/>
        </p:nvSpPr>
        <p:spPr>
          <a:xfrm>
            <a:off x="857250" y="5295900"/>
            <a:ext cx="7620000" cy="12700"/>
          </a:xfrm>
          <a:prstGeom prst="rect">
            <a:avLst/>
          </a:prstGeom>
          <a:solidFill>
            <a:srgbClr val="E2E7ED"/>
          </a:solidFill>
          <a:ln>
            <a:noFill/>
          </a:ln>
        </p:spPr>
        <p:txBody>
          <a:bodyPr/>
          <a:lstStyle/>
          <a:p>
            <a:endParaRPr lang="en-US"/>
          </a:p>
        </p:txBody>
      </p:sp>
      <p:sp>
        <p:nvSpPr>
          <p:cNvPr id="706" name="Text 706"/>
          <p:cNvSpPr txBox="1"/>
          <p:nvPr/>
        </p:nvSpPr>
        <p:spPr>
          <a:xfrm>
            <a:off x="1136650" y="46482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1F8A5B"/>
                </a:solidFill>
                <a:latin typeface="Arial"/>
                <a:cs typeface="Arial"/>
              </a:rPr>
              <a:t>90°</a:t>
            </a:r>
            <a:endParaRPr lang="en-US" sz="2200" dirty="0"/>
          </a:p>
        </p:txBody>
      </p:sp>
      <p:sp>
        <p:nvSpPr>
          <p:cNvPr id="707" name="Text 707"/>
          <p:cNvSpPr txBox="1"/>
          <p:nvPr/>
        </p:nvSpPr>
        <p:spPr>
          <a:xfrm>
            <a:off x="3016250" y="46736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71%</a:t>
            </a:r>
            <a:endParaRPr lang="en-US" sz="1800" dirty="0"/>
          </a:p>
        </p:txBody>
      </p:sp>
      <p:sp>
        <p:nvSpPr>
          <p:cNvPr id="708" name="Text 708"/>
          <p:cNvSpPr txBox="1"/>
          <p:nvPr/>
        </p:nvSpPr>
        <p:spPr>
          <a:xfrm>
            <a:off x="5937250" y="46736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1F8A5B"/>
                </a:solidFill>
                <a:latin typeface="Arial"/>
                <a:cs typeface="Arial"/>
              </a:rPr>
              <a:t>Limit of preferred</a:t>
            </a:r>
            <a:endParaRPr lang="en-US" sz="1700" dirty="0"/>
          </a:p>
        </p:txBody>
      </p:sp>
      <p:sp>
        <p:nvSpPr>
          <p:cNvPr id="709" name="Shape 709"/>
          <p:cNvSpPr/>
          <p:nvPr/>
        </p:nvSpPr>
        <p:spPr>
          <a:xfrm>
            <a:off x="857250" y="5308600"/>
            <a:ext cx="7620000" cy="965200"/>
          </a:xfrm>
          <a:prstGeom prst="rect">
            <a:avLst/>
          </a:prstGeom>
          <a:solidFill>
            <a:srgbClr val="F5F7F9"/>
          </a:solidFill>
          <a:ln>
            <a:noFill/>
          </a:ln>
        </p:spPr>
        <p:txBody>
          <a:bodyPr/>
          <a:lstStyle/>
          <a:p>
            <a:endParaRPr lang="en-US"/>
          </a:p>
        </p:txBody>
      </p:sp>
      <p:sp>
        <p:nvSpPr>
          <p:cNvPr id="710" name="Shape 710"/>
          <p:cNvSpPr/>
          <p:nvPr/>
        </p:nvSpPr>
        <p:spPr>
          <a:xfrm>
            <a:off x="857250" y="6261100"/>
            <a:ext cx="7620000" cy="12700"/>
          </a:xfrm>
          <a:prstGeom prst="rect">
            <a:avLst/>
          </a:prstGeom>
          <a:solidFill>
            <a:srgbClr val="E2E7ED"/>
          </a:solidFill>
          <a:ln>
            <a:noFill/>
          </a:ln>
        </p:spPr>
        <p:txBody>
          <a:bodyPr/>
          <a:lstStyle/>
          <a:p>
            <a:endParaRPr lang="en-US"/>
          </a:p>
        </p:txBody>
      </p:sp>
      <p:sp>
        <p:nvSpPr>
          <p:cNvPr id="711" name="Text 711"/>
          <p:cNvSpPr txBox="1"/>
          <p:nvPr/>
        </p:nvSpPr>
        <p:spPr>
          <a:xfrm>
            <a:off x="1136650" y="56134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D9920B"/>
                </a:solidFill>
                <a:latin typeface="Arial"/>
                <a:cs typeface="Arial"/>
              </a:rPr>
              <a:t>120°</a:t>
            </a:r>
            <a:endParaRPr lang="en-US" sz="2200" dirty="0"/>
          </a:p>
        </p:txBody>
      </p:sp>
      <p:sp>
        <p:nvSpPr>
          <p:cNvPr id="712" name="Text 712"/>
          <p:cNvSpPr txBox="1"/>
          <p:nvPr/>
        </p:nvSpPr>
        <p:spPr>
          <a:xfrm>
            <a:off x="3016250" y="56388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100% — no sharing</a:t>
            </a:r>
            <a:endParaRPr lang="en-US" sz="1800" dirty="0"/>
          </a:p>
        </p:txBody>
      </p:sp>
      <p:sp>
        <p:nvSpPr>
          <p:cNvPr id="713" name="Text 713"/>
          <p:cNvSpPr txBox="1"/>
          <p:nvPr/>
        </p:nvSpPr>
        <p:spPr>
          <a:xfrm>
            <a:off x="5937250" y="56388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D9920B"/>
                </a:solidFill>
                <a:latin typeface="Arial"/>
                <a:cs typeface="Arial"/>
              </a:rPr>
              <a:t>Critical</a:t>
            </a:r>
            <a:endParaRPr lang="en-US" sz="1700" dirty="0"/>
          </a:p>
        </p:txBody>
      </p:sp>
      <p:sp>
        <p:nvSpPr>
          <p:cNvPr id="714" name="Shape 714"/>
          <p:cNvSpPr/>
          <p:nvPr/>
        </p:nvSpPr>
        <p:spPr>
          <a:xfrm>
            <a:off x="857250" y="6273800"/>
            <a:ext cx="7620000" cy="965200"/>
          </a:xfrm>
          <a:prstGeom prst="rect">
            <a:avLst/>
          </a:prstGeom>
          <a:solidFill>
            <a:srgbClr val="FFFFFF"/>
          </a:solidFill>
          <a:ln>
            <a:noFill/>
          </a:ln>
        </p:spPr>
        <p:txBody>
          <a:bodyPr/>
          <a:lstStyle/>
          <a:p>
            <a:endParaRPr lang="en-US"/>
          </a:p>
        </p:txBody>
      </p:sp>
      <p:sp>
        <p:nvSpPr>
          <p:cNvPr id="715" name="Shape 715"/>
          <p:cNvSpPr/>
          <p:nvPr/>
        </p:nvSpPr>
        <p:spPr>
          <a:xfrm>
            <a:off x="857250" y="7226300"/>
            <a:ext cx="7620000" cy="12700"/>
          </a:xfrm>
          <a:prstGeom prst="rect">
            <a:avLst/>
          </a:prstGeom>
          <a:solidFill>
            <a:srgbClr val="E2E7ED"/>
          </a:solidFill>
          <a:ln>
            <a:noFill/>
          </a:ln>
        </p:spPr>
        <p:txBody>
          <a:bodyPr/>
          <a:lstStyle/>
          <a:p>
            <a:endParaRPr lang="en-US"/>
          </a:p>
        </p:txBody>
      </p:sp>
      <p:sp>
        <p:nvSpPr>
          <p:cNvPr id="716" name="Text 716"/>
          <p:cNvSpPr txBox="1"/>
          <p:nvPr/>
        </p:nvSpPr>
        <p:spPr>
          <a:xfrm>
            <a:off x="1136650" y="65786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C8341F"/>
                </a:solidFill>
                <a:latin typeface="Arial"/>
                <a:cs typeface="Arial"/>
              </a:rPr>
              <a:t>150°</a:t>
            </a:r>
            <a:endParaRPr lang="en-US" sz="2200" dirty="0"/>
          </a:p>
        </p:txBody>
      </p:sp>
      <p:sp>
        <p:nvSpPr>
          <p:cNvPr id="717" name="Text 717"/>
          <p:cNvSpPr txBox="1"/>
          <p:nvPr/>
        </p:nvSpPr>
        <p:spPr>
          <a:xfrm>
            <a:off x="3016250" y="66040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193%</a:t>
            </a:r>
            <a:endParaRPr lang="en-US" sz="1800" dirty="0"/>
          </a:p>
        </p:txBody>
      </p:sp>
      <p:sp>
        <p:nvSpPr>
          <p:cNvPr id="718" name="Text 718"/>
          <p:cNvSpPr txBox="1"/>
          <p:nvPr/>
        </p:nvSpPr>
        <p:spPr>
          <a:xfrm>
            <a:off x="5937250" y="66040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C8341F"/>
                </a:solidFill>
                <a:latin typeface="Arial"/>
                <a:cs typeface="Arial"/>
              </a:rPr>
              <a:t>Danger</a:t>
            </a:r>
            <a:endParaRPr lang="en-US" sz="1700" dirty="0"/>
          </a:p>
        </p:txBody>
      </p:sp>
      <p:sp>
        <p:nvSpPr>
          <p:cNvPr id="719" name="Shape 719"/>
          <p:cNvSpPr/>
          <p:nvPr/>
        </p:nvSpPr>
        <p:spPr>
          <a:xfrm>
            <a:off x="857250" y="7239000"/>
            <a:ext cx="7620000" cy="965200"/>
          </a:xfrm>
          <a:prstGeom prst="rect">
            <a:avLst/>
          </a:prstGeom>
          <a:solidFill>
            <a:srgbClr val="F5F7F9"/>
          </a:solidFill>
          <a:ln>
            <a:noFill/>
          </a:ln>
        </p:spPr>
        <p:txBody>
          <a:bodyPr/>
          <a:lstStyle/>
          <a:p>
            <a:endParaRPr lang="en-US"/>
          </a:p>
        </p:txBody>
      </p:sp>
      <p:sp>
        <p:nvSpPr>
          <p:cNvPr id="720" name="Shape 720"/>
          <p:cNvSpPr/>
          <p:nvPr/>
        </p:nvSpPr>
        <p:spPr>
          <a:xfrm>
            <a:off x="857250" y="8191500"/>
            <a:ext cx="7620000" cy="12700"/>
          </a:xfrm>
          <a:prstGeom prst="rect">
            <a:avLst/>
          </a:prstGeom>
          <a:solidFill>
            <a:srgbClr val="E2E7ED"/>
          </a:solidFill>
          <a:ln>
            <a:noFill/>
          </a:ln>
        </p:spPr>
        <p:txBody>
          <a:bodyPr/>
          <a:lstStyle/>
          <a:p>
            <a:endParaRPr lang="en-US"/>
          </a:p>
        </p:txBody>
      </p:sp>
      <p:sp>
        <p:nvSpPr>
          <p:cNvPr id="721" name="Text 721"/>
          <p:cNvSpPr txBox="1"/>
          <p:nvPr/>
        </p:nvSpPr>
        <p:spPr>
          <a:xfrm>
            <a:off x="1136650" y="7543800"/>
            <a:ext cx="1524000" cy="381000"/>
          </a:xfrm>
          <a:prstGeom prst="rect">
            <a:avLst/>
          </a:prstGeom>
          <a:noFill/>
          <a:ln>
            <a:noFill/>
          </a:ln>
        </p:spPr>
        <p:txBody>
          <a:bodyPr wrap="square" lIns="0" tIns="0" rIns="0" bIns="0" rtlCol="0" anchor="t">
            <a:noAutofit/>
          </a:bodyPr>
          <a:lstStyle/>
          <a:p>
            <a:pPr marL="0" indent="0" algn="l">
              <a:lnSpc>
                <a:spcPct val="112000"/>
              </a:lnSpc>
              <a:buNone/>
            </a:pPr>
            <a:r>
              <a:rPr lang="en-US" sz="2200" b="1" dirty="0">
                <a:solidFill>
                  <a:srgbClr val="C8341F"/>
                </a:solidFill>
                <a:latin typeface="Arial"/>
                <a:cs typeface="Arial"/>
              </a:rPr>
              <a:t>160°</a:t>
            </a:r>
            <a:endParaRPr lang="en-US" sz="2200" dirty="0"/>
          </a:p>
        </p:txBody>
      </p:sp>
      <p:sp>
        <p:nvSpPr>
          <p:cNvPr id="722" name="Text 722"/>
          <p:cNvSpPr txBox="1"/>
          <p:nvPr/>
        </p:nvSpPr>
        <p:spPr>
          <a:xfrm>
            <a:off x="3016250" y="7569200"/>
            <a:ext cx="2794000" cy="355600"/>
          </a:xfrm>
          <a:prstGeom prst="rect">
            <a:avLst/>
          </a:prstGeom>
          <a:noFill/>
          <a:ln>
            <a:noFill/>
          </a:ln>
        </p:spPr>
        <p:txBody>
          <a:bodyPr wrap="square" lIns="0" tIns="0" rIns="0" bIns="0" rtlCol="0" anchor="t">
            <a:noAutofit/>
          </a:bodyPr>
          <a:lstStyle/>
          <a:p>
            <a:pPr marL="0" indent="0" algn="l">
              <a:lnSpc>
                <a:spcPct val="112000"/>
              </a:lnSpc>
              <a:buNone/>
            </a:pPr>
            <a:r>
              <a:rPr lang="en-US" sz="1800" dirty="0">
                <a:solidFill>
                  <a:srgbClr val="0E2A47"/>
                </a:solidFill>
                <a:latin typeface="Arial"/>
                <a:cs typeface="Arial"/>
              </a:rPr>
              <a:t>288%</a:t>
            </a:r>
            <a:endParaRPr lang="en-US" sz="1800" dirty="0"/>
          </a:p>
        </p:txBody>
      </p:sp>
      <p:sp>
        <p:nvSpPr>
          <p:cNvPr id="723" name="Text 723"/>
          <p:cNvSpPr txBox="1"/>
          <p:nvPr/>
        </p:nvSpPr>
        <p:spPr>
          <a:xfrm>
            <a:off x="5937250" y="75692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C8341F"/>
                </a:solidFill>
                <a:latin typeface="Arial"/>
                <a:cs typeface="Arial"/>
              </a:rPr>
              <a:t>Extreme danger</a:t>
            </a:r>
            <a:endParaRPr lang="en-US" sz="1700" dirty="0"/>
          </a:p>
        </p:txBody>
      </p:sp>
      <p:sp>
        <p:nvSpPr>
          <p:cNvPr id="724" name="Shape 724"/>
          <p:cNvSpPr/>
          <p:nvPr/>
        </p:nvSpPr>
        <p:spPr>
          <a:xfrm>
            <a:off x="8890000" y="1905000"/>
            <a:ext cx="8540750" cy="4826000"/>
          </a:xfrm>
          <a:prstGeom prst="roundRect">
            <a:avLst>
              <a:gd name="adj" fmla="val 2500"/>
            </a:avLst>
          </a:prstGeom>
          <a:solidFill>
            <a:srgbClr val="0E2A47"/>
          </a:solidFill>
          <a:ln>
            <a:noFill/>
          </a:ln>
        </p:spPr>
        <p:txBody>
          <a:bodyPr/>
          <a:lstStyle/>
          <a:p>
            <a:endParaRPr lang="en-US"/>
          </a:p>
        </p:txBody>
      </p:sp>
      <p:sp>
        <p:nvSpPr>
          <p:cNvPr id="725" name="Text 725"/>
          <p:cNvSpPr txBox="1"/>
          <p:nvPr/>
        </p:nvSpPr>
        <p:spPr>
          <a:xfrm>
            <a:off x="9245600" y="2209800"/>
            <a:ext cx="7829550" cy="2540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F26A1B"/>
                </a:solidFill>
                <a:latin typeface="Courier New"/>
                <a:cs typeface="Courier New"/>
              </a:rPr>
              <a:t>WORKED EXAMPLE — DO THE MATH</a:t>
            </a:r>
            <a:endParaRPr lang="en-US" sz="1100" dirty="0"/>
          </a:p>
        </p:txBody>
      </p:sp>
      <p:sp>
        <p:nvSpPr>
          <p:cNvPr id="726" name="Shape 726"/>
          <p:cNvSpPr/>
          <p:nvPr/>
        </p:nvSpPr>
        <p:spPr>
          <a:xfrm>
            <a:off x="9245600" y="2616200"/>
            <a:ext cx="7829550" cy="457200"/>
          </a:xfrm>
          <a:prstGeom prst="rect">
            <a:avLst/>
          </a:prstGeom>
          <a:solidFill>
            <a:srgbClr val="0A1B2E"/>
          </a:solidFill>
          <a:ln>
            <a:noFill/>
          </a:ln>
        </p:spPr>
        <p:txBody>
          <a:bodyPr/>
          <a:lstStyle/>
          <a:p>
            <a:endParaRPr lang="en-US"/>
          </a:p>
        </p:txBody>
      </p:sp>
      <p:sp>
        <p:nvSpPr>
          <p:cNvPr id="727" name="Text 727"/>
          <p:cNvSpPr txBox="1"/>
          <p:nvPr/>
        </p:nvSpPr>
        <p:spPr>
          <a:xfrm>
            <a:off x="9448800" y="27686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ANGLE</a:t>
            </a:r>
            <a:endParaRPr lang="en-US" sz="1100" dirty="0"/>
          </a:p>
        </p:txBody>
      </p:sp>
      <p:sp>
        <p:nvSpPr>
          <p:cNvPr id="728" name="Text 728"/>
          <p:cNvSpPr txBox="1"/>
          <p:nvPr/>
        </p:nvSpPr>
        <p:spPr>
          <a:xfrm>
            <a:off x="12039600" y="27686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LOAD</a:t>
            </a:r>
            <a:endParaRPr lang="en-US" sz="1100" dirty="0"/>
          </a:p>
        </p:txBody>
      </p:sp>
      <p:sp>
        <p:nvSpPr>
          <p:cNvPr id="729" name="Text 729"/>
          <p:cNvSpPr txBox="1"/>
          <p:nvPr/>
        </p:nvSpPr>
        <p:spPr>
          <a:xfrm>
            <a:off x="14579600" y="2768600"/>
            <a:ext cx="2540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FORCE / LEG</a:t>
            </a:r>
            <a:endParaRPr lang="en-US" sz="1100" dirty="0"/>
          </a:p>
        </p:txBody>
      </p:sp>
      <p:sp>
        <p:nvSpPr>
          <p:cNvPr id="730" name="Shape 730"/>
          <p:cNvSpPr/>
          <p:nvPr/>
        </p:nvSpPr>
        <p:spPr>
          <a:xfrm>
            <a:off x="9245600" y="3848100"/>
            <a:ext cx="7829550" cy="12700"/>
          </a:xfrm>
          <a:prstGeom prst="rect">
            <a:avLst/>
          </a:prstGeom>
          <a:solidFill>
            <a:srgbClr val="1C3551"/>
          </a:solidFill>
          <a:ln>
            <a:noFill/>
          </a:ln>
        </p:spPr>
        <p:txBody>
          <a:bodyPr/>
          <a:lstStyle/>
          <a:p>
            <a:endParaRPr lang="en-US"/>
          </a:p>
        </p:txBody>
      </p:sp>
      <p:sp>
        <p:nvSpPr>
          <p:cNvPr id="731" name="Text 731"/>
          <p:cNvSpPr txBox="1"/>
          <p:nvPr/>
        </p:nvSpPr>
        <p:spPr>
          <a:xfrm>
            <a:off x="9448800" y="33020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FFFFFF"/>
                </a:solidFill>
                <a:latin typeface="Arial"/>
                <a:cs typeface="Arial"/>
              </a:rPr>
              <a:t>90°</a:t>
            </a:r>
            <a:endParaRPr lang="en-US" sz="1900" dirty="0"/>
          </a:p>
        </p:txBody>
      </p:sp>
      <p:sp>
        <p:nvSpPr>
          <p:cNvPr id="732" name="Text 732"/>
          <p:cNvSpPr txBox="1"/>
          <p:nvPr/>
        </p:nvSpPr>
        <p:spPr>
          <a:xfrm>
            <a:off x="12039600" y="33020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dirty="0">
                <a:solidFill>
                  <a:srgbClr val="FFFFFF"/>
                </a:solidFill>
                <a:latin typeface="Arial"/>
                <a:cs typeface="Arial"/>
              </a:rPr>
              <a:t>220 lb</a:t>
            </a:r>
            <a:endParaRPr lang="en-US" sz="1900" dirty="0"/>
          </a:p>
        </p:txBody>
      </p:sp>
      <p:sp>
        <p:nvSpPr>
          <p:cNvPr id="733" name="Text 733"/>
          <p:cNvSpPr txBox="1"/>
          <p:nvPr/>
        </p:nvSpPr>
        <p:spPr>
          <a:xfrm>
            <a:off x="14579600" y="33020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7FD3A5"/>
                </a:solidFill>
                <a:latin typeface="Arial"/>
                <a:cs typeface="Arial"/>
              </a:rPr>
              <a:t>≈ 156 lbf</a:t>
            </a:r>
            <a:endParaRPr lang="en-US" sz="1900" dirty="0"/>
          </a:p>
        </p:txBody>
      </p:sp>
      <p:sp>
        <p:nvSpPr>
          <p:cNvPr id="734" name="Shape 734"/>
          <p:cNvSpPr/>
          <p:nvPr/>
        </p:nvSpPr>
        <p:spPr>
          <a:xfrm>
            <a:off x="9245600" y="4635500"/>
            <a:ext cx="7829550" cy="12700"/>
          </a:xfrm>
          <a:prstGeom prst="rect">
            <a:avLst/>
          </a:prstGeom>
          <a:solidFill>
            <a:srgbClr val="1C3551"/>
          </a:solidFill>
          <a:ln>
            <a:noFill/>
          </a:ln>
        </p:spPr>
        <p:txBody>
          <a:bodyPr/>
          <a:lstStyle/>
          <a:p>
            <a:endParaRPr lang="en-US"/>
          </a:p>
        </p:txBody>
      </p:sp>
      <p:sp>
        <p:nvSpPr>
          <p:cNvPr id="735" name="Text 735"/>
          <p:cNvSpPr txBox="1"/>
          <p:nvPr/>
        </p:nvSpPr>
        <p:spPr>
          <a:xfrm>
            <a:off x="9448800" y="40894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FFFFFF"/>
                </a:solidFill>
                <a:latin typeface="Arial"/>
                <a:cs typeface="Arial"/>
              </a:rPr>
              <a:t>120°</a:t>
            </a:r>
            <a:endParaRPr lang="en-US" sz="1900" dirty="0"/>
          </a:p>
        </p:txBody>
      </p:sp>
      <p:sp>
        <p:nvSpPr>
          <p:cNvPr id="736" name="Text 736"/>
          <p:cNvSpPr txBox="1"/>
          <p:nvPr/>
        </p:nvSpPr>
        <p:spPr>
          <a:xfrm>
            <a:off x="12039600" y="40894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dirty="0">
                <a:solidFill>
                  <a:srgbClr val="FFFFFF"/>
                </a:solidFill>
                <a:latin typeface="Arial"/>
                <a:cs typeface="Arial"/>
              </a:rPr>
              <a:t>180 lb</a:t>
            </a:r>
            <a:endParaRPr lang="en-US" sz="1900" dirty="0"/>
          </a:p>
        </p:txBody>
      </p:sp>
      <p:sp>
        <p:nvSpPr>
          <p:cNvPr id="737" name="Text 737"/>
          <p:cNvSpPr txBox="1"/>
          <p:nvPr/>
        </p:nvSpPr>
        <p:spPr>
          <a:xfrm>
            <a:off x="14579600" y="40894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E0A52E"/>
                </a:solidFill>
                <a:latin typeface="Arial"/>
                <a:cs typeface="Arial"/>
              </a:rPr>
              <a:t>180 lbf</a:t>
            </a:r>
            <a:endParaRPr lang="en-US" sz="1900" dirty="0"/>
          </a:p>
        </p:txBody>
      </p:sp>
      <p:sp>
        <p:nvSpPr>
          <p:cNvPr id="738" name="Shape 738"/>
          <p:cNvSpPr/>
          <p:nvPr/>
        </p:nvSpPr>
        <p:spPr>
          <a:xfrm>
            <a:off x="9245600" y="5422900"/>
            <a:ext cx="7829550" cy="12700"/>
          </a:xfrm>
          <a:prstGeom prst="rect">
            <a:avLst/>
          </a:prstGeom>
          <a:solidFill>
            <a:srgbClr val="1C3551"/>
          </a:solidFill>
          <a:ln>
            <a:noFill/>
          </a:ln>
        </p:spPr>
        <p:txBody>
          <a:bodyPr/>
          <a:lstStyle/>
          <a:p>
            <a:endParaRPr lang="en-US"/>
          </a:p>
        </p:txBody>
      </p:sp>
      <p:sp>
        <p:nvSpPr>
          <p:cNvPr id="739" name="Text 739"/>
          <p:cNvSpPr txBox="1"/>
          <p:nvPr/>
        </p:nvSpPr>
        <p:spPr>
          <a:xfrm>
            <a:off x="9448800" y="48768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FFFFFF"/>
                </a:solidFill>
                <a:latin typeface="Arial"/>
                <a:cs typeface="Arial"/>
              </a:rPr>
              <a:t>160°</a:t>
            </a:r>
            <a:endParaRPr lang="en-US" sz="1900" dirty="0"/>
          </a:p>
        </p:txBody>
      </p:sp>
      <p:sp>
        <p:nvSpPr>
          <p:cNvPr id="740" name="Text 740"/>
          <p:cNvSpPr txBox="1"/>
          <p:nvPr/>
        </p:nvSpPr>
        <p:spPr>
          <a:xfrm>
            <a:off x="12039600" y="48768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900" dirty="0">
                <a:solidFill>
                  <a:srgbClr val="FFFFFF"/>
                </a:solidFill>
                <a:latin typeface="Arial"/>
                <a:cs typeface="Arial"/>
              </a:rPr>
              <a:t>220 lb</a:t>
            </a:r>
            <a:endParaRPr lang="en-US" sz="1900" dirty="0"/>
          </a:p>
        </p:txBody>
      </p:sp>
      <p:sp>
        <p:nvSpPr>
          <p:cNvPr id="741" name="Text 741"/>
          <p:cNvSpPr txBox="1"/>
          <p:nvPr/>
        </p:nvSpPr>
        <p:spPr>
          <a:xfrm>
            <a:off x="14579600" y="4876800"/>
            <a:ext cx="2413000" cy="355600"/>
          </a:xfrm>
          <a:prstGeom prst="rect">
            <a:avLst/>
          </a:prstGeom>
          <a:noFill/>
          <a:ln>
            <a:noFill/>
          </a:ln>
        </p:spPr>
        <p:txBody>
          <a:bodyPr wrap="square" lIns="0" tIns="0" rIns="0" bIns="0" rtlCol="0" anchor="t">
            <a:noAutofit/>
          </a:bodyPr>
          <a:lstStyle/>
          <a:p>
            <a:pPr marL="0" indent="0" algn="l">
              <a:lnSpc>
                <a:spcPct val="112000"/>
              </a:lnSpc>
              <a:buNone/>
            </a:pPr>
            <a:r>
              <a:rPr lang="en-US" sz="1900" b="1" dirty="0">
                <a:solidFill>
                  <a:srgbClr val="E0563E"/>
                </a:solidFill>
                <a:latin typeface="Arial"/>
                <a:cs typeface="Arial"/>
              </a:rPr>
              <a:t>≈ 634 lbf</a:t>
            </a:r>
            <a:endParaRPr lang="en-US" sz="1900" dirty="0"/>
          </a:p>
        </p:txBody>
      </p:sp>
      <p:sp>
        <p:nvSpPr>
          <p:cNvPr id="742" name="Text 742"/>
          <p:cNvSpPr txBox="1"/>
          <p:nvPr/>
        </p:nvSpPr>
        <p:spPr>
          <a:xfrm>
            <a:off x="9245600" y="5588000"/>
            <a:ext cx="7829550" cy="889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C7D4E1"/>
                </a:solidFill>
                <a:latin typeface="Arial"/>
                <a:cs typeface="Arial"/>
              </a:rPr>
              <a:t>At 160° each anchor sees </a:t>
            </a:r>
            <a:r>
              <a:rPr lang="en-US" sz="1600" b="1" dirty="0">
                <a:solidFill>
                  <a:srgbClr val="FFFFFF"/>
                </a:solidFill>
                <a:latin typeface="Arial"/>
                <a:cs typeface="Arial"/>
              </a:rPr>
              <a:t>nearly 3× the entire load</a:t>
            </a:r>
            <a:r>
              <a:rPr lang="en-US" sz="1600" dirty="0">
                <a:solidFill>
                  <a:srgbClr val="C7D4E1"/>
                </a:solidFill>
                <a:latin typeface="Arial"/>
                <a:cs typeface="Arial"/>
              </a:rPr>
              <a:t> — geometry alone made it dangerous.</a:t>
            </a:r>
            <a:endParaRPr lang="en-US" sz="1600" dirty="0"/>
          </a:p>
        </p:txBody>
      </p:sp>
      <p:sp>
        <p:nvSpPr>
          <p:cNvPr id="743" name="Shape 743"/>
          <p:cNvSpPr/>
          <p:nvPr/>
        </p:nvSpPr>
        <p:spPr>
          <a:xfrm>
            <a:off x="8890000" y="6985000"/>
            <a:ext cx="8540750" cy="2108200"/>
          </a:xfrm>
          <a:prstGeom prst="rect">
            <a:avLst/>
          </a:prstGeom>
          <a:solidFill>
            <a:srgbClr val="FFF4EC"/>
          </a:solidFill>
          <a:ln>
            <a:noFill/>
          </a:ln>
        </p:spPr>
        <p:txBody>
          <a:bodyPr/>
          <a:lstStyle/>
          <a:p>
            <a:endParaRPr lang="en-US"/>
          </a:p>
        </p:txBody>
      </p:sp>
      <p:sp>
        <p:nvSpPr>
          <p:cNvPr id="744" name="Shape 744"/>
          <p:cNvSpPr/>
          <p:nvPr/>
        </p:nvSpPr>
        <p:spPr>
          <a:xfrm>
            <a:off x="8890000" y="6985000"/>
            <a:ext cx="63500" cy="2108200"/>
          </a:xfrm>
          <a:prstGeom prst="rect">
            <a:avLst/>
          </a:prstGeom>
          <a:solidFill>
            <a:srgbClr val="F26A1B"/>
          </a:solidFill>
          <a:ln>
            <a:noFill/>
          </a:ln>
        </p:spPr>
        <p:txBody>
          <a:bodyPr/>
          <a:lstStyle/>
          <a:p>
            <a:endParaRPr lang="en-US"/>
          </a:p>
        </p:txBody>
      </p:sp>
      <p:sp>
        <p:nvSpPr>
          <p:cNvPr id="745" name="Text 745"/>
          <p:cNvSpPr txBox="1"/>
          <p:nvPr/>
        </p:nvSpPr>
        <p:spPr>
          <a:xfrm>
            <a:off x="9245600" y="7239000"/>
            <a:ext cx="7829550" cy="2540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F26A1B"/>
                </a:solidFill>
                <a:latin typeface="Courier New"/>
                <a:cs typeface="Courier New"/>
              </a:rPr>
              <a:t>THE RULES</a:t>
            </a:r>
            <a:endParaRPr lang="en-US" sz="1100" dirty="0"/>
          </a:p>
        </p:txBody>
      </p:sp>
      <p:sp>
        <p:nvSpPr>
          <p:cNvPr id="746" name="Text 746"/>
          <p:cNvSpPr txBox="1"/>
          <p:nvPr/>
        </p:nvSpPr>
        <p:spPr>
          <a:xfrm>
            <a:off x="9245600" y="7594600"/>
            <a:ext cx="7829550" cy="13970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Keep the included angle at 90° or less where practical.</a:t>
            </a:r>
            <a:endParaRPr lang="en-US" sz="1700" dirty="0"/>
          </a:p>
          <a:p>
            <a:pPr marL="0" indent="0" algn="l">
              <a:lnSpc>
                <a:spcPct val="112000"/>
              </a:lnSpc>
              <a:spcBef>
                <a:spcPts val="800"/>
              </a:spcBef>
              <a:buNone/>
            </a:pPr>
            <a:r>
              <a:rPr lang="en-US" sz="1600" dirty="0">
                <a:solidFill>
                  <a:srgbClr val="41505E"/>
                </a:solidFill>
                <a:latin typeface="Arial"/>
                <a:cs typeface="Arial"/>
              </a:rPr>
              <a:t>Wider than a right angle? Re-rig with longer slings or a higher master point.</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3 · LOAD PHYSICS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Anchor Angles — Watch the Load Grow</a:t>
            </a:r>
          </a:p>
        </p:txBody>
      </p:sp>
      <p:pic>
        <p:nvPicPr>
          <p:cNvPr id="13" name="Diagram 13"/>
          <p:cNvPicPr>
            <a:picLocks noChangeAspect="1"/>
          </p:cNvPicPr>
          <p:nvPr/>
        </p:nvPicPr>
        <p:blipFill>
          <a:blip r:embed="rId3"/>
          <a:stretch>
            <a:fillRect/>
          </a:stretch>
        </p:blipFill>
        <p:spPr>
          <a:xfrm>
            <a:off x="889000" y="1651000"/>
            <a:ext cx="16510000" cy="5842000"/>
          </a:xfrm>
          <a:prstGeom prst="rect">
            <a:avLst/>
          </a:prstGeom>
        </p:spPr>
      </p:pic>
      <p:sp>
        <p:nvSpPr>
          <p:cNvPr id="14" name="Shape 14"/>
          <p:cNvSpPr/>
          <p:nvPr/>
        </p:nvSpPr>
        <p:spPr>
          <a:xfrm>
            <a:off x="889000" y="7747000"/>
            <a:ext cx="16510000" cy="12192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RULE</a:t>
            </a:r>
          </a:p>
          <a:p>
            <a:pPr marL="0" indent="0" algn="l">
              <a:spcBef>
                <a:spcPts val="400"/>
              </a:spcBef>
              <a:buNone/>
            </a:pPr>
            <a:r>
              <a:rPr lang="en-US" sz="1500" kern="0" dirty="0">
                <a:solidFill>
                  <a:srgbClr val="FFFFFF"/>
                </a:solidFill>
                <a:latin typeface="Arial"/>
                <a:ea typeface="Arial"/>
                <a:cs typeface="Arial"/>
              </a:rPr>
              <a:t>Force per leg = load ÷ (2 × cos(½ × angle)). Keep the included angle at 90° or less. At 120° each anchor holds the full load; past that, each anchor holds more than the load itself. Too wide? Re-rig with longer slings or a higher master point.</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ANCHOR ANGLES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58</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ANCHORS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Y-Hang — Share the Load Between Two Anchors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SEE IT · Y-HANG</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59</a:t>
            </a:r>
            <a:endParaRPr lang="en-US" sz="900" dirty="0"/>
          </a:p>
        </p:txBody>
      </p:sp>
      <p:sp>
        <p:nvSpPr>
          <p:cNvPr id="1301" name="Shape 1301"/>
          <p:cNvSpPr/>
          <p:nvPr/>
        </p:nvSpPr>
        <p:spPr>
          <a:xfrm>
            <a:off x="857250" y="1778000"/>
            <a:ext cx="6167515" cy="7620000"/>
          </a:xfrm>
          <a:prstGeom prst="rect">
            <a:avLst/>
          </a:prstGeom>
          <a:solidFill>
            <a:srgbClr val="FFFFFF"/>
          </a:solidFill>
          <a:ln>
            <a:noFill/>
          </a:ln>
        </p:spPr>
        <p:txBody>
          <a:bodyPr/>
          <a:lstStyle/>
          <a:p>
            <a:endParaRPr lang="en-US"/>
          </a:p>
        </p:txBody>
      </p:sp>
      <p:pic>
        <p:nvPicPr>
          <p:cNvPr id="1302" name="Picture 1302"/>
          <p:cNvPicPr>
            <a:picLocks noChangeAspect="1"/>
          </p:cNvPicPr>
          <p:nvPr/>
        </p:nvPicPr>
        <p:blipFill>
          <a:blip r:embed="rId3"/>
          <a:stretch>
            <a:fillRect/>
          </a:stretch>
        </p:blipFill>
        <p:spPr>
          <a:xfrm>
            <a:off x="1413091" y="2032000"/>
            <a:ext cx="5055833" cy="6807200"/>
          </a:xfrm>
          <a:prstGeom prst="rect">
            <a:avLst/>
          </a:prstGeom>
        </p:spPr>
      </p:pic>
      <p:sp>
        <p:nvSpPr>
          <p:cNvPr id="1303" name="Text 1303"/>
          <p:cNvSpPr txBox="1"/>
          <p:nvPr/>
        </p:nvSpPr>
        <p:spPr>
          <a:xfrm>
            <a:off x="1111250" y="9017000"/>
            <a:ext cx="5659515" cy="228600"/>
          </a:xfrm>
          <a:prstGeom prst="rect">
            <a:avLst/>
          </a:prstGeom>
          <a:noFill/>
        </p:spPr>
        <p:txBody>
          <a:bodyPr wrap="square" lIns="0" tIns="0" rIns="0" bIns="0" anchor="t">
            <a:noAutofit/>
          </a:bodyPr>
          <a:lstStyle/>
          <a:p>
            <a:pPr marL="0" indent="0" algn="r">
              <a:lnSpc>
                <a:spcPct val="110000"/>
              </a:lnSpc>
              <a:buNone/>
            </a:pPr>
            <a:r>
              <a:rPr lang="en-US" sz="1000" dirty="0">
                <a:solidFill>
                  <a:srgbClr val="8593A2"/>
                </a:solidFill>
                <a:latin typeface="Arial"/>
                <a:cs typeface="Arial"/>
              </a:rPr>
              <a:t>Illustration: vRigger</a:t>
            </a:r>
          </a:p>
        </p:txBody>
      </p:sp>
      <p:sp>
        <p:nvSpPr>
          <p:cNvPr id="1304" name="Text 1304"/>
          <p:cNvSpPr txBox="1"/>
          <p:nvPr/>
        </p:nvSpPr>
        <p:spPr>
          <a:xfrm>
            <a:off x="7532765" y="1905000"/>
            <a:ext cx="9897985"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BUILD IT</a:t>
            </a:r>
          </a:p>
        </p:txBody>
      </p:sp>
      <p:sp>
        <p:nvSpPr>
          <p:cNvPr id="1305" name="Shape 1305"/>
          <p:cNvSpPr/>
          <p:nvPr/>
        </p:nvSpPr>
        <p:spPr>
          <a:xfrm>
            <a:off x="7532765" y="2387600"/>
            <a:ext cx="431800" cy="431800"/>
          </a:xfrm>
          <a:prstGeom prst="ellipse">
            <a:avLst/>
          </a:prstGeom>
          <a:solidFill>
            <a:srgbClr val="0E2A47"/>
          </a:solidFill>
          <a:ln>
            <a:noFill/>
          </a:ln>
        </p:spPr>
        <p:txBody>
          <a:bodyPr/>
          <a:lstStyle/>
          <a:p>
            <a:endParaRPr lang="en-US"/>
          </a:p>
        </p:txBody>
      </p:sp>
      <p:sp>
        <p:nvSpPr>
          <p:cNvPr id="1306" name="Text 1306"/>
          <p:cNvSpPr txBox="1"/>
          <p:nvPr/>
        </p:nvSpPr>
        <p:spPr>
          <a:xfrm>
            <a:off x="7532765"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307" name="Text 1307"/>
          <p:cNvSpPr txBox="1"/>
          <p:nvPr/>
        </p:nvSpPr>
        <p:spPr>
          <a:xfrm>
            <a:off x="8193165" y="2362200"/>
            <a:ext cx="9237585"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Two independent anchors, each rated</a:t>
            </a:r>
          </a:p>
          <a:p>
            <a:pPr marL="0" indent="0" algn="l">
              <a:lnSpc>
                <a:spcPct val="110000"/>
              </a:lnSpc>
              <a:spcBef>
                <a:spcPts val="300"/>
              </a:spcBef>
              <a:buNone/>
            </a:pPr>
            <a:r>
              <a:rPr lang="en-US" sz="1500" dirty="0">
                <a:solidFill>
                  <a:srgbClr val="41505E"/>
                </a:solidFill>
                <a:latin typeface="Arial"/>
                <a:cs typeface="Arial"/>
              </a:rPr>
              <a:t>Either one alone must be able to hold the full load</a:t>
            </a:r>
          </a:p>
        </p:txBody>
      </p:sp>
      <p:sp>
        <p:nvSpPr>
          <p:cNvPr id="1308" name="Shape 1308"/>
          <p:cNvSpPr/>
          <p:nvPr/>
        </p:nvSpPr>
        <p:spPr>
          <a:xfrm>
            <a:off x="7532765" y="3556000"/>
            <a:ext cx="431800" cy="431800"/>
          </a:xfrm>
          <a:prstGeom prst="ellipse">
            <a:avLst/>
          </a:prstGeom>
          <a:solidFill>
            <a:srgbClr val="0E2A47"/>
          </a:solidFill>
          <a:ln>
            <a:noFill/>
          </a:ln>
        </p:spPr>
        <p:txBody>
          <a:bodyPr/>
          <a:lstStyle/>
          <a:p>
            <a:endParaRPr lang="en-US"/>
          </a:p>
        </p:txBody>
      </p:sp>
      <p:sp>
        <p:nvSpPr>
          <p:cNvPr id="1309" name="Text 1309"/>
          <p:cNvSpPr txBox="1"/>
          <p:nvPr/>
        </p:nvSpPr>
        <p:spPr>
          <a:xfrm>
            <a:off x="7532765"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310" name="Text 1310"/>
          <p:cNvSpPr txBox="1"/>
          <p:nvPr/>
        </p:nvSpPr>
        <p:spPr>
          <a:xfrm>
            <a:off x="8193165" y="3530600"/>
            <a:ext cx="9237585"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Tie into the first anchor</a:t>
            </a:r>
          </a:p>
          <a:p>
            <a:pPr marL="0" indent="0" algn="l">
              <a:lnSpc>
                <a:spcPct val="110000"/>
              </a:lnSpc>
              <a:spcBef>
                <a:spcPts val="300"/>
              </a:spcBef>
              <a:buNone/>
            </a:pPr>
            <a:r>
              <a:rPr lang="en-US" sz="1500" dirty="0">
                <a:solidFill>
                  <a:srgbClr val="41505E"/>
                </a:solidFill>
                <a:latin typeface="Arial"/>
                <a:cs typeface="Arial"/>
              </a:rPr>
              <a:t>Figure 8 on a bight, clipped with a locked connector</a:t>
            </a:r>
          </a:p>
        </p:txBody>
      </p:sp>
      <p:sp>
        <p:nvSpPr>
          <p:cNvPr id="1311" name="Shape 1311"/>
          <p:cNvSpPr/>
          <p:nvPr/>
        </p:nvSpPr>
        <p:spPr>
          <a:xfrm>
            <a:off x="7532765" y="4724400"/>
            <a:ext cx="431800" cy="431800"/>
          </a:xfrm>
          <a:prstGeom prst="ellipse">
            <a:avLst/>
          </a:prstGeom>
          <a:solidFill>
            <a:srgbClr val="0E2A47"/>
          </a:solidFill>
          <a:ln>
            <a:noFill/>
          </a:ln>
        </p:spPr>
        <p:txBody>
          <a:bodyPr/>
          <a:lstStyle/>
          <a:p>
            <a:endParaRPr lang="en-US"/>
          </a:p>
        </p:txBody>
      </p:sp>
      <p:sp>
        <p:nvSpPr>
          <p:cNvPr id="1312" name="Text 1312"/>
          <p:cNvSpPr txBox="1"/>
          <p:nvPr/>
        </p:nvSpPr>
        <p:spPr>
          <a:xfrm>
            <a:off x="7532765"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313" name="Text 1313"/>
          <p:cNvSpPr txBox="1"/>
          <p:nvPr/>
        </p:nvSpPr>
        <p:spPr>
          <a:xfrm>
            <a:off x="8193165" y="4699000"/>
            <a:ext cx="9237585"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Run the second leg to the other anchor</a:t>
            </a:r>
          </a:p>
          <a:p>
            <a:pPr marL="0" indent="0" algn="l">
              <a:lnSpc>
                <a:spcPct val="110000"/>
              </a:lnSpc>
              <a:spcBef>
                <a:spcPts val="300"/>
              </a:spcBef>
              <a:buNone/>
            </a:pPr>
            <a:r>
              <a:rPr lang="en-US" sz="1500" dirty="0">
                <a:solidFill>
                  <a:srgbClr val="41505E"/>
                </a:solidFill>
                <a:latin typeface="Arial"/>
                <a:cs typeface="Arial"/>
              </a:rPr>
              <a:t>Clip the bight; set leg length before you tie off</a:t>
            </a:r>
          </a:p>
        </p:txBody>
      </p:sp>
      <p:sp>
        <p:nvSpPr>
          <p:cNvPr id="1314" name="Shape 1314"/>
          <p:cNvSpPr/>
          <p:nvPr/>
        </p:nvSpPr>
        <p:spPr>
          <a:xfrm>
            <a:off x="7532765" y="5892800"/>
            <a:ext cx="431800" cy="431800"/>
          </a:xfrm>
          <a:prstGeom prst="ellipse">
            <a:avLst/>
          </a:prstGeom>
          <a:solidFill>
            <a:srgbClr val="0E2A47"/>
          </a:solidFill>
          <a:ln>
            <a:noFill/>
          </a:ln>
        </p:spPr>
        <p:txBody>
          <a:bodyPr/>
          <a:lstStyle/>
          <a:p>
            <a:endParaRPr lang="en-US"/>
          </a:p>
        </p:txBody>
      </p:sp>
      <p:sp>
        <p:nvSpPr>
          <p:cNvPr id="1315" name="Text 1315"/>
          <p:cNvSpPr txBox="1"/>
          <p:nvPr/>
        </p:nvSpPr>
        <p:spPr>
          <a:xfrm>
            <a:off x="7532765"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316" name="Text 1316"/>
          <p:cNvSpPr txBox="1"/>
          <p:nvPr/>
        </p:nvSpPr>
        <p:spPr>
          <a:xfrm>
            <a:off x="8193165" y="5867400"/>
            <a:ext cx="9237585"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Tie the Y-hang knot at the center</a:t>
            </a:r>
          </a:p>
          <a:p>
            <a:pPr marL="0" indent="0" algn="l">
              <a:lnSpc>
                <a:spcPct val="110000"/>
              </a:lnSpc>
              <a:spcBef>
                <a:spcPts val="300"/>
              </a:spcBef>
              <a:buNone/>
            </a:pPr>
            <a:r>
              <a:rPr lang="en-US" sz="1500" dirty="0">
                <a:solidFill>
                  <a:srgbClr val="41505E"/>
                </a:solidFill>
                <a:latin typeface="Arial"/>
                <a:cs typeface="Arial"/>
              </a:rPr>
              <a:t>Both legs share the load; knot dressed and set</a:t>
            </a:r>
          </a:p>
        </p:txBody>
      </p:sp>
      <p:sp>
        <p:nvSpPr>
          <p:cNvPr id="1317" name="Shape 1317"/>
          <p:cNvSpPr/>
          <p:nvPr/>
        </p:nvSpPr>
        <p:spPr>
          <a:xfrm>
            <a:off x="7532765" y="7061200"/>
            <a:ext cx="431800" cy="431800"/>
          </a:xfrm>
          <a:prstGeom prst="ellipse">
            <a:avLst/>
          </a:prstGeom>
          <a:solidFill>
            <a:srgbClr val="0E2A47"/>
          </a:solidFill>
          <a:ln>
            <a:noFill/>
          </a:ln>
        </p:spPr>
        <p:txBody>
          <a:bodyPr/>
          <a:lstStyle/>
          <a:p>
            <a:endParaRPr lang="en-US"/>
          </a:p>
        </p:txBody>
      </p:sp>
      <p:sp>
        <p:nvSpPr>
          <p:cNvPr id="1318" name="Text 1318"/>
          <p:cNvSpPr txBox="1"/>
          <p:nvPr/>
        </p:nvSpPr>
        <p:spPr>
          <a:xfrm>
            <a:off x="7532765"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319" name="Text 1319"/>
          <p:cNvSpPr txBox="1"/>
          <p:nvPr/>
        </p:nvSpPr>
        <p:spPr>
          <a:xfrm>
            <a:off x="8193165" y="7035800"/>
            <a:ext cx="9237585"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Check the angle between the legs</a:t>
            </a:r>
          </a:p>
          <a:p>
            <a:pPr marL="0" indent="0" algn="l">
              <a:lnSpc>
                <a:spcPct val="110000"/>
              </a:lnSpc>
              <a:spcBef>
                <a:spcPts val="300"/>
              </a:spcBef>
              <a:buNone/>
            </a:pPr>
            <a:r>
              <a:rPr lang="en-US" sz="1500" dirty="0">
                <a:solidFill>
                  <a:srgbClr val="41505E"/>
                </a:solidFill>
                <a:latin typeface="Arial"/>
                <a:cs typeface="Arial"/>
              </a:rPr>
              <a:t>Aim for 90° or less — never wider than 120°</a:t>
            </a:r>
          </a:p>
        </p:txBody>
      </p:sp>
      <p:sp>
        <p:nvSpPr>
          <p:cNvPr id="1320" name="Shape 1320"/>
          <p:cNvSpPr/>
          <p:nvPr/>
        </p:nvSpPr>
        <p:spPr>
          <a:xfrm>
            <a:off x="7532765" y="8483600"/>
            <a:ext cx="9897985" cy="914400"/>
          </a:xfrm>
          <a:prstGeom prst="rect">
            <a:avLst/>
          </a:prstGeom>
          <a:solidFill>
            <a:srgbClr val="0E2A47"/>
          </a:solidFill>
          <a:ln>
            <a:noFill/>
          </a:ln>
        </p:spPr>
        <p:txBody>
          <a:bodyPr/>
          <a:lstStyle/>
          <a:p>
            <a:endParaRPr lang="en-US"/>
          </a:p>
        </p:txBody>
      </p:sp>
      <p:sp>
        <p:nvSpPr>
          <p:cNvPr id="1321" name="Text 1321"/>
          <p:cNvSpPr txBox="1"/>
          <p:nvPr/>
        </p:nvSpPr>
        <p:spPr>
          <a:xfrm>
            <a:off x="7888365" y="8483600"/>
            <a:ext cx="9186785"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At 120° </a:t>
            </a:r>
            <a:r>
              <a:rPr lang="en-US" sz="1600" dirty="0">
                <a:solidFill>
                  <a:srgbClr val="C7D4E1"/>
                </a:solidFill>
                <a:latin typeface="Arial"/>
                <a:cs typeface="Arial"/>
              </a:rPr>
              <a:t>each anchor carries 100% of the load. Wider than that, each anchor carries more than the load itself.</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1">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13605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377213"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MBS, WLL / SWL &amp; Equipment Limits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Read the right value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Differentiate minimum breaking strength from allowable working limits and manufacturer / system restrictions.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labels can be misread</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breaking-strength number is not automatically an allowable operating load and does not replace system design.</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approved limits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Follow manufacturer, applicable standard, engineering and organizational procedures.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Universal division rules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Do not teach “MBS ÷ 5” or “÷ 10” as a universal rope-access WLL formula.</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 knows when a rating can be used and when engineering / manufacturer data is required.</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calculate WLL from MBS myself?”</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Not as a universal shortcut. Use the governing approved data / method for that equipment and system.</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60</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0069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LOAD PHYSICS REFERENCE</a:t>
            </a:r>
            <a:endParaRPr lang="en-US" sz="975" dirty="0"/>
          </a:p>
        </p:txBody>
      </p:sp>
      <p:sp>
        <p:nvSpPr>
          <p:cNvPr id="3" name="Text 1"/>
          <p:cNvSpPr/>
          <p:nvPr/>
        </p:nvSpPr>
        <p:spPr>
          <a:xfrm>
            <a:off x="857250" y="838200"/>
            <a:ext cx="9397107"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WLL vs. MBS — Breaking Point vs. Working Limit</a:t>
            </a:r>
            <a:endParaRPr lang="en-US" sz="3000" dirty="0"/>
          </a:p>
        </p:txBody>
      </p:sp>
      <p:sp>
        <p:nvSpPr>
          <p:cNvPr id="57" name="Shape 55"/>
          <p:cNvSpPr/>
          <p:nvPr/>
        </p:nvSpPr>
        <p:spPr>
          <a:xfrm>
            <a:off x="0" y="9753600"/>
            <a:ext cx="18288000" cy="9525"/>
          </a:xfrm>
          <a:prstGeom prst="rect">
            <a:avLst/>
          </a:prstGeom>
          <a:solidFill>
            <a:srgbClr val="E1E6EC"/>
          </a:solidFill>
          <a:ln/>
        </p:spPr>
        <p:txBody>
          <a:bodyPr/>
          <a:lstStyle/>
          <a:p>
            <a:endParaRPr lang="en-US"/>
          </a:p>
        </p:txBody>
      </p:sp>
      <p:sp>
        <p:nvSpPr>
          <p:cNvPr id="58" name="Text 56"/>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9" name="Text 57"/>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WLL VS. MBS</a:t>
            </a:r>
            <a:endParaRPr lang="en-US" sz="900" dirty="0"/>
          </a:p>
        </p:txBody>
      </p:sp>
      <p:sp>
        <p:nvSpPr>
          <p:cNvPr id="60" name="Text 58"/>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61</a:t>
            </a:r>
            <a:endParaRPr lang="en-US" sz="900" dirty="0"/>
          </a:p>
        </p:txBody>
      </p:sp>
      <p:sp>
        <p:nvSpPr>
          <p:cNvPr id="747" name="Shape 747"/>
          <p:cNvSpPr/>
          <p:nvPr/>
        </p:nvSpPr>
        <p:spPr>
          <a:xfrm>
            <a:off x="857250" y="1905000"/>
            <a:ext cx="3454400" cy="1905000"/>
          </a:xfrm>
          <a:prstGeom prst="roundRect">
            <a:avLst>
              <a:gd name="adj" fmla="val 3000"/>
            </a:avLst>
          </a:prstGeom>
          <a:solidFill>
            <a:srgbClr val="0E2A47"/>
          </a:solidFill>
          <a:ln>
            <a:noFill/>
          </a:ln>
        </p:spPr>
        <p:txBody>
          <a:bodyPr/>
          <a:lstStyle/>
          <a:p>
            <a:endParaRPr lang="en-US"/>
          </a:p>
        </p:txBody>
      </p:sp>
      <p:sp>
        <p:nvSpPr>
          <p:cNvPr id="748" name="Text 748"/>
          <p:cNvSpPr txBox="1"/>
          <p:nvPr/>
        </p:nvSpPr>
        <p:spPr>
          <a:xfrm>
            <a:off x="1162050" y="2184400"/>
            <a:ext cx="2844800" cy="431800"/>
          </a:xfrm>
          <a:prstGeom prst="rect">
            <a:avLst/>
          </a:prstGeom>
          <a:noFill/>
          <a:ln>
            <a:noFill/>
          </a:ln>
        </p:spPr>
        <p:txBody>
          <a:bodyPr wrap="square" lIns="0" tIns="0" rIns="0" bIns="0" rtlCol="0" anchor="t">
            <a:noAutofit/>
          </a:bodyPr>
          <a:lstStyle/>
          <a:p>
            <a:pPr marL="0" indent="0" algn="l">
              <a:lnSpc>
                <a:spcPct val="112000"/>
              </a:lnSpc>
              <a:buNone/>
            </a:pPr>
            <a:r>
              <a:rPr lang="en-US" sz="2600" b="1" dirty="0">
                <a:solidFill>
                  <a:srgbClr val="E0563E"/>
                </a:solidFill>
                <a:latin typeface="Arial"/>
                <a:cs typeface="Arial"/>
              </a:rPr>
              <a:t>MBS</a:t>
            </a:r>
            <a:endParaRPr lang="en-US" sz="2600" dirty="0"/>
          </a:p>
        </p:txBody>
      </p:sp>
      <p:sp>
        <p:nvSpPr>
          <p:cNvPr id="749" name="Text 749"/>
          <p:cNvSpPr txBox="1"/>
          <p:nvPr/>
        </p:nvSpPr>
        <p:spPr>
          <a:xfrm>
            <a:off x="1162050" y="2717800"/>
            <a:ext cx="2844800" cy="1016000"/>
          </a:xfrm>
          <a:prstGeom prst="rect">
            <a:avLst/>
          </a:prstGeom>
          <a:noFill/>
          <a:ln>
            <a:noFill/>
          </a:ln>
        </p:spPr>
        <p:txBody>
          <a:bodyPr wrap="square" lIns="0" tIns="0" rIns="0" bIns="0" rtlCol="0" anchor="t">
            <a:noAutofit/>
          </a:bodyPr>
          <a:lstStyle/>
          <a:p>
            <a:pPr marL="0" indent="0" algn="l">
              <a:lnSpc>
                <a:spcPct val="112000"/>
              </a:lnSpc>
              <a:buNone/>
            </a:pPr>
            <a:r>
              <a:rPr lang="en-US" sz="1500" dirty="0">
                <a:solidFill>
                  <a:srgbClr val="FFFFFF"/>
                </a:solidFill>
                <a:latin typeface="Arial"/>
                <a:cs typeface="Arial"/>
              </a:rPr>
              <a:t>Minimum Breaking Strength — the failure point. Reference only.</a:t>
            </a:r>
            <a:endParaRPr lang="en-US" sz="1500" dirty="0"/>
          </a:p>
        </p:txBody>
      </p:sp>
      <p:sp>
        <p:nvSpPr>
          <p:cNvPr id="750" name="Shape 750"/>
          <p:cNvSpPr/>
          <p:nvPr/>
        </p:nvSpPr>
        <p:spPr>
          <a:xfrm>
            <a:off x="4514850" y="1905000"/>
            <a:ext cx="3454400" cy="1905000"/>
          </a:xfrm>
          <a:prstGeom prst="roundRect">
            <a:avLst>
              <a:gd name="adj" fmla="val 3000"/>
            </a:avLst>
          </a:prstGeom>
          <a:solidFill>
            <a:srgbClr val="0E2A47"/>
          </a:solidFill>
          <a:ln>
            <a:noFill/>
          </a:ln>
        </p:spPr>
        <p:txBody>
          <a:bodyPr/>
          <a:lstStyle/>
          <a:p>
            <a:endParaRPr lang="en-US"/>
          </a:p>
        </p:txBody>
      </p:sp>
      <p:sp>
        <p:nvSpPr>
          <p:cNvPr id="751" name="Text 751"/>
          <p:cNvSpPr txBox="1"/>
          <p:nvPr/>
        </p:nvSpPr>
        <p:spPr>
          <a:xfrm>
            <a:off x="4819650" y="2184400"/>
            <a:ext cx="2844800" cy="431800"/>
          </a:xfrm>
          <a:prstGeom prst="rect">
            <a:avLst/>
          </a:prstGeom>
          <a:noFill/>
          <a:ln>
            <a:noFill/>
          </a:ln>
        </p:spPr>
        <p:txBody>
          <a:bodyPr wrap="square" lIns="0" tIns="0" rIns="0" bIns="0" rtlCol="0" anchor="t">
            <a:noAutofit/>
          </a:bodyPr>
          <a:lstStyle/>
          <a:p>
            <a:pPr marL="0" indent="0" algn="l">
              <a:lnSpc>
                <a:spcPct val="112000"/>
              </a:lnSpc>
              <a:buNone/>
            </a:pPr>
            <a:r>
              <a:rPr lang="en-US" sz="2600" b="1" dirty="0">
                <a:solidFill>
                  <a:srgbClr val="7FD3A5"/>
                </a:solidFill>
                <a:latin typeface="Arial"/>
                <a:cs typeface="Arial"/>
              </a:rPr>
              <a:t>WLL</a:t>
            </a:r>
            <a:endParaRPr lang="en-US" sz="2600" dirty="0"/>
          </a:p>
        </p:txBody>
      </p:sp>
      <p:sp>
        <p:nvSpPr>
          <p:cNvPr id="752" name="Text 752"/>
          <p:cNvSpPr txBox="1"/>
          <p:nvPr/>
        </p:nvSpPr>
        <p:spPr>
          <a:xfrm>
            <a:off x="4819650" y="2717800"/>
            <a:ext cx="2844800" cy="1016000"/>
          </a:xfrm>
          <a:prstGeom prst="rect">
            <a:avLst/>
          </a:prstGeom>
          <a:noFill/>
          <a:ln>
            <a:noFill/>
          </a:ln>
        </p:spPr>
        <p:txBody>
          <a:bodyPr wrap="square" lIns="0" tIns="0" rIns="0" bIns="0" rtlCol="0" anchor="t">
            <a:noAutofit/>
          </a:bodyPr>
          <a:lstStyle/>
          <a:p>
            <a:pPr marL="0" indent="0" algn="l">
              <a:lnSpc>
                <a:spcPct val="112000"/>
              </a:lnSpc>
              <a:buNone/>
            </a:pPr>
            <a:r>
              <a:rPr lang="en-US" sz="1500" dirty="0">
                <a:solidFill>
                  <a:srgbClr val="FFFFFF"/>
                </a:solidFill>
                <a:latin typeface="Arial"/>
                <a:cs typeface="Arial"/>
              </a:rPr>
              <a:t>Working Load Limit — the safe load you rig to.</a:t>
            </a:r>
            <a:endParaRPr lang="en-US" sz="1500" dirty="0"/>
          </a:p>
        </p:txBody>
      </p:sp>
      <p:sp>
        <p:nvSpPr>
          <p:cNvPr id="753" name="Shape 753"/>
          <p:cNvSpPr/>
          <p:nvPr/>
        </p:nvSpPr>
        <p:spPr>
          <a:xfrm>
            <a:off x="857250" y="6451600"/>
            <a:ext cx="7112000" cy="19050"/>
          </a:xfrm>
          <a:prstGeom prst="rect">
            <a:avLst/>
          </a:prstGeom>
          <a:solidFill>
            <a:srgbClr val="E2E7ED"/>
          </a:solidFill>
          <a:ln>
            <a:noFill/>
          </a:ln>
        </p:spPr>
        <p:txBody>
          <a:bodyPr/>
          <a:lstStyle/>
          <a:p>
            <a:endParaRPr lang="en-US"/>
          </a:p>
        </p:txBody>
      </p:sp>
      <p:sp>
        <p:nvSpPr>
          <p:cNvPr id="754" name="Shape 754"/>
          <p:cNvSpPr/>
          <p:nvPr/>
        </p:nvSpPr>
        <p:spPr>
          <a:xfrm>
            <a:off x="857250" y="4038600"/>
            <a:ext cx="7112000" cy="2413000"/>
          </a:xfrm>
          <a:prstGeom prst="rect">
            <a:avLst/>
          </a:prstGeom>
          <a:solidFill>
            <a:srgbClr val="FFFFFF"/>
          </a:solidFill>
          <a:ln>
            <a:noFill/>
          </a:ln>
        </p:spPr>
        <p:txBody>
          <a:bodyPr/>
          <a:lstStyle/>
          <a:p>
            <a:endParaRPr lang="en-US"/>
          </a:p>
        </p:txBody>
      </p:sp>
      <p:sp>
        <p:nvSpPr>
          <p:cNvPr id="755" name="Text 755"/>
          <p:cNvSpPr txBox="1"/>
          <p:nvPr/>
        </p:nvSpPr>
        <p:spPr>
          <a:xfrm>
            <a:off x="1187450" y="4318000"/>
            <a:ext cx="6451600" cy="2540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F26A1B"/>
                </a:solidFill>
                <a:latin typeface="Courier New"/>
                <a:cs typeface="Courier New"/>
              </a:rPr>
              <a:t>HOW THE EXAMPLE IS CALCULATED</a:t>
            </a:r>
            <a:endParaRPr lang="en-US" sz="1100" dirty="0"/>
          </a:p>
        </p:txBody>
      </p:sp>
      <p:sp>
        <p:nvSpPr>
          <p:cNvPr id="756" name="Text 756"/>
          <p:cNvSpPr txBox="1"/>
          <p:nvPr/>
        </p:nvSpPr>
        <p:spPr>
          <a:xfrm>
            <a:off x="1187450" y="4673600"/>
            <a:ext cx="6451600" cy="1651000"/>
          </a:xfrm>
          <a:prstGeom prst="rect">
            <a:avLst/>
          </a:prstGeom>
          <a:noFill/>
          <a:ln>
            <a:noFill/>
          </a:ln>
        </p:spPr>
        <p:txBody>
          <a:bodyPr wrap="square" lIns="0" tIns="0" rIns="0" bIns="0" rtlCol="0" anchor="t">
            <a:noAutofit/>
          </a:bodyPr>
          <a:lstStyle/>
          <a:p>
            <a:pPr marL="0" indent="0" algn="l">
              <a:lnSpc>
                <a:spcPct val="112000"/>
              </a:lnSpc>
              <a:buNone/>
            </a:pPr>
            <a:r>
              <a:rPr lang="en-US" sz="1600" dirty="0">
                <a:solidFill>
                  <a:srgbClr val="41505E"/>
                </a:solidFill>
                <a:latin typeface="Arial"/>
                <a:cs typeface="Arial"/>
              </a:rPr>
              <a:t>Example WLL = MBS ÷ design factor. This table uses metal </a:t>
            </a:r>
            <a:r>
              <a:rPr lang="en-US" sz="1600" b="1" dirty="0">
                <a:solidFill>
                  <a:srgbClr val="F26A1B"/>
                </a:solidFill>
                <a:latin typeface="Arial"/>
                <a:cs typeface="Arial"/>
              </a:rPr>
              <a:t>÷5</a:t>
            </a:r>
            <a:r>
              <a:rPr lang="en-US" sz="1600" dirty="0">
                <a:solidFill>
                  <a:srgbClr val="41505E"/>
                </a:solidFill>
                <a:latin typeface="Arial"/>
                <a:cs typeface="Arial"/>
              </a:rPr>
              <a:t> and textile / mechanical </a:t>
            </a:r>
            <a:r>
              <a:rPr lang="en-US" sz="1600" b="1" dirty="0">
                <a:solidFill>
                  <a:srgbClr val="F26A1B"/>
                </a:solidFill>
                <a:latin typeface="Arial"/>
                <a:cs typeface="Arial"/>
              </a:rPr>
              <a:t>÷10</a:t>
            </a:r>
            <a:r>
              <a:rPr lang="en-US" sz="1600" dirty="0">
                <a:solidFill>
                  <a:srgbClr val="41505E"/>
                </a:solidFill>
                <a:latin typeface="Arial"/>
                <a:cs typeface="Arial"/>
              </a:rPr>
              <a:t>.</a:t>
            </a:r>
            <a:endParaRPr lang="en-US" sz="1600" dirty="0"/>
          </a:p>
          <a:p>
            <a:pPr marL="0" indent="0" algn="l">
              <a:lnSpc>
                <a:spcPct val="112000"/>
              </a:lnSpc>
              <a:spcBef>
                <a:spcPts val="1000"/>
              </a:spcBef>
              <a:buNone/>
            </a:pPr>
            <a:r>
              <a:rPr lang="en-US" sz="1600" b="1" dirty="0">
                <a:solidFill>
                  <a:srgbClr val="0E2A47"/>
                </a:solidFill>
                <a:latin typeface="Arial"/>
                <a:cs typeface="Arial"/>
              </a:rPr>
              <a:t>On the job, rig to the WLL the manufacturer states — factors vary by product.</a:t>
            </a:r>
            <a:endParaRPr lang="en-US" sz="1600" dirty="0"/>
          </a:p>
        </p:txBody>
      </p:sp>
      <p:sp>
        <p:nvSpPr>
          <p:cNvPr id="757" name="Shape 757"/>
          <p:cNvSpPr/>
          <p:nvPr/>
        </p:nvSpPr>
        <p:spPr>
          <a:xfrm>
            <a:off x="857250" y="6680200"/>
            <a:ext cx="7112000" cy="1397000"/>
          </a:xfrm>
          <a:prstGeom prst="rect">
            <a:avLst/>
          </a:prstGeom>
          <a:solidFill>
            <a:srgbClr val="FDF1EF"/>
          </a:solidFill>
          <a:ln>
            <a:noFill/>
          </a:ln>
        </p:spPr>
        <p:txBody>
          <a:bodyPr/>
          <a:lstStyle/>
          <a:p>
            <a:endParaRPr lang="en-US"/>
          </a:p>
        </p:txBody>
      </p:sp>
      <p:sp>
        <p:nvSpPr>
          <p:cNvPr id="758" name="Shape 758"/>
          <p:cNvSpPr/>
          <p:nvPr/>
        </p:nvSpPr>
        <p:spPr>
          <a:xfrm>
            <a:off x="857250" y="6680200"/>
            <a:ext cx="63500" cy="1397000"/>
          </a:xfrm>
          <a:prstGeom prst="rect">
            <a:avLst/>
          </a:prstGeom>
          <a:solidFill>
            <a:srgbClr val="C8341F"/>
          </a:solidFill>
          <a:ln>
            <a:noFill/>
          </a:ln>
        </p:spPr>
        <p:txBody>
          <a:bodyPr/>
          <a:lstStyle/>
          <a:p>
            <a:endParaRPr lang="en-US"/>
          </a:p>
        </p:txBody>
      </p:sp>
      <p:sp>
        <p:nvSpPr>
          <p:cNvPr id="759" name="Text 759"/>
          <p:cNvSpPr txBox="1"/>
          <p:nvPr/>
        </p:nvSpPr>
        <p:spPr>
          <a:xfrm>
            <a:off x="1212850" y="6934200"/>
            <a:ext cx="6400800" cy="10160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0E2A47"/>
                </a:solidFill>
                <a:latin typeface="Arial"/>
                <a:cs typeface="Arial"/>
              </a:rPr>
              <a:t>WLL assumes a static, in-line load. Shock loading and bad angles eat the margin fast.</a:t>
            </a:r>
            <a:endParaRPr lang="en-US" sz="1700" dirty="0"/>
          </a:p>
        </p:txBody>
      </p:sp>
      <p:sp>
        <p:nvSpPr>
          <p:cNvPr id="760" name="Shape 760"/>
          <p:cNvSpPr/>
          <p:nvPr/>
        </p:nvSpPr>
        <p:spPr>
          <a:xfrm>
            <a:off x="8382000" y="1905000"/>
            <a:ext cx="9048750" cy="508000"/>
          </a:xfrm>
          <a:prstGeom prst="rect">
            <a:avLst/>
          </a:prstGeom>
          <a:solidFill>
            <a:srgbClr val="0E2A47"/>
          </a:solidFill>
          <a:ln>
            <a:noFill/>
          </a:ln>
        </p:spPr>
        <p:txBody>
          <a:bodyPr/>
          <a:lstStyle/>
          <a:p>
            <a:endParaRPr lang="en-US"/>
          </a:p>
        </p:txBody>
      </p:sp>
      <p:sp>
        <p:nvSpPr>
          <p:cNvPr id="761" name="Text 761"/>
          <p:cNvSpPr txBox="1"/>
          <p:nvPr/>
        </p:nvSpPr>
        <p:spPr>
          <a:xfrm>
            <a:off x="8636000" y="20701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EQUIPMENT</a:t>
            </a:r>
            <a:endParaRPr lang="en-US" sz="1100" dirty="0"/>
          </a:p>
        </p:txBody>
      </p:sp>
      <p:sp>
        <p:nvSpPr>
          <p:cNvPr id="762" name="Text 762"/>
          <p:cNvSpPr txBox="1"/>
          <p:nvPr/>
        </p:nvSpPr>
        <p:spPr>
          <a:xfrm>
            <a:off x="11430000" y="20701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MBS</a:t>
            </a:r>
            <a:endParaRPr lang="en-US" sz="1100" dirty="0"/>
          </a:p>
        </p:txBody>
      </p:sp>
      <p:sp>
        <p:nvSpPr>
          <p:cNvPr id="763" name="Text 763"/>
          <p:cNvSpPr txBox="1"/>
          <p:nvPr/>
        </p:nvSpPr>
        <p:spPr>
          <a:xfrm>
            <a:off x="13208000" y="20701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IN LBF ÷ FACTOR</a:t>
            </a:r>
            <a:endParaRPr lang="en-US" sz="1100" dirty="0"/>
          </a:p>
        </p:txBody>
      </p:sp>
      <p:sp>
        <p:nvSpPr>
          <p:cNvPr id="764" name="Text 764"/>
          <p:cNvSpPr txBox="1"/>
          <p:nvPr/>
        </p:nvSpPr>
        <p:spPr>
          <a:xfrm>
            <a:off x="14986000" y="2070100"/>
            <a:ext cx="2286000" cy="203200"/>
          </a:xfrm>
          <a:prstGeom prst="rect">
            <a:avLst/>
          </a:prstGeom>
          <a:noFill/>
          <a:ln>
            <a:noFill/>
          </a:ln>
        </p:spPr>
        <p:txBody>
          <a:bodyPr wrap="square" lIns="0" tIns="0" rIns="0" bIns="0" rtlCol="0" anchor="t">
            <a:noAutofit/>
          </a:bodyPr>
          <a:lstStyle/>
          <a:p>
            <a:pPr marL="0" indent="0" algn="l">
              <a:lnSpc>
                <a:spcPct val="112000"/>
              </a:lnSpc>
              <a:buNone/>
            </a:pPr>
            <a:r>
              <a:rPr lang="en-US" sz="1100" b="1" spc="150" dirty="0">
                <a:solidFill>
                  <a:srgbClr val="C7D4E1"/>
                </a:solidFill>
                <a:latin typeface="Courier New"/>
                <a:cs typeface="Courier New"/>
              </a:rPr>
              <a:t>EXAMPLE WLL</a:t>
            </a:r>
            <a:endParaRPr lang="en-US" sz="1100" dirty="0"/>
          </a:p>
        </p:txBody>
      </p:sp>
      <p:sp>
        <p:nvSpPr>
          <p:cNvPr id="765" name="Shape 765"/>
          <p:cNvSpPr/>
          <p:nvPr/>
        </p:nvSpPr>
        <p:spPr>
          <a:xfrm>
            <a:off x="8382000" y="2413000"/>
            <a:ext cx="9048750" cy="965200"/>
          </a:xfrm>
          <a:prstGeom prst="rect">
            <a:avLst/>
          </a:prstGeom>
          <a:solidFill>
            <a:srgbClr val="FFFFFF"/>
          </a:solidFill>
          <a:ln>
            <a:noFill/>
          </a:ln>
        </p:spPr>
        <p:txBody>
          <a:bodyPr/>
          <a:lstStyle/>
          <a:p>
            <a:endParaRPr lang="en-US"/>
          </a:p>
        </p:txBody>
      </p:sp>
      <p:sp>
        <p:nvSpPr>
          <p:cNvPr id="766" name="Shape 766"/>
          <p:cNvSpPr/>
          <p:nvPr/>
        </p:nvSpPr>
        <p:spPr>
          <a:xfrm>
            <a:off x="8382000" y="3365500"/>
            <a:ext cx="9048750" cy="12700"/>
          </a:xfrm>
          <a:prstGeom prst="rect">
            <a:avLst/>
          </a:prstGeom>
          <a:solidFill>
            <a:srgbClr val="E2E7ED"/>
          </a:solidFill>
          <a:ln>
            <a:noFill/>
          </a:ln>
        </p:spPr>
        <p:txBody>
          <a:bodyPr/>
          <a:lstStyle/>
          <a:p>
            <a:endParaRPr lang="en-US"/>
          </a:p>
        </p:txBody>
      </p:sp>
      <p:sp>
        <p:nvSpPr>
          <p:cNvPr id="767" name="Text 767"/>
          <p:cNvSpPr txBox="1"/>
          <p:nvPr/>
        </p:nvSpPr>
        <p:spPr>
          <a:xfrm>
            <a:off x="8636000" y="2743200"/>
            <a:ext cx="2667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Carabiner</a:t>
            </a:r>
            <a:endParaRPr lang="en-US" sz="1700" dirty="0"/>
          </a:p>
        </p:txBody>
      </p:sp>
      <p:sp>
        <p:nvSpPr>
          <p:cNvPr id="768" name="Text 768"/>
          <p:cNvSpPr txBox="1"/>
          <p:nvPr/>
        </p:nvSpPr>
        <p:spPr>
          <a:xfrm>
            <a:off x="11430000" y="27432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41505E"/>
                </a:solidFill>
                <a:latin typeface="Arial"/>
                <a:cs typeface="Arial"/>
              </a:rPr>
              <a:t>27 kN</a:t>
            </a:r>
            <a:endParaRPr lang="en-US" sz="1700" dirty="0"/>
          </a:p>
        </p:txBody>
      </p:sp>
      <p:sp>
        <p:nvSpPr>
          <p:cNvPr id="769" name="Text 769"/>
          <p:cNvSpPr txBox="1"/>
          <p:nvPr/>
        </p:nvSpPr>
        <p:spPr>
          <a:xfrm>
            <a:off x="13208000" y="27432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6,070 ÷ 5</a:t>
            </a:r>
            <a:endParaRPr lang="en-US" sz="1700" dirty="0"/>
          </a:p>
        </p:txBody>
      </p:sp>
      <p:sp>
        <p:nvSpPr>
          <p:cNvPr id="770" name="Text 770"/>
          <p:cNvSpPr txBox="1"/>
          <p:nvPr/>
        </p:nvSpPr>
        <p:spPr>
          <a:xfrm>
            <a:off x="14986000" y="27432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1,214 lbf</a:t>
            </a:r>
            <a:endParaRPr lang="en-US" sz="1500" dirty="0"/>
          </a:p>
        </p:txBody>
      </p:sp>
      <p:sp>
        <p:nvSpPr>
          <p:cNvPr id="771" name="Shape 771"/>
          <p:cNvSpPr/>
          <p:nvPr/>
        </p:nvSpPr>
        <p:spPr>
          <a:xfrm>
            <a:off x="8382000" y="3378200"/>
            <a:ext cx="9048750" cy="965200"/>
          </a:xfrm>
          <a:prstGeom prst="rect">
            <a:avLst/>
          </a:prstGeom>
          <a:solidFill>
            <a:srgbClr val="F5F7F9"/>
          </a:solidFill>
          <a:ln>
            <a:noFill/>
          </a:ln>
        </p:spPr>
        <p:txBody>
          <a:bodyPr/>
          <a:lstStyle/>
          <a:p>
            <a:endParaRPr lang="en-US"/>
          </a:p>
        </p:txBody>
      </p:sp>
      <p:sp>
        <p:nvSpPr>
          <p:cNvPr id="772" name="Shape 772"/>
          <p:cNvSpPr/>
          <p:nvPr/>
        </p:nvSpPr>
        <p:spPr>
          <a:xfrm>
            <a:off x="8382000" y="4330700"/>
            <a:ext cx="9048750" cy="12700"/>
          </a:xfrm>
          <a:prstGeom prst="rect">
            <a:avLst/>
          </a:prstGeom>
          <a:solidFill>
            <a:srgbClr val="E2E7ED"/>
          </a:solidFill>
          <a:ln>
            <a:noFill/>
          </a:ln>
        </p:spPr>
        <p:txBody>
          <a:bodyPr/>
          <a:lstStyle/>
          <a:p>
            <a:endParaRPr lang="en-US"/>
          </a:p>
        </p:txBody>
      </p:sp>
      <p:sp>
        <p:nvSpPr>
          <p:cNvPr id="773" name="Text 773"/>
          <p:cNvSpPr txBox="1"/>
          <p:nvPr/>
        </p:nvSpPr>
        <p:spPr>
          <a:xfrm>
            <a:off x="8636000" y="3708400"/>
            <a:ext cx="2667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Rope (with knot)</a:t>
            </a:r>
            <a:endParaRPr lang="en-US" sz="1700" dirty="0"/>
          </a:p>
        </p:txBody>
      </p:sp>
      <p:sp>
        <p:nvSpPr>
          <p:cNvPr id="774" name="Text 774"/>
          <p:cNvSpPr txBox="1"/>
          <p:nvPr/>
        </p:nvSpPr>
        <p:spPr>
          <a:xfrm>
            <a:off x="11430000" y="37084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41505E"/>
                </a:solidFill>
                <a:latin typeface="Arial"/>
                <a:cs typeface="Arial"/>
              </a:rPr>
              <a:t>6,000 lbf</a:t>
            </a:r>
            <a:endParaRPr lang="en-US" sz="1700" dirty="0"/>
          </a:p>
        </p:txBody>
      </p:sp>
      <p:sp>
        <p:nvSpPr>
          <p:cNvPr id="775" name="Text 775"/>
          <p:cNvSpPr txBox="1"/>
          <p:nvPr/>
        </p:nvSpPr>
        <p:spPr>
          <a:xfrm>
            <a:off x="13208000" y="37084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C8341F"/>
                </a:solidFill>
                <a:latin typeface="Arial"/>
                <a:cs typeface="Arial"/>
              </a:rPr>
              <a:t>4,200* ÷ 10</a:t>
            </a:r>
            <a:endParaRPr lang="en-US" sz="1700" dirty="0"/>
          </a:p>
        </p:txBody>
      </p:sp>
      <p:sp>
        <p:nvSpPr>
          <p:cNvPr id="776" name="Text 776"/>
          <p:cNvSpPr txBox="1"/>
          <p:nvPr/>
        </p:nvSpPr>
        <p:spPr>
          <a:xfrm>
            <a:off x="14986000" y="37084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C8341F"/>
                </a:solidFill>
                <a:latin typeface="Arial"/>
                <a:cs typeface="Arial"/>
              </a:rPr>
              <a:t>420 lbf</a:t>
            </a:r>
            <a:endParaRPr lang="en-US" sz="1500" dirty="0"/>
          </a:p>
        </p:txBody>
      </p:sp>
      <p:sp>
        <p:nvSpPr>
          <p:cNvPr id="777" name="Shape 777"/>
          <p:cNvSpPr/>
          <p:nvPr/>
        </p:nvSpPr>
        <p:spPr>
          <a:xfrm>
            <a:off x="8382000" y="4343400"/>
            <a:ext cx="9048750" cy="965200"/>
          </a:xfrm>
          <a:prstGeom prst="rect">
            <a:avLst/>
          </a:prstGeom>
          <a:solidFill>
            <a:srgbClr val="FFFFFF"/>
          </a:solidFill>
          <a:ln>
            <a:noFill/>
          </a:ln>
        </p:spPr>
        <p:txBody>
          <a:bodyPr/>
          <a:lstStyle/>
          <a:p>
            <a:endParaRPr lang="en-US"/>
          </a:p>
        </p:txBody>
      </p:sp>
      <p:sp>
        <p:nvSpPr>
          <p:cNvPr id="778" name="Shape 778"/>
          <p:cNvSpPr/>
          <p:nvPr/>
        </p:nvSpPr>
        <p:spPr>
          <a:xfrm>
            <a:off x="8382000" y="5295900"/>
            <a:ext cx="9048750" cy="12700"/>
          </a:xfrm>
          <a:prstGeom prst="rect">
            <a:avLst/>
          </a:prstGeom>
          <a:solidFill>
            <a:srgbClr val="E2E7ED"/>
          </a:solidFill>
          <a:ln>
            <a:noFill/>
          </a:ln>
        </p:spPr>
        <p:txBody>
          <a:bodyPr/>
          <a:lstStyle/>
          <a:p>
            <a:endParaRPr lang="en-US"/>
          </a:p>
        </p:txBody>
      </p:sp>
      <p:sp>
        <p:nvSpPr>
          <p:cNvPr id="779" name="Text 779"/>
          <p:cNvSpPr txBox="1"/>
          <p:nvPr/>
        </p:nvSpPr>
        <p:spPr>
          <a:xfrm>
            <a:off x="8636000" y="4673600"/>
            <a:ext cx="2667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Rigging plate</a:t>
            </a:r>
            <a:endParaRPr lang="en-US" sz="1700" dirty="0"/>
          </a:p>
        </p:txBody>
      </p:sp>
      <p:sp>
        <p:nvSpPr>
          <p:cNvPr id="780" name="Text 780"/>
          <p:cNvSpPr txBox="1"/>
          <p:nvPr/>
        </p:nvSpPr>
        <p:spPr>
          <a:xfrm>
            <a:off x="11430000" y="46736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41505E"/>
                </a:solidFill>
                <a:latin typeface="Arial"/>
                <a:cs typeface="Arial"/>
              </a:rPr>
              <a:t>36 kN</a:t>
            </a:r>
            <a:endParaRPr lang="en-US" sz="1700" dirty="0"/>
          </a:p>
        </p:txBody>
      </p:sp>
      <p:sp>
        <p:nvSpPr>
          <p:cNvPr id="781" name="Text 781"/>
          <p:cNvSpPr txBox="1"/>
          <p:nvPr/>
        </p:nvSpPr>
        <p:spPr>
          <a:xfrm>
            <a:off x="13208000" y="46736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8,093 ÷ 5</a:t>
            </a:r>
            <a:endParaRPr lang="en-US" sz="1700" dirty="0"/>
          </a:p>
        </p:txBody>
      </p:sp>
      <p:sp>
        <p:nvSpPr>
          <p:cNvPr id="782" name="Text 782"/>
          <p:cNvSpPr txBox="1"/>
          <p:nvPr/>
        </p:nvSpPr>
        <p:spPr>
          <a:xfrm>
            <a:off x="14986000" y="46736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1,619 lbf</a:t>
            </a:r>
            <a:endParaRPr lang="en-US" sz="1500" dirty="0"/>
          </a:p>
        </p:txBody>
      </p:sp>
      <p:sp>
        <p:nvSpPr>
          <p:cNvPr id="783" name="Shape 783"/>
          <p:cNvSpPr/>
          <p:nvPr/>
        </p:nvSpPr>
        <p:spPr>
          <a:xfrm>
            <a:off x="8382000" y="5308600"/>
            <a:ext cx="9048750" cy="965200"/>
          </a:xfrm>
          <a:prstGeom prst="rect">
            <a:avLst/>
          </a:prstGeom>
          <a:solidFill>
            <a:srgbClr val="F5F7F9"/>
          </a:solidFill>
          <a:ln>
            <a:noFill/>
          </a:ln>
        </p:spPr>
        <p:txBody>
          <a:bodyPr/>
          <a:lstStyle/>
          <a:p>
            <a:endParaRPr lang="en-US"/>
          </a:p>
        </p:txBody>
      </p:sp>
      <p:sp>
        <p:nvSpPr>
          <p:cNvPr id="784" name="Shape 784"/>
          <p:cNvSpPr/>
          <p:nvPr/>
        </p:nvSpPr>
        <p:spPr>
          <a:xfrm>
            <a:off x="8382000" y="6261100"/>
            <a:ext cx="9048750" cy="12700"/>
          </a:xfrm>
          <a:prstGeom prst="rect">
            <a:avLst/>
          </a:prstGeom>
          <a:solidFill>
            <a:srgbClr val="E2E7ED"/>
          </a:solidFill>
          <a:ln>
            <a:noFill/>
          </a:ln>
        </p:spPr>
        <p:txBody>
          <a:bodyPr/>
          <a:lstStyle/>
          <a:p>
            <a:endParaRPr lang="en-US"/>
          </a:p>
        </p:txBody>
      </p:sp>
      <p:sp>
        <p:nvSpPr>
          <p:cNvPr id="785" name="Text 785"/>
          <p:cNvSpPr txBox="1"/>
          <p:nvPr/>
        </p:nvSpPr>
        <p:spPr>
          <a:xfrm>
            <a:off x="8636000" y="5638800"/>
            <a:ext cx="2667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Pulley (body)</a:t>
            </a:r>
            <a:endParaRPr lang="en-US" sz="1700" dirty="0"/>
          </a:p>
        </p:txBody>
      </p:sp>
      <p:sp>
        <p:nvSpPr>
          <p:cNvPr id="786" name="Text 786"/>
          <p:cNvSpPr txBox="1"/>
          <p:nvPr/>
        </p:nvSpPr>
        <p:spPr>
          <a:xfrm>
            <a:off x="11430000" y="56388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41505E"/>
                </a:solidFill>
                <a:latin typeface="Arial"/>
                <a:cs typeface="Arial"/>
              </a:rPr>
              <a:t>23 kN</a:t>
            </a:r>
            <a:endParaRPr lang="en-US" sz="1700" dirty="0"/>
          </a:p>
        </p:txBody>
      </p:sp>
      <p:sp>
        <p:nvSpPr>
          <p:cNvPr id="787" name="Text 787"/>
          <p:cNvSpPr txBox="1"/>
          <p:nvPr/>
        </p:nvSpPr>
        <p:spPr>
          <a:xfrm>
            <a:off x="13208000" y="56388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5,170 ÷ 5</a:t>
            </a:r>
            <a:endParaRPr lang="en-US" sz="1700" dirty="0"/>
          </a:p>
        </p:txBody>
      </p:sp>
      <p:sp>
        <p:nvSpPr>
          <p:cNvPr id="788" name="Text 788"/>
          <p:cNvSpPr txBox="1"/>
          <p:nvPr/>
        </p:nvSpPr>
        <p:spPr>
          <a:xfrm>
            <a:off x="14986000" y="56388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0E2A47"/>
                </a:solidFill>
                <a:latin typeface="Arial"/>
                <a:cs typeface="Arial"/>
              </a:rPr>
              <a:t>1,034 lbf</a:t>
            </a:r>
            <a:endParaRPr lang="en-US" sz="1500" dirty="0"/>
          </a:p>
        </p:txBody>
      </p:sp>
      <p:sp>
        <p:nvSpPr>
          <p:cNvPr id="789" name="Shape 789"/>
          <p:cNvSpPr/>
          <p:nvPr/>
        </p:nvSpPr>
        <p:spPr>
          <a:xfrm>
            <a:off x="8382000" y="6273800"/>
            <a:ext cx="9048750" cy="965200"/>
          </a:xfrm>
          <a:prstGeom prst="rect">
            <a:avLst/>
          </a:prstGeom>
          <a:solidFill>
            <a:srgbClr val="FFFFFF"/>
          </a:solidFill>
          <a:ln>
            <a:noFill/>
          </a:ln>
        </p:spPr>
        <p:txBody>
          <a:bodyPr/>
          <a:lstStyle/>
          <a:p>
            <a:endParaRPr lang="en-US"/>
          </a:p>
        </p:txBody>
      </p:sp>
      <p:sp>
        <p:nvSpPr>
          <p:cNvPr id="790" name="Shape 790"/>
          <p:cNvSpPr/>
          <p:nvPr/>
        </p:nvSpPr>
        <p:spPr>
          <a:xfrm>
            <a:off x="8382000" y="7226300"/>
            <a:ext cx="9048750" cy="12700"/>
          </a:xfrm>
          <a:prstGeom prst="rect">
            <a:avLst/>
          </a:prstGeom>
          <a:solidFill>
            <a:srgbClr val="E2E7ED"/>
          </a:solidFill>
          <a:ln>
            <a:noFill/>
          </a:ln>
        </p:spPr>
        <p:txBody>
          <a:bodyPr/>
          <a:lstStyle/>
          <a:p>
            <a:endParaRPr lang="en-US"/>
          </a:p>
        </p:txBody>
      </p:sp>
      <p:sp>
        <p:nvSpPr>
          <p:cNvPr id="791" name="Text 791"/>
          <p:cNvSpPr txBox="1"/>
          <p:nvPr/>
        </p:nvSpPr>
        <p:spPr>
          <a:xfrm>
            <a:off x="8636000" y="6604000"/>
            <a:ext cx="2667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0E2A47"/>
                </a:solidFill>
                <a:latin typeface="Arial"/>
                <a:cs typeface="Arial"/>
              </a:rPr>
              <a:t>I’D descender</a:t>
            </a:r>
            <a:endParaRPr lang="en-US" sz="1700" dirty="0"/>
          </a:p>
        </p:txBody>
      </p:sp>
      <p:sp>
        <p:nvSpPr>
          <p:cNvPr id="792" name="Text 792"/>
          <p:cNvSpPr txBox="1"/>
          <p:nvPr/>
        </p:nvSpPr>
        <p:spPr>
          <a:xfrm>
            <a:off x="11430000" y="66040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dirty="0">
                <a:solidFill>
                  <a:srgbClr val="41505E"/>
                </a:solidFill>
                <a:latin typeface="Arial"/>
                <a:cs typeface="Arial"/>
              </a:rPr>
              <a:t>14 kN</a:t>
            </a:r>
            <a:endParaRPr lang="en-US" sz="1700" dirty="0"/>
          </a:p>
        </p:txBody>
      </p:sp>
      <p:sp>
        <p:nvSpPr>
          <p:cNvPr id="793" name="Text 793"/>
          <p:cNvSpPr txBox="1"/>
          <p:nvPr/>
        </p:nvSpPr>
        <p:spPr>
          <a:xfrm>
            <a:off x="13208000" y="6604000"/>
            <a:ext cx="1651000" cy="355600"/>
          </a:xfrm>
          <a:prstGeom prst="rect">
            <a:avLst/>
          </a:prstGeom>
          <a:noFill/>
          <a:ln>
            <a:noFill/>
          </a:ln>
        </p:spPr>
        <p:txBody>
          <a:bodyPr wrap="square" lIns="0" tIns="0" rIns="0" bIns="0" rtlCol="0" anchor="t">
            <a:noAutofit/>
          </a:bodyPr>
          <a:lstStyle/>
          <a:p>
            <a:pPr marL="0" indent="0" algn="l">
              <a:lnSpc>
                <a:spcPct val="112000"/>
              </a:lnSpc>
              <a:buNone/>
            </a:pPr>
            <a:r>
              <a:rPr lang="en-US" sz="1700" b="1" dirty="0">
                <a:solidFill>
                  <a:srgbClr val="C8341F"/>
                </a:solidFill>
                <a:latin typeface="Arial"/>
                <a:cs typeface="Arial"/>
              </a:rPr>
              <a:t>3,147 ÷ 10</a:t>
            </a:r>
            <a:endParaRPr lang="en-US" sz="1700" dirty="0"/>
          </a:p>
        </p:txBody>
      </p:sp>
      <p:sp>
        <p:nvSpPr>
          <p:cNvPr id="794" name="Text 794"/>
          <p:cNvSpPr txBox="1"/>
          <p:nvPr/>
        </p:nvSpPr>
        <p:spPr>
          <a:xfrm>
            <a:off x="14986000" y="6604000"/>
            <a:ext cx="2286000" cy="355600"/>
          </a:xfrm>
          <a:prstGeom prst="rect">
            <a:avLst/>
          </a:prstGeom>
          <a:noFill/>
          <a:ln>
            <a:noFill/>
          </a:ln>
        </p:spPr>
        <p:txBody>
          <a:bodyPr wrap="square" lIns="0" tIns="0" rIns="0" bIns="0" rtlCol="0" anchor="t">
            <a:noAutofit/>
          </a:bodyPr>
          <a:lstStyle/>
          <a:p>
            <a:pPr marL="0" indent="0" algn="l">
              <a:lnSpc>
                <a:spcPct val="112000"/>
              </a:lnSpc>
              <a:buNone/>
            </a:pPr>
            <a:r>
              <a:rPr lang="en-US" sz="1800" b="1" dirty="0">
                <a:solidFill>
                  <a:srgbClr val="C8341F"/>
                </a:solidFill>
                <a:latin typeface="Arial"/>
                <a:cs typeface="Arial"/>
              </a:rPr>
              <a:t>315 lbf</a:t>
            </a:r>
            <a:endParaRPr lang="en-US" sz="1500" dirty="0"/>
          </a:p>
        </p:txBody>
      </p:sp>
      <p:sp>
        <p:nvSpPr>
          <p:cNvPr id="795" name="Text 795"/>
          <p:cNvSpPr txBox="1"/>
          <p:nvPr/>
        </p:nvSpPr>
        <p:spPr>
          <a:xfrm>
            <a:off x="8636000" y="7442200"/>
            <a:ext cx="8540750" cy="279400"/>
          </a:xfrm>
          <a:prstGeom prst="rect">
            <a:avLst/>
          </a:prstGeom>
          <a:noFill/>
          <a:ln>
            <a:noFill/>
          </a:ln>
        </p:spPr>
        <p:txBody>
          <a:bodyPr wrap="square" lIns="0" tIns="0" rIns="0" bIns="0" rtlCol="0" anchor="t">
            <a:noAutofit/>
          </a:bodyPr>
          <a:lstStyle/>
          <a:p>
            <a:pPr marL="0" indent="0" algn="l">
              <a:lnSpc>
                <a:spcPct val="112000"/>
              </a:lnSpc>
              <a:buNone/>
            </a:pPr>
            <a:r>
              <a:rPr lang="en-US" sz="1300" dirty="0">
                <a:solidFill>
                  <a:srgbClr val="8593A2"/>
                </a:solidFill>
                <a:latin typeface="Courier New"/>
                <a:cs typeface="Courier New"/>
              </a:rPr>
              <a:t>1 kN = 224.8 lbf · * 6,000 lbf × 0.70 for knot loss (example)</a:t>
            </a:r>
            <a:endParaRPr lang="en-US" sz="1300" dirty="0"/>
          </a:p>
        </p:txBody>
      </p:sp>
      <p:sp>
        <p:nvSpPr>
          <p:cNvPr id="796" name="Text 796"/>
          <p:cNvSpPr txBox="1"/>
          <p:nvPr/>
        </p:nvSpPr>
        <p:spPr>
          <a:xfrm>
            <a:off x="8636000" y="7874000"/>
            <a:ext cx="8540750" cy="381000"/>
          </a:xfrm>
          <a:prstGeom prst="rect">
            <a:avLst/>
          </a:prstGeom>
          <a:noFill/>
          <a:ln>
            <a:noFill/>
          </a:ln>
        </p:spPr>
        <p:txBody>
          <a:bodyPr wrap="square" lIns="0" tIns="0" rIns="0" bIns="0" rtlCol="0" anchor="t">
            <a:noAutofit/>
          </a:bodyPr>
          <a:lstStyle/>
          <a:p>
            <a:pPr marL="0" indent="0" algn="l">
              <a:lnSpc>
                <a:spcPct val="112000"/>
              </a:lnSpc>
              <a:buNone/>
            </a:pPr>
            <a:r>
              <a:rPr lang="en-US" sz="2000" b="1" dirty="0">
                <a:solidFill>
                  <a:srgbClr val="F26A1B"/>
                </a:solidFill>
                <a:latin typeface="Arial"/>
                <a:cs typeface="Arial"/>
              </a:rPr>
              <a:t>System WLL = 315 lbf — the weakest link sets it.</a:t>
            </a:r>
            <a:endParaRPr lang="en-US"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The Weakest Link Sets the System Rating">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3 · LOAD PHYSICS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The Weakest Link Sets the System Rating</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RULE</a:t>
            </a:r>
          </a:p>
          <a:p>
            <a:pPr marL="0" indent="0" algn="l">
              <a:spcBef>
                <a:spcPts val="400"/>
              </a:spcBef>
              <a:buNone/>
            </a:pPr>
            <a:r>
              <a:rPr lang="en-US" sz="1800" b="1" kern="0" dirty="0">
                <a:solidFill>
                  <a:srgbClr val="FFFFFF"/>
                </a:solidFill>
                <a:latin typeface="Arial"/>
                <a:ea typeface="Arial"/>
                <a:cs typeface="Arial"/>
              </a:rPr>
              <a:t>System WLL = the lowest WLL of any component in the load path.</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TAKEAWAY</a:t>
            </a:r>
          </a:p>
          <a:p>
            <a:pPr marL="0" indent="0" algn="l">
              <a:spcBef>
                <a:spcPts val="400"/>
              </a:spcBef>
              <a:buNone/>
            </a:pPr>
            <a:r>
              <a:rPr lang="en-US" sz="1600" kern="0" dirty="0">
                <a:solidFill>
                  <a:srgbClr val="FFFFFF"/>
                </a:solidFill>
                <a:latin typeface="Arial"/>
                <a:ea typeface="Arial"/>
                <a:cs typeface="Arial"/>
              </a:rPr>
              <a:t>Upgrading a strong component changes nothing. Only the weakest one raises the rating.</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WEAKEST LINK</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62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72387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990468"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Lowering &amp; Hauling Systems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Control load movement</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Teach lowering devices, mechanical advantage, progress capture, redirects, backups, edge management and communication.</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system efficiency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Friction, redirects and poor geometry change actual effort and forces — a theoretical haul ratio is not the real-world result.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Choose the simplest safe system</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Match the system to casualty / load, distance, obstacles, available rescuers and anchors.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Complexity without control</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Too many components, poor progress capture, crossed ropes, overloaded redirects and unclear commands.</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Correct rigging, backup, load control, communication and the ability to stop / hold safely.</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“Is a 4:1 always better than a 3:1?”</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More advantage adds rope travel, equipment and friction. Use what the scenario requires.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63</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HAULING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Mechanical Advantage — Count the Lines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HAULING · MA BASICS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65</a:t>
            </a:r>
            <a:endParaRPr lang="en-US" sz="900" dirty="0"/>
          </a:p>
        </p:txBody>
      </p:sp>
      <p:sp>
        <p:nvSpPr>
          <p:cNvPr id="2401" name="Shape 2401"/>
          <p:cNvSpPr/>
          <p:nvPr/>
        </p:nvSpPr>
        <p:spPr>
          <a:xfrm>
            <a:off x="863600" y="1651000"/>
            <a:ext cx="3943350" cy="6350000"/>
          </a:xfrm>
          <a:prstGeom prst="rect">
            <a:avLst/>
          </a:prstGeom>
          <a:solidFill>
            <a:srgbClr val="FFFFFF"/>
          </a:solidFill>
          <a:ln>
            <a:noFill/>
          </a:ln>
        </p:spPr>
        <p:txBody>
          <a:bodyPr/>
          <a:lstStyle/>
          <a:p>
            <a:endParaRPr lang="en-US"/>
          </a:p>
        </p:txBody>
      </p:sp>
      <p:pic>
        <p:nvPicPr>
          <p:cNvPr id="2402" name="Picture 2402"/>
          <p:cNvPicPr>
            <a:picLocks noChangeAspect="1"/>
          </p:cNvPicPr>
          <p:nvPr/>
        </p:nvPicPr>
        <p:blipFill>
          <a:blip r:embed="rId3"/>
          <a:stretch>
            <a:fillRect/>
          </a:stretch>
        </p:blipFill>
        <p:spPr>
          <a:xfrm>
            <a:off x="1054100" y="1952380"/>
            <a:ext cx="3562350" cy="4959839"/>
          </a:xfrm>
          <a:prstGeom prst="rect">
            <a:avLst/>
          </a:prstGeom>
        </p:spPr>
      </p:pic>
      <p:sp>
        <p:nvSpPr>
          <p:cNvPr id="2403" name="Text 2403"/>
          <p:cNvSpPr txBox="1"/>
          <p:nvPr/>
        </p:nvSpPr>
        <p:spPr>
          <a:xfrm>
            <a:off x="1016000" y="7137400"/>
            <a:ext cx="3638550"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1:1 · DIRECT LIFT</a:t>
            </a:r>
          </a:p>
          <a:p>
            <a:pPr marL="0" indent="0" algn="ctr">
              <a:lnSpc>
                <a:spcPct val="105000"/>
              </a:lnSpc>
              <a:spcBef>
                <a:spcPts val="400"/>
              </a:spcBef>
              <a:buNone/>
            </a:pPr>
            <a:r>
              <a:rPr lang="en-US" sz="1400" b="1" dirty="0">
                <a:solidFill>
                  <a:srgbClr val="0E2A47"/>
                </a:solidFill>
                <a:latin typeface="Arial"/>
                <a:cs typeface="Arial"/>
              </a:rPr>
              <a:t>Effort = load</a:t>
            </a:r>
          </a:p>
        </p:txBody>
      </p:sp>
      <p:sp>
        <p:nvSpPr>
          <p:cNvPr id="2404" name="Shape 2404"/>
          <p:cNvSpPr/>
          <p:nvPr/>
        </p:nvSpPr>
        <p:spPr>
          <a:xfrm>
            <a:off x="5060950" y="1651000"/>
            <a:ext cx="3943350" cy="6350000"/>
          </a:xfrm>
          <a:prstGeom prst="rect">
            <a:avLst/>
          </a:prstGeom>
          <a:solidFill>
            <a:srgbClr val="FFFFFF"/>
          </a:solidFill>
          <a:ln>
            <a:noFill/>
          </a:ln>
        </p:spPr>
        <p:txBody>
          <a:bodyPr/>
          <a:lstStyle/>
          <a:p>
            <a:endParaRPr lang="en-US"/>
          </a:p>
        </p:txBody>
      </p:sp>
      <p:pic>
        <p:nvPicPr>
          <p:cNvPr id="2405" name="Picture 2405"/>
          <p:cNvPicPr>
            <a:picLocks noChangeAspect="1"/>
          </p:cNvPicPr>
          <p:nvPr/>
        </p:nvPicPr>
        <p:blipFill>
          <a:blip r:embed="rId4"/>
          <a:stretch>
            <a:fillRect/>
          </a:stretch>
        </p:blipFill>
        <p:spPr>
          <a:xfrm>
            <a:off x="5251450" y="2028125"/>
            <a:ext cx="3562350" cy="4808349"/>
          </a:xfrm>
          <a:prstGeom prst="rect">
            <a:avLst/>
          </a:prstGeom>
        </p:spPr>
      </p:pic>
      <p:sp>
        <p:nvSpPr>
          <p:cNvPr id="2406" name="Text 2406"/>
          <p:cNvSpPr txBox="1"/>
          <p:nvPr/>
        </p:nvSpPr>
        <p:spPr>
          <a:xfrm>
            <a:off x="5213350" y="7137400"/>
            <a:ext cx="3638550"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1:1 · REDIRECT</a:t>
            </a:r>
          </a:p>
          <a:p>
            <a:pPr marL="0" indent="0" algn="ctr">
              <a:lnSpc>
                <a:spcPct val="105000"/>
              </a:lnSpc>
              <a:spcBef>
                <a:spcPts val="400"/>
              </a:spcBef>
              <a:buNone/>
            </a:pPr>
            <a:r>
              <a:rPr lang="en-US" sz="1400" b="1" dirty="0">
                <a:solidFill>
                  <a:srgbClr val="0E2A47"/>
                </a:solidFill>
                <a:latin typeface="Arial"/>
                <a:cs typeface="Arial"/>
              </a:rPr>
              <a:t>A fixed pulley only changes direction</a:t>
            </a:r>
          </a:p>
        </p:txBody>
      </p:sp>
      <p:sp>
        <p:nvSpPr>
          <p:cNvPr id="2407" name="Shape 2407"/>
          <p:cNvSpPr/>
          <p:nvPr/>
        </p:nvSpPr>
        <p:spPr>
          <a:xfrm>
            <a:off x="9258300" y="1651000"/>
            <a:ext cx="3943350" cy="6350000"/>
          </a:xfrm>
          <a:prstGeom prst="rect">
            <a:avLst/>
          </a:prstGeom>
          <a:solidFill>
            <a:srgbClr val="FFFFFF"/>
          </a:solidFill>
          <a:ln>
            <a:noFill/>
          </a:ln>
        </p:spPr>
        <p:txBody>
          <a:bodyPr/>
          <a:lstStyle/>
          <a:p>
            <a:endParaRPr lang="en-US"/>
          </a:p>
        </p:txBody>
      </p:sp>
      <p:pic>
        <p:nvPicPr>
          <p:cNvPr id="2408" name="Picture 2408"/>
          <p:cNvPicPr>
            <a:picLocks noChangeAspect="1"/>
          </p:cNvPicPr>
          <p:nvPr/>
        </p:nvPicPr>
        <p:blipFill>
          <a:blip r:embed="rId5"/>
          <a:stretch>
            <a:fillRect/>
          </a:stretch>
        </p:blipFill>
        <p:spPr>
          <a:xfrm>
            <a:off x="9448800" y="1889297"/>
            <a:ext cx="3562350" cy="5086006"/>
          </a:xfrm>
          <a:prstGeom prst="rect">
            <a:avLst/>
          </a:prstGeom>
        </p:spPr>
      </p:pic>
      <p:sp>
        <p:nvSpPr>
          <p:cNvPr id="2409" name="Text 2409"/>
          <p:cNvSpPr txBox="1"/>
          <p:nvPr/>
        </p:nvSpPr>
        <p:spPr>
          <a:xfrm>
            <a:off x="9410700" y="7137400"/>
            <a:ext cx="3638550"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2:1 · MOVING PULLEY</a:t>
            </a:r>
          </a:p>
          <a:p>
            <a:pPr marL="0" indent="0" algn="ctr">
              <a:lnSpc>
                <a:spcPct val="105000"/>
              </a:lnSpc>
              <a:spcBef>
                <a:spcPts val="400"/>
              </a:spcBef>
              <a:buNone/>
            </a:pPr>
            <a:r>
              <a:rPr lang="en-US" sz="1400" b="1" dirty="0">
                <a:solidFill>
                  <a:srgbClr val="0E2A47"/>
                </a:solidFill>
                <a:latin typeface="Arial"/>
                <a:cs typeface="Arial"/>
              </a:rPr>
              <a:t>Pulley rides on the load</a:t>
            </a:r>
          </a:p>
        </p:txBody>
      </p:sp>
      <p:sp>
        <p:nvSpPr>
          <p:cNvPr id="2410" name="Shape 2410"/>
          <p:cNvSpPr/>
          <p:nvPr/>
        </p:nvSpPr>
        <p:spPr>
          <a:xfrm>
            <a:off x="13455650" y="1651000"/>
            <a:ext cx="3943350" cy="6350000"/>
          </a:xfrm>
          <a:prstGeom prst="rect">
            <a:avLst/>
          </a:prstGeom>
          <a:solidFill>
            <a:srgbClr val="FFFFFF"/>
          </a:solidFill>
          <a:ln>
            <a:noFill/>
          </a:ln>
        </p:spPr>
        <p:txBody>
          <a:bodyPr/>
          <a:lstStyle/>
          <a:p>
            <a:endParaRPr lang="en-US"/>
          </a:p>
        </p:txBody>
      </p:sp>
      <p:pic>
        <p:nvPicPr>
          <p:cNvPr id="2411" name="Picture 2411"/>
          <p:cNvPicPr>
            <a:picLocks noChangeAspect="1"/>
          </p:cNvPicPr>
          <p:nvPr/>
        </p:nvPicPr>
        <p:blipFill>
          <a:blip r:embed="rId6"/>
          <a:stretch>
            <a:fillRect/>
          </a:stretch>
        </p:blipFill>
        <p:spPr>
          <a:xfrm>
            <a:off x="13646150" y="2288968"/>
            <a:ext cx="3562350" cy="4286664"/>
          </a:xfrm>
          <a:prstGeom prst="rect">
            <a:avLst/>
          </a:prstGeom>
        </p:spPr>
      </p:pic>
      <p:sp>
        <p:nvSpPr>
          <p:cNvPr id="2412" name="Text 2412"/>
          <p:cNvSpPr txBox="1"/>
          <p:nvPr/>
        </p:nvSpPr>
        <p:spPr>
          <a:xfrm>
            <a:off x="13608050" y="7137400"/>
            <a:ext cx="3638550"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2:1 · COUNTING LINES</a:t>
            </a:r>
          </a:p>
          <a:p>
            <a:pPr marL="0" indent="0" algn="ctr">
              <a:lnSpc>
                <a:spcPct val="105000"/>
              </a:lnSpc>
              <a:spcBef>
                <a:spcPts val="400"/>
              </a:spcBef>
              <a:buNone/>
            </a:pPr>
            <a:r>
              <a:rPr lang="en-US" sz="1400" b="1" dirty="0">
                <a:solidFill>
                  <a:srgbClr val="0E2A47"/>
                </a:solidFill>
                <a:latin typeface="Arial"/>
                <a:cs typeface="Arial"/>
              </a:rPr>
              <a:t>2 lines hold the load → 50 kg</a:t>
            </a:r>
          </a:p>
        </p:txBody>
      </p:sp>
      <p:sp>
        <p:nvSpPr>
          <p:cNvPr id="2413" name="Shape 2413"/>
          <p:cNvSpPr/>
          <p:nvPr/>
        </p:nvSpPr>
        <p:spPr>
          <a:xfrm>
            <a:off x="863600" y="8229600"/>
            <a:ext cx="16535400" cy="990600"/>
          </a:xfrm>
          <a:prstGeom prst="rect">
            <a:avLst/>
          </a:prstGeom>
          <a:solidFill>
            <a:srgbClr val="0E2A47"/>
          </a:solidFill>
          <a:ln>
            <a:noFill/>
          </a:ln>
        </p:spPr>
        <p:txBody>
          <a:bodyPr/>
          <a:lstStyle/>
          <a:p>
            <a:endParaRPr lang="en-US"/>
          </a:p>
        </p:txBody>
      </p:sp>
      <p:sp>
        <p:nvSpPr>
          <p:cNvPr id="2414" name="Text 2414"/>
          <p:cNvSpPr txBox="1"/>
          <p:nvPr/>
        </p:nvSpPr>
        <p:spPr>
          <a:xfrm>
            <a:off x="1219200" y="8229600"/>
            <a:ext cx="15824200" cy="990600"/>
          </a:xfrm>
          <a:prstGeom prst="rect">
            <a:avLst/>
          </a:prstGeom>
          <a:noFill/>
        </p:spPr>
        <p:txBody>
          <a:bodyPr wrap="square" lIns="0" tIns="0" rIns="0" bIns="0" anchor="ctr">
            <a:noAutofit/>
          </a:bodyPr>
          <a:lstStyle/>
          <a:p>
            <a:pPr marL="0" indent="0" algn="l">
              <a:lnSpc>
                <a:spcPct val="105000"/>
              </a:lnSpc>
              <a:buNone/>
            </a:pPr>
            <a:r>
              <a:rPr lang="en-US" sz="1700" b="1" dirty="0">
                <a:solidFill>
                  <a:srgbClr val="FFFFFF"/>
                </a:solidFill>
                <a:latin typeface="Arial"/>
                <a:cs typeface="Arial"/>
              </a:rPr>
              <a:t>Count the lines that hold the load. </a:t>
            </a:r>
            <a:r>
              <a:rPr lang="en-US" sz="1600" dirty="0">
                <a:solidFill>
                  <a:srgbClr val="C7D4E1"/>
                </a:solidFill>
                <a:latin typeface="Arial"/>
                <a:cs typeface="Arial"/>
              </a:rPr>
              <a:t>Two lines on a moving pulley = half the effort.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HAULING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Simple Systems — 3:1, 4:1, 5:1</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HAULING · SIMPLE SYSTEMS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66</a:t>
            </a:r>
            <a:endParaRPr lang="en-US" sz="900" dirty="0"/>
          </a:p>
        </p:txBody>
      </p:sp>
      <p:sp>
        <p:nvSpPr>
          <p:cNvPr id="2415" name="Shape 2415"/>
          <p:cNvSpPr/>
          <p:nvPr/>
        </p:nvSpPr>
        <p:spPr>
          <a:xfrm>
            <a:off x="863600" y="1651000"/>
            <a:ext cx="5342467" cy="6350000"/>
          </a:xfrm>
          <a:prstGeom prst="rect">
            <a:avLst/>
          </a:prstGeom>
          <a:solidFill>
            <a:srgbClr val="FFFFFF"/>
          </a:solidFill>
          <a:ln>
            <a:noFill/>
          </a:ln>
        </p:spPr>
        <p:txBody>
          <a:bodyPr/>
          <a:lstStyle/>
          <a:p>
            <a:endParaRPr lang="en-US"/>
          </a:p>
        </p:txBody>
      </p:sp>
      <p:pic>
        <p:nvPicPr>
          <p:cNvPr id="2416" name="Picture 2416"/>
          <p:cNvPicPr>
            <a:picLocks noChangeAspect="1"/>
          </p:cNvPicPr>
          <p:nvPr/>
        </p:nvPicPr>
        <p:blipFill>
          <a:blip r:embed="rId3"/>
          <a:stretch>
            <a:fillRect/>
          </a:stretch>
        </p:blipFill>
        <p:spPr>
          <a:xfrm>
            <a:off x="1836684" y="1841500"/>
            <a:ext cx="3396298" cy="5181600"/>
          </a:xfrm>
          <a:prstGeom prst="rect">
            <a:avLst/>
          </a:prstGeom>
        </p:spPr>
      </p:pic>
      <p:sp>
        <p:nvSpPr>
          <p:cNvPr id="2417" name="Text 2417"/>
          <p:cNvSpPr txBox="1"/>
          <p:nvPr/>
        </p:nvSpPr>
        <p:spPr>
          <a:xfrm>
            <a:off x="1016000"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3:1</a:t>
            </a:r>
          </a:p>
          <a:p>
            <a:pPr marL="0" indent="0" algn="ctr">
              <a:lnSpc>
                <a:spcPct val="105000"/>
              </a:lnSpc>
              <a:spcBef>
                <a:spcPts val="400"/>
              </a:spcBef>
              <a:buNone/>
            </a:pPr>
            <a:r>
              <a:rPr lang="en-US" sz="1400" b="1" dirty="0">
                <a:solidFill>
                  <a:srgbClr val="0E2A47"/>
                </a:solidFill>
                <a:latin typeface="Arial"/>
                <a:cs typeface="Arial"/>
              </a:rPr>
              <a:t>3 lines → 33 kg effort</a:t>
            </a:r>
          </a:p>
        </p:txBody>
      </p:sp>
      <p:sp>
        <p:nvSpPr>
          <p:cNvPr id="2418" name="Shape 2418"/>
          <p:cNvSpPr/>
          <p:nvPr/>
        </p:nvSpPr>
        <p:spPr>
          <a:xfrm>
            <a:off x="6460067" y="1651000"/>
            <a:ext cx="5342467" cy="6350000"/>
          </a:xfrm>
          <a:prstGeom prst="rect">
            <a:avLst/>
          </a:prstGeom>
          <a:solidFill>
            <a:srgbClr val="FFFFFF"/>
          </a:solidFill>
          <a:ln>
            <a:noFill/>
          </a:ln>
        </p:spPr>
        <p:txBody>
          <a:bodyPr/>
          <a:lstStyle/>
          <a:p>
            <a:endParaRPr lang="en-US"/>
          </a:p>
        </p:txBody>
      </p:sp>
      <p:pic>
        <p:nvPicPr>
          <p:cNvPr id="2419" name="Picture 2419"/>
          <p:cNvPicPr>
            <a:picLocks noChangeAspect="1"/>
          </p:cNvPicPr>
          <p:nvPr/>
        </p:nvPicPr>
        <p:blipFill>
          <a:blip r:embed="rId4"/>
          <a:stretch>
            <a:fillRect/>
          </a:stretch>
        </p:blipFill>
        <p:spPr>
          <a:xfrm>
            <a:off x="7174335" y="1841500"/>
            <a:ext cx="3913930" cy="5181600"/>
          </a:xfrm>
          <a:prstGeom prst="rect">
            <a:avLst/>
          </a:prstGeom>
        </p:spPr>
      </p:pic>
      <p:sp>
        <p:nvSpPr>
          <p:cNvPr id="2420" name="Text 2420"/>
          <p:cNvSpPr txBox="1"/>
          <p:nvPr/>
        </p:nvSpPr>
        <p:spPr>
          <a:xfrm>
            <a:off x="6612467"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4:1</a:t>
            </a:r>
          </a:p>
          <a:p>
            <a:pPr marL="0" indent="0" algn="ctr">
              <a:lnSpc>
                <a:spcPct val="105000"/>
              </a:lnSpc>
              <a:spcBef>
                <a:spcPts val="400"/>
              </a:spcBef>
              <a:buNone/>
            </a:pPr>
            <a:r>
              <a:rPr lang="en-US" sz="1400" b="1" dirty="0">
                <a:solidFill>
                  <a:srgbClr val="0E2A47"/>
                </a:solidFill>
                <a:latin typeface="Arial"/>
                <a:cs typeface="Arial"/>
              </a:rPr>
              <a:t>4 lines → 25 kg effort</a:t>
            </a:r>
          </a:p>
        </p:txBody>
      </p:sp>
      <p:sp>
        <p:nvSpPr>
          <p:cNvPr id="2421" name="Shape 2421"/>
          <p:cNvSpPr/>
          <p:nvPr/>
        </p:nvSpPr>
        <p:spPr>
          <a:xfrm>
            <a:off x="12056533" y="1651000"/>
            <a:ext cx="5342467" cy="6350000"/>
          </a:xfrm>
          <a:prstGeom prst="rect">
            <a:avLst/>
          </a:prstGeom>
          <a:solidFill>
            <a:srgbClr val="FFFFFF"/>
          </a:solidFill>
          <a:ln>
            <a:noFill/>
          </a:ln>
        </p:spPr>
        <p:txBody>
          <a:bodyPr/>
          <a:lstStyle/>
          <a:p>
            <a:endParaRPr lang="en-US"/>
          </a:p>
        </p:txBody>
      </p:sp>
      <p:pic>
        <p:nvPicPr>
          <p:cNvPr id="2422" name="Picture 2422"/>
          <p:cNvPicPr>
            <a:picLocks noChangeAspect="1"/>
          </p:cNvPicPr>
          <p:nvPr/>
        </p:nvPicPr>
        <p:blipFill>
          <a:blip r:embed="rId5"/>
          <a:stretch>
            <a:fillRect/>
          </a:stretch>
        </p:blipFill>
        <p:spPr>
          <a:xfrm>
            <a:off x="13033072" y="1841500"/>
            <a:ext cx="3389388" cy="5181600"/>
          </a:xfrm>
          <a:prstGeom prst="rect">
            <a:avLst/>
          </a:prstGeom>
        </p:spPr>
      </p:pic>
      <p:sp>
        <p:nvSpPr>
          <p:cNvPr id="2423" name="Text 2423"/>
          <p:cNvSpPr txBox="1"/>
          <p:nvPr/>
        </p:nvSpPr>
        <p:spPr>
          <a:xfrm>
            <a:off x="12208933"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5:1</a:t>
            </a:r>
          </a:p>
          <a:p>
            <a:pPr marL="0" indent="0" algn="ctr">
              <a:lnSpc>
                <a:spcPct val="105000"/>
              </a:lnSpc>
              <a:spcBef>
                <a:spcPts val="400"/>
              </a:spcBef>
              <a:buNone/>
            </a:pPr>
            <a:r>
              <a:rPr lang="en-US" sz="1400" b="1" dirty="0">
                <a:solidFill>
                  <a:srgbClr val="0E2A47"/>
                </a:solidFill>
                <a:latin typeface="Arial"/>
                <a:cs typeface="Arial"/>
              </a:rPr>
              <a:t>5 lines → 20 kg effort</a:t>
            </a:r>
          </a:p>
        </p:txBody>
      </p:sp>
      <p:sp>
        <p:nvSpPr>
          <p:cNvPr id="2424" name="Shape 2424"/>
          <p:cNvSpPr/>
          <p:nvPr/>
        </p:nvSpPr>
        <p:spPr>
          <a:xfrm>
            <a:off x="863600" y="8229600"/>
            <a:ext cx="16535400" cy="990600"/>
          </a:xfrm>
          <a:prstGeom prst="rect">
            <a:avLst/>
          </a:prstGeom>
          <a:solidFill>
            <a:srgbClr val="0E2A47"/>
          </a:solidFill>
          <a:ln>
            <a:noFill/>
          </a:ln>
        </p:spPr>
        <p:txBody>
          <a:bodyPr/>
          <a:lstStyle/>
          <a:p>
            <a:endParaRPr lang="en-US"/>
          </a:p>
        </p:txBody>
      </p:sp>
      <p:sp>
        <p:nvSpPr>
          <p:cNvPr id="2425" name="Text 2425"/>
          <p:cNvSpPr txBox="1"/>
          <p:nvPr/>
        </p:nvSpPr>
        <p:spPr>
          <a:xfrm>
            <a:off x="1219200" y="8229600"/>
            <a:ext cx="15824200" cy="990600"/>
          </a:xfrm>
          <a:prstGeom prst="rect">
            <a:avLst/>
          </a:prstGeom>
          <a:noFill/>
        </p:spPr>
        <p:txBody>
          <a:bodyPr wrap="square" lIns="0" tIns="0" rIns="0" bIns="0" anchor="ctr">
            <a:noAutofit/>
          </a:bodyPr>
          <a:lstStyle/>
          <a:p>
            <a:pPr marL="0" indent="0" algn="l">
              <a:lnSpc>
                <a:spcPct val="105000"/>
              </a:lnSpc>
              <a:buNone/>
            </a:pPr>
            <a:r>
              <a:rPr lang="en-US" sz="1700" b="1" dirty="0">
                <a:solidFill>
                  <a:srgbClr val="FFFFFF"/>
                </a:solidFill>
                <a:latin typeface="Arial"/>
                <a:cs typeface="Arial"/>
              </a:rPr>
              <a:t>Effort = load ÷ lines. </a:t>
            </a:r>
            <a:r>
              <a:rPr lang="en-US" sz="1600" dirty="0">
                <a:solidFill>
                  <a:srgbClr val="C7D4E1"/>
                </a:solidFill>
                <a:latin typeface="Arial"/>
                <a:cs typeface="Arial"/>
              </a:rPr>
              <a:t>Every pulley adds friction, so real effort is higher than the math.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HAULING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Building a Compound System — Step by Step</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HAULING · COMPOUND BUILD</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67</a:t>
            </a:r>
            <a:endParaRPr lang="en-US" sz="900" dirty="0"/>
          </a:p>
        </p:txBody>
      </p:sp>
      <p:sp>
        <p:nvSpPr>
          <p:cNvPr id="2426" name="Shape 2426"/>
          <p:cNvSpPr/>
          <p:nvPr/>
        </p:nvSpPr>
        <p:spPr>
          <a:xfrm>
            <a:off x="863600" y="1651000"/>
            <a:ext cx="16535400" cy="6350000"/>
          </a:xfrm>
          <a:prstGeom prst="rect">
            <a:avLst/>
          </a:prstGeom>
          <a:solidFill>
            <a:srgbClr val="FFFFFF"/>
          </a:solidFill>
          <a:ln>
            <a:noFill/>
          </a:ln>
        </p:spPr>
        <p:txBody>
          <a:bodyPr/>
          <a:lstStyle/>
          <a:p>
            <a:endParaRPr lang="en-US"/>
          </a:p>
        </p:txBody>
      </p:sp>
      <p:pic>
        <p:nvPicPr>
          <p:cNvPr id="2427" name="Picture 2427"/>
          <p:cNvPicPr>
            <a:picLocks noChangeAspect="1"/>
          </p:cNvPicPr>
          <p:nvPr/>
        </p:nvPicPr>
        <p:blipFill>
          <a:blip r:embed="rId3"/>
          <a:stretch>
            <a:fillRect/>
          </a:stretch>
        </p:blipFill>
        <p:spPr>
          <a:xfrm>
            <a:off x="2471544" y="1841500"/>
            <a:ext cx="13319512" cy="5461000"/>
          </a:xfrm>
          <a:prstGeom prst="rect">
            <a:avLst/>
          </a:prstGeom>
        </p:spPr>
      </p:pic>
      <p:sp>
        <p:nvSpPr>
          <p:cNvPr id="2428" name="Text 2428"/>
          <p:cNvSpPr txBox="1"/>
          <p:nvPr/>
        </p:nvSpPr>
        <p:spPr>
          <a:xfrm>
            <a:off x="1016000" y="7416800"/>
            <a:ext cx="16230600" cy="5080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START WITH 2:1  ·  ADD A ROPE GRAB  ·  ADD A SECOND SYSTEM ON THE GRAB</a:t>
            </a:r>
          </a:p>
        </p:txBody>
      </p:sp>
      <p:sp>
        <p:nvSpPr>
          <p:cNvPr id="2429" name="Shape 2429"/>
          <p:cNvSpPr/>
          <p:nvPr/>
        </p:nvSpPr>
        <p:spPr>
          <a:xfrm>
            <a:off x="863600" y="8229600"/>
            <a:ext cx="16535400" cy="990600"/>
          </a:xfrm>
          <a:prstGeom prst="rect">
            <a:avLst/>
          </a:prstGeom>
          <a:solidFill>
            <a:srgbClr val="0E2A47"/>
          </a:solidFill>
          <a:ln>
            <a:noFill/>
          </a:ln>
        </p:spPr>
        <p:txBody>
          <a:bodyPr/>
          <a:lstStyle/>
          <a:p>
            <a:endParaRPr lang="en-US"/>
          </a:p>
        </p:txBody>
      </p:sp>
      <p:sp>
        <p:nvSpPr>
          <p:cNvPr id="2430" name="Text 2430"/>
          <p:cNvSpPr txBox="1"/>
          <p:nvPr/>
        </p:nvSpPr>
        <p:spPr>
          <a:xfrm>
            <a:off x="1219200" y="8229600"/>
            <a:ext cx="15824200" cy="990600"/>
          </a:xfrm>
          <a:prstGeom prst="rect">
            <a:avLst/>
          </a:prstGeom>
          <a:noFill/>
        </p:spPr>
        <p:txBody>
          <a:bodyPr wrap="square" lIns="0" tIns="0" rIns="0" bIns="0" anchor="ctr">
            <a:noAutofit/>
          </a:bodyPr>
          <a:lstStyle/>
          <a:p>
            <a:pPr marL="0" indent="0" algn="l">
              <a:lnSpc>
                <a:spcPct val="105000"/>
              </a:lnSpc>
              <a:buNone/>
            </a:pPr>
            <a:r>
              <a:rPr lang="en-US" sz="1700" b="1" dirty="0">
                <a:solidFill>
                  <a:srgbClr val="FFFFFF"/>
                </a:solidFill>
                <a:latin typeface="Arial"/>
                <a:cs typeface="Arial"/>
              </a:rPr>
              <a:t>A rope grab on the haul line </a:t>
            </a:r>
            <a:r>
              <a:rPr lang="en-US" sz="1600" dirty="0">
                <a:solidFill>
                  <a:srgbClr val="C7D4E1"/>
                </a:solidFill>
                <a:latin typeface="Arial"/>
                <a:cs typeface="Arial"/>
              </a:rPr>
              <a:t>becomes the “load” for a second system — the ratios multiply.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HAULING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Compound Systems — Multiply the Ratios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HAULING · COMPOUND SYSTEMS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68</a:t>
            </a:r>
            <a:endParaRPr lang="en-US" sz="900" dirty="0"/>
          </a:p>
        </p:txBody>
      </p:sp>
      <p:sp>
        <p:nvSpPr>
          <p:cNvPr id="2431" name="Shape 2431"/>
          <p:cNvSpPr/>
          <p:nvPr/>
        </p:nvSpPr>
        <p:spPr>
          <a:xfrm>
            <a:off x="863600" y="1651000"/>
            <a:ext cx="5342467" cy="6350000"/>
          </a:xfrm>
          <a:prstGeom prst="rect">
            <a:avLst/>
          </a:prstGeom>
          <a:solidFill>
            <a:srgbClr val="FFFFFF"/>
          </a:solidFill>
          <a:ln>
            <a:noFill/>
          </a:ln>
        </p:spPr>
        <p:txBody>
          <a:bodyPr/>
          <a:lstStyle/>
          <a:p>
            <a:endParaRPr lang="en-US"/>
          </a:p>
        </p:txBody>
      </p:sp>
      <p:pic>
        <p:nvPicPr>
          <p:cNvPr id="2432" name="Picture 2432"/>
          <p:cNvPicPr>
            <a:picLocks noChangeAspect="1"/>
          </p:cNvPicPr>
          <p:nvPr/>
        </p:nvPicPr>
        <p:blipFill>
          <a:blip r:embed="rId3"/>
          <a:stretch>
            <a:fillRect/>
          </a:stretch>
        </p:blipFill>
        <p:spPr>
          <a:xfrm>
            <a:off x="2593447" y="1841500"/>
            <a:ext cx="1882772" cy="5181600"/>
          </a:xfrm>
          <a:prstGeom prst="rect">
            <a:avLst/>
          </a:prstGeom>
        </p:spPr>
      </p:pic>
      <p:sp>
        <p:nvSpPr>
          <p:cNvPr id="2433" name="Text 2433"/>
          <p:cNvSpPr txBox="1"/>
          <p:nvPr/>
        </p:nvSpPr>
        <p:spPr>
          <a:xfrm>
            <a:off x="1016000"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3:1 ON 2:1 = 6:1</a:t>
            </a:r>
          </a:p>
          <a:p>
            <a:pPr marL="0" indent="0" algn="ctr">
              <a:lnSpc>
                <a:spcPct val="105000"/>
              </a:lnSpc>
              <a:spcBef>
                <a:spcPts val="400"/>
              </a:spcBef>
              <a:buNone/>
            </a:pPr>
            <a:r>
              <a:rPr lang="en-US" sz="1400" b="1" dirty="0">
                <a:solidFill>
                  <a:srgbClr val="0E2A47"/>
                </a:solidFill>
                <a:latin typeface="Arial"/>
                <a:cs typeface="Arial"/>
              </a:rPr>
              <a:t>1 unit in → 6 at the load</a:t>
            </a:r>
          </a:p>
        </p:txBody>
      </p:sp>
      <p:sp>
        <p:nvSpPr>
          <p:cNvPr id="2434" name="Shape 2434"/>
          <p:cNvSpPr/>
          <p:nvPr/>
        </p:nvSpPr>
        <p:spPr>
          <a:xfrm>
            <a:off x="6460067" y="1651000"/>
            <a:ext cx="5342467" cy="6350000"/>
          </a:xfrm>
          <a:prstGeom prst="rect">
            <a:avLst/>
          </a:prstGeom>
          <a:solidFill>
            <a:srgbClr val="FFFFFF"/>
          </a:solidFill>
          <a:ln>
            <a:noFill/>
          </a:ln>
        </p:spPr>
        <p:txBody>
          <a:bodyPr/>
          <a:lstStyle/>
          <a:p>
            <a:endParaRPr lang="en-US"/>
          </a:p>
        </p:txBody>
      </p:sp>
      <p:pic>
        <p:nvPicPr>
          <p:cNvPr id="2435" name="Picture 2435"/>
          <p:cNvPicPr>
            <a:picLocks noChangeAspect="1"/>
          </p:cNvPicPr>
          <p:nvPr/>
        </p:nvPicPr>
        <p:blipFill>
          <a:blip r:embed="rId4"/>
          <a:stretch>
            <a:fillRect/>
          </a:stretch>
        </p:blipFill>
        <p:spPr>
          <a:xfrm>
            <a:off x="8629795" y="1841500"/>
            <a:ext cx="1003010" cy="5181600"/>
          </a:xfrm>
          <a:prstGeom prst="rect">
            <a:avLst/>
          </a:prstGeom>
        </p:spPr>
      </p:pic>
      <p:sp>
        <p:nvSpPr>
          <p:cNvPr id="2436" name="Text 2436"/>
          <p:cNvSpPr txBox="1"/>
          <p:nvPr/>
        </p:nvSpPr>
        <p:spPr>
          <a:xfrm>
            <a:off x="6612467"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10:1 · T-METHOD</a:t>
            </a:r>
          </a:p>
          <a:p>
            <a:pPr marL="0" indent="0" algn="ctr">
              <a:lnSpc>
                <a:spcPct val="105000"/>
              </a:lnSpc>
              <a:spcBef>
                <a:spcPts val="400"/>
              </a:spcBef>
              <a:buNone/>
            </a:pPr>
            <a:r>
              <a:rPr lang="en-US" sz="1400" b="1" dirty="0">
                <a:solidFill>
                  <a:srgbClr val="0E2A47"/>
                </a:solidFill>
                <a:latin typeface="Arial"/>
                <a:cs typeface="Arial"/>
              </a:rPr>
              <a:t>1 unit in → 10 at the load</a:t>
            </a:r>
          </a:p>
        </p:txBody>
      </p:sp>
      <p:sp>
        <p:nvSpPr>
          <p:cNvPr id="2437" name="Shape 2437"/>
          <p:cNvSpPr/>
          <p:nvPr/>
        </p:nvSpPr>
        <p:spPr>
          <a:xfrm>
            <a:off x="12056533" y="1651000"/>
            <a:ext cx="5342467" cy="6350000"/>
          </a:xfrm>
          <a:prstGeom prst="rect">
            <a:avLst/>
          </a:prstGeom>
          <a:solidFill>
            <a:srgbClr val="FFFFFF"/>
          </a:solidFill>
          <a:ln>
            <a:noFill/>
          </a:ln>
        </p:spPr>
        <p:txBody>
          <a:bodyPr/>
          <a:lstStyle/>
          <a:p>
            <a:endParaRPr lang="en-US"/>
          </a:p>
        </p:txBody>
      </p:sp>
      <p:pic>
        <p:nvPicPr>
          <p:cNvPr id="2438" name="Picture 2438"/>
          <p:cNvPicPr>
            <a:picLocks noChangeAspect="1"/>
          </p:cNvPicPr>
          <p:nvPr/>
        </p:nvPicPr>
        <p:blipFill>
          <a:blip r:embed="rId5"/>
          <a:stretch>
            <a:fillRect/>
          </a:stretch>
        </p:blipFill>
        <p:spPr>
          <a:xfrm>
            <a:off x="14057860" y="1841500"/>
            <a:ext cx="1339814" cy="5181600"/>
          </a:xfrm>
          <a:prstGeom prst="rect">
            <a:avLst/>
          </a:prstGeom>
        </p:spPr>
      </p:pic>
      <p:sp>
        <p:nvSpPr>
          <p:cNvPr id="2439" name="Text 2439"/>
          <p:cNvSpPr txBox="1"/>
          <p:nvPr/>
        </p:nvSpPr>
        <p:spPr>
          <a:xfrm>
            <a:off x="12208933" y="7137400"/>
            <a:ext cx="5037667" cy="787400"/>
          </a:xfrm>
          <a:prstGeom prst="rect">
            <a:avLst/>
          </a:prstGeom>
          <a:noFill/>
        </p:spPr>
        <p:txBody>
          <a:bodyPr wrap="square" lIns="0" tIns="0" rIns="0" bIns="0" anchor="b">
            <a:noAutofit/>
          </a:bodyPr>
          <a:lstStyle/>
          <a:p>
            <a:pPr marL="0" indent="0" algn="ctr">
              <a:lnSpc>
                <a:spcPct val="105000"/>
              </a:lnSpc>
              <a:buNone/>
            </a:pPr>
            <a:r>
              <a:rPr lang="en-US" sz="1100" b="1" spc="150" dirty="0">
                <a:solidFill>
                  <a:srgbClr val="F26A1B"/>
                </a:solidFill>
                <a:latin typeface="Courier New"/>
                <a:cs typeface="Courier New"/>
              </a:rPr>
              <a:t>10:1 · IN KG</a:t>
            </a:r>
          </a:p>
          <a:p>
            <a:pPr marL="0" indent="0" algn="ctr">
              <a:lnSpc>
                <a:spcPct val="105000"/>
              </a:lnSpc>
              <a:spcBef>
                <a:spcPts val="400"/>
              </a:spcBef>
              <a:buNone/>
            </a:pPr>
            <a:r>
              <a:rPr lang="en-US" sz="1400" b="1" dirty="0">
                <a:solidFill>
                  <a:srgbClr val="0E2A47"/>
                </a:solidFill>
                <a:latin typeface="Arial"/>
                <a:cs typeface="Arial"/>
              </a:rPr>
              <a:t>10 kg effort → 100 kg load</a:t>
            </a:r>
          </a:p>
        </p:txBody>
      </p:sp>
      <p:sp>
        <p:nvSpPr>
          <p:cNvPr id="2440" name="Shape 2440"/>
          <p:cNvSpPr/>
          <p:nvPr/>
        </p:nvSpPr>
        <p:spPr>
          <a:xfrm>
            <a:off x="863600" y="8229600"/>
            <a:ext cx="16535400" cy="990600"/>
          </a:xfrm>
          <a:prstGeom prst="rect">
            <a:avLst/>
          </a:prstGeom>
          <a:solidFill>
            <a:srgbClr val="0E2A47"/>
          </a:solidFill>
          <a:ln>
            <a:noFill/>
          </a:ln>
        </p:spPr>
        <p:txBody>
          <a:bodyPr/>
          <a:lstStyle/>
          <a:p>
            <a:endParaRPr lang="en-US"/>
          </a:p>
        </p:txBody>
      </p:sp>
      <p:sp>
        <p:nvSpPr>
          <p:cNvPr id="2441" name="Text 2441"/>
          <p:cNvSpPr txBox="1"/>
          <p:nvPr/>
        </p:nvSpPr>
        <p:spPr>
          <a:xfrm>
            <a:off x="1219200" y="8229600"/>
            <a:ext cx="15824200" cy="990600"/>
          </a:xfrm>
          <a:prstGeom prst="rect">
            <a:avLst/>
          </a:prstGeom>
          <a:noFill/>
        </p:spPr>
        <p:txBody>
          <a:bodyPr wrap="square" lIns="0" tIns="0" rIns="0" bIns="0" anchor="ctr">
            <a:noAutofit/>
          </a:bodyPr>
          <a:lstStyle/>
          <a:p>
            <a:pPr marL="0" indent="0" algn="l">
              <a:lnSpc>
                <a:spcPct val="105000"/>
              </a:lnSpc>
              <a:buNone/>
            </a:pPr>
            <a:r>
              <a:rPr lang="en-US" sz="1700" b="1" dirty="0">
                <a:solidFill>
                  <a:srgbClr val="FFFFFF"/>
                </a:solidFill>
                <a:latin typeface="Arial"/>
                <a:cs typeface="Arial"/>
              </a:rPr>
              <a:t>3:1 on a 2:1 = 6:1. </a:t>
            </a:r>
            <a:r>
              <a:rPr lang="en-US" sz="1600" dirty="0">
                <a:solidFill>
                  <a:srgbClr val="C7D4E1"/>
                </a:solidFill>
                <a:latin typeface="Arial"/>
                <a:cs typeface="Arial"/>
              </a:rPr>
              <a:t>5:1 on a 2:1 = 10:1. Higher ratio = less effort, more rope to pull and more friction.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4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78385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6973992"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Releasable Rigging &amp; Edge Management</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Rig with rescue in mind</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Where appropriate, build systems that allow controlled lowering / transfer under load and protect ropes at edges.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pre-planning saves time</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non-releasable system may force rescuers to build complex alternatives while a casualty remains suspended.</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where the risk assessment supports it</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Consider work position, access, rescue direction, anchor capacity and edge conditions.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Unprotected edges / locked systems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Abrasion, cutting, difficult casualty transfer and inability to lower a loaded system.</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Rescue compatibility is considered during initial rigging — not added only after an incident.</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“Should every rig be releasable?”</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Use the method the approved plan and conditions require; the key is that a workable rescue strategy exists.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69</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Rig for Rescue — Releasable Anchors and Protected Edges">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3 · RELEASABLE RIGGING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Rig for Rescue — Releasable Anchors and Protected Edges</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PLAN</a:t>
            </a:r>
          </a:p>
          <a:p>
            <a:pPr marL="0" indent="0" algn="l">
              <a:spcBef>
                <a:spcPts val="400"/>
              </a:spcBef>
              <a:buNone/>
            </a:pPr>
            <a:r>
              <a:rPr lang="en-US" sz="1800" b="1" kern="0" dirty="0">
                <a:solidFill>
                  <a:srgbClr val="FFFFFF"/>
                </a:solidFill>
                <a:latin typeface="Arial"/>
                <a:ea typeface="Arial"/>
                <a:cs typeface="Arial"/>
              </a:rPr>
              <a:t>Rescue compatibility is built in at the start, not added after an incident.</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EDGE</a:t>
            </a:r>
          </a:p>
          <a:p>
            <a:pPr marL="0" indent="0" algn="l">
              <a:spcBef>
                <a:spcPts val="400"/>
              </a:spcBef>
              <a:buNone/>
            </a:pPr>
            <a:r>
              <a:rPr lang="en-US" sz="1600" kern="0" dirty="0">
                <a:solidFill>
                  <a:srgbClr val="FFFFFF"/>
                </a:solidFill>
                <a:latin typeface="Arial"/>
                <a:ea typeface="Arial"/>
                <a:cs typeface="Arial"/>
              </a:rPr>
              <a:t>A protector at every edge contact; reroute or deviate the rope where you can.</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RELEASABLE RIGGING</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70</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1">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3 · EDGE MANAGEMENT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Protecting the Rope — Work Down the List</a:t>
            </a:r>
          </a:p>
        </p:txBody>
      </p:sp>
      <p:pic>
        <p:nvPicPr>
          <p:cNvPr id="13" name="Diagram 13"/>
          <p:cNvPicPr>
            <a:picLocks noChangeAspect="1"/>
          </p:cNvPicPr>
          <p:nvPr/>
        </p:nvPicPr>
        <p:blipFill>
          <a:blip r:embed="rId3"/>
          <a:stretch>
            <a:fillRect/>
          </a:stretch>
        </p:blipFill>
        <p:spPr>
          <a:xfrm>
            <a:off x="1016000" y="1625600"/>
            <a:ext cx="2184400" cy="6794500"/>
          </a:xfrm>
          <a:prstGeom prst="rect">
            <a:avLst/>
          </a:prstGeom>
        </p:spPr>
      </p:pic>
      <p:sp>
        <p:nvSpPr>
          <p:cNvPr id="14" name="Shape 14"/>
          <p:cNvSpPr/>
          <p:nvPr/>
        </p:nvSpPr>
        <p:spPr>
          <a:xfrm>
            <a:off x="3429000" y="1803400"/>
            <a:ext cx="660400" cy="660400"/>
          </a:xfrm>
          <a:prstGeom prst="ellipse">
            <a:avLst/>
          </a:prstGeom>
          <a:solidFill>
            <a:srgbClr val="0E2A47"/>
          </a:solidFill>
          <a:ln>
            <a:noFill/>
          </a:ln>
        </p:spPr>
        <p:txBody>
          <a:bodyPr wrap="square" lIns="0" tIns="0" rIns="0" bIns="0" rtlCol="0" anchor="ctr">
            <a:normAutofit/>
          </a:bodyPr>
          <a:lstStyle/>
          <a:p>
            <a:pPr marL="0" indent="0" algn="ctr">
              <a:buNone/>
            </a:pPr>
            <a:r>
              <a:rPr lang="en-US" sz="2200" b="1" kern="0" dirty="0">
                <a:solidFill>
                  <a:srgbClr val="FFFFFF"/>
                </a:solidFill>
                <a:latin typeface="Arial"/>
                <a:ea typeface="Arial"/>
                <a:cs typeface="Arial"/>
              </a:rPr>
              <a:t>1</a:t>
            </a:r>
          </a:p>
        </p:txBody>
      </p:sp>
      <p:sp>
        <p:nvSpPr>
          <p:cNvPr id="15" name="Shape 15"/>
          <p:cNvSpPr/>
          <p:nvPr/>
        </p:nvSpPr>
        <p:spPr>
          <a:xfrm>
            <a:off x="4318000" y="1701800"/>
            <a:ext cx="7112000" cy="1219200"/>
          </a:xfrm>
          <a:prstGeom prst="rect">
            <a:avLst/>
          </a:prstGeom>
          <a:noFill/>
          <a:ln>
            <a:noFill/>
          </a:ln>
        </p:spPr>
        <p:txBody>
          <a:bodyPr wrap="square" lIns="50800" tIns="50800" rIns="50800" bIns="50800" rtlCol="0" anchor="t">
            <a:normAutofit/>
          </a:bodyPr>
          <a:lstStyle/>
          <a:p>
            <a:pPr marL="0" indent="0" algn="l">
              <a:buNone/>
            </a:pPr>
            <a:r>
              <a:rPr lang="en-US" sz="1900" b="1" kern="0" dirty="0">
                <a:solidFill>
                  <a:srgbClr val="0E2A47"/>
                </a:solidFill>
                <a:latin typeface="Arial"/>
                <a:ea typeface="Arial"/>
                <a:cs typeface="Arial"/>
              </a:rPr>
              <a:t>IDENTIFY THE HAZARD</a:t>
            </a:r>
          </a:p>
          <a:p>
            <a:pPr marL="0" indent="0" algn="l">
              <a:spcBef>
                <a:spcPts val="300"/>
              </a:spcBef>
              <a:buNone/>
            </a:pPr>
            <a:r>
              <a:rPr lang="en-US" sz="1500" kern="0" dirty="0">
                <a:solidFill>
                  <a:srgbClr val="41505E"/>
                </a:solidFill>
                <a:latin typeface="Arial"/>
                <a:ea typeface="Arial"/>
                <a:cs typeface="Arial"/>
              </a:rPr>
              <a:t>Walk the whole rope path. Look for sharp edges, hot surfaces, abrasion, chemicals, loose tools, wind, entanglement and entrapment.</a:t>
            </a:r>
          </a:p>
        </p:txBody>
      </p:sp>
      <p:sp>
        <p:nvSpPr>
          <p:cNvPr id="16" name="Shape 16"/>
          <p:cNvSpPr/>
          <p:nvPr/>
        </p:nvSpPr>
        <p:spPr>
          <a:xfrm>
            <a:off x="3429000" y="3162300"/>
            <a:ext cx="660400" cy="660400"/>
          </a:xfrm>
          <a:prstGeom prst="ellipse">
            <a:avLst/>
          </a:prstGeom>
          <a:solidFill>
            <a:srgbClr val="0E2A47"/>
          </a:solidFill>
          <a:ln>
            <a:noFill/>
          </a:ln>
        </p:spPr>
        <p:txBody>
          <a:bodyPr wrap="square" lIns="0" tIns="0" rIns="0" bIns="0" rtlCol="0" anchor="ctr">
            <a:normAutofit/>
          </a:bodyPr>
          <a:lstStyle/>
          <a:p>
            <a:pPr marL="0" indent="0" algn="ctr">
              <a:buNone/>
            </a:pPr>
            <a:r>
              <a:rPr lang="en-US" sz="2200" b="1" kern="0" dirty="0">
                <a:solidFill>
                  <a:srgbClr val="FFFFFF"/>
                </a:solidFill>
                <a:latin typeface="Arial"/>
                <a:ea typeface="Arial"/>
                <a:cs typeface="Arial"/>
              </a:rPr>
              <a:t>2</a:t>
            </a:r>
          </a:p>
        </p:txBody>
      </p:sp>
      <p:sp>
        <p:nvSpPr>
          <p:cNvPr id="17" name="Shape 17"/>
          <p:cNvSpPr/>
          <p:nvPr/>
        </p:nvSpPr>
        <p:spPr>
          <a:xfrm>
            <a:off x="4318000" y="3060700"/>
            <a:ext cx="7112000" cy="1219200"/>
          </a:xfrm>
          <a:prstGeom prst="rect">
            <a:avLst/>
          </a:prstGeom>
          <a:noFill/>
          <a:ln>
            <a:noFill/>
          </a:ln>
        </p:spPr>
        <p:txBody>
          <a:bodyPr wrap="square" lIns="50800" tIns="50800" rIns="50800" bIns="50800" rtlCol="0" anchor="t">
            <a:normAutofit/>
          </a:bodyPr>
          <a:lstStyle/>
          <a:p>
            <a:pPr marL="0" indent="0" algn="l">
              <a:buNone/>
            </a:pPr>
            <a:r>
              <a:rPr lang="en-US" sz="1900" b="1" kern="0" dirty="0">
                <a:solidFill>
                  <a:srgbClr val="0E2A47"/>
                </a:solidFill>
                <a:latin typeface="Arial"/>
                <a:ea typeface="Arial"/>
                <a:cs typeface="Arial"/>
              </a:rPr>
              <a:t>REMOVE IT</a:t>
            </a:r>
          </a:p>
          <a:p>
            <a:pPr marL="0" indent="0" algn="l">
              <a:spcBef>
                <a:spcPts val="300"/>
              </a:spcBef>
              <a:buNone/>
            </a:pPr>
            <a:r>
              <a:rPr lang="en-US" sz="1500" kern="0" dirty="0">
                <a:solidFill>
                  <a:srgbClr val="41505E"/>
                </a:solidFill>
                <a:latin typeface="Arial"/>
                <a:ea typeface="Arial"/>
                <a:cs typeface="Arial"/>
              </a:rPr>
              <a:t>Grind or cover the sharp edge, shut off the heat source, clear anything the rope could snag on.</a:t>
            </a:r>
          </a:p>
        </p:txBody>
      </p:sp>
      <p:sp>
        <p:nvSpPr>
          <p:cNvPr id="18" name="Shape 18"/>
          <p:cNvSpPr/>
          <p:nvPr/>
        </p:nvSpPr>
        <p:spPr>
          <a:xfrm>
            <a:off x="3429000" y="4521200"/>
            <a:ext cx="660400" cy="660400"/>
          </a:xfrm>
          <a:prstGeom prst="ellipse">
            <a:avLst/>
          </a:prstGeom>
          <a:solidFill>
            <a:srgbClr val="0E2A47"/>
          </a:solidFill>
          <a:ln>
            <a:noFill/>
          </a:ln>
        </p:spPr>
        <p:txBody>
          <a:bodyPr wrap="square" lIns="0" tIns="0" rIns="0" bIns="0" rtlCol="0" anchor="ctr">
            <a:normAutofit/>
          </a:bodyPr>
          <a:lstStyle/>
          <a:p>
            <a:pPr marL="0" indent="0" algn="ctr">
              <a:buNone/>
            </a:pPr>
            <a:r>
              <a:rPr lang="en-US" sz="2200" b="1" kern="0" dirty="0">
                <a:solidFill>
                  <a:srgbClr val="FFFFFF"/>
                </a:solidFill>
                <a:latin typeface="Arial"/>
                <a:ea typeface="Arial"/>
                <a:cs typeface="Arial"/>
              </a:rPr>
              <a:t>3</a:t>
            </a:r>
          </a:p>
        </p:txBody>
      </p:sp>
      <p:sp>
        <p:nvSpPr>
          <p:cNvPr id="19" name="Shape 19"/>
          <p:cNvSpPr/>
          <p:nvPr/>
        </p:nvSpPr>
        <p:spPr>
          <a:xfrm>
            <a:off x="4318000" y="4419600"/>
            <a:ext cx="7112000" cy="1219200"/>
          </a:xfrm>
          <a:prstGeom prst="rect">
            <a:avLst/>
          </a:prstGeom>
          <a:noFill/>
          <a:ln>
            <a:noFill/>
          </a:ln>
        </p:spPr>
        <p:txBody>
          <a:bodyPr wrap="square" lIns="50800" tIns="50800" rIns="50800" bIns="50800" rtlCol="0" anchor="t">
            <a:normAutofit/>
          </a:bodyPr>
          <a:lstStyle/>
          <a:p>
            <a:pPr marL="0" indent="0" algn="l">
              <a:buNone/>
            </a:pPr>
            <a:r>
              <a:rPr lang="en-US" sz="1900" b="1" kern="0" dirty="0">
                <a:solidFill>
                  <a:srgbClr val="0E2A47"/>
                </a:solidFill>
                <a:latin typeface="Arial"/>
                <a:ea typeface="Arial"/>
                <a:cs typeface="Arial"/>
              </a:rPr>
              <a:t>AVOID IT</a:t>
            </a:r>
          </a:p>
          <a:p>
            <a:pPr marL="0" indent="0" algn="l">
              <a:spcBef>
                <a:spcPts val="300"/>
              </a:spcBef>
              <a:buNone/>
            </a:pPr>
            <a:r>
              <a:rPr lang="en-US" sz="1500" kern="0" dirty="0">
                <a:solidFill>
                  <a:srgbClr val="41505E"/>
                </a:solidFill>
                <a:latin typeface="Arial"/>
                <a:ea typeface="Arial"/>
                <a:cs typeface="Arial"/>
              </a:rPr>
              <a:t>Move the rope away from the hazard: alternative anchor, Y-hang, deviation or re-anchor.</a:t>
            </a:r>
          </a:p>
        </p:txBody>
      </p:sp>
      <p:sp>
        <p:nvSpPr>
          <p:cNvPr id="20" name="Shape 20"/>
          <p:cNvSpPr/>
          <p:nvPr/>
        </p:nvSpPr>
        <p:spPr>
          <a:xfrm>
            <a:off x="3429000" y="5880100"/>
            <a:ext cx="660400" cy="660400"/>
          </a:xfrm>
          <a:prstGeom prst="ellipse">
            <a:avLst/>
          </a:prstGeom>
          <a:solidFill>
            <a:srgbClr val="0E2A47"/>
          </a:solidFill>
          <a:ln>
            <a:noFill/>
          </a:ln>
        </p:spPr>
        <p:txBody>
          <a:bodyPr wrap="square" lIns="0" tIns="0" rIns="0" bIns="0" rtlCol="0" anchor="ctr">
            <a:normAutofit/>
          </a:bodyPr>
          <a:lstStyle/>
          <a:p>
            <a:pPr marL="0" indent="0" algn="ctr">
              <a:buNone/>
            </a:pPr>
            <a:r>
              <a:rPr lang="en-US" sz="2200" b="1" kern="0" dirty="0">
                <a:solidFill>
                  <a:srgbClr val="FFFFFF"/>
                </a:solidFill>
                <a:latin typeface="Arial"/>
                <a:ea typeface="Arial"/>
                <a:cs typeface="Arial"/>
              </a:rPr>
              <a:t>4</a:t>
            </a:r>
          </a:p>
        </p:txBody>
      </p:sp>
      <p:sp>
        <p:nvSpPr>
          <p:cNvPr id="21" name="Shape 21"/>
          <p:cNvSpPr/>
          <p:nvPr/>
        </p:nvSpPr>
        <p:spPr>
          <a:xfrm>
            <a:off x="4318000" y="5778500"/>
            <a:ext cx="7112000" cy="1219200"/>
          </a:xfrm>
          <a:prstGeom prst="rect">
            <a:avLst/>
          </a:prstGeom>
          <a:noFill/>
          <a:ln>
            <a:noFill/>
          </a:ln>
        </p:spPr>
        <p:txBody>
          <a:bodyPr wrap="square" lIns="50800" tIns="50800" rIns="50800" bIns="50800" rtlCol="0" anchor="t">
            <a:normAutofit/>
          </a:bodyPr>
          <a:lstStyle/>
          <a:p>
            <a:pPr marL="0" indent="0" algn="l">
              <a:buNone/>
            </a:pPr>
            <a:r>
              <a:rPr lang="en-US" sz="1900" b="1" kern="0" dirty="0">
                <a:solidFill>
                  <a:srgbClr val="0E2A47"/>
                </a:solidFill>
                <a:latin typeface="Arial"/>
                <a:ea typeface="Arial"/>
                <a:cs typeface="Arial"/>
              </a:rPr>
              <a:t>PROTECT AGAINST IT</a:t>
            </a:r>
          </a:p>
          <a:p>
            <a:pPr marL="0" indent="0" algn="l">
              <a:spcBef>
                <a:spcPts val="300"/>
              </a:spcBef>
              <a:buNone/>
            </a:pPr>
            <a:r>
              <a:rPr lang="en-US" sz="1500" kern="0" dirty="0">
                <a:solidFill>
                  <a:srgbClr val="41505E"/>
                </a:solidFill>
                <a:latin typeface="Arial"/>
                <a:ea typeface="Arial"/>
                <a:cs typeface="Arial"/>
              </a:rPr>
              <a:t>Edge protector at edges, rope protector on other surfaces. Each rope gets its own protection.</a:t>
            </a:r>
          </a:p>
        </p:txBody>
      </p:sp>
      <p:sp>
        <p:nvSpPr>
          <p:cNvPr id="22" name="Shape 22"/>
          <p:cNvSpPr/>
          <p:nvPr/>
        </p:nvSpPr>
        <p:spPr>
          <a:xfrm>
            <a:off x="3429000" y="7239000"/>
            <a:ext cx="660400" cy="660400"/>
          </a:xfrm>
          <a:prstGeom prst="ellipse">
            <a:avLst/>
          </a:prstGeom>
          <a:solidFill>
            <a:srgbClr val="1F8A5B"/>
          </a:solidFill>
          <a:ln>
            <a:noFill/>
          </a:ln>
        </p:spPr>
        <p:txBody>
          <a:bodyPr wrap="square" lIns="0" tIns="0" rIns="0" bIns="0" rtlCol="0" anchor="ctr">
            <a:normAutofit/>
          </a:bodyPr>
          <a:lstStyle/>
          <a:p>
            <a:pPr marL="0" indent="0" algn="ctr">
              <a:buNone/>
            </a:pPr>
            <a:r>
              <a:rPr lang="en-US" sz="2200" b="1" kern="0" dirty="0">
                <a:solidFill>
                  <a:srgbClr val="FFFFFF"/>
                </a:solidFill>
                <a:latin typeface="Arial"/>
                <a:ea typeface="Arial"/>
                <a:cs typeface="Arial"/>
              </a:rPr>
              <a:t>5</a:t>
            </a:r>
          </a:p>
        </p:txBody>
      </p:sp>
      <p:sp>
        <p:nvSpPr>
          <p:cNvPr id="23" name="Shape 23"/>
          <p:cNvSpPr/>
          <p:nvPr/>
        </p:nvSpPr>
        <p:spPr>
          <a:xfrm>
            <a:off x="4318000" y="7137400"/>
            <a:ext cx="7112000" cy="1219200"/>
          </a:xfrm>
          <a:prstGeom prst="rect">
            <a:avLst/>
          </a:prstGeom>
          <a:noFill/>
          <a:ln>
            <a:noFill/>
          </a:ln>
        </p:spPr>
        <p:txBody>
          <a:bodyPr wrap="square" lIns="50800" tIns="50800" rIns="50800" bIns="50800" rtlCol="0" anchor="t">
            <a:normAutofit/>
          </a:bodyPr>
          <a:lstStyle/>
          <a:p>
            <a:pPr marL="0" indent="0" algn="l">
              <a:buNone/>
            </a:pPr>
            <a:r>
              <a:rPr lang="en-US" sz="1900" b="1" kern="0" dirty="0">
                <a:solidFill>
                  <a:srgbClr val="0E2A47"/>
                </a:solidFill>
                <a:latin typeface="Arial"/>
                <a:ea typeface="Arial"/>
                <a:cs typeface="Arial"/>
              </a:rPr>
              <a:t>VERIFY</a:t>
            </a:r>
          </a:p>
          <a:p>
            <a:pPr marL="0" indent="0" algn="l">
              <a:spcBef>
                <a:spcPts val="300"/>
              </a:spcBef>
              <a:buNone/>
            </a:pPr>
            <a:r>
              <a:rPr lang="en-US" sz="1500" kern="0" dirty="0">
                <a:solidFill>
                  <a:srgbClr val="41505E"/>
                </a:solidFill>
                <a:latin typeface="Arial"/>
                <a:ea typeface="Arial"/>
                <a:cs typeface="Arial"/>
              </a:rPr>
              <a:t>Check the protection is right and secure. If it is not, do not go on rope.</a:t>
            </a:r>
          </a:p>
        </p:txBody>
      </p:sp>
      <p:sp>
        <p:nvSpPr>
          <p:cNvPr id="24" name="Shape 24"/>
          <p:cNvSpPr/>
          <p:nvPr/>
        </p:nvSpPr>
        <p:spPr>
          <a:xfrm>
            <a:off x="11938000" y="1625600"/>
            <a:ext cx="5461000" cy="3175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WORK DOWN THE LIST</a:t>
            </a:r>
          </a:p>
          <a:p>
            <a:pPr marL="0" indent="0" algn="l">
              <a:spcBef>
                <a:spcPts val="400"/>
              </a:spcBef>
              <a:buNone/>
            </a:pPr>
            <a:r>
              <a:rPr lang="en-US" sz="1700" kern="0" dirty="0">
                <a:solidFill>
                  <a:srgbClr val="FFFFFF"/>
                </a:solidFill>
                <a:latin typeface="Arial"/>
                <a:ea typeface="Arial"/>
                <a:cs typeface="Arial"/>
              </a:rPr>
              <a:t>Try each step in order. Only move to the next step when the one above cannot remove the risk.</a:t>
            </a:r>
          </a:p>
        </p:txBody>
      </p:sp>
      <p:sp>
        <p:nvSpPr>
          <p:cNvPr id="25" name="Shape 25"/>
          <p:cNvSpPr/>
          <p:nvPr/>
        </p:nvSpPr>
        <p:spPr>
          <a:xfrm>
            <a:off x="11938000" y="5029200"/>
            <a:ext cx="5461000" cy="2540000"/>
          </a:xfrm>
          <a:prstGeom prst="rect">
            <a:avLst/>
          </a:prstGeom>
          <a:solidFill>
            <a:srgbClr val="FDF1EF"/>
          </a:solidFill>
          <a:ln>
            <a:noFill/>
          </a:ln>
        </p:spPr>
        <p:txBody>
          <a:bodyPr wrap="square" lIns="228600" tIns="228600" rIns="228600" bIns="228600" rtlCol="0" anchor="ctr">
            <a:normAutofit/>
          </a:bodyPr>
          <a:lstStyle/>
          <a:p>
            <a:pPr marL="0" indent="0" algn="l">
              <a:buNone/>
            </a:pPr>
            <a:r>
              <a:rPr lang="en-US" sz="1100" b="1" kern="0" spc="150" dirty="0">
                <a:solidFill>
                  <a:srgbClr val="C8341F"/>
                </a:solidFill>
                <a:latin typeface="Courier New"/>
                <a:ea typeface="Courier New"/>
                <a:cs typeface="Courier New"/>
              </a:rPr>
              <a:t>SAFETY-CRITICAL</a:t>
            </a:r>
          </a:p>
          <a:p>
            <a:pPr marL="0" indent="0" algn="l">
              <a:spcBef>
                <a:spcPts val="400"/>
              </a:spcBef>
              <a:buNone/>
            </a:pPr>
            <a:r>
              <a:rPr lang="en-US" sz="1600" kern="0" dirty="0">
                <a:solidFill>
                  <a:srgbClr val="33424F"/>
                </a:solidFill>
                <a:latin typeface="Arial"/>
                <a:ea typeface="Arial"/>
                <a:cs typeface="Arial"/>
              </a:rPr>
              <a:t>Fabric or canvas rope protectors guard against abrasion only. A sharp edge needs rigid edge protection — or re-rigging so the rope never touches it.</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ROPE PROTECTION</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71</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EDGE MANAGEMENT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Going Over the Edge — Protect the Rope at the Lip</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EDGE TRANSITION</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72</a:t>
            </a:r>
            <a:endParaRPr lang="en-US" sz="900" dirty="0"/>
          </a:p>
        </p:txBody>
      </p:sp>
      <p:sp>
        <p:nvSpPr>
          <p:cNvPr id="1141" name="Shape 1141"/>
          <p:cNvSpPr/>
          <p:nvPr/>
        </p:nvSpPr>
        <p:spPr>
          <a:xfrm>
            <a:off x="857250" y="1778000"/>
            <a:ext cx="5391311" cy="7620000"/>
          </a:xfrm>
          <a:prstGeom prst="rect">
            <a:avLst/>
          </a:prstGeom>
          <a:solidFill>
            <a:srgbClr val="FFFFFF"/>
          </a:solidFill>
          <a:ln>
            <a:noFill/>
          </a:ln>
        </p:spPr>
        <p:txBody>
          <a:bodyPr/>
          <a:lstStyle/>
          <a:p>
            <a:endParaRPr lang="en-US"/>
          </a:p>
        </p:txBody>
      </p:sp>
      <p:pic>
        <p:nvPicPr>
          <p:cNvPr id="1142" name="Picture 1142"/>
          <p:cNvPicPr>
            <a:picLocks noChangeAspect="1"/>
          </p:cNvPicPr>
          <p:nvPr/>
        </p:nvPicPr>
        <p:blipFill>
          <a:blip r:embed="rId3"/>
          <a:stretch>
            <a:fillRect/>
          </a:stretch>
        </p:blipFill>
        <p:spPr>
          <a:xfrm>
            <a:off x="1274027" y="2032000"/>
            <a:ext cx="4557757" cy="7112000"/>
          </a:xfrm>
          <a:prstGeom prst="rect">
            <a:avLst/>
          </a:prstGeom>
        </p:spPr>
      </p:pic>
      <p:sp>
        <p:nvSpPr>
          <p:cNvPr id="1143" name="Text 1143"/>
          <p:cNvSpPr txBox="1"/>
          <p:nvPr/>
        </p:nvSpPr>
        <p:spPr>
          <a:xfrm>
            <a:off x="6756561" y="1905000"/>
            <a:ext cx="10674189"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SET-UP AND MOVE</a:t>
            </a:r>
          </a:p>
        </p:txBody>
      </p:sp>
      <p:sp>
        <p:nvSpPr>
          <p:cNvPr id="1144" name="Shape 1144"/>
          <p:cNvSpPr/>
          <p:nvPr/>
        </p:nvSpPr>
        <p:spPr>
          <a:xfrm>
            <a:off x="6756561" y="2387600"/>
            <a:ext cx="431800" cy="431800"/>
          </a:xfrm>
          <a:prstGeom prst="ellipse">
            <a:avLst/>
          </a:prstGeom>
          <a:solidFill>
            <a:srgbClr val="0E2A47"/>
          </a:solidFill>
          <a:ln>
            <a:noFill/>
          </a:ln>
        </p:spPr>
        <p:txBody>
          <a:bodyPr/>
          <a:lstStyle/>
          <a:p>
            <a:endParaRPr lang="en-US"/>
          </a:p>
        </p:txBody>
      </p:sp>
      <p:sp>
        <p:nvSpPr>
          <p:cNvPr id="1145" name="Text 1145"/>
          <p:cNvSpPr txBox="1"/>
          <p:nvPr/>
        </p:nvSpPr>
        <p:spPr>
          <a:xfrm>
            <a:off x="6756561"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146" name="Text 1146"/>
          <p:cNvSpPr txBox="1"/>
          <p:nvPr/>
        </p:nvSpPr>
        <p:spPr>
          <a:xfrm>
            <a:off x="7416961" y="2362200"/>
            <a:ext cx="10013789"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Anchor back from the edge</a:t>
            </a:r>
          </a:p>
          <a:p>
            <a:pPr marL="0" indent="0" algn="l">
              <a:lnSpc>
                <a:spcPct val="110000"/>
              </a:lnSpc>
              <a:spcBef>
                <a:spcPts val="300"/>
              </a:spcBef>
              <a:buNone/>
            </a:pPr>
            <a:r>
              <a:rPr lang="en-US" sz="1500" dirty="0">
                <a:solidFill>
                  <a:srgbClr val="41505E"/>
                </a:solidFill>
                <a:latin typeface="Arial"/>
                <a:cs typeface="Arial"/>
              </a:rPr>
              <a:t>Each rope on its own anchor, rigged before you approach</a:t>
            </a:r>
          </a:p>
        </p:txBody>
      </p:sp>
      <p:sp>
        <p:nvSpPr>
          <p:cNvPr id="1147" name="Shape 1147"/>
          <p:cNvSpPr/>
          <p:nvPr/>
        </p:nvSpPr>
        <p:spPr>
          <a:xfrm>
            <a:off x="6756561" y="3556000"/>
            <a:ext cx="431800" cy="431800"/>
          </a:xfrm>
          <a:prstGeom prst="ellipse">
            <a:avLst/>
          </a:prstGeom>
          <a:solidFill>
            <a:srgbClr val="0E2A47"/>
          </a:solidFill>
          <a:ln>
            <a:noFill/>
          </a:ln>
        </p:spPr>
        <p:txBody>
          <a:bodyPr/>
          <a:lstStyle/>
          <a:p>
            <a:endParaRPr lang="en-US"/>
          </a:p>
        </p:txBody>
      </p:sp>
      <p:sp>
        <p:nvSpPr>
          <p:cNvPr id="1148" name="Text 1148"/>
          <p:cNvSpPr txBox="1"/>
          <p:nvPr/>
        </p:nvSpPr>
        <p:spPr>
          <a:xfrm>
            <a:off x="6756561"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149" name="Text 1149"/>
          <p:cNvSpPr txBox="1"/>
          <p:nvPr/>
        </p:nvSpPr>
        <p:spPr>
          <a:xfrm>
            <a:off x="7416961" y="3530600"/>
            <a:ext cx="10013789"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Protector at every contact point</a:t>
            </a:r>
          </a:p>
          <a:p>
            <a:pPr marL="0" indent="0" algn="l">
              <a:lnSpc>
                <a:spcPct val="110000"/>
              </a:lnSpc>
              <a:spcBef>
                <a:spcPts val="300"/>
              </a:spcBef>
              <a:buNone/>
            </a:pPr>
            <a:r>
              <a:rPr lang="en-US" sz="1500" dirty="0">
                <a:solidFill>
                  <a:srgbClr val="41505E"/>
                </a:solidFill>
                <a:latin typeface="Arial"/>
                <a:cs typeface="Arial"/>
              </a:rPr>
              <a:t>Secured so it can’t slide off the lip</a:t>
            </a:r>
          </a:p>
        </p:txBody>
      </p:sp>
      <p:sp>
        <p:nvSpPr>
          <p:cNvPr id="1150" name="Shape 1150"/>
          <p:cNvSpPr/>
          <p:nvPr/>
        </p:nvSpPr>
        <p:spPr>
          <a:xfrm>
            <a:off x="6756561" y="4724400"/>
            <a:ext cx="431800" cy="431800"/>
          </a:xfrm>
          <a:prstGeom prst="ellipse">
            <a:avLst/>
          </a:prstGeom>
          <a:solidFill>
            <a:srgbClr val="0E2A47"/>
          </a:solidFill>
          <a:ln>
            <a:noFill/>
          </a:ln>
        </p:spPr>
        <p:txBody>
          <a:bodyPr/>
          <a:lstStyle/>
          <a:p>
            <a:endParaRPr lang="en-US"/>
          </a:p>
        </p:txBody>
      </p:sp>
      <p:sp>
        <p:nvSpPr>
          <p:cNvPr id="1151" name="Text 1151"/>
          <p:cNvSpPr txBox="1"/>
          <p:nvPr/>
        </p:nvSpPr>
        <p:spPr>
          <a:xfrm>
            <a:off x="6756561"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152" name="Text 1152"/>
          <p:cNvSpPr txBox="1"/>
          <p:nvPr/>
        </p:nvSpPr>
        <p:spPr>
          <a:xfrm>
            <a:off x="7416961" y="4699000"/>
            <a:ext cx="10013789"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Backup rope protected too</a:t>
            </a:r>
          </a:p>
          <a:p>
            <a:pPr marL="0" indent="0" algn="l">
              <a:lnSpc>
                <a:spcPct val="110000"/>
              </a:lnSpc>
              <a:spcBef>
                <a:spcPts val="300"/>
              </a:spcBef>
              <a:buNone/>
            </a:pPr>
            <a:r>
              <a:rPr lang="en-US" sz="1500" dirty="0">
                <a:solidFill>
                  <a:srgbClr val="41505E"/>
                </a:solidFill>
                <a:latin typeface="Arial"/>
                <a:cs typeface="Arial"/>
              </a:rPr>
              <a:t>Both ropes run over protection, not bare edge</a:t>
            </a:r>
          </a:p>
        </p:txBody>
      </p:sp>
      <p:sp>
        <p:nvSpPr>
          <p:cNvPr id="1153" name="Shape 1153"/>
          <p:cNvSpPr/>
          <p:nvPr/>
        </p:nvSpPr>
        <p:spPr>
          <a:xfrm>
            <a:off x="6756561" y="5892800"/>
            <a:ext cx="431800" cy="431800"/>
          </a:xfrm>
          <a:prstGeom prst="ellipse">
            <a:avLst/>
          </a:prstGeom>
          <a:solidFill>
            <a:srgbClr val="0E2A47"/>
          </a:solidFill>
          <a:ln>
            <a:noFill/>
          </a:ln>
        </p:spPr>
        <p:txBody>
          <a:bodyPr/>
          <a:lstStyle/>
          <a:p>
            <a:endParaRPr lang="en-US"/>
          </a:p>
        </p:txBody>
      </p:sp>
      <p:sp>
        <p:nvSpPr>
          <p:cNvPr id="1154" name="Text 1154"/>
          <p:cNvSpPr txBox="1"/>
          <p:nvPr/>
        </p:nvSpPr>
        <p:spPr>
          <a:xfrm>
            <a:off x="6756561"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155" name="Text 1155"/>
          <p:cNvSpPr txBox="1"/>
          <p:nvPr/>
        </p:nvSpPr>
        <p:spPr>
          <a:xfrm>
            <a:off x="7416961" y="5867400"/>
            <a:ext cx="10013789"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Sit back, feet low, then step over</a:t>
            </a:r>
          </a:p>
          <a:p>
            <a:pPr marL="0" indent="0" algn="l">
              <a:lnSpc>
                <a:spcPct val="110000"/>
              </a:lnSpc>
              <a:spcBef>
                <a:spcPts val="300"/>
              </a:spcBef>
              <a:buNone/>
            </a:pPr>
            <a:r>
              <a:rPr lang="en-US" sz="1500" dirty="0">
                <a:solidFill>
                  <a:srgbClr val="41505E"/>
                </a:solidFill>
                <a:latin typeface="Arial"/>
                <a:cs typeface="Arial"/>
              </a:rPr>
              <a:t>Weight in the harness before the feet leave the top</a:t>
            </a:r>
          </a:p>
        </p:txBody>
      </p:sp>
      <p:sp>
        <p:nvSpPr>
          <p:cNvPr id="1156" name="Shape 1156"/>
          <p:cNvSpPr/>
          <p:nvPr/>
        </p:nvSpPr>
        <p:spPr>
          <a:xfrm>
            <a:off x="6756561" y="7061200"/>
            <a:ext cx="431800" cy="431800"/>
          </a:xfrm>
          <a:prstGeom prst="ellipse">
            <a:avLst/>
          </a:prstGeom>
          <a:solidFill>
            <a:srgbClr val="0E2A47"/>
          </a:solidFill>
          <a:ln>
            <a:noFill/>
          </a:ln>
        </p:spPr>
        <p:txBody>
          <a:bodyPr/>
          <a:lstStyle/>
          <a:p>
            <a:endParaRPr lang="en-US"/>
          </a:p>
        </p:txBody>
      </p:sp>
      <p:sp>
        <p:nvSpPr>
          <p:cNvPr id="1157" name="Text 1157"/>
          <p:cNvSpPr txBox="1"/>
          <p:nvPr/>
        </p:nvSpPr>
        <p:spPr>
          <a:xfrm>
            <a:off x="6756561"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158" name="Text 1158"/>
          <p:cNvSpPr txBox="1"/>
          <p:nvPr/>
        </p:nvSpPr>
        <p:spPr>
          <a:xfrm>
            <a:off x="7416961" y="7035800"/>
            <a:ext cx="10013789"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Check rope position below the lip</a:t>
            </a:r>
          </a:p>
          <a:p>
            <a:pPr marL="0" indent="0" algn="l">
              <a:lnSpc>
                <a:spcPct val="110000"/>
              </a:lnSpc>
              <a:spcBef>
                <a:spcPts val="300"/>
              </a:spcBef>
              <a:buNone/>
            </a:pPr>
            <a:r>
              <a:rPr lang="en-US" sz="1500" dirty="0">
                <a:solidFill>
                  <a:srgbClr val="41505E"/>
                </a:solidFill>
                <a:latin typeface="Arial"/>
                <a:cs typeface="Arial"/>
              </a:rPr>
              <a:t>Rope runs clear; no new rub point</a:t>
            </a:r>
          </a:p>
        </p:txBody>
      </p:sp>
      <p:sp>
        <p:nvSpPr>
          <p:cNvPr id="1159" name="Shape 1159"/>
          <p:cNvSpPr/>
          <p:nvPr/>
        </p:nvSpPr>
        <p:spPr>
          <a:xfrm>
            <a:off x="6756561" y="8483600"/>
            <a:ext cx="10674189" cy="914400"/>
          </a:xfrm>
          <a:prstGeom prst="rect">
            <a:avLst/>
          </a:prstGeom>
          <a:solidFill>
            <a:srgbClr val="0E2A47"/>
          </a:solidFill>
          <a:ln>
            <a:noFill/>
          </a:ln>
        </p:spPr>
        <p:txBody>
          <a:bodyPr/>
          <a:lstStyle/>
          <a:p>
            <a:endParaRPr lang="en-US"/>
          </a:p>
        </p:txBody>
      </p:sp>
      <p:sp>
        <p:nvSpPr>
          <p:cNvPr id="1160" name="Text 1160"/>
          <p:cNvSpPr txBox="1"/>
          <p:nvPr/>
        </p:nvSpPr>
        <p:spPr>
          <a:xfrm>
            <a:off x="7112161" y="8483600"/>
            <a:ext cx="9962989"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No bare rope over an edge. </a:t>
            </a:r>
            <a:r>
              <a:rPr lang="en-US" sz="1600" dirty="0">
                <a:solidFill>
                  <a:srgbClr val="C7D4E1"/>
                </a:solidFill>
                <a:latin typeface="Arial"/>
                <a:cs typeface="Arial"/>
              </a:rPr>
              <a:t>If you can’t protect it, re-route or deviate the rope.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5">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7414223"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7704064"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Rescue Fundamentals &amp; Level 1 Progression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55372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Make safe → access → stabilize → transfer → move → handover</a:t>
            </a:r>
            <a:endParaRPr lang="en-US" sz="1650" dirty="0"/>
          </a:p>
        </p:txBody>
      </p:sp>
      <p:sp>
        <p:nvSpPr>
          <p:cNvPr id="13" name="Text 11"/>
          <p:cNvSpPr/>
          <p:nvPr/>
        </p:nvSpPr>
        <p:spPr>
          <a:xfrm>
            <a:off x="1111250" y="2674620"/>
            <a:ext cx="5003775"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SPRAT L1 rescue: reach a casualty in ascent mode on an adjacent rope set, convert them to descent, move both onto one system and descend.</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rescue starts before the casualty</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The rescuer must not become a second casualty. Hazard control, redundancy and command come first.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Simple, predictable scenarios first</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Build competence before adding deviations, re-belays, transfers or complex hauling.</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Rushing the casualty connection</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Poor rescuer attachment, uncontrolled transfer, dropped backup, bad communication or uncontrolled descent.</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Rescuer safety, casualty security, controlled transfer and correct final descent / landing.</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“Do I rescue as fast as possible?”</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Work promptly, but never sacrifice rescuer / casualty safety or system control for speed.</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73</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RESCUE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Rescue From Ascent Mode — Reach, Connect, Convert, Descend</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RESCUE FROM ASCENT</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74</a:t>
            </a:r>
            <a:endParaRPr lang="en-US" sz="900" dirty="0"/>
          </a:p>
        </p:txBody>
      </p:sp>
      <p:sp>
        <p:nvSpPr>
          <p:cNvPr id="1161" name="Shape 1161"/>
          <p:cNvSpPr/>
          <p:nvPr/>
        </p:nvSpPr>
        <p:spPr>
          <a:xfrm>
            <a:off x="857250" y="1778000"/>
            <a:ext cx="4572000" cy="7620000"/>
          </a:xfrm>
          <a:prstGeom prst="rect">
            <a:avLst/>
          </a:prstGeom>
          <a:solidFill>
            <a:srgbClr val="FFFFFF"/>
          </a:solidFill>
          <a:ln>
            <a:noFill/>
          </a:ln>
        </p:spPr>
        <p:txBody>
          <a:bodyPr/>
          <a:lstStyle/>
          <a:p>
            <a:endParaRPr lang="en-US"/>
          </a:p>
        </p:txBody>
      </p:sp>
      <p:pic>
        <p:nvPicPr>
          <p:cNvPr id="1162" name="Picture 1162"/>
          <p:cNvPicPr>
            <a:picLocks noChangeAspect="1"/>
          </p:cNvPicPr>
          <p:nvPr/>
        </p:nvPicPr>
        <p:blipFill>
          <a:blip r:embed="rId3"/>
          <a:stretch>
            <a:fillRect/>
          </a:stretch>
        </p:blipFill>
        <p:spPr>
          <a:xfrm>
            <a:off x="2152180" y="2032000"/>
            <a:ext cx="1982141" cy="7112000"/>
          </a:xfrm>
          <a:prstGeom prst="rect">
            <a:avLst/>
          </a:prstGeom>
        </p:spPr>
      </p:pic>
      <p:sp>
        <p:nvSpPr>
          <p:cNvPr id="1163" name="Text 1163"/>
          <p:cNvSpPr txBox="1"/>
          <p:nvPr/>
        </p:nvSpPr>
        <p:spPr>
          <a:xfrm>
            <a:off x="5937250" y="1905000"/>
            <a:ext cx="11493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SEQUENCE</a:t>
            </a:r>
          </a:p>
        </p:txBody>
      </p:sp>
      <p:sp>
        <p:nvSpPr>
          <p:cNvPr id="1164" name="Shape 1164"/>
          <p:cNvSpPr/>
          <p:nvPr/>
        </p:nvSpPr>
        <p:spPr>
          <a:xfrm>
            <a:off x="5937250" y="2387600"/>
            <a:ext cx="431800" cy="431800"/>
          </a:xfrm>
          <a:prstGeom prst="ellipse">
            <a:avLst/>
          </a:prstGeom>
          <a:solidFill>
            <a:srgbClr val="0E2A47"/>
          </a:solidFill>
          <a:ln>
            <a:noFill/>
          </a:ln>
        </p:spPr>
        <p:txBody>
          <a:bodyPr/>
          <a:lstStyle/>
          <a:p>
            <a:endParaRPr lang="en-US"/>
          </a:p>
        </p:txBody>
      </p:sp>
      <p:sp>
        <p:nvSpPr>
          <p:cNvPr id="1165" name="Text 1165"/>
          <p:cNvSpPr txBox="1"/>
          <p:nvPr/>
        </p:nvSpPr>
        <p:spPr>
          <a:xfrm>
            <a:off x="5937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166" name="Text 1166"/>
          <p:cNvSpPr txBox="1"/>
          <p:nvPr/>
        </p:nvSpPr>
        <p:spPr>
          <a:xfrm>
            <a:off x="6597650" y="23622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Ascend to the casualty</a:t>
            </a:r>
          </a:p>
          <a:p>
            <a:pPr marL="0" indent="0" algn="l">
              <a:lnSpc>
                <a:spcPct val="110000"/>
              </a:lnSpc>
              <a:spcBef>
                <a:spcPts val="300"/>
              </a:spcBef>
              <a:buNone/>
            </a:pPr>
            <a:r>
              <a:rPr lang="en-US" sz="1500" dirty="0">
                <a:solidFill>
                  <a:srgbClr val="41505E"/>
                </a:solidFill>
                <a:latin typeface="Arial"/>
                <a:cs typeface="Arial"/>
              </a:rPr>
              <a:t>Stop just below them; your own system stays complete</a:t>
            </a:r>
          </a:p>
        </p:txBody>
      </p:sp>
      <p:sp>
        <p:nvSpPr>
          <p:cNvPr id="1167" name="Shape 1167"/>
          <p:cNvSpPr/>
          <p:nvPr/>
        </p:nvSpPr>
        <p:spPr>
          <a:xfrm>
            <a:off x="5937250" y="3556000"/>
            <a:ext cx="431800" cy="431800"/>
          </a:xfrm>
          <a:prstGeom prst="ellipse">
            <a:avLst/>
          </a:prstGeom>
          <a:solidFill>
            <a:srgbClr val="0E2A47"/>
          </a:solidFill>
          <a:ln>
            <a:noFill/>
          </a:ln>
        </p:spPr>
        <p:txBody>
          <a:bodyPr/>
          <a:lstStyle/>
          <a:p>
            <a:endParaRPr lang="en-US"/>
          </a:p>
        </p:txBody>
      </p:sp>
      <p:sp>
        <p:nvSpPr>
          <p:cNvPr id="1168" name="Text 1168"/>
          <p:cNvSpPr txBox="1"/>
          <p:nvPr/>
        </p:nvSpPr>
        <p:spPr>
          <a:xfrm>
            <a:off x="5937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169" name="Text 1169"/>
          <p:cNvSpPr txBox="1"/>
          <p:nvPr/>
        </p:nvSpPr>
        <p:spPr>
          <a:xfrm>
            <a:off x="6597650" y="35306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Connect the casualty to your harness</a:t>
            </a:r>
          </a:p>
          <a:p>
            <a:pPr marL="0" indent="0" algn="l">
              <a:lnSpc>
                <a:spcPct val="110000"/>
              </a:lnSpc>
              <a:spcBef>
                <a:spcPts val="300"/>
              </a:spcBef>
              <a:buNone/>
            </a:pPr>
            <a:r>
              <a:rPr lang="en-US" sz="1500" dirty="0">
                <a:solidFill>
                  <a:srgbClr val="41505E"/>
                </a:solidFill>
                <a:latin typeface="Arial"/>
                <a:cs typeface="Arial"/>
              </a:rPr>
              <a:t>Short connection — keep them close</a:t>
            </a:r>
          </a:p>
        </p:txBody>
      </p:sp>
      <p:sp>
        <p:nvSpPr>
          <p:cNvPr id="1170" name="Shape 1170"/>
          <p:cNvSpPr/>
          <p:nvPr/>
        </p:nvSpPr>
        <p:spPr>
          <a:xfrm>
            <a:off x="5937250" y="4724400"/>
            <a:ext cx="431800" cy="431800"/>
          </a:xfrm>
          <a:prstGeom prst="ellipse">
            <a:avLst/>
          </a:prstGeom>
          <a:solidFill>
            <a:srgbClr val="0E2A47"/>
          </a:solidFill>
          <a:ln>
            <a:noFill/>
          </a:ln>
        </p:spPr>
        <p:txBody>
          <a:bodyPr/>
          <a:lstStyle/>
          <a:p>
            <a:endParaRPr lang="en-US"/>
          </a:p>
        </p:txBody>
      </p:sp>
      <p:sp>
        <p:nvSpPr>
          <p:cNvPr id="1171" name="Text 1171"/>
          <p:cNvSpPr txBox="1"/>
          <p:nvPr/>
        </p:nvSpPr>
        <p:spPr>
          <a:xfrm>
            <a:off x="5937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172" name="Text 1172"/>
          <p:cNvSpPr txBox="1"/>
          <p:nvPr/>
        </p:nvSpPr>
        <p:spPr>
          <a:xfrm>
            <a:off x="6597650" y="46990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Take the casualty’s weight</a:t>
            </a:r>
          </a:p>
          <a:p>
            <a:pPr marL="0" indent="0" algn="l">
              <a:lnSpc>
                <a:spcPct val="110000"/>
              </a:lnSpc>
              <a:spcBef>
                <a:spcPts val="300"/>
              </a:spcBef>
              <a:buNone/>
            </a:pPr>
            <a:r>
              <a:rPr lang="en-US" sz="1500" dirty="0">
                <a:solidFill>
                  <a:srgbClr val="41505E"/>
                </a:solidFill>
                <a:latin typeface="Arial"/>
                <a:cs typeface="Arial"/>
              </a:rPr>
              <a:t>Onto your descender, using a mini-haul if needed</a:t>
            </a:r>
          </a:p>
        </p:txBody>
      </p:sp>
      <p:sp>
        <p:nvSpPr>
          <p:cNvPr id="1173" name="Shape 1173"/>
          <p:cNvSpPr/>
          <p:nvPr/>
        </p:nvSpPr>
        <p:spPr>
          <a:xfrm>
            <a:off x="5937250" y="5892800"/>
            <a:ext cx="431800" cy="431800"/>
          </a:xfrm>
          <a:prstGeom prst="ellipse">
            <a:avLst/>
          </a:prstGeom>
          <a:solidFill>
            <a:srgbClr val="0E2A47"/>
          </a:solidFill>
          <a:ln>
            <a:noFill/>
          </a:ln>
        </p:spPr>
        <p:txBody>
          <a:bodyPr/>
          <a:lstStyle/>
          <a:p>
            <a:endParaRPr lang="en-US"/>
          </a:p>
        </p:txBody>
      </p:sp>
      <p:sp>
        <p:nvSpPr>
          <p:cNvPr id="1174" name="Text 1174"/>
          <p:cNvSpPr txBox="1"/>
          <p:nvPr/>
        </p:nvSpPr>
        <p:spPr>
          <a:xfrm>
            <a:off x="5937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175" name="Text 1175"/>
          <p:cNvSpPr txBox="1"/>
          <p:nvPr/>
        </p:nvSpPr>
        <p:spPr>
          <a:xfrm>
            <a:off x="6597650" y="58674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Remove the casualty’s ascenders</a:t>
            </a:r>
          </a:p>
          <a:p>
            <a:pPr marL="0" indent="0" algn="l">
              <a:lnSpc>
                <a:spcPct val="110000"/>
              </a:lnSpc>
              <a:spcBef>
                <a:spcPts val="300"/>
              </a:spcBef>
              <a:buNone/>
            </a:pPr>
            <a:r>
              <a:rPr lang="en-US" sz="1500" dirty="0">
                <a:solidFill>
                  <a:srgbClr val="41505E"/>
                </a:solidFill>
                <a:latin typeface="Arial"/>
                <a:cs typeface="Arial"/>
              </a:rPr>
              <a:t>Their backup stays on until they are on your system</a:t>
            </a:r>
          </a:p>
        </p:txBody>
      </p:sp>
      <p:sp>
        <p:nvSpPr>
          <p:cNvPr id="1176" name="Shape 1176"/>
          <p:cNvSpPr/>
          <p:nvPr/>
        </p:nvSpPr>
        <p:spPr>
          <a:xfrm>
            <a:off x="5937250" y="7061200"/>
            <a:ext cx="431800" cy="431800"/>
          </a:xfrm>
          <a:prstGeom prst="ellipse">
            <a:avLst/>
          </a:prstGeom>
          <a:solidFill>
            <a:srgbClr val="0E2A47"/>
          </a:solidFill>
          <a:ln>
            <a:noFill/>
          </a:ln>
        </p:spPr>
        <p:txBody>
          <a:bodyPr/>
          <a:lstStyle/>
          <a:p>
            <a:endParaRPr lang="en-US"/>
          </a:p>
        </p:txBody>
      </p:sp>
      <p:sp>
        <p:nvSpPr>
          <p:cNvPr id="1177" name="Text 1177"/>
          <p:cNvSpPr txBox="1"/>
          <p:nvPr/>
        </p:nvSpPr>
        <p:spPr>
          <a:xfrm>
            <a:off x="5937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178" name="Text 1178"/>
          <p:cNvSpPr txBox="1"/>
          <p:nvPr/>
        </p:nvSpPr>
        <p:spPr>
          <a:xfrm>
            <a:off x="6597650" y="70358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Descend together under control</a:t>
            </a:r>
          </a:p>
          <a:p>
            <a:pPr marL="0" indent="0" algn="l">
              <a:lnSpc>
                <a:spcPct val="110000"/>
              </a:lnSpc>
              <a:spcBef>
                <a:spcPts val="300"/>
              </a:spcBef>
              <a:buNone/>
            </a:pPr>
            <a:r>
              <a:rPr lang="en-US" sz="1500" dirty="0">
                <a:solidFill>
                  <a:srgbClr val="41505E"/>
                </a:solidFill>
                <a:latin typeface="Arial"/>
                <a:cs typeface="Arial"/>
              </a:rPr>
              <a:t>Brake hand on; backup managed for both</a:t>
            </a:r>
          </a:p>
        </p:txBody>
      </p:sp>
      <p:sp>
        <p:nvSpPr>
          <p:cNvPr id="1179" name="Shape 1179"/>
          <p:cNvSpPr/>
          <p:nvPr/>
        </p:nvSpPr>
        <p:spPr>
          <a:xfrm>
            <a:off x="5937250" y="8483600"/>
            <a:ext cx="11493500" cy="914400"/>
          </a:xfrm>
          <a:prstGeom prst="rect">
            <a:avLst/>
          </a:prstGeom>
          <a:solidFill>
            <a:srgbClr val="0E2A47"/>
          </a:solidFill>
          <a:ln>
            <a:noFill/>
          </a:ln>
        </p:spPr>
        <p:txBody>
          <a:bodyPr/>
          <a:lstStyle/>
          <a:p>
            <a:endParaRPr lang="en-US"/>
          </a:p>
        </p:txBody>
      </p:sp>
      <p:sp>
        <p:nvSpPr>
          <p:cNvPr id="1180" name="Text 1180"/>
          <p:cNvSpPr txBox="1"/>
          <p:nvPr/>
        </p:nvSpPr>
        <p:spPr>
          <a:xfrm>
            <a:off x="6292850" y="8483600"/>
            <a:ext cx="10782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Rescuer safety first. </a:t>
            </a:r>
            <a:r>
              <a:rPr lang="en-US" sz="1600" dirty="0">
                <a:solidFill>
                  <a:srgbClr val="C7D4E1"/>
                </a:solidFill>
                <a:latin typeface="Arial"/>
                <a:cs typeface="Arial"/>
              </a:rPr>
              <a:t>Check your own system before you touch theirs.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46">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764098"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99962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Level 2 &amp; 3 Rescue Through Obstacles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3</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Move a casualty through system complexity</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L2: same-rope rescue with a rope-to-rope transfer, rescue from fall-arrest lanyards and a remote lowering system. L3: rescue from two maneuvers.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obstacles change rescue</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Two-person loads, limited mobility and device congestion make ordinary maneuvers significantly more complex.</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Plan the entire route</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Identify where load transfers, redirects and rescuer repositioning will occur before committing.</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Solving one obstacle at a time without a plan</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 trap the rescuer / casualty, overload a system or create an impossible next step.</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Planning, two-person load control, redundancy, obstacle sequence and efficient communication.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is the best rescue method?”</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The simplest approved method that safely fits the casualty, geometry, hazards, equipment and team capability.</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3</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76</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3 · RESCUE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Rescue From Descent Mode — Take Over the Casualty’s Load</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RESCUE FROM DESCENT</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77</a:t>
            </a:r>
            <a:endParaRPr lang="en-US" sz="900" dirty="0"/>
          </a:p>
        </p:txBody>
      </p:sp>
      <p:sp>
        <p:nvSpPr>
          <p:cNvPr id="1181" name="Shape 1181"/>
          <p:cNvSpPr/>
          <p:nvPr/>
        </p:nvSpPr>
        <p:spPr>
          <a:xfrm>
            <a:off x="857250" y="1778000"/>
            <a:ext cx="4572000" cy="7620000"/>
          </a:xfrm>
          <a:prstGeom prst="rect">
            <a:avLst/>
          </a:prstGeom>
          <a:solidFill>
            <a:srgbClr val="FFFFFF"/>
          </a:solidFill>
          <a:ln>
            <a:noFill/>
          </a:ln>
        </p:spPr>
        <p:txBody>
          <a:bodyPr/>
          <a:lstStyle/>
          <a:p>
            <a:endParaRPr lang="en-US"/>
          </a:p>
        </p:txBody>
      </p:sp>
      <p:pic>
        <p:nvPicPr>
          <p:cNvPr id="1182" name="Picture 1182"/>
          <p:cNvPicPr>
            <a:picLocks noChangeAspect="1"/>
          </p:cNvPicPr>
          <p:nvPr/>
        </p:nvPicPr>
        <p:blipFill>
          <a:blip r:embed="rId3"/>
          <a:stretch>
            <a:fillRect/>
          </a:stretch>
        </p:blipFill>
        <p:spPr>
          <a:xfrm>
            <a:off x="2119254" y="2032000"/>
            <a:ext cx="2047993" cy="7112000"/>
          </a:xfrm>
          <a:prstGeom prst="rect">
            <a:avLst/>
          </a:prstGeom>
        </p:spPr>
      </p:pic>
      <p:sp>
        <p:nvSpPr>
          <p:cNvPr id="1183" name="Text 1183"/>
          <p:cNvSpPr txBox="1"/>
          <p:nvPr/>
        </p:nvSpPr>
        <p:spPr>
          <a:xfrm>
            <a:off x="5937250" y="1905000"/>
            <a:ext cx="11493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SEQUENCE</a:t>
            </a:r>
          </a:p>
        </p:txBody>
      </p:sp>
      <p:sp>
        <p:nvSpPr>
          <p:cNvPr id="1184" name="Shape 1184"/>
          <p:cNvSpPr/>
          <p:nvPr/>
        </p:nvSpPr>
        <p:spPr>
          <a:xfrm>
            <a:off x="5937250" y="2387600"/>
            <a:ext cx="431800" cy="431800"/>
          </a:xfrm>
          <a:prstGeom prst="ellipse">
            <a:avLst/>
          </a:prstGeom>
          <a:solidFill>
            <a:srgbClr val="0E2A47"/>
          </a:solidFill>
          <a:ln>
            <a:noFill/>
          </a:ln>
        </p:spPr>
        <p:txBody>
          <a:bodyPr/>
          <a:lstStyle/>
          <a:p>
            <a:endParaRPr lang="en-US"/>
          </a:p>
        </p:txBody>
      </p:sp>
      <p:sp>
        <p:nvSpPr>
          <p:cNvPr id="1185" name="Text 1185"/>
          <p:cNvSpPr txBox="1"/>
          <p:nvPr/>
        </p:nvSpPr>
        <p:spPr>
          <a:xfrm>
            <a:off x="5937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186" name="Text 1186"/>
          <p:cNvSpPr txBox="1"/>
          <p:nvPr/>
        </p:nvSpPr>
        <p:spPr>
          <a:xfrm>
            <a:off x="6597650" y="23622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Approach on your own system</a:t>
            </a:r>
          </a:p>
          <a:p>
            <a:pPr marL="0" indent="0" algn="l">
              <a:lnSpc>
                <a:spcPct val="110000"/>
              </a:lnSpc>
              <a:spcBef>
                <a:spcPts val="300"/>
              </a:spcBef>
              <a:buNone/>
            </a:pPr>
            <a:r>
              <a:rPr lang="en-US" sz="1500" dirty="0">
                <a:solidFill>
                  <a:srgbClr val="41505E"/>
                </a:solidFill>
                <a:latin typeface="Arial"/>
                <a:cs typeface="Arial"/>
              </a:rPr>
              <a:t>Ascend or descend to just below the casualty</a:t>
            </a:r>
          </a:p>
        </p:txBody>
      </p:sp>
      <p:sp>
        <p:nvSpPr>
          <p:cNvPr id="1187" name="Shape 1187"/>
          <p:cNvSpPr/>
          <p:nvPr/>
        </p:nvSpPr>
        <p:spPr>
          <a:xfrm>
            <a:off x="5937250" y="3556000"/>
            <a:ext cx="431800" cy="431800"/>
          </a:xfrm>
          <a:prstGeom prst="ellipse">
            <a:avLst/>
          </a:prstGeom>
          <a:solidFill>
            <a:srgbClr val="0E2A47"/>
          </a:solidFill>
          <a:ln>
            <a:noFill/>
          </a:ln>
        </p:spPr>
        <p:txBody>
          <a:bodyPr/>
          <a:lstStyle/>
          <a:p>
            <a:endParaRPr lang="en-US"/>
          </a:p>
        </p:txBody>
      </p:sp>
      <p:sp>
        <p:nvSpPr>
          <p:cNvPr id="1188" name="Text 1188"/>
          <p:cNvSpPr txBox="1"/>
          <p:nvPr/>
        </p:nvSpPr>
        <p:spPr>
          <a:xfrm>
            <a:off x="5937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189" name="Text 1189"/>
          <p:cNvSpPr txBox="1"/>
          <p:nvPr/>
        </p:nvSpPr>
        <p:spPr>
          <a:xfrm>
            <a:off x="6597650" y="35306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Connect the casualty to you</a:t>
            </a:r>
          </a:p>
          <a:p>
            <a:pPr marL="0" indent="0" algn="l">
              <a:lnSpc>
                <a:spcPct val="110000"/>
              </a:lnSpc>
              <a:spcBef>
                <a:spcPts val="300"/>
              </a:spcBef>
              <a:buNone/>
            </a:pPr>
            <a:r>
              <a:rPr lang="en-US" sz="1500" dirty="0">
                <a:solidFill>
                  <a:srgbClr val="41505E"/>
                </a:solidFill>
                <a:latin typeface="Arial"/>
                <a:cs typeface="Arial"/>
              </a:rPr>
              <a:t>Short connection to your attachment point</a:t>
            </a:r>
          </a:p>
        </p:txBody>
      </p:sp>
      <p:sp>
        <p:nvSpPr>
          <p:cNvPr id="1190" name="Shape 1190"/>
          <p:cNvSpPr/>
          <p:nvPr/>
        </p:nvSpPr>
        <p:spPr>
          <a:xfrm>
            <a:off x="5937250" y="4724400"/>
            <a:ext cx="431800" cy="431800"/>
          </a:xfrm>
          <a:prstGeom prst="ellipse">
            <a:avLst/>
          </a:prstGeom>
          <a:solidFill>
            <a:srgbClr val="0E2A47"/>
          </a:solidFill>
          <a:ln>
            <a:noFill/>
          </a:ln>
        </p:spPr>
        <p:txBody>
          <a:bodyPr/>
          <a:lstStyle/>
          <a:p>
            <a:endParaRPr lang="en-US"/>
          </a:p>
        </p:txBody>
      </p:sp>
      <p:sp>
        <p:nvSpPr>
          <p:cNvPr id="1191" name="Text 1191"/>
          <p:cNvSpPr txBox="1"/>
          <p:nvPr/>
        </p:nvSpPr>
        <p:spPr>
          <a:xfrm>
            <a:off x="5937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192" name="Text 1192"/>
          <p:cNvSpPr txBox="1"/>
          <p:nvPr/>
        </p:nvSpPr>
        <p:spPr>
          <a:xfrm>
            <a:off x="6597650" y="46990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Transfer their weight to your descender</a:t>
            </a:r>
          </a:p>
          <a:p>
            <a:pPr marL="0" indent="0" algn="l">
              <a:lnSpc>
                <a:spcPct val="110000"/>
              </a:lnSpc>
              <a:spcBef>
                <a:spcPts val="300"/>
              </a:spcBef>
              <a:buNone/>
            </a:pPr>
            <a:r>
              <a:rPr lang="en-US" sz="1500" dirty="0">
                <a:solidFill>
                  <a:srgbClr val="41505E"/>
                </a:solidFill>
                <a:latin typeface="Arial"/>
                <a:cs typeface="Arial"/>
              </a:rPr>
              <a:t>Release their descender only after yours is loaded</a:t>
            </a:r>
          </a:p>
        </p:txBody>
      </p:sp>
      <p:sp>
        <p:nvSpPr>
          <p:cNvPr id="1193" name="Shape 1193"/>
          <p:cNvSpPr/>
          <p:nvPr/>
        </p:nvSpPr>
        <p:spPr>
          <a:xfrm>
            <a:off x="5937250" y="5892800"/>
            <a:ext cx="431800" cy="431800"/>
          </a:xfrm>
          <a:prstGeom prst="ellipse">
            <a:avLst/>
          </a:prstGeom>
          <a:solidFill>
            <a:srgbClr val="0E2A47"/>
          </a:solidFill>
          <a:ln>
            <a:noFill/>
          </a:ln>
        </p:spPr>
        <p:txBody>
          <a:bodyPr/>
          <a:lstStyle/>
          <a:p>
            <a:endParaRPr lang="en-US"/>
          </a:p>
        </p:txBody>
      </p:sp>
      <p:sp>
        <p:nvSpPr>
          <p:cNvPr id="1194" name="Text 1194"/>
          <p:cNvSpPr txBox="1"/>
          <p:nvPr/>
        </p:nvSpPr>
        <p:spPr>
          <a:xfrm>
            <a:off x="5937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195" name="Text 1195"/>
          <p:cNvSpPr txBox="1"/>
          <p:nvPr/>
        </p:nvSpPr>
        <p:spPr>
          <a:xfrm>
            <a:off x="6597650" y="58674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Manage both backups</a:t>
            </a:r>
          </a:p>
          <a:p>
            <a:pPr marL="0" indent="0" algn="l">
              <a:lnSpc>
                <a:spcPct val="110000"/>
              </a:lnSpc>
              <a:spcBef>
                <a:spcPts val="300"/>
              </a:spcBef>
              <a:buNone/>
            </a:pPr>
            <a:r>
              <a:rPr lang="en-US" sz="1500" dirty="0">
                <a:solidFill>
                  <a:srgbClr val="41505E"/>
                </a:solidFill>
                <a:latin typeface="Arial"/>
                <a:cs typeface="Arial"/>
              </a:rPr>
              <a:t>Casualty backup removed last</a:t>
            </a:r>
          </a:p>
        </p:txBody>
      </p:sp>
      <p:sp>
        <p:nvSpPr>
          <p:cNvPr id="1196" name="Shape 1196"/>
          <p:cNvSpPr/>
          <p:nvPr/>
        </p:nvSpPr>
        <p:spPr>
          <a:xfrm>
            <a:off x="5937250" y="7061200"/>
            <a:ext cx="431800" cy="431800"/>
          </a:xfrm>
          <a:prstGeom prst="ellipse">
            <a:avLst/>
          </a:prstGeom>
          <a:solidFill>
            <a:srgbClr val="0E2A47"/>
          </a:solidFill>
          <a:ln>
            <a:noFill/>
          </a:ln>
        </p:spPr>
        <p:txBody>
          <a:bodyPr/>
          <a:lstStyle/>
          <a:p>
            <a:endParaRPr lang="en-US"/>
          </a:p>
        </p:txBody>
      </p:sp>
      <p:sp>
        <p:nvSpPr>
          <p:cNvPr id="1197" name="Text 1197"/>
          <p:cNvSpPr txBox="1"/>
          <p:nvPr/>
        </p:nvSpPr>
        <p:spPr>
          <a:xfrm>
            <a:off x="5937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198" name="Text 1198"/>
          <p:cNvSpPr txBox="1"/>
          <p:nvPr/>
        </p:nvSpPr>
        <p:spPr>
          <a:xfrm>
            <a:off x="6597650" y="7035800"/>
            <a:ext cx="1083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Descend together</a:t>
            </a:r>
          </a:p>
          <a:p>
            <a:pPr marL="0" indent="0" algn="l">
              <a:lnSpc>
                <a:spcPct val="110000"/>
              </a:lnSpc>
              <a:spcBef>
                <a:spcPts val="300"/>
              </a:spcBef>
              <a:buNone/>
            </a:pPr>
            <a:r>
              <a:rPr lang="en-US" sz="1500" dirty="0">
                <a:solidFill>
                  <a:srgbClr val="41505E"/>
                </a:solidFill>
                <a:latin typeface="Arial"/>
                <a:cs typeface="Arial"/>
              </a:rPr>
              <a:t>Slow and controlled; hand over at the ground</a:t>
            </a:r>
          </a:p>
        </p:txBody>
      </p:sp>
      <p:sp>
        <p:nvSpPr>
          <p:cNvPr id="1199" name="Shape 1199"/>
          <p:cNvSpPr/>
          <p:nvPr/>
        </p:nvSpPr>
        <p:spPr>
          <a:xfrm>
            <a:off x="5937250" y="8483600"/>
            <a:ext cx="11493500" cy="914400"/>
          </a:xfrm>
          <a:prstGeom prst="rect">
            <a:avLst/>
          </a:prstGeom>
          <a:solidFill>
            <a:srgbClr val="0E2A47"/>
          </a:solidFill>
          <a:ln>
            <a:noFill/>
          </a:ln>
        </p:spPr>
        <p:txBody>
          <a:bodyPr/>
          <a:lstStyle/>
          <a:p>
            <a:endParaRPr lang="en-US"/>
          </a:p>
        </p:txBody>
      </p:sp>
      <p:sp>
        <p:nvSpPr>
          <p:cNvPr id="1200" name="Text 1200"/>
          <p:cNvSpPr txBox="1"/>
          <p:nvPr/>
        </p:nvSpPr>
        <p:spPr>
          <a:xfrm>
            <a:off x="6292850" y="8483600"/>
            <a:ext cx="10782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The key step: </a:t>
            </a:r>
            <a:r>
              <a:rPr lang="en-US" sz="1600" dirty="0">
                <a:solidFill>
                  <a:srgbClr val="C7D4E1"/>
                </a:solidFill>
                <a:latin typeface="Arial"/>
                <a:cs typeface="Arial"/>
              </a:rPr>
              <a:t>a controlled transfer of the casualty’s weight onto the rescuer’s system.</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47">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Shape 1"/>
          <p:cNvSpPr/>
          <p:nvPr/>
        </p:nvSpPr>
        <p:spPr>
          <a:xfrm>
            <a:off x="12070110" y="0"/>
            <a:ext cx="6217890" cy="10287000"/>
          </a:xfrm>
          <a:prstGeom prst="rect">
            <a:avLst/>
          </a:prstGeom>
          <a:solidFill>
            <a:srgbClr val="0E2A47"/>
          </a:solidFill>
          <a:ln/>
        </p:spPr>
        <p:txBody>
          <a:bodyPr/>
          <a:lstStyle/>
          <a:p>
            <a:endParaRPr lang="en-US"/>
          </a:p>
        </p:txBody>
      </p:sp>
      <p:sp>
        <p:nvSpPr>
          <p:cNvPr id="4" name="Shape 2"/>
          <p:cNvSpPr/>
          <p:nvPr/>
        </p:nvSpPr>
        <p:spPr>
          <a:xfrm>
            <a:off x="12070110" y="0"/>
            <a:ext cx="28575" cy="10287000"/>
          </a:xfrm>
          <a:prstGeom prst="rect">
            <a:avLst/>
          </a:prstGeom>
          <a:solidFill>
            <a:srgbClr val="F26A1B"/>
          </a:solidFill>
          <a:ln/>
        </p:spPr>
        <p:txBody>
          <a:bodyPr/>
          <a:lstStyle/>
          <a:p>
            <a:endParaRPr lang="en-US"/>
          </a:p>
        </p:txBody>
      </p:sp>
      <p:sp>
        <p:nvSpPr>
          <p:cNvPr id="7" name="Text 5"/>
          <p:cNvSpPr/>
          <p:nvPr/>
        </p:nvSpPr>
        <p:spPr>
          <a:xfrm>
            <a:off x="857250" y="3625304"/>
            <a:ext cx="112653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CLASSROOM → PRACTICAL</a:t>
            </a:r>
            <a:endParaRPr lang="en-US" sz="975" dirty="0"/>
          </a:p>
        </p:txBody>
      </p:sp>
      <p:sp>
        <p:nvSpPr>
          <p:cNvPr id="8" name="Text 6"/>
          <p:cNvSpPr/>
          <p:nvPr/>
        </p:nvSpPr>
        <p:spPr>
          <a:xfrm>
            <a:off x="857250" y="3901529"/>
            <a:ext cx="11265359"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Arial" pitchFamily="34" charset="0"/>
                <a:ea typeface="Arial" pitchFamily="34" charset="-122"/>
                <a:cs typeface="Arial" pitchFamily="34" charset="-120"/>
              </a:rPr>
              <a:t>Day 3 Practical Training Plan</a:t>
            </a:r>
            <a:endParaRPr lang="en-US" sz="3300" dirty="0"/>
          </a:p>
        </p:txBody>
      </p:sp>
      <p:sp>
        <p:nvSpPr>
          <p:cNvPr id="9" name="Text 7"/>
          <p:cNvSpPr/>
          <p:nvPr/>
        </p:nvSpPr>
        <p:spPr>
          <a:xfrm>
            <a:off x="857250" y="4668292"/>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081534" y="4654004"/>
            <a:ext cx="3483196"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Anchor identification and rigging exercises</a:t>
            </a:r>
            <a:endParaRPr lang="en-US" sz="1350" dirty="0"/>
          </a:p>
        </p:txBody>
      </p:sp>
      <p:sp>
        <p:nvSpPr>
          <p:cNvPr id="11" name="Text 9"/>
          <p:cNvSpPr/>
          <p:nvPr/>
        </p:nvSpPr>
        <p:spPr>
          <a:xfrm>
            <a:off x="857250" y="502354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2" name="Text 10"/>
          <p:cNvSpPr/>
          <p:nvPr/>
        </p:nvSpPr>
        <p:spPr>
          <a:xfrm>
            <a:off x="1081534" y="5009257"/>
            <a:ext cx="3945210"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Angle / load demonstrations and system critique</a:t>
            </a:r>
            <a:endParaRPr lang="en-US" sz="1350" dirty="0"/>
          </a:p>
        </p:txBody>
      </p:sp>
      <p:sp>
        <p:nvSpPr>
          <p:cNvPr id="13" name="Text 11"/>
          <p:cNvSpPr/>
          <p:nvPr/>
        </p:nvSpPr>
        <p:spPr>
          <a:xfrm>
            <a:off x="857250" y="5378797"/>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4" name="Text 12"/>
          <p:cNvSpPr/>
          <p:nvPr/>
        </p:nvSpPr>
        <p:spPr>
          <a:xfrm>
            <a:off x="1081534" y="5364510"/>
            <a:ext cx="2520953"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Lowering and hauling systems</a:t>
            </a:r>
            <a:endParaRPr lang="en-US" sz="1350" dirty="0"/>
          </a:p>
        </p:txBody>
      </p:sp>
      <p:sp>
        <p:nvSpPr>
          <p:cNvPr id="15" name="Text 13"/>
          <p:cNvSpPr/>
          <p:nvPr/>
        </p:nvSpPr>
        <p:spPr>
          <a:xfrm>
            <a:off x="857250" y="5734050"/>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081534" y="5719763"/>
            <a:ext cx="393544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Releasable rigging / edge-management stations</a:t>
            </a:r>
            <a:endParaRPr lang="en-US" sz="1350" dirty="0"/>
          </a:p>
        </p:txBody>
      </p:sp>
      <p:sp>
        <p:nvSpPr>
          <p:cNvPr id="17" name="Text 15"/>
          <p:cNvSpPr/>
          <p:nvPr/>
        </p:nvSpPr>
        <p:spPr>
          <a:xfrm>
            <a:off x="857250" y="6089303"/>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1081534" y="6075015"/>
            <a:ext cx="2258286"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Level 1 rescue progression</a:t>
            </a:r>
            <a:endParaRPr lang="en-US" sz="1350" dirty="0"/>
          </a:p>
        </p:txBody>
      </p:sp>
      <p:sp>
        <p:nvSpPr>
          <p:cNvPr id="19" name="Text 17"/>
          <p:cNvSpPr/>
          <p:nvPr/>
        </p:nvSpPr>
        <p:spPr>
          <a:xfrm>
            <a:off x="857250" y="644455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1081534" y="6430268"/>
            <a:ext cx="2995706"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Level 2 obstacle-rescue progression</a:t>
            </a:r>
            <a:endParaRPr lang="en-US" sz="1350" dirty="0"/>
          </a:p>
        </p:txBody>
      </p:sp>
      <p:sp>
        <p:nvSpPr>
          <p:cNvPr id="21" name="Shape 19"/>
          <p:cNvSpPr/>
          <p:nvPr/>
        </p:nvSpPr>
        <p:spPr>
          <a:xfrm>
            <a:off x="0" y="9753600"/>
            <a:ext cx="18288000" cy="9525"/>
          </a:xfrm>
          <a:prstGeom prst="rect">
            <a:avLst/>
          </a:prstGeom>
          <a:solidFill>
            <a:srgbClr val="1C3551"/>
          </a:solidFill>
          <a:ln/>
        </p:spPr>
        <p:txBody>
          <a:bodyPr/>
          <a:lstStyle/>
          <a:p>
            <a:endParaRPr lang="en-US"/>
          </a:p>
        </p:txBody>
      </p:sp>
      <p:sp>
        <p:nvSpPr>
          <p:cNvPr id="22" name="Text 20"/>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3" name="Text 21"/>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DAY 3 · PRACTICAL</a:t>
            </a:r>
            <a:endParaRPr lang="en-US" sz="900" dirty="0"/>
          </a:p>
        </p:txBody>
      </p:sp>
      <p:sp>
        <p:nvSpPr>
          <p:cNvPr id="24" name="Text 22"/>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78</a:t>
            </a:r>
            <a:endParaRPr lang="en-US" sz="900" dirty="0"/>
          </a:p>
        </p:txBody>
      </p:sp>
      <p:sp>
        <p:nvSpPr>
          <p:cNvPr id="901" name="Text 901"/>
          <p:cNvSpPr txBox="1"/>
          <p:nvPr/>
        </p:nvSpPr>
        <p:spPr>
          <a:xfrm>
            <a:off x="12700000" y="3175000"/>
            <a:ext cx="5080000" cy="5334000"/>
          </a:xfrm>
          <a:prstGeom prst="rect">
            <a:avLst/>
          </a:prstGeom>
          <a:noFill/>
        </p:spPr>
        <p:txBody>
          <a:bodyPr wrap="square" lIns="0" tIns="0" rIns="0" bIns="0" anchor="t">
            <a:noAutofit/>
          </a:bodyPr>
          <a:lstStyle/>
          <a:p>
            <a:pPr marL="0" indent="0">
              <a:lnSpc>
                <a:spcPct val="112000"/>
              </a:lnSpc>
              <a:buNone/>
            </a:pPr>
            <a:r>
              <a:rPr lang="en-US" sz="1100" b="1" spc="150" dirty="0">
                <a:solidFill>
                  <a:srgbClr val="F26A1B"/>
                </a:solidFill>
                <a:latin typeface="Courier New"/>
                <a:cs typeface="Courier New"/>
              </a:rPr>
              <a:t>SPRAT TASKS PRACTICED TODAY</a:t>
            </a:r>
          </a:p>
          <a:p>
            <a:pPr marL="0" indent="0">
              <a:lnSpc>
                <a:spcPct val="112000"/>
              </a:lnSpc>
              <a:spcBef>
                <a:spcPts val="2200"/>
              </a:spcBef>
              <a:buNone/>
            </a:pPr>
            <a:r>
              <a:rPr lang="en-US" sz="1700" b="1" dirty="0">
                <a:solidFill>
                  <a:srgbClr val="F26A1B"/>
                </a:solidFill>
                <a:latin typeface="Arial"/>
                <a:cs typeface="Arial"/>
              </a:rPr>
              <a:t>L1  </a:t>
            </a:r>
            <a:r>
              <a:rPr lang="en-US" sz="1700" dirty="0">
                <a:solidFill>
                  <a:srgbClr val="FFFFFF"/>
                </a:solidFill>
                <a:latin typeface="Arial"/>
                <a:cs typeface="Arial"/>
              </a:rPr>
              <a:t>Build a two-rope system</a:t>
            </a:r>
          </a:p>
          <a:p>
            <a:pPr marL="0" indent="0">
              <a:lnSpc>
                <a:spcPct val="112000"/>
              </a:lnSpc>
              <a:spcBef>
                <a:spcPts val="1400"/>
              </a:spcBef>
              <a:buNone/>
            </a:pPr>
            <a:r>
              <a:rPr lang="en-US" sz="1700" b="1" dirty="0">
                <a:solidFill>
                  <a:srgbClr val="F26A1B"/>
                </a:solidFill>
                <a:latin typeface="Arial"/>
                <a:cs typeface="Arial"/>
              </a:rPr>
              <a:t>L1  </a:t>
            </a:r>
            <a:r>
              <a:rPr lang="en-US" sz="1700" dirty="0">
                <a:solidFill>
                  <a:srgbClr val="FFFFFF"/>
                </a:solidFill>
                <a:latin typeface="Arial"/>
                <a:cs typeface="Arial"/>
              </a:rPr>
              <a:t>Raise &amp; lower from the ground</a:t>
            </a:r>
          </a:p>
          <a:p>
            <a:pPr marL="0" indent="0">
              <a:lnSpc>
                <a:spcPct val="112000"/>
              </a:lnSpc>
              <a:spcBef>
                <a:spcPts val="1400"/>
              </a:spcBef>
              <a:buNone/>
            </a:pPr>
            <a:r>
              <a:rPr lang="en-US" sz="1700" b="1" dirty="0">
                <a:solidFill>
                  <a:srgbClr val="F26A1B"/>
                </a:solidFill>
                <a:latin typeface="Arial"/>
                <a:cs typeface="Arial"/>
              </a:rPr>
              <a:t>L1  </a:t>
            </a:r>
            <a:r>
              <a:rPr lang="en-US" sz="1700" dirty="0">
                <a:solidFill>
                  <a:srgbClr val="FFFFFF"/>
                </a:solidFill>
                <a:latin typeface="Arial"/>
                <a:cs typeface="Arial"/>
              </a:rPr>
              <a:t>Pick-off rescue, adjacent ropes</a:t>
            </a:r>
          </a:p>
          <a:p>
            <a:pPr marL="0" indent="0">
              <a:lnSpc>
                <a:spcPct val="112000"/>
              </a:lnSpc>
              <a:spcBef>
                <a:spcPts val="1400"/>
              </a:spcBef>
              <a:buNone/>
            </a:pPr>
            <a:r>
              <a:rPr lang="en-US" sz="1700" b="1" dirty="0">
                <a:solidFill>
                  <a:srgbClr val="F26A1B"/>
                </a:solidFill>
                <a:latin typeface="Arial"/>
                <a:cs typeface="Arial"/>
              </a:rPr>
              <a:t>L2  </a:t>
            </a:r>
            <a:r>
              <a:rPr lang="en-US" sz="1700" dirty="0">
                <a:solidFill>
                  <a:srgbClr val="FFFFFF"/>
                </a:solidFill>
                <a:latin typeface="Arial"/>
                <a:cs typeface="Arial"/>
              </a:rPr>
              <a:t>Remote rescue (lowering) system</a:t>
            </a:r>
          </a:p>
          <a:p>
            <a:pPr marL="0" indent="0">
              <a:lnSpc>
                <a:spcPct val="112000"/>
              </a:lnSpc>
              <a:spcBef>
                <a:spcPts val="1400"/>
              </a:spcBef>
              <a:buNone/>
            </a:pPr>
            <a:r>
              <a:rPr lang="en-US" sz="1700" b="1" dirty="0">
                <a:solidFill>
                  <a:srgbClr val="F26A1B"/>
                </a:solidFill>
                <a:latin typeface="Arial"/>
                <a:cs typeface="Arial"/>
              </a:rPr>
              <a:t>L2  </a:t>
            </a:r>
            <a:r>
              <a:rPr lang="en-US" sz="1700" dirty="0">
                <a:solidFill>
                  <a:srgbClr val="FFFFFF"/>
                </a:solidFill>
                <a:latin typeface="Arial"/>
                <a:cs typeface="Arial"/>
              </a:rPr>
              <a:t>Rescue from fall-arrest lanyards</a:t>
            </a:r>
          </a:p>
          <a:p>
            <a:pPr marL="0" indent="0">
              <a:lnSpc>
                <a:spcPct val="112000"/>
              </a:lnSpc>
              <a:spcBef>
                <a:spcPts val="1400"/>
              </a:spcBef>
              <a:buNone/>
            </a:pPr>
            <a:r>
              <a:rPr lang="en-US" sz="1700" b="1" dirty="0">
                <a:solidFill>
                  <a:srgbClr val="F26A1B"/>
                </a:solidFill>
                <a:latin typeface="Arial"/>
                <a:cs typeface="Arial"/>
              </a:rPr>
              <a:t>L2  </a:t>
            </a:r>
            <a:r>
              <a:rPr lang="en-US" sz="1700" dirty="0">
                <a:solidFill>
                  <a:srgbClr val="FFFFFF"/>
                </a:solidFill>
                <a:latin typeface="Arial"/>
                <a:cs typeface="Arial"/>
              </a:rPr>
              <a:t>Same-rope rescue + transfer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48">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4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52450"/>
            <a:ext cx="124409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4 · CLASSROOM</a:t>
            </a:r>
            <a:endParaRPr lang="en-US" sz="975" dirty="0"/>
          </a:p>
        </p:txBody>
      </p:sp>
      <p:sp>
        <p:nvSpPr>
          <p:cNvPr id="3" name="Text 1"/>
          <p:cNvSpPr/>
          <p:nvPr/>
        </p:nvSpPr>
        <p:spPr>
          <a:xfrm>
            <a:off x="857250" y="819150"/>
            <a:ext cx="12930969"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1–2 Hour Classroom — Advanced Skills, Rescue Scenarios &amp; Consolidation</a:t>
            </a:r>
            <a:endParaRPr lang="en-US" sz="2700" dirty="0"/>
          </a:p>
        </p:txBody>
      </p:sp>
      <p:sp>
        <p:nvSpPr>
          <p:cNvPr id="52" name="Shape 50"/>
          <p:cNvSpPr/>
          <p:nvPr/>
        </p:nvSpPr>
        <p:spPr>
          <a:xfrm>
            <a:off x="857250" y="9115425"/>
            <a:ext cx="16573500" cy="485775"/>
          </a:xfrm>
          <a:prstGeom prst="roundRect">
            <a:avLst>
              <a:gd name="adj" fmla="val 7843"/>
            </a:avLst>
          </a:prstGeom>
          <a:solidFill>
            <a:srgbClr val="0E2A47"/>
          </a:solidFill>
          <a:ln/>
        </p:spPr>
        <p:txBody>
          <a:bodyPr/>
          <a:lstStyle/>
          <a:p>
            <a:endParaRPr lang="en-US"/>
          </a:p>
        </p:txBody>
      </p:sp>
      <p:sp>
        <p:nvSpPr>
          <p:cNvPr id="53" name="Text 51"/>
          <p:cNvSpPr/>
          <p:nvPr/>
        </p:nvSpPr>
        <p:spPr>
          <a:xfrm>
            <a:off x="1104900" y="9298781"/>
            <a:ext cx="1310155" cy="157163"/>
          </a:xfrm>
          <a:prstGeom prst="rect">
            <a:avLst/>
          </a:prstGeom>
          <a:noFill/>
          <a:ln/>
        </p:spPr>
        <p:txBody>
          <a:bodyPr wrap="non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INSTRUCTOR NOTE</a:t>
            </a:r>
            <a:endParaRPr lang="en-US" sz="825" dirty="0"/>
          </a:p>
        </p:txBody>
      </p:sp>
      <p:sp>
        <p:nvSpPr>
          <p:cNvPr id="54" name="Text 52"/>
          <p:cNvSpPr/>
          <p:nvPr/>
        </p:nvSpPr>
        <p:spPr>
          <a:xfrm>
            <a:off x="2458566" y="9258300"/>
            <a:ext cx="9111823" cy="238125"/>
          </a:xfrm>
          <a:prstGeom prst="rect">
            <a:avLst/>
          </a:prstGeom>
          <a:noFill/>
          <a:ln/>
        </p:spPr>
        <p:txBody>
          <a:bodyPr wrap="square" lIns="25400" tIns="25400" rIns="25400" bIns="25400" rtlCol="0" anchor="t">
            <a:normAutofit/>
          </a:bodyPr>
          <a:lstStyle/>
          <a:p>
            <a:pPr marL="0" indent="0" algn="l">
              <a:lnSpc>
                <a:spcPct val="123529"/>
              </a:lnSpc>
              <a:buNone/>
            </a:pPr>
            <a:r>
              <a:rPr lang="en-US" sz="1125" dirty="0">
                <a:solidFill>
                  <a:srgbClr val="C7D4E1"/>
                </a:solidFill>
                <a:latin typeface="Arial" pitchFamily="34" charset="0"/>
                <a:ea typeface="Arial" pitchFamily="34" charset="-122"/>
                <a:cs typeface="Arial" pitchFamily="34" charset="-120"/>
              </a:rPr>
              <a:t>Today is where judgment matters more than technique. Emphasize simplicity, command and rescue foresight over adding components.</a:t>
            </a:r>
            <a:endParaRPr lang="en-US" sz="1125" dirty="0"/>
          </a:p>
        </p:txBody>
      </p:sp>
      <p:sp>
        <p:nvSpPr>
          <p:cNvPr id="55" name="Shape 53"/>
          <p:cNvSpPr/>
          <p:nvPr/>
        </p:nvSpPr>
        <p:spPr>
          <a:xfrm>
            <a:off x="0" y="9753600"/>
            <a:ext cx="18288000" cy="9525"/>
          </a:xfrm>
          <a:prstGeom prst="rect">
            <a:avLst/>
          </a:prstGeom>
          <a:solidFill>
            <a:srgbClr val="E1E6EC"/>
          </a:solidFill>
          <a:ln/>
        </p:spPr>
        <p:txBody>
          <a:bodyPr/>
          <a:lstStyle/>
          <a:p>
            <a:endParaRPr lang="en-US"/>
          </a:p>
        </p:txBody>
      </p:sp>
      <p:sp>
        <p:nvSpPr>
          <p:cNvPr id="56" name="Text 5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7" name="Text 5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 · AGENDA</a:t>
            </a:r>
            <a:endParaRPr lang="en-US" sz="900" dirty="0"/>
          </a:p>
        </p:txBody>
      </p:sp>
      <p:sp>
        <p:nvSpPr>
          <p:cNvPr id="58" name="Text 5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80</a:t>
            </a:r>
            <a:endParaRPr lang="en-US" sz="900" dirty="0"/>
          </a:p>
        </p:txBody>
      </p:sp>
      <p:sp>
        <p:nvSpPr>
          <p:cNvPr id="796" name="Shape 796"/>
          <p:cNvSpPr/>
          <p:nvPr/>
        </p:nvSpPr>
        <p:spPr>
          <a:xfrm>
            <a:off x="857250" y="4132527"/>
            <a:ext cx="8159750" cy="19050"/>
          </a:xfrm>
          <a:prstGeom prst="rect">
            <a:avLst/>
          </a:prstGeom>
          <a:solidFill>
            <a:srgbClr val="E2E7ED"/>
          </a:solidFill>
          <a:ln>
            <a:noFill/>
          </a:ln>
        </p:spPr>
        <p:txBody>
          <a:bodyPr/>
          <a:lstStyle/>
          <a:p>
            <a:endParaRPr lang="en-US"/>
          </a:p>
        </p:txBody>
      </p:sp>
      <p:sp>
        <p:nvSpPr>
          <p:cNvPr id="797" name="Shape 797"/>
          <p:cNvSpPr/>
          <p:nvPr/>
        </p:nvSpPr>
        <p:spPr>
          <a:xfrm>
            <a:off x="857250" y="1905000"/>
            <a:ext cx="8159750" cy="2227527"/>
          </a:xfrm>
          <a:prstGeom prst="rect">
            <a:avLst/>
          </a:prstGeom>
          <a:solidFill>
            <a:srgbClr val="FFFFFF"/>
          </a:solidFill>
          <a:ln>
            <a:noFill/>
          </a:ln>
        </p:spPr>
        <p:txBody>
          <a:bodyPr/>
          <a:lstStyle/>
          <a:p>
            <a:endParaRPr lang="en-US"/>
          </a:p>
        </p:txBody>
      </p:sp>
      <p:sp>
        <p:nvSpPr>
          <p:cNvPr id="798" name="Shape 798"/>
          <p:cNvSpPr/>
          <p:nvPr/>
        </p:nvSpPr>
        <p:spPr>
          <a:xfrm>
            <a:off x="857250" y="1905000"/>
            <a:ext cx="76200" cy="2227527"/>
          </a:xfrm>
          <a:prstGeom prst="rect">
            <a:avLst/>
          </a:prstGeom>
          <a:solidFill>
            <a:srgbClr val="F26A1B"/>
          </a:solidFill>
          <a:ln>
            <a:noFill/>
          </a:ln>
        </p:spPr>
        <p:txBody>
          <a:bodyPr/>
          <a:lstStyle/>
          <a:p>
            <a:endParaRPr lang="en-US"/>
          </a:p>
        </p:txBody>
      </p:sp>
      <p:sp>
        <p:nvSpPr>
          <p:cNvPr id="799" name="Text 799"/>
          <p:cNvSpPr txBox="1"/>
          <p:nvPr/>
        </p:nvSpPr>
        <p:spPr>
          <a:xfrm>
            <a:off x="121285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01</a:t>
            </a:r>
          </a:p>
        </p:txBody>
      </p:sp>
      <p:sp>
        <p:nvSpPr>
          <p:cNvPr id="800" name="Text 800"/>
          <p:cNvSpPr txBox="1"/>
          <p:nvPr/>
        </p:nvSpPr>
        <p:spPr>
          <a:xfrm>
            <a:off x="207645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Advanced rigging &amp; complex re-anchors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Is this the simplest system that works?</a:t>
            </a:r>
          </a:p>
        </p:txBody>
      </p:sp>
      <p:sp>
        <p:nvSpPr>
          <p:cNvPr id="801" name="Shape 801"/>
          <p:cNvSpPr/>
          <p:nvPr/>
        </p:nvSpPr>
        <p:spPr>
          <a:xfrm>
            <a:off x="9271000" y="4132527"/>
            <a:ext cx="8159750" cy="19050"/>
          </a:xfrm>
          <a:prstGeom prst="rect">
            <a:avLst/>
          </a:prstGeom>
          <a:solidFill>
            <a:srgbClr val="E2E7ED"/>
          </a:solidFill>
          <a:ln>
            <a:noFill/>
          </a:ln>
        </p:spPr>
        <p:txBody>
          <a:bodyPr/>
          <a:lstStyle/>
          <a:p>
            <a:endParaRPr lang="en-US"/>
          </a:p>
        </p:txBody>
      </p:sp>
      <p:sp>
        <p:nvSpPr>
          <p:cNvPr id="802" name="Shape 802"/>
          <p:cNvSpPr/>
          <p:nvPr/>
        </p:nvSpPr>
        <p:spPr>
          <a:xfrm>
            <a:off x="9271000" y="1905000"/>
            <a:ext cx="8159750" cy="2227527"/>
          </a:xfrm>
          <a:prstGeom prst="rect">
            <a:avLst/>
          </a:prstGeom>
          <a:solidFill>
            <a:srgbClr val="FFFFFF"/>
          </a:solidFill>
          <a:ln>
            <a:noFill/>
          </a:ln>
        </p:spPr>
        <p:txBody>
          <a:bodyPr/>
          <a:lstStyle/>
          <a:p>
            <a:endParaRPr lang="en-US"/>
          </a:p>
        </p:txBody>
      </p:sp>
      <p:sp>
        <p:nvSpPr>
          <p:cNvPr id="803" name="Shape 803"/>
          <p:cNvSpPr/>
          <p:nvPr/>
        </p:nvSpPr>
        <p:spPr>
          <a:xfrm>
            <a:off x="9271000" y="1905000"/>
            <a:ext cx="76200" cy="2227527"/>
          </a:xfrm>
          <a:prstGeom prst="rect">
            <a:avLst/>
          </a:prstGeom>
          <a:solidFill>
            <a:srgbClr val="F26A1B"/>
          </a:solidFill>
          <a:ln>
            <a:noFill/>
          </a:ln>
        </p:spPr>
        <p:txBody>
          <a:bodyPr/>
          <a:lstStyle/>
          <a:p>
            <a:endParaRPr lang="en-US"/>
          </a:p>
        </p:txBody>
      </p:sp>
      <p:sp>
        <p:nvSpPr>
          <p:cNvPr id="804" name="Text 804"/>
          <p:cNvSpPr txBox="1"/>
          <p:nvPr/>
        </p:nvSpPr>
        <p:spPr>
          <a:xfrm>
            <a:off x="962660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02</a:t>
            </a:r>
          </a:p>
        </p:txBody>
      </p:sp>
      <p:sp>
        <p:nvSpPr>
          <p:cNvPr id="805" name="Text 805"/>
          <p:cNvSpPr txBox="1"/>
          <p:nvPr/>
        </p:nvSpPr>
        <p:spPr>
          <a:xfrm>
            <a:off x="1049020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Horizontal / tensioned systems &amp; aid climbing</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does tension do to the anchors?</a:t>
            </a:r>
          </a:p>
        </p:txBody>
      </p:sp>
      <p:sp>
        <p:nvSpPr>
          <p:cNvPr id="806" name="Shape 806"/>
          <p:cNvSpPr/>
          <p:nvPr/>
        </p:nvSpPr>
        <p:spPr>
          <a:xfrm>
            <a:off x="857250" y="6563254"/>
            <a:ext cx="8159750" cy="19050"/>
          </a:xfrm>
          <a:prstGeom prst="rect">
            <a:avLst/>
          </a:prstGeom>
          <a:solidFill>
            <a:srgbClr val="E2E7ED"/>
          </a:solidFill>
          <a:ln>
            <a:noFill/>
          </a:ln>
        </p:spPr>
        <p:txBody>
          <a:bodyPr/>
          <a:lstStyle/>
          <a:p>
            <a:endParaRPr lang="en-US"/>
          </a:p>
        </p:txBody>
      </p:sp>
      <p:sp>
        <p:nvSpPr>
          <p:cNvPr id="807" name="Shape 807"/>
          <p:cNvSpPr/>
          <p:nvPr/>
        </p:nvSpPr>
        <p:spPr>
          <a:xfrm>
            <a:off x="857250" y="4335727"/>
            <a:ext cx="8159750" cy="2227527"/>
          </a:xfrm>
          <a:prstGeom prst="rect">
            <a:avLst/>
          </a:prstGeom>
          <a:solidFill>
            <a:srgbClr val="FFFFFF"/>
          </a:solidFill>
          <a:ln>
            <a:noFill/>
          </a:ln>
        </p:spPr>
        <p:txBody>
          <a:bodyPr/>
          <a:lstStyle/>
          <a:p>
            <a:endParaRPr lang="en-US"/>
          </a:p>
        </p:txBody>
      </p:sp>
      <p:sp>
        <p:nvSpPr>
          <p:cNvPr id="808" name="Shape 808"/>
          <p:cNvSpPr/>
          <p:nvPr/>
        </p:nvSpPr>
        <p:spPr>
          <a:xfrm>
            <a:off x="857250" y="4335727"/>
            <a:ext cx="76200" cy="2227527"/>
          </a:xfrm>
          <a:prstGeom prst="rect">
            <a:avLst/>
          </a:prstGeom>
          <a:solidFill>
            <a:srgbClr val="F26A1B"/>
          </a:solidFill>
          <a:ln>
            <a:noFill/>
          </a:ln>
        </p:spPr>
        <p:txBody>
          <a:bodyPr/>
          <a:lstStyle/>
          <a:p>
            <a:endParaRPr lang="en-US"/>
          </a:p>
        </p:txBody>
      </p:sp>
      <p:sp>
        <p:nvSpPr>
          <p:cNvPr id="809" name="Text 809"/>
          <p:cNvSpPr txBox="1"/>
          <p:nvPr/>
        </p:nvSpPr>
        <p:spPr>
          <a:xfrm>
            <a:off x="121285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03</a:t>
            </a:r>
          </a:p>
        </p:txBody>
      </p:sp>
      <p:sp>
        <p:nvSpPr>
          <p:cNvPr id="810" name="Text 810"/>
          <p:cNvSpPr txBox="1"/>
          <p:nvPr/>
        </p:nvSpPr>
        <p:spPr>
          <a:xfrm>
            <a:off x="207645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Complex casualty movement</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Who commands the load?</a:t>
            </a:r>
          </a:p>
        </p:txBody>
      </p:sp>
      <p:sp>
        <p:nvSpPr>
          <p:cNvPr id="811" name="Shape 811"/>
          <p:cNvSpPr/>
          <p:nvPr/>
        </p:nvSpPr>
        <p:spPr>
          <a:xfrm>
            <a:off x="9271000" y="6563254"/>
            <a:ext cx="8159750" cy="19050"/>
          </a:xfrm>
          <a:prstGeom prst="rect">
            <a:avLst/>
          </a:prstGeom>
          <a:solidFill>
            <a:srgbClr val="E2E7ED"/>
          </a:solidFill>
          <a:ln>
            <a:noFill/>
          </a:ln>
        </p:spPr>
        <p:txBody>
          <a:bodyPr/>
          <a:lstStyle/>
          <a:p>
            <a:endParaRPr lang="en-US"/>
          </a:p>
        </p:txBody>
      </p:sp>
      <p:sp>
        <p:nvSpPr>
          <p:cNvPr id="812" name="Shape 812"/>
          <p:cNvSpPr/>
          <p:nvPr/>
        </p:nvSpPr>
        <p:spPr>
          <a:xfrm>
            <a:off x="9271000" y="4335727"/>
            <a:ext cx="8159750" cy="2227527"/>
          </a:xfrm>
          <a:prstGeom prst="rect">
            <a:avLst/>
          </a:prstGeom>
          <a:solidFill>
            <a:srgbClr val="FFFFFF"/>
          </a:solidFill>
          <a:ln>
            <a:noFill/>
          </a:ln>
        </p:spPr>
        <p:txBody>
          <a:bodyPr/>
          <a:lstStyle/>
          <a:p>
            <a:endParaRPr lang="en-US"/>
          </a:p>
        </p:txBody>
      </p:sp>
      <p:sp>
        <p:nvSpPr>
          <p:cNvPr id="813" name="Shape 813"/>
          <p:cNvSpPr/>
          <p:nvPr/>
        </p:nvSpPr>
        <p:spPr>
          <a:xfrm>
            <a:off x="9271000" y="4335727"/>
            <a:ext cx="76200" cy="2227527"/>
          </a:xfrm>
          <a:prstGeom prst="rect">
            <a:avLst/>
          </a:prstGeom>
          <a:solidFill>
            <a:srgbClr val="F26A1B"/>
          </a:solidFill>
          <a:ln>
            <a:noFill/>
          </a:ln>
        </p:spPr>
        <p:txBody>
          <a:bodyPr/>
          <a:lstStyle/>
          <a:p>
            <a:endParaRPr lang="en-US"/>
          </a:p>
        </p:txBody>
      </p:sp>
      <p:sp>
        <p:nvSpPr>
          <p:cNvPr id="814" name="Text 814"/>
          <p:cNvSpPr txBox="1"/>
          <p:nvPr/>
        </p:nvSpPr>
        <p:spPr>
          <a:xfrm>
            <a:off x="962660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04</a:t>
            </a:r>
          </a:p>
        </p:txBody>
      </p:sp>
      <p:sp>
        <p:nvSpPr>
          <p:cNvPr id="815" name="Text 815"/>
          <p:cNvSpPr txBox="1"/>
          <p:nvPr/>
        </p:nvSpPr>
        <p:spPr>
          <a:xfrm>
            <a:off x="1049020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Level 3 rescue management</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is Plan B?</a:t>
            </a:r>
          </a:p>
        </p:txBody>
      </p:sp>
      <p:sp>
        <p:nvSpPr>
          <p:cNvPr id="816" name="Shape 816"/>
          <p:cNvSpPr/>
          <p:nvPr/>
        </p:nvSpPr>
        <p:spPr>
          <a:xfrm>
            <a:off x="857250" y="8993981"/>
            <a:ext cx="8159750" cy="19050"/>
          </a:xfrm>
          <a:prstGeom prst="rect">
            <a:avLst/>
          </a:prstGeom>
          <a:solidFill>
            <a:srgbClr val="E2E7ED"/>
          </a:solidFill>
          <a:ln>
            <a:noFill/>
          </a:ln>
        </p:spPr>
        <p:txBody>
          <a:bodyPr/>
          <a:lstStyle/>
          <a:p>
            <a:endParaRPr lang="en-US"/>
          </a:p>
        </p:txBody>
      </p:sp>
      <p:sp>
        <p:nvSpPr>
          <p:cNvPr id="817" name="Shape 817"/>
          <p:cNvSpPr/>
          <p:nvPr/>
        </p:nvSpPr>
        <p:spPr>
          <a:xfrm>
            <a:off x="857250" y="6766454"/>
            <a:ext cx="8159750" cy="2227527"/>
          </a:xfrm>
          <a:prstGeom prst="rect">
            <a:avLst/>
          </a:prstGeom>
          <a:solidFill>
            <a:srgbClr val="FFFFFF"/>
          </a:solidFill>
          <a:ln>
            <a:noFill/>
          </a:ln>
        </p:spPr>
        <p:txBody>
          <a:bodyPr/>
          <a:lstStyle/>
          <a:p>
            <a:endParaRPr lang="en-US"/>
          </a:p>
        </p:txBody>
      </p:sp>
      <p:sp>
        <p:nvSpPr>
          <p:cNvPr id="818" name="Shape 818"/>
          <p:cNvSpPr/>
          <p:nvPr/>
        </p:nvSpPr>
        <p:spPr>
          <a:xfrm>
            <a:off x="857250" y="6766454"/>
            <a:ext cx="76200" cy="2227527"/>
          </a:xfrm>
          <a:prstGeom prst="rect">
            <a:avLst/>
          </a:prstGeom>
          <a:solidFill>
            <a:srgbClr val="F26A1B"/>
          </a:solidFill>
          <a:ln>
            <a:noFill/>
          </a:ln>
        </p:spPr>
        <p:txBody>
          <a:bodyPr/>
          <a:lstStyle/>
          <a:p>
            <a:endParaRPr lang="en-US"/>
          </a:p>
        </p:txBody>
      </p:sp>
      <p:sp>
        <p:nvSpPr>
          <p:cNvPr id="819" name="Text 819"/>
          <p:cNvSpPr txBox="1"/>
          <p:nvPr/>
        </p:nvSpPr>
        <p:spPr>
          <a:xfrm>
            <a:off x="121285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05</a:t>
            </a:r>
          </a:p>
        </p:txBody>
      </p:sp>
      <p:sp>
        <p:nvSpPr>
          <p:cNvPr id="820" name="Text 820"/>
          <p:cNvSpPr txBox="1"/>
          <p:nvPr/>
        </p:nvSpPr>
        <p:spPr>
          <a:xfrm>
            <a:off x="207645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SPRAT level distinctions (L1 · L2 · L3)</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does each SPRAT level add?</a:t>
            </a:r>
          </a:p>
        </p:txBody>
      </p:sp>
      <p:sp>
        <p:nvSpPr>
          <p:cNvPr id="821" name="Shape 821"/>
          <p:cNvSpPr/>
          <p:nvPr/>
        </p:nvSpPr>
        <p:spPr>
          <a:xfrm>
            <a:off x="9271000" y="8993981"/>
            <a:ext cx="8159750" cy="19050"/>
          </a:xfrm>
          <a:prstGeom prst="rect">
            <a:avLst/>
          </a:prstGeom>
          <a:solidFill>
            <a:srgbClr val="E2E7ED"/>
          </a:solidFill>
          <a:ln>
            <a:noFill/>
          </a:ln>
        </p:spPr>
        <p:txBody>
          <a:bodyPr/>
          <a:lstStyle/>
          <a:p>
            <a:endParaRPr lang="en-US"/>
          </a:p>
        </p:txBody>
      </p:sp>
      <p:sp>
        <p:nvSpPr>
          <p:cNvPr id="822" name="Shape 822"/>
          <p:cNvSpPr/>
          <p:nvPr/>
        </p:nvSpPr>
        <p:spPr>
          <a:xfrm>
            <a:off x="9271000" y="6766454"/>
            <a:ext cx="8159750" cy="2227527"/>
          </a:xfrm>
          <a:prstGeom prst="rect">
            <a:avLst/>
          </a:prstGeom>
          <a:solidFill>
            <a:srgbClr val="FFFFFF"/>
          </a:solidFill>
          <a:ln>
            <a:noFill/>
          </a:ln>
        </p:spPr>
        <p:txBody>
          <a:bodyPr/>
          <a:lstStyle/>
          <a:p>
            <a:endParaRPr lang="en-US"/>
          </a:p>
        </p:txBody>
      </p:sp>
      <p:sp>
        <p:nvSpPr>
          <p:cNvPr id="823" name="Shape 823"/>
          <p:cNvSpPr/>
          <p:nvPr/>
        </p:nvSpPr>
        <p:spPr>
          <a:xfrm>
            <a:off x="9271000" y="6766454"/>
            <a:ext cx="76200" cy="2227527"/>
          </a:xfrm>
          <a:prstGeom prst="rect">
            <a:avLst/>
          </a:prstGeom>
          <a:solidFill>
            <a:srgbClr val="F26A1B"/>
          </a:solidFill>
          <a:ln>
            <a:noFill/>
          </a:ln>
        </p:spPr>
        <p:txBody>
          <a:bodyPr/>
          <a:lstStyle/>
          <a:p>
            <a:endParaRPr lang="en-US"/>
          </a:p>
        </p:txBody>
      </p:sp>
      <p:sp>
        <p:nvSpPr>
          <p:cNvPr id="824" name="Text 824"/>
          <p:cNvSpPr txBox="1"/>
          <p:nvPr/>
        </p:nvSpPr>
        <p:spPr>
          <a:xfrm>
            <a:off x="962660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06</a:t>
            </a:r>
          </a:p>
        </p:txBody>
      </p:sp>
      <p:sp>
        <p:nvSpPr>
          <p:cNvPr id="825" name="Text 825"/>
          <p:cNvSpPr txBox="1"/>
          <p:nvPr/>
        </p:nvSpPr>
        <p:spPr>
          <a:xfrm>
            <a:off x="1049020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Mock evaluation &amp; targeted remediation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did the mock reveal?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5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92595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7232492"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Advanced Rigging &amp; Complex Re-anchors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Design the route before loading it</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Plan anchor layout, rope path, redundancy, rescue compatibility and transitions for more complex access.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planning dominates advanced work</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Complex systems multiply the interaction between anchors, ropes, devices, edges and people.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Only within competence and approved design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Escalate engineered / high-load systems and unusual structures to the appropriate qualified authority.</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Building complexity for its own sake</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Unnecessary redirects, inaccessible knots, poor rescue paths and unclear load distribution.</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System simplicity, clean rigging, independence, load path and rescue foresight.</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makes rigging ‘advanced’?”</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Not the number of components — the complexity of geometry, loading, access, rescue and supervision decisions.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81</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4 · AID CLIMBING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Horizontal Aid Climbing — Two Connections at All Times</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AID CLIMBING</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83</a:t>
            </a:r>
            <a:endParaRPr lang="en-US" sz="900" dirty="0"/>
          </a:p>
        </p:txBody>
      </p:sp>
      <p:sp>
        <p:nvSpPr>
          <p:cNvPr id="1201" name="Shape 1201"/>
          <p:cNvSpPr/>
          <p:nvPr/>
        </p:nvSpPr>
        <p:spPr>
          <a:xfrm>
            <a:off x="857250" y="1778000"/>
            <a:ext cx="7112000" cy="7620000"/>
          </a:xfrm>
          <a:prstGeom prst="rect">
            <a:avLst/>
          </a:prstGeom>
          <a:solidFill>
            <a:srgbClr val="FFFFFF"/>
          </a:solidFill>
          <a:ln>
            <a:noFill/>
          </a:ln>
        </p:spPr>
        <p:txBody>
          <a:bodyPr/>
          <a:lstStyle/>
          <a:p>
            <a:endParaRPr lang="en-US"/>
          </a:p>
        </p:txBody>
      </p:sp>
      <p:pic>
        <p:nvPicPr>
          <p:cNvPr id="1202" name="Picture 1202"/>
          <p:cNvPicPr>
            <a:picLocks noChangeAspect="1"/>
          </p:cNvPicPr>
          <p:nvPr/>
        </p:nvPicPr>
        <p:blipFill>
          <a:blip r:embed="rId3"/>
          <a:stretch>
            <a:fillRect/>
          </a:stretch>
        </p:blipFill>
        <p:spPr>
          <a:xfrm>
            <a:off x="1111250" y="2894560"/>
            <a:ext cx="6604000" cy="5386881"/>
          </a:xfrm>
          <a:prstGeom prst="rect">
            <a:avLst/>
          </a:prstGeom>
        </p:spPr>
      </p:pic>
      <p:sp>
        <p:nvSpPr>
          <p:cNvPr id="1203" name="Text 1203"/>
          <p:cNvSpPr txBox="1"/>
          <p:nvPr/>
        </p:nvSpPr>
        <p:spPr>
          <a:xfrm>
            <a:off x="8477250" y="1905000"/>
            <a:ext cx="8953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SEQUENCE</a:t>
            </a:r>
          </a:p>
        </p:txBody>
      </p:sp>
      <p:sp>
        <p:nvSpPr>
          <p:cNvPr id="1204" name="Shape 1204"/>
          <p:cNvSpPr/>
          <p:nvPr/>
        </p:nvSpPr>
        <p:spPr>
          <a:xfrm>
            <a:off x="8477250" y="2387600"/>
            <a:ext cx="431800" cy="431800"/>
          </a:xfrm>
          <a:prstGeom prst="ellipse">
            <a:avLst/>
          </a:prstGeom>
          <a:solidFill>
            <a:srgbClr val="0E2A47"/>
          </a:solidFill>
          <a:ln>
            <a:noFill/>
          </a:ln>
        </p:spPr>
        <p:txBody>
          <a:bodyPr/>
          <a:lstStyle/>
          <a:p>
            <a:endParaRPr lang="en-US"/>
          </a:p>
        </p:txBody>
      </p:sp>
      <p:sp>
        <p:nvSpPr>
          <p:cNvPr id="1205" name="Text 1205"/>
          <p:cNvSpPr txBox="1"/>
          <p:nvPr/>
        </p:nvSpPr>
        <p:spPr>
          <a:xfrm>
            <a:off x="8477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206" name="Text 1206"/>
          <p:cNvSpPr txBox="1"/>
          <p:nvPr/>
        </p:nvSpPr>
        <p:spPr>
          <a:xfrm>
            <a:off x="9137650" y="23622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Clip the lead cowstail to the next anchor</a:t>
            </a:r>
          </a:p>
          <a:p>
            <a:pPr marL="0" indent="0" algn="l">
              <a:lnSpc>
                <a:spcPct val="110000"/>
              </a:lnSpc>
              <a:spcBef>
                <a:spcPts val="300"/>
              </a:spcBef>
              <a:buNone/>
            </a:pPr>
            <a:r>
              <a:rPr lang="en-US" sz="1500" dirty="0">
                <a:solidFill>
                  <a:srgbClr val="41505E"/>
                </a:solidFill>
                <a:latin typeface="Arial"/>
                <a:cs typeface="Arial"/>
              </a:rPr>
              <a:t>Gate locked before any weight goes on</a:t>
            </a:r>
          </a:p>
        </p:txBody>
      </p:sp>
      <p:sp>
        <p:nvSpPr>
          <p:cNvPr id="1207" name="Shape 1207"/>
          <p:cNvSpPr/>
          <p:nvPr/>
        </p:nvSpPr>
        <p:spPr>
          <a:xfrm>
            <a:off x="8477250" y="3556000"/>
            <a:ext cx="431800" cy="431800"/>
          </a:xfrm>
          <a:prstGeom prst="ellipse">
            <a:avLst/>
          </a:prstGeom>
          <a:solidFill>
            <a:srgbClr val="0E2A47"/>
          </a:solidFill>
          <a:ln>
            <a:noFill/>
          </a:ln>
        </p:spPr>
        <p:txBody>
          <a:bodyPr/>
          <a:lstStyle/>
          <a:p>
            <a:endParaRPr lang="en-US"/>
          </a:p>
        </p:txBody>
      </p:sp>
      <p:sp>
        <p:nvSpPr>
          <p:cNvPr id="1208" name="Text 1208"/>
          <p:cNvSpPr txBox="1"/>
          <p:nvPr/>
        </p:nvSpPr>
        <p:spPr>
          <a:xfrm>
            <a:off x="8477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209" name="Text 1209"/>
          <p:cNvSpPr txBox="1"/>
          <p:nvPr/>
        </p:nvSpPr>
        <p:spPr>
          <a:xfrm>
            <a:off x="9137650" y="35306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Clip the étrier and step up</a:t>
            </a:r>
          </a:p>
          <a:p>
            <a:pPr marL="0" indent="0" algn="l">
              <a:lnSpc>
                <a:spcPct val="110000"/>
              </a:lnSpc>
              <a:spcBef>
                <a:spcPts val="300"/>
              </a:spcBef>
              <a:buNone/>
            </a:pPr>
            <a:r>
              <a:rPr lang="en-US" sz="1500" dirty="0">
                <a:solidFill>
                  <a:srgbClr val="41505E"/>
                </a:solidFill>
                <a:latin typeface="Arial"/>
                <a:cs typeface="Arial"/>
              </a:rPr>
              <a:t>Feet in the étrier, weight off the trailing cowstail</a:t>
            </a:r>
          </a:p>
        </p:txBody>
      </p:sp>
      <p:sp>
        <p:nvSpPr>
          <p:cNvPr id="1210" name="Shape 1210"/>
          <p:cNvSpPr/>
          <p:nvPr/>
        </p:nvSpPr>
        <p:spPr>
          <a:xfrm>
            <a:off x="8477250" y="4724400"/>
            <a:ext cx="431800" cy="431800"/>
          </a:xfrm>
          <a:prstGeom prst="ellipse">
            <a:avLst/>
          </a:prstGeom>
          <a:solidFill>
            <a:srgbClr val="0E2A47"/>
          </a:solidFill>
          <a:ln>
            <a:noFill/>
          </a:ln>
        </p:spPr>
        <p:txBody>
          <a:bodyPr/>
          <a:lstStyle/>
          <a:p>
            <a:endParaRPr lang="en-US"/>
          </a:p>
        </p:txBody>
      </p:sp>
      <p:sp>
        <p:nvSpPr>
          <p:cNvPr id="1211" name="Text 1211"/>
          <p:cNvSpPr txBox="1"/>
          <p:nvPr/>
        </p:nvSpPr>
        <p:spPr>
          <a:xfrm>
            <a:off x="8477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212" name="Text 1212"/>
          <p:cNvSpPr txBox="1"/>
          <p:nvPr/>
        </p:nvSpPr>
        <p:spPr>
          <a:xfrm>
            <a:off x="9137650" y="46990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Clip the second cowstail forward</a:t>
            </a:r>
          </a:p>
          <a:p>
            <a:pPr marL="0" indent="0" algn="l">
              <a:lnSpc>
                <a:spcPct val="110000"/>
              </a:lnSpc>
              <a:spcBef>
                <a:spcPts val="300"/>
              </a:spcBef>
              <a:buNone/>
            </a:pPr>
            <a:r>
              <a:rPr lang="en-US" sz="1500" dirty="0">
                <a:solidFill>
                  <a:srgbClr val="41505E"/>
                </a:solidFill>
                <a:latin typeface="Arial"/>
                <a:cs typeface="Arial"/>
              </a:rPr>
              <a:t>Now on two anchors again</a:t>
            </a:r>
          </a:p>
        </p:txBody>
      </p:sp>
      <p:sp>
        <p:nvSpPr>
          <p:cNvPr id="1213" name="Shape 1213"/>
          <p:cNvSpPr/>
          <p:nvPr/>
        </p:nvSpPr>
        <p:spPr>
          <a:xfrm>
            <a:off x="8477250" y="5892800"/>
            <a:ext cx="431800" cy="431800"/>
          </a:xfrm>
          <a:prstGeom prst="ellipse">
            <a:avLst/>
          </a:prstGeom>
          <a:solidFill>
            <a:srgbClr val="0E2A47"/>
          </a:solidFill>
          <a:ln>
            <a:noFill/>
          </a:ln>
        </p:spPr>
        <p:txBody>
          <a:bodyPr/>
          <a:lstStyle/>
          <a:p>
            <a:endParaRPr lang="en-US"/>
          </a:p>
        </p:txBody>
      </p:sp>
      <p:sp>
        <p:nvSpPr>
          <p:cNvPr id="1214" name="Text 1214"/>
          <p:cNvSpPr txBox="1"/>
          <p:nvPr/>
        </p:nvSpPr>
        <p:spPr>
          <a:xfrm>
            <a:off x="8477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215" name="Text 1215"/>
          <p:cNvSpPr txBox="1"/>
          <p:nvPr/>
        </p:nvSpPr>
        <p:spPr>
          <a:xfrm>
            <a:off x="9137650" y="58674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Remove the trailing connection</a:t>
            </a:r>
          </a:p>
          <a:p>
            <a:pPr marL="0" indent="0" algn="l">
              <a:lnSpc>
                <a:spcPct val="110000"/>
              </a:lnSpc>
              <a:spcBef>
                <a:spcPts val="300"/>
              </a:spcBef>
              <a:buNone/>
            </a:pPr>
            <a:r>
              <a:rPr lang="en-US" sz="1500" dirty="0">
                <a:solidFill>
                  <a:srgbClr val="41505E"/>
                </a:solidFill>
                <a:latin typeface="Arial"/>
                <a:cs typeface="Arial"/>
              </a:rPr>
              <a:t>Only once both forward connections are loaded</a:t>
            </a:r>
          </a:p>
        </p:txBody>
      </p:sp>
      <p:sp>
        <p:nvSpPr>
          <p:cNvPr id="1216" name="Shape 1216"/>
          <p:cNvSpPr/>
          <p:nvPr/>
        </p:nvSpPr>
        <p:spPr>
          <a:xfrm>
            <a:off x="8477250" y="7061200"/>
            <a:ext cx="431800" cy="431800"/>
          </a:xfrm>
          <a:prstGeom prst="ellipse">
            <a:avLst/>
          </a:prstGeom>
          <a:solidFill>
            <a:srgbClr val="0E2A47"/>
          </a:solidFill>
          <a:ln>
            <a:noFill/>
          </a:ln>
        </p:spPr>
        <p:txBody>
          <a:bodyPr/>
          <a:lstStyle/>
          <a:p>
            <a:endParaRPr lang="en-US"/>
          </a:p>
        </p:txBody>
      </p:sp>
      <p:sp>
        <p:nvSpPr>
          <p:cNvPr id="1217" name="Text 1217"/>
          <p:cNvSpPr txBox="1"/>
          <p:nvPr/>
        </p:nvSpPr>
        <p:spPr>
          <a:xfrm>
            <a:off x="8477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218" name="Text 1218"/>
          <p:cNvSpPr txBox="1"/>
          <p:nvPr/>
        </p:nvSpPr>
        <p:spPr>
          <a:xfrm>
            <a:off x="9137650" y="70358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Repeat, anchor by anchor</a:t>
            </a:r>
          </a:p>
          <a:p>
            <a:pPr marL="0" indent="0" algn="l">
              <a:lnSpc>
                <a:spcPct val="110000"/>
              </a:lnSpc>
              <a:spcBef>
                <a:spcPts val="300"/>
              </a:spcBef>
              <a:buNone/>
            </a:pPr>
            <a:r>
              <a:rPr lang="en-US" sz="1500" dirty="0">
                <a:solidFill>
                  <a:srgbClr val="41505E"/>
                </a:solidFill>
                <a:latin typeface="Arial"/>
                <a:cs typeface="Arial"/>
              </a:rPr>
              <a:t>SPRAT L1: 3 m horizontal · L2: 3 m vertical or angled</a:t>
            </a:r>
          </a:p>
        </p:txBody>
      </p:sp>
      <p:sp>
        <p:nvSpPr>
          <p:cNvPr id="1219" name="Shape 1219"/>
          <p:cNvSpPr/>
          <p:nvPr/>
        </p:nvSpPr>
        <p:spPr>
          <a:xfrm>
            <a:off x="8477250" y="8483600"/>
            <a:ext cx="8953500" cy="914400"/>
          </a:xfrm>
          <a:prstGeom prst="rect">
            <a:avLst/>
          </a:prstGeom>
          <a:solidFill>
            <a:srgbClr val="0E2A47"/>
          </a:solidFill>
          <a:ln>
            <a:noFill/>
          </a:ln>
        </p:spPr>
        <p:txBody>
          <a:bodyPr/>
          <a:lstStyle/>
          <a:p>
            <a:endParaRPr lang="en-US"/>
          </a:p>
        </p:txBody>
      </p:sp>
      <p:sp>
        <p:nvSpPr>
          <p:cNvPr id="1220" name="Text 1220"/>
          <p:cNvSpPr txBox="1"/>
          <p:nvPr/>
        </p:nvSpPr>
        <p:spPr>
          <a:xfrm>
            <a:off x="8832850" y="8483600"/>
            <a:ext cx="8242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Swing fall ≤ 2 ft. </a:t>
            </a:r>
            <a:r>
              <a:rPr lang="en-US" sz="1600" dirty="0">
                <a:solidFill>
                  <a:srgbClr val="C7D4E1"/>
                </a:solidFill>
                <a:latin typeface="Arial"/>
                <a:cs typeface="Arial"/>
              </a:rPr>
              <a:t>Plan anchor spacing so a slip cannot swing you into the structure.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51">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766420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8084945"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Horizontal / Tensioned Systems &amp; Aid Climbing</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55372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Maintain continuous protection while moving laterally</a:t>
            </a:r>
            <a:endParaRPr lang="en-US" sz="1650" dirty="0"/>
          </a:p>
        </p:txBody>
      </p:sp>
      <p:sp>
        <p:nvSpPr>
          <p:cNvPr id="13" name="Text 11"/>
          <p:cNvSpPr/>
          <p:nvPr/>
        </p:nvSpPr>
        <p:spPr>
          <a:xfrm>
            <a:off x="1111250" y="2674620"/>
            <a:ext cx="5003775"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SPRAT progression: L1 aid-climbs 3 m horizontally, L2 aid-climbs 3 m vertically or at an angle, L3 builds and uses a tensioned rope system.</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lateral movement changes risk</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Anchors may see different directions and forces, and the worker can experience larger swings or difficult rescue access.</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approved system design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Tensioned systems require careful force management — do not improvise high-tension rigging.</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Over-tensioning and poor backup</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High anchor forces, insufficient redundancy, long fall / swing paths and difficult casualty recovery.</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Controlled progression, connection sequence, system-force awareness and a rescue plan.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pull the line tighter to reduce sag?”</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Increasing tension can greatly increase anchor / system forces. Follow the approved design and limits.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82</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Tensioned Lines — Less Sag, Much Higher Anchor Force">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4 · TENSIONED LINES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Tensioned Lines — Less Sag, Much Higher Anchor Force</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PHYSICS</a:t>
            </a:r>
          </a:p>
          <a:p>
            <a:pPr marL="0" indent="0" algn="l">
              <a:spcBef>
                <a:spcPts val="400"/>
              </a:spcBef>
              <a:buNone/>
            </a:pPr>
            <a:r>
              <a:rPr lang="en-US" sz="1800" b="1" kern="0" dirty="0">
                <a:solidFill>
                  <a:srgbClr val="FFFFFF"/>
                </a:solidFill>
                <a:latin typeface="Arial"/>
                <a:ea typeface="Arial"/>
                <a:cs typeface="Arial"/>
              </a:rPr>
              <a:t>Anchor force = load ÷ (2 × sin of the sag angle).</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RULE</a:t>
            </a:r>
          </a:p>
          <a:p>
            <a:pPr marL="0" indent="0" algn="l">
              <a:spcBef>
                <a:spcPts val="400"/>
              </a:spcBef>
              <a:buNone/>
            </a:pPr>
            <a:r>
              <a:rPr lang="en-US" sz="1600" kern="0" dirty="0">
                <a:solidFill>
                  <a:srgbClr val="FFFFFF"/>
                </a:solidFill>
                <a:latin typeface="Arial"/>
                <a:ea typeface="Arial"/>
                <a:cs typeface="Arial"/>
              </a:rPr>
              <a:t>Follow the approved design; never over-tension a line to reduce sag.</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TENSIONED LINES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84</a:t>
            </a:r>
            <a:endParaRPr lang="en-US" sz="900" dirty="0"/>
          </a:p>
        </p:txBody>
      </p:sp>
      <p:sp>
        <p:nvSpPr>
          <p:cNvPr id="90" name="Photo credit"/>
          <p:cNvSpPr txBox="1"/>
          <p:nvPr/>
        </p:nvSpPr>
        <p:spPr>
          <a:xfrm>
            <a:off x="889000" y="7930000"/>
            <a:ext cx="16510000" cy="200000"/>
          </a:xfrm>
          <a:prstGeom prst="rect">
            <a:avLst/>
          </a:prstGeom>
          <a:noFill/>
        </p:spPr>
        <p:txBody>
          <a:bodyPr wrap="square" lIns="0" tIns="0" rIns="0" bIns="0">
            <a:normAutofit/>
          </a:bodyPr>
          <a:lstStyle/>
          <a:p>
            <a:pPr algn="l">
              <a:buNone/>
            </a:pPr>
            <a:r>
              <a:rPr lang="en-US" sz="900" dirty="0">
                <a:solidFill>
                  <a:srgbClr val="5B6B7C"/>
                </a:solidFill>
                <a:latin typeface="Arial"/>
                <a:cs typeface="Arial"/>
              </a:rPr>
              <a:t>Photo: Masa Sakano · CC BY-SA 2.0 · Wikimedia Commons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4 · TENSIONED LINES — DO THE MATH</a:t>
            </a:r>
            <a:endParaRPr lang="en-US" sz="975" dirty="0"/>
          </a:p>
        </p:txBody>
      </p:sp>
      <p:sp>
        <p:nvSpPr>
          <p:cNvPr id="3" name="Text 1"/>
          <p:cNvSpPr/>
          <p:nvPr/>
        </p:nvSpPr>
        <p:spPr>
          <a:xfrm>
            <a:off x="857250" y="838200"/>
            <a:ext cx="10196364"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Tensioned Lines — Anchor Force by Sag Angle</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REFERENCE · TENSIONED-LINE FORCES</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85</a:t>
            </a:r>
            <a:endParaRPr lang="en-US" sz="900" dirty="0"/>
          </a:p>
        </p:txBody>
      </p:sp>
      <p:sp>
        <p:nvSpPr>
          <p:cNvPr id="951" name="Shape 951"/>
          <p:cNvSpPr/>
          <p:nvPr/>
        </p:nvSpPr>
        <p:spPr>
          <a:xfrm>
            <a:off x="857250" y="1905000"/>
            <a:ext cx="9652000" cy="558800"/>
          </a:xfrm>
          <a:prstGeom prst="rect">
            <a:avLst/>
          </a:prstGeom>
          <a:solidFill>
            <a:srgbClr val="0E2A47"/>
          </a:solidFill>
          <a:ln>
            <a:noFill/>
          </a:ln>
        </p:spPr>
        <p:txBody>
          <a:bodyPr/>
          <a:lstStyle/>
          <a:p>
            <a:endParaRPr lang="en-US"/>
          </a:p>
        </p:txBody>
      </p:sp>
      <p:sp>
        <p:nvSpPr>
          <p:cNvPr id="952" name="Text 952"/>
          <p:cNvSpPr txBox="1"/>
          <p:nvPr/>
        </p:nvSpPr>
        <p:spPr>
          <a:xfrm>
            <a:off x="1162050" y="2108200"/>
            <a:ext cx="2540000" cy="2032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C7D4E1"/>
                </a:solidFill>
                <a:latin typeface="Courier New"/>
                <a:cs typeface="Courier New"/>
              </a:rPr>
              <a:t>SAG ANGLE</a:t>
            </a:r>
          </a:p>
        </p:txBody>
      </p:sp>
      <p:sp>
        <p:nvSpPr>
          <p:cNvPr id="953" name="Text 953"/>
          <p:cNvSpPr txBox="1"/>
          <p:nvPr/>
        </p:nvSpPr>
        <p:spPr>
          <a:xfrm>
            <a:off x="3270250" y="2108200"/>
            <a:ext cx="2540000" cy="2032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C7D4E1"/>
                </a:solidFill>
                <a:latin typeface="Courier New"/>
                <a:cs typeface="Courier New"/>
              </a:rPr>
              <a:t>MULTIPLIER</a:t>
            </a:r>
          </a:p>
        </p:txBody>
      </p:sp>
      <p:sp>
        <p:nvSpPr>
          <p:cNvPr id="954" name="Text 954"/>
          <p:cNvSpPr txBox="1"/>
          <p:nvPr/>
        </p:nvSpPr>
        <p:spPr>
          <a:xfrm>
            <a:off x="5302250" y="2108200"/>
            <a:ext cx="2540000" cy="2032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C7D4E1"/>
                </a:solidFill>
                <a:latin typeface="Courier New"/>
                <a:cs typeface="Courier New"/>
              </a:rPr>
              <a:t>1 PERSON · 220 LB</a:t>
            </a:r>
          </a:p>
        </p:txBody>
      </p:sp>
      <p:sp>
        <p:nvSpPr>
          <p:cNvPr id="955" name="Text 955"/>
          <p:cNvSpPr txBox="1"/>
          <p:nvPr/>
        </p:nvSpPr>
        <p:spPr>
          <a:xfrm>
            <a:off x="8096250" y="2108200"/>
            <a:ext cx="2540000" cy="2032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C7D4E1"/>
                </a:solidFill>
                <a:latin typeface="Courier New"/>
                <a:cs typeface="Courier New"/>
              </a:rPr>
              <a:t>RESCUE · 440 LB</a:t>
            </a:r>
          </a:p>
        </p:txBody>
      </p:sp>
      <p:sp>
        <p:nvSpPr>
          <p:cNvPr id="956" name="Shape 956"/>
          <p:cNvSpPr/>
          <p:nvPr/>
        </p:nvSpPr>
        <p:spPr>
          <a:xfrm>
            <a:off x="857250" y="2463800"/>
            <a:ext cx="9652000" cy="1168400"/>
          </a:xfrm>
          <a:prstGeom prst="rect">
            <a:avLst/>
          </a:prstGeom>
          <a:solidFill>
            <a:srgbClr val="FFFFFF"/>
          </a:solidFill>
          <a:ln>
            <a:noFill/>
          </a:ln>
        </p:spPr>
        <p:txBody>
          <a:bodyPr/>
          <a:lstStyle/>
          <a:p>
            <a:endParaRPr lang="en-US"/>
          </a:p>
        </p:txBody>
      </p:sp>
      <p:sp>
        <p:nvSpPr>
          <p:cNvPr id="957" name="Shape 957"/>
          <p:cNvSpPr/>
          <p:nvPr/>
        </p:nvSpPr>
        <p:spPr>
          <a:xfrm>
            <a:off x="857250" y="3619500"/>
            <a:ext cx="9652000" cy="12700"/>
          </a:xfrm>
          <a:prstGeom prst="rect">
            <a:avLst/>
          </a:prstGeom>
          <a:solidFill>
            <a:srgbClr val="E2E7ED"/>
          </a:solidFill>
          <a:ln>
            <a:noFill/>
          </a:ln>
        </p:spPr>
        <p:txBody>
          <a:bodyPr/>
          <a:lstStyle/>
          <a:p>
            <a:endParaRPr lang="en-US"/>
          </a:p>
        </p:txBody>
      </p:sp>
      <p:sp>
        <p:nvSpPr>
          <p:cNvPr id="958" name="Shape 958"/>
          <p:cNvSpPr/>
          <p:nvPr/>
        </p:nvSpPr>
        <p:spPr>
          <a:xfrm>
            <a:off x="857250" y="2463800"/>
            <a:ext cx="76200" cy="1168400"/>
          </a:xfrm>
          <a:prstGeom prst="rect">
            <a:avLst/>
          </a:prstGeom>
          <a:solidFill>
            <a:srgbClr val="1F8A5B"/>
          </a:solidFill>
          <a:ln>
            <a:noFill/>
          </a:ln>
        </p:spPr>
        <p:txBody>
          <a:bodyPr/>
          <a:lstStyle/>
          <a:p>
            <a:endParaRPr lang="en-US"/>
          </a:p>
        </p:txBody>
      </p:sp>
      <p:sp>
        <p:nvSpPr>
          <p:cNvPr id="959" name="Text 959"/>
          <p:cNvSpPr txBox="1"/>
          <p:nvPr/>
        </p:nvSpPr>
        <p:spPr>
          <a:xfrm>
            <a:off x="1162050" y="2463800"/>
            <a:ext cx="1905000" cy="1168400"/>
          </a:xfrm>
          <a:prstGeom prst="rect">
            <a:avLst/>
          </a:prstGeom>
          <a:noFill/>
        </p:spPr>
        <p:txBody>
          <a:bodyPr wrap="square" lIns="0" tIns="0" rIns="0" bIns="0" anchor="ctr">
            <a:noAutofit/>
          </a:bodyPr>
          <a:lstStyle/>
          <a:p>
            <a:pPr marL="0" indent="0" algn="l">
              <a:lnSpc>
                <a:spcPct val="110000"/>
              </a:lnSpc>
              <a:buNone/>
            </a:pPr>
            <a:r>
              <a:rPr lang="en-US" sz="3000" b="1" dirty="0">
                <a:solidFill>
                  <a:srgbClr val="1F8A5B"/>
                </a:solidFill>
                <a:latin typeface="Arial"/>
                <a:cs typeface="Arial"/>
              </a:rPr>
              <a:t>30°</a:t>
            </a:r>
          </a:p>
        </p:txBody>
      </p:sp>
      <p:sp>
        <p:nvSpPr>
          <p:cNvPr id="960" name="Text 960"/>
          <p:cNvSpPr txBox="1"/>
          <p:nvPr/>
        </p:nvSpPr>
        <p:spPr>
          <a:xfrm>
            <a:off x="3270250" y="2463800"/>
            <a:ext cx="1905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1.00 ×</a:t>
            </a:r>
          </a:p>
        </p:txBody>
      </p:sp>
      <p:sp>
        <p:nvSpPr>
          <p:cNvPr id="961" name="Text 961"/>
          <p:cNvSpPr txBox="1"/>
          <p:nvPr/>
        </p:nvSpPr>
        <p:spPr>
          <a:xfrm>
            <a:off x="5302250" y="2463800"/>
            <a:ext cx="2540000" cy="1168400"/>
          </a:xfrm>
          <a:prstGeom prst="rect">
            <a:avLst/>
          </a:prstGeom>
          <a:noFill/>
        </p:spPr>
        <p:txBody>
          <a:bodyPr wrap="square" lIns="0" tIns="0" rIns="0" bIns="0" anchor="ctr">
            <a:noAutofit/>
          </a:bodyPr>
          <a:lstStyle/>
          <a:p>
            <a:pPr marL="0" indent="0" algn="l">
              <a:lnSpc>
                <a:spcPct val="110000"/>
              </a:lnSpc>
              <a:buNone/>
            </a:pPr>
            <a:r>
              <a:rPr lang="en-US" sz="2000" dirty="0">
                <a:solidFill>
                  <a:srgbClr val="41505E"/>
                </a:solidFill>
                <a:latin typeface="Arial"/>
                <a:cs typeface="Arial"/>
              </a:rPr>
              <a:t>220 lbf</a:t>
            </a:r>
          </a:p>
        </p:txBody>
      </p:sp>
      <p:sp>
        <p:nvSpPr>
          <p:cNvPr id="962" name="Text 962"/>
          <p:cNvSpPr txBox="1"/>
          <p:nvPr/>
        </p:nvSpPr>
        <p:spPr>
          <a:xfrm>
            <a:off x="8096250" y="2463800"/>
            <a:ext cx="2286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440 lbf</a:t>
            </a:r>
          </a:p>
        </p:txBody>
      </p:sp>
      <p:sp>
        <p:nvSpPr>
          <p:cNvPr id="963" name="Shape 963"/>
          <p:cNvSpPr/>
          <p:nvPr/>
        </p:nvSpPr>
        <p:spPr>
          <a:xfrm>
            <a:off x="857250" y="3632200"/>
            <a:ext cx="9652000" cy="1168400"/>
          </a:xfrm>
          <a:prstGeom prst="rect">
            <a:avLst/>
          </a:prstGeom>
          <a:solidFill>
            <a:srgbClr val="F5F7F9"/>
          </a:solidFill>
          <a:ln>
            <a:noFill/>
          </a:ln>
        </p:spPr>
        <p:txBody>
          <a:bodyPr/>
          <a:lstStyle/>
          <a:p>
            <a:endParaRPr lang="en-US"/>
          </a:p>
        </p:txBody>
      </p:sp>
      <p:sp>
        <p:nvSpPr>
          <p:cNvPr id="964" name="Shape 964"/>
          <p:cNvSpPr/>
          <p:nvPr/>
        </p:nvSpPr>
        <p:spPr>
          <a:xfrm>
            <a:off x="857250" y="4787900"/>
            <a:ext cx="9652000" cy="12700"/>
          </a:xfrm>
          <a:prstGeom prst="rect">
            <a:avLst/>
          </a:prstGeom>
          <a:solidFill>
            <a:srgbClr val="E2E7ED"/>
          </a:solidFill>
          <a:ln>
            <a:noFill/>
          </a:ln>
        </p:spPr>
        <p:txBody>
          <a:bodyPr/>
          <a:lstStyle/>
          <a:p>
            <a:endParaRPr lang="en-US"/>
          </a:p>
        </p:txBody>
      </p:sp>
      <p:sp>
        <p:nvSpPr>
          <p:cNvPr id="965" name="Shape 965"/>
          <p:cNvSpPr/>
          <p:nvPr/>
        </p:nvSpPr>
        <p:spPr>
          <a:xfrm>
            <a:off x="857250" y="3632200"/>
            <a:ext cx="76200" cy="1168400"/>
          </a:xfrm>
          <a:prstGeom prst="rect">
            <a:avLst/>
          </a:prstGeom>
          <a:solidFill>
            <a:srgbClr val="D9920B"/>
          </a:solidFill>
          <a:ln>
            <a:noFill/>
          </a:ln>
        </p:spPr>
        <p:txBody>
          <a:bodyPr/>
          <a:lstStyle/>
          <a:p>
            <a:endParaRPr lang="en-US"/>
          </a:p>
        </p:txBody>
      </p:sp>
      <p:sp>
        <p:nvSpPr>
          <p:cNvPr id="966" name="Text 966"/>
          <p:cNvSpPr txBox="1"/>
          <p:nvPr/>
        </p:nvSpPr>
        <p:spPr>
          <a:xfrm>
            <a:off x="1162050" y="3632200"/>
            <a:ext cx="1905000" cy="1168400"/>
          </a:xfrm>
          <a:prstGeom prst="rect">
            <a:avLst/>
          </a:prstGeom>
          <a:noFill/>
        </p:spPr>
        <p:txBody>
          <a:bodyPr wrap="square" lIns="0" tIns="0" rIns="0" bIns="0" anchor="ctr">
            <a:noAutofit/>
          </a:bodyPr>
          <a:lstStyle/>
          <a:p>
            <a:pPr marL="0" indent="0" algn="l">
              <a:lnSpc>
                <a:spcPct val="110000"/>
              </a:lnSpc>
              <a:buNone/>
            </a:pPr>
            <a:r>
              <a:rPr lang="en-US" sz="3000" b="1" dirty="0">
                <a:solidFill>
                  <a:srgbClr val="D9920B"/>
                </a:solidFill>
                <a:latin typeface="Arial"/>
                <a:cs typeface="Arial"/>
              </a:rPr>
              <a:t>15°</a:t>
            </a:r>
          </a:p>
        </p:txBody>
      </p:sp>
      <p:sp>
        <p:nvSpPr>
          <p:cNvPr id="967" name="Text 967"/>
          <p:cNvSpPr txBox="1"/>
          <p:nvPr/>
        </p:nvSpPr>
        <p:spPr>
          <a:xfrm>
            <a:off x="3270250" y="3632200"/>
            <a:ext cx="1905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1.93 ×</a:t>
            </a:r>
          </a:p>
        </p:txBody>
      </p:sp>
      <p:sp>
        <p:nvSpPr>
          <p:cNvPr id="968" name="Text 968"/>
          <p:cNvSpPr txBox="1"/>
          <p:nvPr/>
        </p:nvSpPr>
        <p:spPr>
          <a:xfrm>
            <a:off x="5302250" y="3632200"/>
            <a:ext cx="2540000" cy="1168400"/>
          </a:xfrm>
          <a:prstGeom prst="rect">
            <a:avLst/>
          </a:prstGeom>
          <a:noFill/>
        </p:spPr>
        <p:txBody>
          <a:bodyPr wrap="square" lIns="0" tIns="0" rIns="0" bIns="0" anchor="ctr">
            <a:noAutofit/>
          </a:bodyPr>
          <a:lstStyle/>
          <a:p>
            <a:pPr marL="0" indent="0" algn="l">
              <a:lnSpc>
                <a:spcPct val="110000"/>
              </a:lnSpc>
              <a:buNone/>
            </a:pPr>
            <a:r>
              <a:rPr lang="en-US" sz="2000" dirty="0">
                <a:solidFill>
                  <a:srgbClr val="41505E"/>
                </a:solidFill>
                <a:latin typeface="Arial"/>
                <a:cs typeface="Arial"/>
              </a:rPr>
              <a:t>425 lbf</a:t>
            </a:r>
          </a:p>
        </p:txBody>
      </p:sp>
      <p:sp>
        <p:nvSpPr>
          <p:cNvPr id="969" name="Text 969"/>
          <p:cNvSpPr txBox="1"/>
          <p:nvPr/>
        </p:nvSpPr>
        <p:spPr>
          <a:xfrm>
            <a:off x="8096250" y="3632200"/>
            <a:ext cx="2286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850 lbf</a:t>
            </a:r>
          </a:p>
        </p:txBody>
      </p:sp>
      <p:sp>
        <p:nvSpPr>
          <p:cNvPr id="970" name="Shape 970"/>
          <p:cNvSpPr/>
          <p:nvPr/>
        </p:nvSpPr>
        <p:spPr>
          <a:xfrm>
            <a:off x="857250" y="4800600"/>
            <a:ext cx="9652000" cy="1168400"/>
          </a:xfrm>
          <a:prstGeom prst="rect">
            <a:avLst/>
          </a:prstGeom>
          <a:solidFill>
            <a:srgbClr val="FFFFFF"/>
          </a:solidFill>
          <a:ln>
            <a:noFill/>
          </a:ln>
        </p:spPr>
        <p:txBody>
          <a:bodyPr/>
          <a:lstStyle/>
          <a:p>
            <a:endParaRPr lang="en-US"/>
          </a:p>
        </p:txBody>
      </p:sp>
      <p:sp>
        <p:nvSpPr>
          <p:cNvPr id="971" name="Shape 971"/>
          <p:cNvSpPr/>
          <p:nvPr/>
        </p:nvSpPr>
        <p:spPr>
          <a:xfrm>
            <a:off x="857250" y="5956300"/>
            <a:ext cx="9652000" cy="12700"/>
          </a:xfrm>
          <a:prstGeom prst="rect">
            <a:avLst/>
          </a:prstGeom>
          <a:solidFill>
            <a:srgbClr val="E2E7ED"/>
          </a:solidFill>
          <a:ln>
            <a:noFill/>
          </a:ln>
        </p:spPr>
        <p:txBody>
          <a:bodyPr/>
          <a:lstStyle/>
          <a:p>
            <a:endParaRPr lang="en-US"/>
          </a:p>
        </p:txBody>
      </p:sp>
      <p:sp>
        <p:nvSpPr>
          <p:cNvPr id="972" name="Shape 972"/>
          <p:cNvSpPr/>
          <p:nvPr/>
        </p:nvSpPr>
        <p:spPr>
          <a:xfrm>
            <a:off x="857250" y="4800600"/>
            <a:ext cx="76200" cy="1168400"/>
          </a:xfrm>
          <a:prstGeom prst="rect">
            <a:avLst/>
          </a:prstGeom>
          <a:solidFill>
            <a:srgbClr val="F26A1B"/>
          </a:solidFill>
          <a:ln>
            <a:noFill/>
          </a:ln>
        </p:spPr>
        <p:txBody>
          <a:bodyPr/>
          <a:lstStyle/>
          <a:p>
            <a:endParaRPr lang="en-US"/>
          </a:p>
        </p:txBody>
      </p:sp>
      <p:sp>
        <p:nvSpPr>
          <p:cNvPr id="973" name="Text 973"/>
          <p:cNvSpPr txBox="1"/>
          <p:nvPr/>
        </p:nvSpPr>
        <p:spPr>
          <a:xfrm>
            <a:off x="1162050" y="4800600"/>
            <a:ext cx="1905000" cy="1168400"/>
          </a:xfrm>
          <a:prstGeom prst="rect">
            <a:avLst/>
          </a:prstGeom>
          <a:noFill/>
        </p:spPr>
        <p:txBody>
          <a:bodyPr wrap="square" lIns="0" tIns="0" rIns="0" bIns="0" anchor="ctr">
            <a:noAutofit/>
          </a:bodyPr>
          <a:lstStyle/>
          <a:p>
            <a:pPr marL="0" indent="0" algn="l">
              <a:lnSpc>
                <a:spcPct val="110000"/>
              </a:lnSpc>
              <a:buNone/>
            </a:pPr>
            <a:r>
              <a:rPr lang="en-US" sz="3000" b="1" dirty="0">
                <a:solidFill>
                  <a:srgbClr val="F26A1B"/>
                </a:solidFill>
                <a:latin typeface="Arial"/>
                <a:cs typeface="Arial"/>
              </a:rPr>
              <a:t>10°</a:t>
            </a:r>
          </a:p>
        </p:txBody>
      </p:sp>
      <p:sp>
        <p:nvSpPr>
          <p:cNvPr id="974" name="Text 974"/>
          <p:cNvSpPr txBox="1"/>
          <p:nvPr/>
        </p:nvSpPr>
        <p:spPr>
          <a:xfrm>
            <a:off x="3270250" y="4800600"/>
            <a:ext cx="1905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2.88 ×</a:t>
            </a:r>
          </a:p>
        </p:txBody>
      </p:sp>
      <p:sp>
        <p:nvSpPr>
          <p:cNvPr id="975" name="Text 975"/>
          <p:cNvSpPr txBox="1"/>
          <p:nvPr/>
        </p:nvSpPr>
        <p:spPr>
          <a:xfrm>
            <a:off x="5302250" y="4800600"/>
            <a:ext cx="2540000" cy="1168400"/>
          </a:xfrm>
          <a:prstGeom prst="rect">
            <a:avLst/>
          </a:prstGeom>
          <a:noFill/>
        </p:spPr>
        <p:txBody>
          <a:bodyPr wrap="square" lIns="0" tIns="0" rIns="0" bIns="0" anchor="ctr">
            <a:noAutofit/>
          </a:bodyPr>
          <a:lstStyle/>
          <a:p>
            <a:pPr marL="0" indent="0" algn="l">
              <a:lnSpc>
                <a:spcPct val="110000"/>
              </a:lnSpc>
              <a:buNone/>
            </a:pPr>
            <a:r>
              <a:rPr lang="en-US" sz="2000" dirty="0">
                <a:solidFill>
                  <a:srgbClr val="41505E"/>
                </a:solidFill>
                <a:latin typeface="Arial"/>
                <a:cs typeface="Arial"/>
              </a:rPr>
              <a:t>633 lbf</a:t>
            </a:r>
          </a:p>
        </p:txBody>
      </p:sp>
      <p:sp>
        <p:nvSpPr>
          <p:cNvPr id="976" name="Text 976"/>
          <p:cNvSpPr txBox="1"/>
          <p:nvPr/>
        </p:nvSpPr>
        <p:spPr>
          <a:xfrm>
            <a:off x="8096250" y="4800600"/>
            <a:ext cx="2286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C8341F"/>
                </a:solidFill>
                <a:latin typeface="Arial"/>
                <a:cs typeface="Arial"/>
              </a:rPr>
              <a:t>1,267 lbf</a:t>
            </a:r>
          </a:p>
        </p:txBody>
      </p:sp>
      <p:sp>
        <p:nvSpPr>
          <p:cNvPr id="977" name="Shape 977"/>
          <p:cNvSpPr/>
          <p:nvPr/>
        </p:nvSpPr>
        <p:spPr>
          <a:xfrm>
            <a:off x="857250" y="5969000"/>
            <a:ext cx="9652000" cy="1168400"/>
          </a:xfrm>
          <a:prstGeom prst="rect">
            <a:avLst/>
          </a:prstGeom>
          <a:solidFill>
            <a:srgbClr val="F5F7F9"/>
          </a:solidFill>
          <a:ln>
            <a:noFill/>
          </a:ln>
        </p:spPr>
        <p:txBody>
          <a:bodyPr/>
          <a:lstStyle/>
          <a:p>
            <a:endParaRPr lang="en-US"/>
          </a:p>
        </p:txBody>
      </p:sp>
      <p:sp>
        <p:nvSpPr>
          <p:cNvPr id="978" name="Shape 978"/>
          <p:cNvSpPr/>
          <p:nvPr/>
        </p:nvSpPr>
        <p:spPr>
          <a:xfrm>
            <a:off x="857250" y="7124700"/>
            <a:ext cx="9652000" cy="12700"/>
          </a:xfrm>
          <a:prstGeom prst="rect">
            <a:avLst/>
          </a:prstGeom>
          <a:solidFill>
            <a:srgbClr val="E2E7ED"/>
          </a:solidFill>
          <a:ln>
            <a:noFill/>
          </a:ln>
        </p:spPr>
        <p:txBody>
          <a:bodyPr/>
          <a:lstStyle/>
          <a:p>
            <a:endParaRPr lang="en-US"/>
          </a:p>
        </p:txBody>
      </p:sp>
      <p:sp>
        <p:nvSpPr>
          <p:cNvPr id="979" name="Shape 979"/>
          <p:cNvSpPr/>
          <p:nvPr/>
        </p:nvSpPr>
        <p:spPr>
          <a:xfrm>
            <a:off x="857250" y="5969000"/>
            <a:ext cx="76200" cy="1168400"/>
          </a:xfrm>
          <a:prstGeom prst="rect">
            <a:avLst/>
          </a:prstGeom>
          <a:solidFill>
            <a:srgbClr val="C8341F"/>
          </a:solidFill>
          <a:ln>
            <a:noFill/>
          </a:ln>
        </p:spPr>
        <p:txBody>
          <a:bodyPr/>
          <a:lstStyle/>
          <a:p>
            <a:endParaRPr lang="en-US"/>
          </a:p>
        </p:txBody>
      </p:sp>
      <p:sp>
        <p:nvSpPr>
          <p:cNvPr id="980" name="Text 980"/>
          <p:cNvSpPr txBox="1"/>
          <p:nvPr/>
        </p:nvSpPr>
        <p:spPr>
          <a:xfrm>
            <a:off x="1162050" y="5969000"/>
            <a:ext cx="1905000" cy="1168400"/>
          </a:xfrm>
          <a:prstGeom prst="rect">
            <a:avLst/>
          </a:prstGeom>
          <a:noFill/>
        </p:spPr>
        <p:txBody>
          <a:bodyPr wrap="square" lIns="0" tIns="0" rIns="0" bIns="0" anchor="ctr">
            <a:noAutofit/>
          </a:bodyPr>
          <a:lstStyle/>
          <a:p>
            <a:pPr marL="0" indent="0" algn="l">
              <a:lnSpc>
                <a:spcPct val="110000"/>
              </a:lnSpc>
              <a:buNone/>
            </a:pPr>
            <a:r>
              <a:rPr lang="en-US" sz="3000" b="1" dirty="0">
                <a:solidFill>
                  <a:srgbClr val="C8341F"/>
                </a:solidFill>
                <a:latin typeface="Arial"/>
                <a:cs typeface="Arial"/>
              </a:rPr>
              <a:t>5°</a:t>
            </a:r>
          </a:p>
        </p:txBody>
      </p:sp>
      <p:sp>
        <p:nvSpPr>
          <p:cNvPr id="981" name="Text 981"/>
          <p:cNvSpPr txBox="1"/>
          <p:nvPr/>
        </p:nvSpPr>
        <p:spPr>
          <a:xfrm>
            <a:off x="3270250" y="5969000"/>
            <a:ext cx="1905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0E2A47"/>
                </a:solidFill>
                <a:latin typeface="Arial"/>
                <a:cs typeface="Arial"/>
              </a:rPr>
              <a:t>5.74 ×</a:t>
            </a:r>
          </a:p>
        </p:txBody>
      </p:sp>
      <p:sp>
        <p:nvSpPr>
          <p:cNvPr id="982" name="Text 982"/>
          <p:cNvSpPr txBox="1"/>
          <p:nvPr/>
        </p:nvSpPr>
        <p:spPr>
          <a:xfrm>
            <a:off x="5302250" y="5969000"/>
            <a:ext cx="2540000" cy="1168400"/>
          </a:xfrm>
          <a:prstGeom prst="rect">
            <a:avLst/>
          </a:prstGeom>
          <a:noFill/>
        </p:spPr>
        <p:txBody>
          <a:bodyPr wrap="square" lIns="0" tIns="0" rIns="0" bIns="0" anchor="ctr">
            <a:noAutofit/>
          </a:bodyPr>
          <a:lstStyle/>
          <a:p>
            <a:pPr marL="0" indent="0" algn="l">
              <a:lnSpc>
                <a:spcPct val="110000"/>
              </a:lnSpc>
              <a:buNone/>
            </a:pPr>
            <a:r>
              <a:rPr lang="en-US" sz="2000" dirty="0">
                <a:solidFill>
                  <a:srgbClr val="41505E"/>
                </a:solidFill>
                <a:latin typeface="Arial"/>
                <a:cs typeface="Arial"/>
              </a:rPr>
              <a:t>1,262 lbf</a:t>
            </a:r>
          </a:p>
        </p:txBody>
      </p:sp>
      <p:sp>
        <p:nvSpPr>
          <p:cNvPr id="983" name="Text 983"/>
          <p:cNvSpPr txBox="1"/>
          <p:nvPr/>
        </p:nvSpPr>
        <p:spPr>
          <a:xfrm>
            <a:off x="8096250" y="5969000"/>
            <a:ext cx="2286000" cy="1168400"/>
          </a:xfrm>
          <a:prstGeom prst="rect">
            <a:avLst/>
          </a:prstGeom>
          <a:noFill/>
        </p:spPr>
        <p:txBody>
          <a:bodyPr wrap="square" lIns="0" tIns="0" rIns="0" bIns="0" anchor="ctr">
            <a:noAutofit/>
          </a:bodyPr>
          <a:lstStyle/>
          <a:p>
            <a:pPr marL="0" indent="0" algn="l">
              <a:lnSpc>
                <a:spcPct val="110000"/>
              </a:lnSpc>
              <a:buNone/>
            </a:pPr>
            <a:r>
              <a:rPr lang="en-US" sz="2000" b="1" dirty="0">
                <a:solidFill>
                  <a:srgbClr val="C8341F"/>
                </a:solidFill>
                <a:latin typeface="Arial"/>
                <a:cs typeface="Arial"/>
              </a:rPr>
              <a:t>2,524 lbf</a:t>
            </a:r>
          </a:p>
        </p:txBody>
      </p:sp>
      <p:sp>
        <p:nvSpPr>
          <p:cNvPr id="984" name="Text 984"/>
          <p:cNvSpPr txBox="1"/>
          <p:nvPr/>
        </p:nvSpPr>
        <p:spPr>
          <a:xfrm>
            <a:off x="857250" y="7289800"/>
            <a:ext cx="9652000" cy="508000"/>
          </a:xfrm>
          <a:prstGeom prst="rect">
            <a:avLst/>
          </a:prstGeom>
          <a:noFill/>
        </p:spPr>
        <p:txBody>
          <a:bodyPr wrap="square" lIns="0" tIns="0" rIns="0" bIns="0" anchor="t">
            <a:noAutofit/>
          </a:bodyPr>
          <a:lstStyle/>
          <a:p>
            <a:pPr marL="0" indent="0" algn="l">
              <a:lnSpc>
                <a:spcPct val="110000"/>
              </a:lnSpc>
              <a:buNone/>
            </a:pPr>
            <a:r>
              <a:rPr lang="en-US" sz="1400" dirty="0">
                <a:solidFill>
                  <a:srgbClr val="8593A2"/>
                </a:solidFill>
                <a:latin typeface="Arial"/>
                <a:cs typeface="Arial"/>
              </a:rPr>
              <a:t>Force at EACH anchor = load ÷ (2 × sin sag angle). Example loads; real loads are dynamic.</a:t>
            </a:r>
          </a:p>
        </p:txBody>
      </p:sp>
      <p:sp>
        <p:nvSpPr>
          <p:cNvPr id="985" name="Shape 985"/>
          <p:cNvSpPr/>
          <p:nvPr/>
        </p:nvSpPr>
        <p:spPr>
          <a:xfrm>
            <a:off x="857250" y="7874000"/>
            <a:ext cx="9652000" cy="1524000"/>
          </a:xfrm>
          <a:prstGeom prst="rect">
            <a:avLst/>
          </a:prstGeom>
          <a:solidFill>
            <a:srgbClr val="FFF4EC"/>
          </a:solidFill>
          <a:ln>
            <a:noFill/>
          </a:ln>
        </p:spPr>
        <p:txBody>
          <a:bodyPr/>
          <a:lstStyle/>
          <a:p>
            <a:endParaRPr lang="en-US"/>
          </a:p>
        </p:txBody>
      </p:sp>
      <p:sp>
        <p:nvSpPr>
          <p:cNvPr id="986" name="Shape 986"/>
          <p:cNvSpPr/>
          <p:nvPr/>
        </p:nvSpPr>
        <p:spPr>
          <a:xfrm>
            <a:off x="857250" y="7874000"/>
            <a:ext cx="63500" cy="1524000"/>
          </a:xfrm>
          <a:prstGeom prst="rect">
            <a:avLst/>
          </a:prstGeom>
          <a:solidFill>
            <a:srgbClr val="F26A1B"/>
          </a:solidFill>
          <a:ln>
            <a:noFill/>
          </a:ln>
        </p:spPr>
        <p:txBody>
          <a:bodyPr/>
          <a:lstStyle/>
          <a:p>
            <a:endParaRPr lang="en-US"/>
          </a:p>
        </p:txBody>
      </p:sp>
      <p:sp>
        <p:nvSpPr>
          <p:cNvPr id="987" name="Text 987"/>
          <p:cNvSpPr txBox="1"/>
          <p:nvPr/>
        </p:nvSpPr>
        <p:spPr>
          <a:xfrm>
            <a:off x="1212850" y="7874000"/>
            <a:ext cx="8940800" cy="1524000"/>
          </a:xfrm>
          <a:prstGeom prst="rect">
            <a:avLst/>
          </a:prstGeom>
          <a:noFill/>
        </p:spPr>
        <p:txBody>
          <a:bodyPr wrap="square" lIns="0" tIns="0" rIns="0" bIns="0" anchor="ctr">
            <a:noAutofit/>
          </a:bodyPr>
          <a:lstStyle/>
          <a:p>
            <a:pPr marL="0" indent="0" algn="l">
              <a:lnSpc>
                <a:spcPct val="110000"/>
              </a:lnSpc>
              <a:buNone/>
            </a:pPr>
            <a:r>
              <a:rPr lang="en-US" sz="1800" b="1" dirty="0">
                <a:solidFill>
                  <a:srgbClr val="0E2A47"/>
                </a:solidFill>
                <a:latin typeface="Arial"/>
                <a:cs typeface="Arial"/>
              </a:rPr>
              <a:t>Halve the sag angle and the anchor force roughly doubles. </a:t>
            </a:r>
            <a:r>
              <a:rPr lang="en-US" sz="1700" dirty="0">
                <a:solidFill>
                  <a:srgbClr val="41505E"/>
                </a:solidFill>
                <a:latin typeface="Arial"/>
                <a:cs typeface="Arial"/>
              </a:rPr>
              <a:t>A tight line can load each anchor with several times the rescue load.</a:t>
            </a:r>
          </a:p>
        </p:txBody>
      </p:sp>
      <p:sp>
        <p:nvSpPr>
          <p:cNvPr id="988" name="Shape 988"/>
          <p:cNvSpPr/>
          <p:nvPr/>
        </p:nvSpPr>
        <p:spPr>
          <a:xfrm>
            <a:off x="10922000" y="1905000"/>
            <a:ext cx="6508750" cy="4699000"/>
          </a:xfrm>
          <a:prstGeom prst="rect">
            <a:avLst/>
          </a:prstGeom>
          <a:solidFill>
            <a:srgbClr val="0E2A47"/>
          </a:solidFill>
          <a:ln>
            <a:noFill/>
          </a:ln>
        </p:spPr>
        <p:txBody>
          <a:bodyPr/>
          <a:lstStyle/>
          <a:p>
            <a:endParaRPr lang="en-US"/>
          </a:p>
        </p:txBody>
      </p:sp>
      <p:sp>
        <p:nvSpPr>
          <p:cNvPr id="989" name="Text 989"/>
          <p:cNvSpPr txBox="1"/>
          <p:nvPr/>
        </p:nvSpPr>
        <p:spPr>
          <a:xfrm>
            <a:off x="11303000" y="2235200"/>
            <a:ext cx="574675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7FD3A5"/>
                </a:solidFill>
                <a:latin typeface="Courier New"/>
                <a:cs typeface="Courier New"/>
              </a:rPr>
              <a:t>DO THE MATH</a:t>
            </a:r>
          </a:p>
        </p:txBody>
      </p:sp>
      <p:sp>
        <p:nvSpPr>
          <p:cNvPr id="990" name="Text 990"/>
          <p:cNvSpPr txBox="1"/>
          <p:nvPr/>
        </p:nvSpPr>
        <p:spPr>
          <a:xfrm>
            <a:off x="11303000" y="2616200"/>
            <a:ext cx="5746750" cy="762000"/>
          </a:xfrm>
          <a:prstGeom prst="rect">
            <a:avLst/>
          </a:prstGeom>
          <a:noFill/>
        </p:spPr>
        <p:txBody>
          <a:bodyPr wrap="square" lIns="0" tIns="0" rIns="0" bIns="0" anchor="t">
            <a:noAutofit/>
          </a:bodyPr>
          <a:lstStyle/>
          <a:p>
            <a:pPr marL="0" indent="0" algn="l">
              <a:lnSpc>
                <a:spcPct val="110000"/>
              </a:lnSpc>
              <a:buNone/>
            </a:pPr>
            <a:r>
              <a:rPr lang="en-US" sz="2000" b="1" dirty="0">
                <a:solidFill>
                  <a:srgbClr val="FFFFFF"/>
                </a:solidFill>
                <a:latin typeface="Arial"/>
                <a:cs typeface="Arial"/>
              </a:rPr>
              <a:t>Two-person rescue load, 10° sag</a:t>
            </a:r>
          </a:p>
        </p:txBody>
      </p:sp>
      <p:sp>
        <p:nvSpPr>
          <p:cNvPr id="991" name="Shape 991"/>
          <p:cNvSpPr/>
          <p:nvPr/>
        </p:nvSpPr>
        <p:spPr>
          <a:xfrm>
            <a:off x="11303000" y="4191000"/>
            <a:ext cx="5746750" cy="12700"/>
          </a:xfrm>
          <a:prstGeom prst="rect">
            <a:avLst/>
          </a:prstGeom>
          <a:solidFill>
            <a:srgbClr val="1C3551"/>
          </a:solidFill>
          <a:ln>
            <a:noFill/>
          </a:ln>
        </p:spPr>
        <p:txBody>
          <a:bodyPr/>
          <a:lstStyle/>
          <a:p>
            <a:endParaRPr lang="en-US"/>
          </a:p>
        </p:txBody>
      </p:sp>
      <p:sp>
        <p:nvSpPr>
          <p:cNvPr id="992" name="Text 992"/>
          <p:cNvSpPr txBox="1"/>
          <p:nvPr/>
        </p:nvSpPr>
        <p:spPr>
          <a:xfrm>
            <a:off x="11303000" y="3429000"/>
            <a:ext cx="3302000" cy="762000"/>
          </a:xfrm>
          <a:prstGeom prst="rect">
            <a:avLst/>
          </a:prstGeom>
          <a:noFill/>
        </p:spPr>
        <p:txBody>
          <a:bodyPr wrap="square" lIns="0" tIns="0" rIns="0" bIns="0" anchor="ctr">
            <a:noAutofit/>
          </a:bodyPr>
          <a:lstStyle/>
          <a:p>
            <a:pPr marL="0" indent="0" algn="l">
              <a:lnSpc>
                <a:spcPct val="110000"/>
              </a:lnSpc>
              <a:buNone/>
            </a:pPr>
            <a:r>
              <a:rPr lang="en-US" sz="2000" dirty="0">
                <a:solidFill>
                  <a:srgbClr val="C7D4E1"/>
                </a:solidFill>
                <a:latin typeface="Arial"/>
                <a:cs typeface="Arial"/>
              </a:rPr>
              <a:t>sin 10°</a:t>
            </a:r>
          </a:p>
        </p:txBody>
      </p:sp>
      <p:sp>
        <p:nvSpPr>
          <p:cNvPr id="993" name="Text 993"/>
          <p:cNvSpPr txBox="1"/>
          <p:nvPr/>
        </p:nvSpPr>
        <p:spPr>
          <a:xfrm>
            <a:off x="14478000" y="3429000"/>
            <a:ext cx="2571750" cy="762000"/>
          </a:xfrm>
          <a:prstGeom prst="rect">
            <a:avLst/>
          </a:prstGeom>
          <a:noFill/>
        </p:spPr>
        <p:txBody>
          <a:bodyPr wrap="square" lIns="0" tIns="0" rIns="0" bIns="0" anchor="ctr">
            <a:noAutofit/>
          </a:bodyPr>
          <a:lstStyle/>
          <a:p>
            <a:pPr marL="0" indent="0" algn="r">
              <a:lnSpc>
                <a:spcPct val="110000"/>
              </a:lnSpc>
              <a:buNone/>
            </a:pPr>
            <a:r>
              <a:rPr lang="en-US" sz="2200" b="1" dirty="0">
                <a:solidFill>
                  <a:srgbClr val="FFFFFF"/>
                </a:solidFill>
                <a:latin typeface="Arial"/>
                <a:cs typeface="Arial"/>
              </a:rPr>
              <a:t>= 0.174</a:t>
            </a:r>
          </a:p>
        </p:txBody>
      </p:sp>
      <p:sp>
        <p:nvSpPr>
          <p:cNvPr id="994" name="Shape 994"/>
          <p:cNvSpPr/>
          <p:nvPr/>
        </p:nvSpPr>
        <p:spPr>
          <a:xfrm>
            <a:off x="11303000" y="4978400"/>
            <a:ext cx="5746750" cy="12700"/>
          </a:xfrm>
          <a:prstGeom prst="rect">
            <a:avLst/>
          </a:prstGeom>
          <a:solidFill>
            <a:srgbClr val="1C3551"/>
          </a:solidFill>
          <a:ln>
            <a:noFill/>
          </a:ln>
        </p:spPr>
        <p:txBody>
          <a:bodyPr/>
          <a:lstStyle/>
          <a:p>
            <a:endParaRPr lang="en-US"/>
          </a:p>
        </p:txBody>
      </p:sp>
      <p:sp>
        <p:nvSpPr>
          <p:cNvPr id="995" name="Text 995"/>
          <p:cNvSpPr txBox="1"/>
          <p:nvPr/>
        </p:nvSpPr>
        <p:spPr>
          <a:xfrm>
            <a:off x="11303000" y="4216400"/>
            <a:ext cx="3302000" cy="762000"/>
          </a:xfrm>
          <a:prstGeom prst="rect">
            <a:avLst/>
          </a:prstGeom>
          <a:noFill/>
        </p:spPr>
        <p:txBody>
          <a:bodyPr wrap="square" lIns="0" tIns="0" rIns="0" bIns="0" anchor="ctr">
            <a:noAutofit/>
          </a:bodyPr>
          <a:lstStyle/>
          <a:p>
            <a:pPr marL="0" indent="0" algn="l">
              <a:lnSpc>
                <a:spcPct val="110000"/>
              </a:lnSpc>
              <a:buNone/>
            </a:pPr>
            <a:r>
              <a:rPr lang="en-US" sz="2000" dirty="0">
                <a:solidFill>
                  <a:srgbClr val="C7D4E1"/>
                </a:solidFill>
                <a:latin typeface="Arial"/>
                <a:cs typeface="Arial"/>
              </a:rPr>
              <a:t>2 × 0.174</a:t>
            </a:r>
          </a:p>
        </p:txBody>
      </p:sp>
      <p:sp>
        <p:nvSpPr>
          <p:cNvPr id="996" name="Text 996"/>
          <p:cNvSpPr txBox="1"/>
          <p:nvPr/>
        </p:nvSpPr>
        <p:spPr>
          <a:xfrm>
            <a:off x="14478000" y="4216400"/>
            <a:ext cx="2571750" cy="762000"/>
          </a:xfrm>
          <a:prstGeom prst="rect">
            <a:avLst/>
          </a:prstGeom>
          <a:noFill/>
        </p:spPr>
        <p:txBody>
          <a:bodyPr wrap="square" lIns="0" tIns="0" rIns="0" bIns="0" anchor="ctr">
            <a:noAutofit/>
          </a:bodyPr>
          <a:lstStyle/>
          <a:p>
            <a:pPr marL="0" indent="0" algn="r">
              <a:lnSpc>
                <a:spcPct val="110000"/>
              </a:lnSpc>
              <a:buNone/>
            </a:pPr>
            <a:r>
              <a:rPr lang="en-US" sz="2200" b="1" dirty="0">
                <a:solidFill>
                  <a:srgbClr val="FFFFFF"/>
                </a:solidFill>
                <a:latin typeface="Arial"/>
                <a:cs typeface="Arial"/>
              </a:rPr>
              <a:t>= 0.347</a:t>
            </a:r>
          </a:p>
        </p:txBody>
      </p:sp>
      <p:sp>
        <p:nvSpPr>
          <p:cNvPr id="997" name="Shape 997"/>
          <p:cNvSpPr/>
          <p:nvPr/>
        </p:nvSpPr>
        <p:spPr>
          <a:xfrm>
            <a:off x="11303000" y="5765800"/>
            <a:ext cx="5746750" cy="12700"/>
          </a:xfrm>
          <a:prstGeom prst="rect">
            <a:avLst/>
          </a:prstGeom>
          <a:solidFill>
            <a:srgbClr val="1C3551"/>
          </a:solidFill>
          <a:ln>
            <a:noFill/>
          </a:ln>
        </p:spPr>
        <p:txBody>
          <a:bodyPr/>
          <a:lstStyle/>
          <a:p>
            <a:endParaRPr lang="en-US"/>
          </a:p>
        </p:txBody>
      </p:sp>
      <p:sp>
        <p:nvSpPr>
          <p:cNvPr id="998" name="Text 998"/>
          <p:cNvSpPr txBox="1"/>
          <p:nvPr/>
        </p:nvSpPr>
        <p:spPr>
          <a:xfrm>
            <a:off x="11303000" y="5003800"/>
            <a:ext cx="3302000" cy="762000"/>
          </a:xfrm>
          <a:prstGeom prst="rect">
            <a:avLst/>
          </a:prstGeom>
          <a:noFill/>
        </p:spPr>
        <p:txBody>
          <a:bodyPr wrap="square" lIns="0" tIns="0" rIns="0" bIns="0" anchor="ctr">
            <a:noAutofit/>
          </a:bodyPr>
          <a:lstStyle/>
          <a:p>
            <a:pPr marL="0" indent="0" algn="l">
              <a:lnSpc>
                <a:spcPct val="110000"/>
              </a:lnSpc>
              <a:buNone/>
            </a:pPr>
            <a:r>
              <a:rPr lang="en-US" sz="2000" dirty="0">
                <a:solidFill>
                  <a:srgbClr val="C7D4E1"/>
                </a:solidFill>
                <a:latin typeface="Arial"/>
                <a:cs typeface="Arial"/>
              </a:rPr>
              <a:t>440 lb ÷ 0.347</a:t>
            </a:r>
          </a:p>
        </p:txBody>
      </p:sp>
      <p:sp>
        <p:nvSpPr>
          <p:cNvPr id="999" name="Text 999"/>
          <p:cNvSpPr txBox="1"/>
          <p:nvPr/>
        </p:nvSpPr>
        <p:spPr>
          <a:xfrm>
            <a:off x="14478000" y="5003800"/>
            <a:ext cx="2571750" cy="762000"/>
          </a:xfrm>
          <a:prstGeom prst="rect">
            <a:avLst/>
          </a:prstGeom>
          <a:noFill/>
        </p:spPr>
        <p:txBody>
          <a:bodyPr wrap="square" lIns="0" tIns="0" rIns="0" bIns="0" anchor="ctr">
            <a:noAutofit/>
          </a:bodyPr>
          <a:lstStyle/>
          <a:p>
            <a:pPr marL="0" indent="0" algn="r">
              <a:lnSpc>
                <a:spcPct val="110000"/>
              </a:lnSpc>
              <a:buNone/>
            </a:pPr>
            <a:r>
              <a:rPr lang="en-US" sz="2200" b="1" dirty="0">
                <a:solidFill>
                  <a:srgbClr val="E0A52E"/>
                </a:solidFill>
                <a:latin typeface="Arial"/>
                <a:cs typeface="Arial"/>
              </a:rPr>
              <a:t>= 1,267 lbf</a:t>
            </a:r>
          </a:p>
        </p:txBody>
      </p:sp>
      <p:sp>
        <p:nvSpPr>
          <p:cNvPr id="1000" name="Text 1000"/>
          <p:cNvSpPr txBox="1"/>
          <p:nvPr/>
        </p:nvSpPr>
        <p:spPr>
          <a:xfrm>
            <a:off x="11303000" y="5918200"/>
            <a:ext cx="5746750" cy="558800"/>
          </a:xfrm>
          <a:prstGeom prst="rect">
            <a:avLst/>
          </a:prstGeom>
          <a:noFill/>
        </p:spPr>
        <p:txBody>
          <a:bodyPr wrap="square" lIns="0" tIns="0" rIns="0" bIns="0" anchor="t">
            <a:noAutofit/>
          </a:bodyPr>
          <a:lstStyle/>
          <a:p>
            <a:pPr marL="0" indent="0" algn="l">
              <a:lnSpc>
                <a:spcPct val="110000"/>
              </a:lnSpc>
              <a:buNone/>
            </a:pPr>
            <a:r>
              <a:rPr lang="en-US" sz="1600" dirty="0">
                <a:solidFill>
                  <a:srgbClr val="C7D4E1"/>
                </a:solidFill>
                <a:latin typeface="Arial"/>
                <a:cs typeface="Arial"/>
              </a:rPr>
              <a:t>at each anchor — nearly 3× the load.</a:t>
            </a:r>
          </a:p>
        </p:txBody>
      </p:sp>
      <p:sp>
        <p:nvSpPr>
          <p:cNvPr id="1001" name="Shape 1001"/>
          <p:cNvSpPr/>
          <p:nvPr/>
        </p:nvSpPr>
        <p:spPr>
          <a:xfrm>
            <a:off x="10922000" y="9398000"/>
            <a:ext cx="6508750" cy="19050"/>
          </a:xfrm>
          <a:prstGeom prst="rect">
            <a:avLst/>
          </a:prstGeom>
          <a:solidFill>
            <a:srgbClr val="E2E7ED"/>
          </a:solidFill>
          <a:ln>
            <a:noFill/>
          </a:ln>
        </p:spPr>
        <p:txBody>
          <a:bodyPr/>
          <a:lstStyle/>
          <a:p>
            <a:endParaRPr lang="en-US"/>
          </a:p>
        </p:txBody>
      </p:sp>
      <p:sp>
        <p:nvSpPr>
          <p:cNvPr id="1002" name="Shape 1002"/>
          <p:cNvSpPr/>
          <p:nvPr/>
        </p:nvSpPr>
        <p:spPr>
          <a:xfrm>
            <a:off x="10922000" y="6858000"/>
            <a:ext cx="6508750" cy="2540000"/>
          </a:xfrm>
          <a:prstGeom prst="rect">
            <a:avLst/>
          </a:prstGeom>
          <a:solidFill>
            <a:srgbClr val="FFFFFF"/>
          </a:solidFill>
          <a:ln>
            <a:noFill/>
          </a:ln>
        </p:spPr>
        <p:txBody>
          <a:bodyPr/>
          <a:lstStyle/>
          <a:p>
            <a:endParaRPr lang="en-US"/>
          </a:p>
        </p:txBody>
      </p:sp>
      <p:sp>
        <p:nvSpPr>
          <p:cNvPr id="1003" name="Text 1003"/>
          <p:cNvSpPr txBox="1"/>
          <p:nvPr/>
        </p:nvSpPr>
        <p:spPr>
          <a:xfrm>
            <a:off x="11303000" y="7162800"/>
            <a:ext cx="574675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THE RULE</a:t>
            </a:r>
          </a:p>
        </p:txBody>
      </p:sp>
      <p:sp>
        <p:nvSpPr>
          <p:cNvPr id="1004" name="Text 1004"/>
          <p:cNvSpPr txBox="1"/>
          <p:nvPr/>
        </p:nvSpPr>
        <p:spPr>
          <a:xfrm>
            <a:off x="11303000" y="7543800"/>
            <a:ext cx="5746750" cy="17780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Rig to the approved design and its anchor ratings. Never over-tension a line to reduce sag.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4 · TENSIONED LINES — EXERCISE</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Tensioned-Line Traverse — Rig It, Ride It, Check It</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EXERCISE · TENSIONED LINE</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86</a:t>
            </a:r>
            <a:endParaRPr lang="en-US" sz="900" dirty="0"/>
          </a:p>
        </p:txBody>
      </p:sp>
      <p:sp>
        <p:nvSpPr>
          <p:cNvPr id="1221" name="Shape 1221"/>
          <p:cNvSpPr/>
          <p:nvPr/>
        </p:nvSpPr>
        <p:spPr>
          <a:xfrm>
            <a:off x="857250" y="1778000"/>
            <a:ext cx="7112000" cy="7620000"/>
          </a:xfrm>
          <a:prstGeom prst="rect">
            <a:avLst/>
          </a:prstGeom>
          <a:solidFill>
            <a:srgbClr val="FFFFFF"/>
          </a:solidFill>
          <a:ln>
            <a:noFill/>
          </a:ln>
        </p:spPr>
        <p:txBody>
          <a:bodyPr/>
          <a:lstStyle/>
          <a:p>
            <a:endParaRPr lang="en-US"/>
          </a:p>
        </p:txBody>
      </p:sp>
      <p:pic>
        <p:nvPicPr>
          <p:cNvPr id="1222" name="Picture 1222"/>
          <p:cNvPicPr>
            <a:picLocks noChangeAspect="1"/>
          </p:cNvPicPr>
          <p:nvPr/>
        </p:nvPicPr>
        <p:blipFill>
          <a:blip r:embed="rId3"/>
          <a:stretch>
            <a:fillRect/>
          </a:stretch>
        </p:blipFill>
        <p:spPr>
          <a:xfrm>
            <a:off x="1111250" y="3596675"/>
            <a:ext cx="6604000" cy="3982651"/>
          </a:xfrm>
          <a:prstGeom prst="rect">
            <a:avLst/>
          </a:prstGeom>
        </p:spPr>
      </p:pic>
      <p:sp>
        <p:nvSpPr>
          <p:cNvPr id="1223" name="Text 1223"/>
          <p:cNvSpPr txBox="1"/>
          <p:nvPr/>
        </p:nvSpPr>
        <p:spPr>
          <a:xfrm>
            <a:off x="8477250" y="1905000"/>
            <a:ext cx="8953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SET-UP</a:t>
            </a:r>
          </a:p>
        </p:txBody>
      </p:sp>
      <p:sp>
        <p:nvSpPr>
          <p:cNvPr id="1224" name="Shape 1224"/>
          <p:cNvSpPr/>
          <p:nvPr/>
        </p:nvSpPr>
        <p:spPr>
          <a:xfrm>
            <a:off x="8477250" y="2387600"/>
            <a:ext cx="431800" cy="431800"/>
          </a:xfrm>
          <a:prstGeom prst="ellipse">
            <a:avLst/>
          </a:prstGeom>
          <a:solidFill>
            <a:srgbClr val="0E2A47"/>
          </a:solidFill>
          <a:ln>
            <a:noFill/>
          </a:ln>
        </p:spPr>
        <p:txBody>
          <a:bodyPr/>
          <a:lstStyle/>
          <a:p>
            <a:endParaRPr lang="en-US"/>
          </a:p>
        </p:txBody>
      </p:sp>
      <p:sp>
        <p:nvSpPr>
          <p:cNvPr id="1225" name="Text 1225"/>
          <p:cNvSpPr txBox="1"/>
          <p:nvPr/>
        </p:nvSpPr>
        <p:spPr>
          <a:xfrm>
            <a:off x="8477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226" name="Text 1226"/>
          <p:cNvSpPr txBox="1"/>
          <p:nvPr/>
        </p:nvSpPr>
        <p:spPr>
          <a:xfrm>
            <a:off x="9137650" y="23622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Two lines, each with its own anchors</a:t>
            </a:r>
          </a:p>
          <a:p>
            <a:pPr marL="0" indent="0" algn="l">
              <a:lnSpc>
                <a:spcPct val="110000"/>
              </a:lnSpc>
              <a:spcBef>
                <a:spcPts val="300"/>
              </a:spcBef>
              <a:buNone/>
            </a:pPr>
            <a:r>
              <a:rPr lang="en-US" sz="1500" dirty="0">
                <a:solidFill>
                  <a:srgbClr val="41505E"/>
                </a:solidFill>
                <a:latin typeface="Arial"/>
                <a:cs typeface="Arial"/>
              </a:rPr>
              <a:t>A failure of one line must not drop the technician</a:t>
            </a:r>
          </a:p>
        </p:txBody>
      </p:sp>
      <p:sp>
        <p:nvSpPr>
          <p:cNvPr id="1227" name="Shape 1227"/>
          <p:cNvSpPr/>
          <p:nvPr/>
        </p:nvSpPr>
        <p:spPr>
          <a:xfrm>
            <a:off x="8477250" y="3556000"/>
            <a:ext cx="431800" cy="431800"/>
          </a:xfrm>
          <a:prstGeom prst="ellipse">
            <a:avLst/>
          </a:prstGeom>
          <a:solidFill>
            <a:srgbClr val="0E2A47"/>
          </a:solidFill>
          <a:ln>
            <a:noFill/>
          </a:ln>
        </p:spPr>
        <p:txBody>
          <a:bodyPr/>
          <a:lstStyle/>
          <a:p>
            <a:endParaRPr lang="en-US"/>
          </a:p>
        </p:txBody>
      </p:sp>
      <p:sp>
        <p:nvSpPr>
          <p:cNvPr id="1228" name="Text 1228"/>
          <p:cNvSpPr txBox="1"/>
          <p:nvPr/>
        </p:nvSpPr>
        <p:spPr>
          <a:xfrm>
            <a:off x="8477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229" name="Text 1229"/>
          <p:cNvSpPr txBox="1"/>
          <p:nvPr/>
        </p:nvSpPr>
        <p:spPr>
          <a:xfrm>
            <a:off x="9137650" y="35306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Anchors rated for tension forces</a:t>
            </a:r>
          </a:p>
          <a:p>
            <a:pPr marL="0" indent="0" algn="l">
              <a:lnSpc>
                <a:spcPct val="110000"/>
              </a:lnSpc>
              <a:spcBef>
                <a:spcPts val="300"/>
              </a:spcBef>
              <a:buNone/>
            </a:pPr>
            <a:r>
              <a:rPr lang="en-US" sz="1500" dirty="0">
                <a:solidFill>
                  <a:srgbClr val="41505E"/>
                </a:solidFill>
                <a:latin typeface="Arial"/>
                <a:cs typeface="Arial"/>
              </a:rPr>
              <a:t>Use the sag-angle math from the previous slide</a:t>
            </a:r>
          </a:p>
        </p:txBody>
      </p:sp>
      <p:sp>
        <p:nvSpPr>
          <p:cNvPr id="1230" name="Shape 1230"/>
          <p:cNvSpPr/>
          <p:nvPr/>
        </p:nvSpPr>
        <p:spPr>
          <a:xfrm>
            <a:off x="8477250" y="4724400"/>
            <a:ext cx="431800" cy="431800"/>
          </a:xfrm>
          <a:prstGeom prst="ellipse">
            <a:avLst/>
          </a:prstGeom>
          <a:solidFill>
            <a:srgbClr val="0E2A47"/>
          </a:solidFill>
          <a:ln>
            <a:noFill/>
          </a:ln>
        </p:spPr>
        <p:txBody>
          <a:bodyPr/>
          <a:lstStyle/>
          <a:p>
            <a:endParaRPr lang="en-US"/>
          </a:p>
        </p:txBody>
      </p:sp>
      <p:sp>
        <p:nvSpPr>
          <p:cNvPr id="1231" name="Text 1231"/>
          <p:cNvSpPr txBox="1"/>
          <p:nvPr/>
        </p:nvSpPr>
        <p:spPr>
          <a:xfrm>
            <a:off x="8477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232" name="Text 1232"/>
          <p:cNvSpPr txBox="1"/>
          <p:nvPr/>
        </p:nvSpPr>
        <p:spPr>
          <a:xfrm>
            <a:off x="9137650" y="46990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Connect to both lines</a:t>
            </a:r>
          </a:p>
          <a:p>
            <a:pPr marL="0" indent="0" algn="l">
              <a:lnSpc>
                <a:spcPct val="110000"/>
              </a:lnSpc>
              <a:spcBef>
                <a:spcPts val="300"/>
              </a:spcBef>
              <a:buNone/>
            </a:pPr>
            <a:r>
              <a:rPr lang="en-US" sz="1500" dirty="0">
                <a:solidFill>
                  <a:srgbClr val="41505E"/>
                </a:solidFill>
                <a:latin typeface="Arial"/>
                <a:cs typeface="Arial"/>
              </a:rPr>
              <a:t>Pulleys or connectors on each line, cowstails locked</a:t>
            </a:r>
          </a:p>
        </p:txBody>
      </p:sp>
      <p:sp>
        <p:nvSpPr>
          <p:cNvPr id="1233" name="Shape 1233"/>
          <p:cNvSpPr/>
          <p:nvPr/>
        </p:nvSpPr>
        <p:spPr>
          <a:xfrm>
            <a:off x="8477250" y="5892800"/>
            <a:ext cx="431800" cy="431800"/>
          </a:xfrm>
          <a:prstGeom prst="ellipse">
            <a:avLst/>
          </a:prstGeom>
          <a:solidFill>
            <a:srgbClr val="0E2A47"/>
          </a:solidFill>
          <a:ln>
            <a:noFill/>
          </a:ln>
        </p:spPr>
        <p:txBody>
          <a:bodyPr/>
          <a:lstStyle/>
          <a:p>
            <a:endParaRPr lang="en-US"/>
          </a:p>
        </p:txBody>
      </p:sp>
      <p:sp>
        <p:nvSpPr>
          <p:cNvPr id="1234" name="Text 1234"/>
          <p:cNvSpPr txBox="1"/>
          <p:nvPr/>
        </p:nvSpPr>
        <p:spPr>
          <a:xfrm>
            <a:off x="8477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235" name="Text 1235"/>
          <p:cNvSpPr txBox="1"/>
          <p:nvPr/>
        </p:nvSpPr>
        <p:spPr>
          <a:xfrm>
            <a:off x="9137650" y="58674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Control the travel</a:t>
            </a:r>
          </a:p>
          <a:p>
            <a:pPr marL="0" indent="0" algn="l">
              <a:lnSpc>
                <a:spcPct val="110000"/>
              </a:lnSpc>
              <a:spcBef>
                <a:spcPts val="300"/>
              </a:spcBef>
              <a:buNone/>
            </a:pPr>
            <a:r>
              <a:rPr lang="en-US" sz="1500" dirty="0">
                <a:solidFill>
                  <a:srgbClr val="41505E"/>
                </a:solidFill>
                <a:latin typeface="Arial"/>
                <a:cs typeface="Arial"/>
              </a:rPr>
              <a:t>Haul or tag line to move; never free-wheel</a:t>
            </a:r>
          </a:p>
        </p:txBody>
      </p:sp>
      <p:sp>
        <p:nvSpPr>
          <p:cNvPr id="1236" name="Shape 1236"/>
          <p:cNvSpPr/>
          <p:nvPr/>
        </p:nvSpPr>
        <p:spPr>
          <a:xfrm>
            <a:off x="8477250" y="7061200"/>
            <a:ext cx="431800" cy="431800"/>
          </a:xfrm>
          <a:prstGeom prst="ellipse">
            <a:avLst/>
          </a:prstGeom>
          <a:solidFill>
            <a:srgbClr val="0E2A47"/>
          </a:solidFill>
          <a:ln>
            <a:noFill/>
          </a:ln>
        </p:spPr>
        <p:txBody>
          <a:bodyPr/>
          <a:lstStyle/>
          <a:p>
            <a:endParaRPr lang="en-US"/>
          </a:p>
        </p:txBody>
      </p:sp>
      <p:sp>
        <p:nvSpPr>
          <p:cNvPr id="1237" name="Text 1237"/>
          <p:cNvSpPr txBox="1"/>
          <p:nvPr/>
        </p:nvSpPr>
        <p:spPr>
          <a:xfrm>
            <a:off x="8477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238" name="Text 1238"/>
          <p:cNvSpPr txBox="1"/>
          <p:nvPr/>
        </p:nvSpPr>
        <p:spPr>
          <a:xfrm>
            <a:off x="9137650" y="7035800"/>
            <a:ext cx="8293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Check sag under load</a:t>
            </a:r>
          </a:p>
          <a:p>
            <a:pPr marL="0" indent="0" algn="l">
              <a:lnSpc>
                <a:spcPct val="110000"/>
              </a:lnSpc>
              <a:spcBef>
                <a:spcPts val="300"/>
              </a:spcBef>
              <a:buNone/>
            </a:pPr>
            <a:r>
              <a:rPr lang="en-US" sz="1500" dirty="0">
                <a:solidFill>
                  <a:srgbClr val="41505E"/>
                </a:solidFill>
                <a:latin typeface="Arial"/>
                <a:cs typeface="Arial"/>
              </a:rPr>
              <a:t>Confirm the angle matches the approved design</a:t>
            </a:r>
          </a:p>
        </p:txBody>
      </p:sp>
      <p:sp>
        <p:nvSpPr>
          <p:cNvPr id="1239" name="Shape 1239"/>
          <p:cNvSpPr/>
          <p:nvPr/>
        </p:nvSpPr>
        <p:spPr>
          <a:xfrm>
            <a:off x="8477250" y="8483600"/>
            <a:ext cx="8953500" cy="914400"/>
          </a:xfrm>
          <a:prstGeom prst="rect">
            <a:avLst/>
          </a:prstGeom>
          <a:solidFill>
            <a:srgbClr val="0E2A47"/>
          </a:solidFill>
          <a:ln>
            <a:noFill/>
          </a:ln>
        </p:spPr>
        <p:txBody>
          <a:bodyPr/>
          <a:lstStyle/>
          <a:p>
            <a:endParaRPr lang="en-US"/>
          </a:p>
        </p:txBody>
      </p:sp>
      <p:sp>
        <p:nvSpPr>
          <p:cNvPr id="1240" name="Text 1240"/>
          <p:cNvSpPr txBox="1"/>
          <p:nvPr/>
        </p:nvSpPr>
        <p:spPr>
          <a:xfrm>
            <a:off x="8832850" y="8483600"/>
            <a:ext cx="8242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Never over-tension a line </a:t>
            </a:r>
            <a:r>
              <a:rPr lang="en-US" sz="1600" dirty="0">
                <a:solidFill>
                  <a:srgbClr val="C7D4E1"/>
                </a:solidFill>
                <a:latin typeface="Arial"/>
                <a:cs typeface="Arial"/>
              </a:rPr>
              <a:t>to reduce sag — anchor force rises fast.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5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832092"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034922"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Complex Casualty Movement</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Control two-person systems through obstacles</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Coordinate rescuer position, casualty orientation, load transfer, hauling / lowering and edge / obstacle passage.</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small errors become large</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Casualty weight, device congestion and limited mobility reduce the margin for improvisation.</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staged checkpoints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Pause in stable positions before each major transfer or obstacle.</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Unplanned simultaneous actions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Multiple rescuers moving devices or loads without one command can create shock loads or loss of control.</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Stable staging, clear commands, controlled load transfer and casualty protection.</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“Who should move first?”</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The rescue plan and command structure decide; only one coordinated plan should control the load.</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87</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973679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4 · CASUALTY MOVEMENT — SEE IT</a:t>
            </a:r>
            <a:endParaRPr lang="en-US" sz="975" dirty="0"/>
          </a:p>
        </p:txBody>
      </p:sp>
      <p:sp>
        <p:nvSpPr>
          <p:cNvPr id="3" name="Text 1"/>
          <p:cNvSpPr/>
          <p:nvPr/>
        </p:nvSpPr>
        <p:spPr>
          <a:xfrm>
            <a:off x="857250" y="838200"/>
            <a:ext cx="16573500"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Cross-Haul — Move the Casualty Away From the Structure</a:t>
            </a:r>
            <a:endParaRPr lang="en-US" sz="3000" dirty="0"/>
          </a:p>
        </p:txBody>
      </p:sp>
      <p:sp>
        <p:nvSpPr>
          <p:cNvPr id="49" name="Shape 47"/>
          <p:cNvSpPr/>
          <p:nvPr/>
        </p:nvSpPr>
        <p:spPr>
          <a:xfrm>
            <a:off x="0" y="9753600"/>
            <a:ext cx="18288000" cy="9525"/>
          </a:xfrm>
          <a:prstGeom prst="rect">
            <a:avLst/>
          </a:prstGeom>
          <a:solidFill>
            <a:srgbClr val="E1E6EC"/>
          </a:solidFill>
          <a:ln/>
        </p:spPr>
        <p:txBody>
          <a:bodyPr/>
          <a:lstStyle/>
          <a:p>
            <a:endParaRPr lang="en-US"/>
          </a:p>
        </p:txBody>
      </p:sp>
      <p:sp>
        <p:nvSpPr>
          <p:cNvPr id="50" name="Text 48"/>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1" name="Text 49"/>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SEE IT · CROSS-HAUL</a:t>
            </a:r>
            <a:endParaRPr lang="en-US" sz="900" dirty="0"/>
          </a:p>
        </p:txBody>
      </p:sp>
      <p:sp>
        <p:nvSpPr>
          <p:cNvPr id="52" name="Text 50"/>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88</a:t>
            </a:r>
            <a:endParaRPr lang="en-US" sz="900" dirty="0"/>
          </a:p>
        </p:txBody>
      </p:sp>
      <p:sp>
        <p:nvSpPr>
          <p:cNvPr id="1322" name="Shape 1322"/>
          <p:cNvSpPr/>
          <p:nvPr/>
        </p:nvSpPr>
        <p:spPr>
          <a:xfrm>
            <a:off x="857250" y="1778000"/>
            <a:ext cx="8128000" cy="7620000"/>
          </a:xfrm>
          <a:prstGeom prst="rect">
            <a:avLst/>
          </a:prstGeom>
          <a:solidFill>
            <a:srgbClr val="FFFFFF"/>
          </a:solidFill>
          <a:ln>
            <a:noFill/>
          </a:ln>
        </p:spPr>
        <p:txBody>
          <a:bodyPr/>
          <a:lstStyle/>
          <a:p>
            <a:endParaRPr lang="en-US"/>
          </a:p>
        </p:txBody>
      </p:sp>
      <p:pic>
        <p:nvPicPr>
          <p:cNvPr id="1323" name="Picture 1323"/>
          <p:cNvPicPr>
            <a:picLocks noChangeAspect="1"/>
          </p:cNvPicPr>
          <p:nvPr/>
        </p:nvPicPr>
        <p:blipFill>
          <a:blip r:embed="rId3"/>
          <a:stretch>
            <a:fillRect/>
          </a:stretch>
        </p:blipFill>
        <p:spPr>
          <a:xfrm>
            <a:off x="1111250" y="3454400"/>
            <a:ext cx="7620000" cy="4267200"/>
          </a:xfrm>
          <a:prstGeom prst="rect">
            <a:avLst/>
          </a:prstGeom>
        </p:spPr>
      </p:pic>
      <p:sp>
        <p:nvSpPr>
          <p:cNvPr id="1324" name="Text 1324"/>
          <p:cNvSpPr txBox="1"/>
          <p:nvPr/>
        </p:nvSpPr>
        <p:spPr>
          <a:xfrm>
            <a:off x="9493250" y="1905000"/>
            <a:ext cx="7937500" cy="254000"/>
          </a:xfrm>
          <a:prstGeom prst="rect">
            <a:avLst/>
          </a:prstGeom>
          <a:noFill/>
        </p:spPr>
        <p:txBody>
          <a:bodyPr wrap="square" lIns="0" tIns="0" rIns="0" bIns="0" anchor="t">
            <a:noAutofit/>
          </a:bodyPr>
          <a:lstStyle/>
          <a:p>
            <a:pPr marL="0" indent="0" algn="l">
              <a:lnSpc>
                <a:spcPct val="110000"/>
              </a:lnSpc>
              <a:buNone/>
            </a:pPr>
            <a:r>
              <a:rPr lang="en-US" sz="1100" b="1" spc="150" dirty="0">
                <a:solidFill>
                  <a:srgbClr val="F26A1B"/>
                </a:solidFill>
                <a:latin typeface="Courier New"/>
                <a:cs typeface="Courier New"/>
              </a:rPr>
              <a:t>HOW IT WORKS</a:t>
            </a:r>
          </a:p>
        </p:txBody>
      </p:sp>
      <p:sp>
        <p:nvSpPr>
          <p:cNvPr id="1325" name="Shape 1325"/>
          <p:cNvSpPr/>
          <p:nvPr/>
        </p:nvSpPr>
        <p:spPr>
          <a:xfrm>
            <a:off x="9493250" y="2387600"/>
            <a:ext cx="431800" cy="431800"/>
          </a:xfrm>
          <a:prstGeom prst="ellipse">
            <a:avLst/>
          </a:prstGeom>
          <a:solidFill>
            <a:srgbClr val="0E2A47"/>
          </a:solidFill>
          <a:ln>
            <a:noFill/>
          </a:ln>
        </p:spPr>
        <p:txBody>
          <a:bodyPr/>
          <a:lstStyle/>
          <a:p>
            <a:endParaRPr lang="en-US"/>
          </a:p>
        </p:txBody>
      </p:sp>
      <p:sp>
        <p:nvSpPr>
          <p:cNvPr id="1326" name="Text 1326"/>
          <p:cNvSpPr txBox="1"/>
          <p:nvPr/>
        </p:nvSpPr>
        <p:spPr>
          <a:xfrm>
            <a:off x="9493250" y="23876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1</a:t>
            </a:r>
          </a:p>
        </p:txBody>
      </p:sp>
      <p:sp>
        <p:nvSpPr>
          <p:cNvPr id="1327" name="Text 1327"/>
          <p:cNvSpPr txBox="1"/>
          <p:nvPr/>
        </p:nvSpPr>
        <p:spPr>
          <a:xfrm>
            <a:off x="10153650" y="2362200"/>
            <a:ext cx="7277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Two haul systems from separate overhead anchors</a:t>
            </a:r>
          </a:p>
          <a:p>
            <a:pPr marL="0" indent="0" algn="l">
              <a:lnSpc>
                <a:spcPct val="110000"/>
              </a:lnSpc>
              <a:spcBef>
                <a:spcPts val="300"/>
              </a:spcBef>
              <a:buNone/>
            </a:pPr>
            <a:r>
              <a:rPr lang="en-US" sz="1500" dirty="0">
                <a:solidFill>
                  <a:srgbClr val="41505E"/>
                </a:solidFill>
                <a:latin typeface="Arial"/>
                <a:cs typeface="Arial"/>
              </a:rPr>
              <a:t>Each side has its own main line and backup line</a:t>
            </a:r>
          </a:p>
        </p:txBody>
      </p:sp>
      <p:sp>
        <p:nvSpPr>
          <p:cNvPr id="1328" name="Shape 1328"/>
          <p:cNvSpPr/>
          <p:nvPr/>
        </p:nvSpPr>
        <p:spPr>
          <a:xfrm>
            <a:off x="9493250" y="3556000"/>
            <a:ext cx="431800" cy="431800"/>
          </a:xfrm>
          <a:prstGeom prst="ellipse">
            <a:avLst/>
          </a:prstGeom>
          <a:solidFill>
            <a:srgbClr val="0E2A47"/>
          </a:solidFill>
          <a:ln>
            <a:noFill/>
          </a:ln>
        </p:spPr>
        <p:txBody>
          <a:bodyPr/>
          <a:lstStyle/>
          <a:p>
            <a:endParaRPr lang="en-US"/>
          </a:p>
        </p:txBody>
      </p:sp>
      <p:sp>
        <p:nvSpPr>
          <p:cNvPr id="1329" name="Text 1329"/>
          <p:cNvSpPr txBox="1"/>
          <p:nvPr/>
        </p:nvSpPr>
        <p:spPr>
          <a:xfrm>
            <a:off x="9493250" y="35560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2</a:t>
            </a:r>
          </a:p>
        </p:txBody>
      </p:sp>
      <p:sp>
        <p:nvSpPr>
          <p:cNvPr id="1330" name="Text 1330"/>
          <p:cNvSpPr txBox="1"/>
          <p:nvPr/>
        </p:nvSpPr>
        <p:spPr>
          <a:xfrm>
            <a:off x="10153650" y="3530600"/>
            <a:ext cx="7277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Casualty hangs from a rigging plate</a:t>
            </a:r>
          </a:p>
          <a:p>
            <a:pPr marL="0" indent="0" algn="l">
              <a:lnSpc>
                <a:spcPct val="110000"/>
              </a:lnSpc>
              <a:spcBef>
                <a:spcPts val="300"/>
              </a:spcBef>
              <a:buNone/>
            </a:pPr>
            <a:r>
              <a:rPr lang="en-US" sz="1500" dirty="0">
                <a:solidFill>
                  <a:srgbClr val="41505E"/>
                </a:solidFill>
                <a:latin typeface="Arial"/>
                <a:cs typeface="Arial"/>
              </a:rPr>
              <a:t>Lines from both sides meet at the plate above the casualty</a:t>
            </a:r>
          </a:p>
        </p:txBody>
      </p:sp>
      <p:sp>
        <p:nvSpPr>
          <p:cNvPr id="1331" name="Shape 1331"/>
          <p:cNvSpPr/>
          <p:nvPr/>
        </p:nvSpPr>
        <p:spPr>
          <a:xfrm>
            <a:off x="9493250" y="4724400"/>
            <a:ext cx="431800" cy="431800"/>
          </a:xfrm>
          <a:prstGeom prst="ellipse">
            <a:avLst/>
          </a:prstGeom>
          <a:solidFill>
            <a:srgbClr val="0E2A47"/>
          </a:solidFill>
          <a:ln>
            <a:noFill/>
          </a:ln>
        </p:spPr>
        <p:txBody>
          <a:bodyPr/>
          <a:lstStyle/>
          <a:p>
            <a:endParaRPr lang="en-US"/>
          </a:p>
        </p:txBody>
      </p:sp>
      <p:sp>
        <p:nvSpPr>
          <p:cNvPr id="1332" name="Text 1332"/>
          <p:cNvSpPr txBox="1"/>
          <p:nvPr/>
        </p:nvSpPr>
        <p:spPr>
          <a:xfrm>
            <a:off x="9493250" y="47244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3</a:t>
            </a:r>
          </a:p>
        </p:txBody>
      </p:sp>
      <p:sp>
        <p:nvSpPr>
          <p:cNvPr id="1333" name="Text 1333"/>
          <p:cNvSpPr txBox="1"/>
          <p:nvPr/>
        </p:nvSpPr>
        <p:spPr>
          <a:xfrm>
            <a:off x="10153650" y="4699000"/>
            <a:ext cx="7277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Haul one side, lower the other</a:t>
            </a:r>
          </a:p>
          <a:p>
            <a:pPr marL="0" indent="0" algn="l">
              <a:lnSpc>
                <a:spcPct val="110000"/>
              </a:lnSpc>
              <a:spcBef>
                <a:spcPts val="300"/>
              </a:spcBef>
              <a:buNone/>
            </a:pPr>
            <a:r>
              <a:rPr lang="en-US" sz="1500" dirty="0">
                <a:solidFill>
                  <a:srgbClr val="41505E"/>
                </a:solidFill>
                <a:latin typeface="Arial"/>
                <a:cs typeface="Arial"/>
              </a:rPr>
              <a:t>Shifting the balance moves the casualty sideways</a:t>
            </a:r>
          </a:p>
        </p:txBody>
      </p:sp>
      <p:sp>
        <p:nvSpPr>
          <p:cNvPr id="1334" name="Shape 1334"/>
          <p:cNvSpPr/>
          <p:nvPr/>
        </p:nvSpPr>
        <p:spPr>
          <a:xfrm>
            <a:off x="9493250" y="5892800"/>
            <a:ext cx="431800" cy="431800"/>
          </a:xfrm>
          <a:prstGeom prst="ellipse">
            <a:avLst/>
          </a:prstGeom>
          <a:solidFill>
            <a:srgbClr val="0E2A47"/>
          </a:solidFill>
          <a:ln>
            <a:noFill/>
          </a:ln>
        </p:spPr>
        <p:txBody>
          <a:bodyPr/>
          <a:lstStyle/>
          <a:p>
            <a:endParaRPr lang="en-US"/>
          </a:p>
        </p:txBody>
      </p:sp>
      <p:sp>
        <p:nvSpPr>
          <p:cNvPr id="1335" name="Text 1335"/>
          <p:cNvSpPr txBox="1"/>
          <p:nvPr/>
        </p:nvSpPr>
        <p:spPr>
          <a:xfrm>
            <a:off x="9493250" y="58928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4</a:t>
            </a:r>
          </a:p>
        </p:txBody>
      </p:sp>
      <p:sp>
        <p:nvSpPr>
          <p:cNvPr id="1336" name="Text 1336"/>
          <p:cNvSpPr txBox="1"/>
          <p:nvPr/>
        </p:nvSpPr>
        <p:spPr>
          <a:xfrm>
            <a:off x="10153650" y="5867400"/>
            <a:ext cx="7277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Progress capture on every haul line</a:t>
            </a:r>
          </a:p>
          <a:p>
            <a:pPr marL="0" indent="0" algn="l">
              <a:lnSpc>
                <a:spcPct val="110000"/>
              </a:lnSpc>
              <a:spcBef>
                <a:spcPts val="300"/>
              </a:spcBef>
              <a:buNone/>
            </a:pPr>
            <a:r>
              <a:rPr lang="en-US" sz="1500" dirty="0">
                <a:solidFill>
                  <a:srgbClr val="41505E"/>
                </a:solidFill>
                <a:latin typeface="Arial"/>
                <a:cs typeface="Arial"/>
              </a:rPr>
              <a:t>A release of the hand never drops the load</a:t>
            </a:r>
          </a:p>
        </p:txBody>
      </p:sp>
      <p:sp>
        <p:nvSpPr>
          <p:cNvPr id="1337" name="Shape 1337"/>
          <p:cNvSpPr/>
          <p:nvPr/>
        </p:nvSpPr>
        <p:spPr>
          <a:xfrm>
            <a:off x="9493250" y="7061200"/>
            <a:ext cx="431800" cy="431800"/>
          </a:xfrm>
          <a:prstGeom prst="ellipse">
            <a:avLst/>
          </a:prstGeom>
          <a:solidFill>
            <a:srgbClr val="0E2A47"/>
          </a:solidFill>
          <a:ln>
            <a:noFill/>
          </a:ln>
        </p:spPr>
        <p:txBody>
          <a:bodyPr/>
          <a:lstStyle/>
          <a:p>
            <a:endParaRPr lang="en-US"/>
          </a:p>
        </p:txBody>
      </p:sp>
      <p:sp>
        <p:nvSpPr>
          <p:cNvPr id="1338" name="Text 1338"/>
          <p:cNvSpPr txBox="1"/>
          <p:nvPr/>
        </p:nvSpPr>
        <p:spPr>
          <a:xfrm>
            <a:off x="9493250" y="7061200"/>
            <a:ext cx="431800" cy="431800"/>
          </a:xfrm>
          <a:prstGeom prst="rect">
            <a:avLst/>
          </a:prstGeom>
          <a:noFill/>
        </p:spPr>
        <p:txBody>
          <a:bodyPr wrap="square" lIns="0" tIns="0" rIns="0" bIns="0" anchor="ctr">
            <a:noAutofit/>
          </a:bodyPr>
          <a:lstStyle/>
          <a:p>
            <a:pPr marL="0" indent="0" algn="ctr">
              <a:lnSpc>
                <a:spcPct val="110000"/>
              </a:lnSpc>
              <a:buNone/>
            </a:pPr>
            <a:r>
              <a:rPr lang="en-US" sz="1500" b="1" dirty="0">
                <a:solidFill>
                  <a:srgbClr val="FFFFFF"/>
                </a:solidFill>
                <a:latin typeface="Arial"/>
                <a:cs typeface="Arial"/>
              </a:rPr>
              <a:t>5</a:t>
            </a:r>
          </a:p>
        </p:txBody>
      </p:sp>
      <p:sp>
        <p:nvSpPr>
          <p:cNvPr id="1339" name="Text 1339"/>
          <p:cNvSpPr txBox="1"/>
          <p:nvPr/>
        </p:nvSpPr>
        <p:spPr>
          <a:xfrm>
            <a:off x="10153650" y="7035800"/>
            <a:ext cx="7277100" cy="1092200"/>
          </a:xfrm>
          <a:prstGeom prst="rect">
            <a:avLst/>
          </a:prstGeom>
          <a:noFill/>
        </p:spPr>
        <p:txBody>
          <a:bodyPr wrap="square" lIns="0" tIns="0" rIns="0" bIns="0" anchor="t">
            <a:noAutofit/>
          </a:bodyPr>
          <a:lstStyle/>
          <a:p>
            <a:pPr marL="0" indent="0" algn="l">
              <a:lnSpc>
                <a:spcPct val="110000"/>
              </a:lnSpc>
              <a:buNone/>
            </a:pPr>
            <a:r>
              <a:rPr lang="en-US" sz="1800" b="1" dirty="0">
                <a:solidFill>
                  <a:srgbClr val="0E2A47"/>
                </a:solidFill>
                <a:latin typeface="Arial"/>
                <a:cs typeface="Arial"/>
              </a:rPr>
              <a:t>One leader gives every command</a:t>
            </a:r>
          </a:p>
          <a:p>
            <a:pPr marL="0" indent="0" algn="l">
              <a:lnSpc>
                <a:spcPct val="110000"/>
              </a:lnSpc>
              <a:spcBef>
                <a:spcPts val="300"/>
              </a:spcBef>
              <a:buNone/>
            </a:pPr>
            <a:r>
              <a:rPr lang="en-US" sz="1500" dirty="0">
                <a:solidFill>
                  <a:srgbClr val="41505E"/>
                </a:solidFill>
                <a:latin typeface="Arial"/>
                <a:cs typeface="Arial"/>
              </a:rPr>
              <a:t>Both teams move only on the leader’s call</a:t>
            </a:r>
          </a:p>
        </p:txBody>
      </p:sp>
      <p:sp>
        <p:nvSpPr>
          <p:cNvPr id="1340" name="Shape 1340"/>
          <p:cNvSpPr/>
          <p:nvPr/>
        </p:nvSpPr>
        <p:spPr>
          <a:xfrm>
            <a:off x="9493250" y="8483600"/>
            <a:ext cx="7937500" cy="914400"/>
          </a:xfrm>
          <a:prstGeom prst="rect">
            <a:avLst/>
          </a:prstGeom>
          <a:solidFill>
            <a:srgbClr val="0E2A47"/>
          </a:solidFill>
          <a:ln>
            <a:noFill/>
          </a:ln>
        </p:spPr>
        <p:txBody>
          <a:bodyPr/>
          <a:lstStyle/>
          <a:p>
            <a:endParaRPr lang="en-US"/>
          </a:p>
        </p:txBody>
      </p:sp>
      <p:sp>
        <p:nvSpPr>
          <p:cNvPr id="1341" name="Text 1341"/>
          <p:cNvSpPr txBox="1"/>
          <p:nvPr/>
        </p:nvSpPr>
        <p:spPr>
          <a:xfrm>
            <a:off x="9848850" y="8483600"/>
            <a:ext cx="7226300" cy="914400"/>
          </a:xfrm>
          <a:prstGeom prst="rect">
            <a:avLst/>
          </a:prstGeom>
          <a:noFill/>
        </p:spPr>
        <p:txBody>
          <a:bodyPr wrap="square" lIns="0" tIns="0" rIns="0" bIns="0" anchor="ctr">
            <a:noAutofit/>
          </a:bodyPr>
          <a:lstStyle/>
          <a:p>
            <a:pPr marL="0" indent="0" algn="l">
              <a:lnSpc>
                <a:spcPct val="110000"/>
              </a:lnSpc>
              <a:buNone/>
            </a:pPr>
            <a:r>
              <a:rPr lang="en-US" sz="1700" b="1" dirty="0">
                <a:solidFill>
                  <a:srgbClr val="FFFFFF"/>
                </a:solidFill>
                <a:latin typeface="Arial"/>
                <a:cs typeface="Arial"/>
              </a:rPr>
              <a:t>Watch the angles. </a:t>
            </a:r>
            <a:r>
              <a:rPr lang="en-US" sz="1600" dirty="0">
                <a:solidFill>
                  <a:srgbClr val="C7D4E1"/>
                </a:solidFill>
                <a:latin typeface="Arial"/>
                <a:cs typeface="Arial"/>
              </a:rPr>
              <a:t>A flat V between the two sides multiplies anchor loads — the same physics as the Y-hang.</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5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812201"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934648"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Level 3 Rescue Management</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Size up, command, plan, execute, terminate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Assign roles, select Plan A / Plan B, and manage communications, resources, fatigue and the medical interface.</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leadership is a technical skill</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correct rope system can still fail operationally if commands, roles or contingency planning are weak.</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closed-loop communication</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One rescue lead; commands are repeated and confirmed before any load movement.</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Everyone solving independently</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Conflicting commands, duplicated actions, equipment confusion and no shared fallback plan.</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Leadership, hazard control, method selection, communication and adaptation without losing system safety.</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“Should the Level 3 do every rope task?”</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The supervisor manages the operation and delegates while maintaining control and oversight.</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89</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5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968410"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968410"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SPRAT Level Distinctions</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55372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Teach the current SPRAT documents — not a blended homemade version</a:t>
            </a:r>
            <a:endParaRPr lang="en-US" sz="1650" dirty="0"/>
          </a:p>
        </p:txBody>
      </p:sp>
      <p:sp>
        <p:nvSpPr>
          <p:cNvPr id="13" name="Text 11"/>
          <p:cNvSpPr/>
          <p:nvPr/>
        </p:nvSpPr>
        <p:spPr>
          <a:xfrm>
            <a:off x="1111250" y="2674620"/>
            <a:ext cx="5003775" cy="272605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Keep certification levels, experience / upgrade requirements, evaluation methods and terminology tied to the applicable official documents.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the distinction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Each SPRAT level carries its own responsibilities, experience requirements and evaluation criteria. Mixing them creates incorrect expectations or eligibility advice.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Verify before every course cycle</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current official certification / training requirements with documented revision control.</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Outdated hour / month claims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Do not rely on simplified remembered upgrade rules when the official scheme document controls.</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Instructor materials match the candidate’s actual SPRAT level.</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I skip straight to Level 2 or 3?”</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No. Each level has its own experience and evaluation requirements under current SPRAT rules.</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90</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PRAT Levels — Who Does What on the Rope">
    <p:bg>
      <p:bgPr>
        <a:solidFill>
          <a:srgbClr val="F5F7F9"/>
        </a:solidFill>
        <a:effectLst/>
      </p:bgPr>
    </p:bg>
    <p:spTree>
      <p:nvGrpSpPr>
        <p:cNvPr id="1" name=""/>
        <p:cNvGrpSpPr/>
        <p:nvPr/>
      </p:nvGrpSpPr>
      <p:grpSpPr>
        <a:xfrm>
          <a:off x="0" y="0"/>
          <a:ext cx="0" cy="0"/>
          <a:chOff x="0" y="0"/>
          <a:chExt cx="0" cy="0"/>
        </a:xfrm>
      </p:grpSpPr>
      <p:sp>
        <p:nvSpPr>
          <p:cNvPr id="11" name="Shape 11"/>
          <p:cNvSpPr/>
          <p:nvPr/>
        </p:nvSpPr>
        <p:spPr>
          <a:xfrm>
            <a:off x="863600" y="508000"/>
            <a:ext cx="16510000" cy="254000"/>
          </a:xfrm>
          <a:prstGeom prst="rect">
            <a:avLst/>
          </a:prstGeom>
          <a:noFill/>
          <a:ln>
            <a:noFill/>
          </a:ln>
        </p:spPr>
        <p:txBody>
          <a:bodyPr wrap="square" lIns="50800" tIns="50800" rIns="50800" bIns="50800" rtlCol="0" anchor="t">
            <a:normAutofit/>
          </a:bodyPr>
          <a:lstStyle/>
          <a:p>
            <a:pPr marL="0" indent="0" algn="l">
              <a:buNone/>
            </a:pPr>
            <a:r>
              <a:rPr lang="en-US" sz="1050" kern="0" spc="273" dirty="0">
                <a:solidFill>
                  <a:srgbClr val="F26A1B"/>
                </a:solidFill>
                <a:latin typeface="Courier New"/>
                <a:ea typeface="Courier New"/>
                <a:cs typeface="Courier New"/>
              </a:rPr>
              <a:t>DAY 4 · SPRAT LEVELS — SEE IT</a:t>
            </a:r>
          </a:p>
        </p:txBody>
      </p:sp>
      <p:sp>
        <p:nvSpPr>
          <p:cNvPr id="12" name="Shape 12"/>
          <p:cNvSpPr/>
          <p:nvPr/>
        </p:nvSpPr>
        <p:spPr>
          <a:xfrm>
            <a:off x="863600" y="787400"/>
            <a:ext cx="16510000" cy="609600"/>
          </a:xfrm>
          <a:prstGeom prst="rect">
            <a:avLst/>
          </a:prstGeom>
          <a:noFill/>
          <a:ln>
            <a:noFill/>
          </a:ln>
        </p:spPr>
        <p:txBody>
          <a:bodyPr wrap="square" lIns="50800" tIns="50800" rIns="50800" bIns="50800" rtlCol="0" anchor="t">
            <a:normAutofit/>
          </a:bodyPr>
          <a:lstStyle/>
          <a:p>
            <a:pPr marL="0" indent="0" algn="l">
              <a:buNone/>
            </a:pPr>
            <a:r>
              <a:rPr lang="en-US" sz="3000" b="1" kern="0" spc="-30" dirty="0">
                <a:solidFill>
                  <a:srgbClr val="0E2A47"/>
                </a:solidFill>
                <a:latin typeface="Arial"/>
                <a:ea typeface="Arial"/>
                <a:cs typeface="Arial"/>
              </a:rPr>
              <a:t>SPRAT Levels — Who Does What on the Rope</a:t>
            </a:r>
          </a:p>
        </p:txBody>
      </p:sp>
      <p:pic>
        <p:nvPicPr>
          <p:cNvPr id="13" name="Diagram 13"/>
          <p:cNvPicPr>
            <a:picLocks noChangeAspect="1"/>
          </p:cNvPicPr>
          <p:nvPr/>
        </p:nvPicPr>
        <p:blipFill>
          <a:blip r:embed="rId3"/>
          <a:stretch>
            <a:fillRect/>
          </a:stretch>
        </p:blipFill>
        <p:spPr>
          <a:xfrm>
            <a:off x="889000" y="1549400"/>
            <a:ext cx="16510000" cy="6350000"/>
          </a:xfrm>
          <a:prstGeom prst="rect">
            <a:avLst/>
          </a:prstGeom>
        </p:spPr>
      </p:pic>
      <p:sp>
        <p:nvSpPr>
          <p:cNvPr id="14" name="Shape 14"/>
          <p:cNvSpPr/>
          <p:nvPr/>
        </p:nvSpPr>
        <p:spPr>
          <a:xfrm>
            <a:off x="889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STRUCTURE</a:t>
            </a:r>
          </a:p>
          <a:p>
            <a:pPr marL="0" indent="0" algn="l">
              <a:spcBef>
                <a:spcPts val="400"/>
              </a:spcBef>
              <a:buNone/>
            </a:pPr>
            <a:r>
              <a:rPr lang="en-US" sz="1800" b="1" kern="0" dirty="0">
                <a:solidFill>
                  <a:srgbClr val="FFFFFF"/>
                </a:solidFill>
                <a:latin typeface="Arial"/>
                <a:ea typeface="Arial"/>
                <a:cs typeface="Arial"/>
              </a:rPr>
              <a:t>Level 1 and Level 2 technicians work under a Level 3 supervisor.</a:t>
            </a:r>
          </a:p>
        </p:txBody>
      </p:sp>
      <p:sp>
        <p:nvSpPr>
          <p:cNvPr id="15" name="Shape 15"/>
          <p:cNvSpPr/>
          <p:nvPr/>
        </p:nvSpPr>
        <p:spPr>
          <a:xfrm>
            <a:off x="9271000" y="8077200"/>
            <a:ext cx="8128000" cy="1016000"/>
          </a:xfrm>
          <a:prstGeom prst="rect">
            <a:avLst/>
          </a:prstGeom>
          <a:solidFill>
            <a:srgbClr val="0E2A47"/>
          </a:solidFill>
          <a:ln>
            <a:noFill/>
          </a:ln>
        </p:spPr>
        <p:txBody>
          <a:bodyPr wrap="square" lIns="203200" tIns="203200" rIns="203200" bIns="203200" rtlCol="0" anchor="ctr">
            <a:normAutofit/>
          </a:bodyPr>
          <a:lstStyle/>
          <a:p>
            <a:pPr marL="0" indent="0" algn="l">
              <a:buNone/>
            </a:pPr>
            <a:r>
              <a:rPr lang="en-US" sz="1100" b="1" kern="0" spc="150" dirty="0">
                <a:solidFill>
                  <a:srgbClr val="7FD3A5"/>
                </a:solidFill>
                <a:latin typeface="Courier New"/>
                <a:ea typeface="Courier New"/>
                <a:cs typeface="Courier New"/>
              </a:rPr>
              <a:t>THE SOURCE</a:t>
            </a:r>
          </a:p>
          <a:p>
            <a:pPr marL="0" indent="0" algn="l">
              <a:spcBef>
                <a:spcPts val="400"/>
              </a:spcBef>
              <a:buNone/>
            </a:pPr>
            <a:r>
              <a:rPr lang="en-US" sz="1600" kern="0" dirty="0">
                <a:solidFill>
                  <a:srgbClr val="FFFFFF"/>
                </a:solidFill>
                <a:latin typeface="Arial"/>
                <a:ea typeface="Arial"/>
                <a:cs typeface="Arial"/>
              </a:rPr>
              <a:t>Experience and upgrade requirements come from the current SPRAT documents only.</a:t>
            </a:r>
          </a:p>
        </p:txBody>
      </p:sp>
      <p:sp>
        <p:nvSpPr>
          <p:cNvPr id="52" name="Shape 50"/>
          <p:cNvSpPr/>
          <p:nvPr/>
        </p:nvSpPr>
        <p:spPr>
          <a:xfrm>
            <a:off x="0" y="9753600"/>
            <a:ext cx="18288000" cy="9525"/>
          </a:xfrm>
          <a:prstGeom prst="rect">
            <a:avLst/>
          </a:prstGeom>
          <a:solidFill>
            <a:srgbClr val="E1E6EC"/>
          </a:solidFill>
          <a:ln/>
        </p:spPr>
        <p:txBody>
          <a:bodyPr/>
          <a:lstStyle/>
          <a:p>
            <a:endParaRPr lang="en-US"/>
          </a:p>
        </p:txBody>
      </p:sp>
      <p:sp>
        <p:nvSpPr>
          <p:cNvPr id="53" name="Text 51"/>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9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4" name="Text 52"/>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900" kern="0" spc="126" dirty="0">
                <a:solidFill>
                  <a:srgbClr val="8593A2"/>
                </a:solidFill>
                <a:latin typeface="Courier New" pitchFamily="34" charset="0"/>
                <a:ea typeface="Courier New" pitchFamily="34" charset="-122"/>
                <a:cs typeface="Courier New" pitchFamily="34" charset="-120"/>
              </a:rPr>
              <a:t>REFERENCE · SPRAT LEVELS</a:t>
            </a:r>
            <a:endParaRPr lang="en-US" sz="900" dirty="0"/>
          </a:p>
        </p:txBody>
      </p:sp>
      <p:sp>
        <p:nvSpPr>
          <p:cNvPr id="55" name="Text 53"/>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900" kern="0" spc="126" dirty="0">
                <a:solidFill>
                  <a:srgbClr val="8593A2"/>
                </a:solidFill>
                <a:latin typeface="Courier New" pitchFamily="34" charset="0"/>
                <a:ea typeface="Courier New" pitchFamily="34" charset="-122"/>
                <a:cs typeface="Courier New" pitchFamily="34" charset="-120"/>
              </a:rPr>
              <a:t>91</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55">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6768792"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7060786"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Mock Evaluation &amp; Targeted Remediation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4</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Simulate independent performance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Run equipment / theory, maneuver, rigging, rescue and scenario stations appropriate to the candidate level.</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the mock helps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It reveals whether the trainee can perform without step-by-step instructor prompting.</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it as a diagnostic</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Identify specific gaps and remediate them safely before final assessment.</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Turning the mock into nonstop coaching</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If the instructor supplies every next step, the exercise no longer tests independent competence.</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Safety, sequence, judgment, self-checking and recovery from minor errors within SPRAT rules.</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should I practice tonight?”</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Focus on identified weak areas, review theory, and rest. Fatigue is not a training strategy.</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4</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92</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56">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Shape 1"/>
          <p:cNvSpPr/>
          <p:nvPr/>
        </p:nvSpPr>
        <p:spPr>
          <a:xfrm>
            <a:off x="12070110" y="0"/>
            <a:ext cx="6217890" cy="10287000"/>
          </a:xfrm>
          <a:prstGeom prst="rect">
            <a:avLst/>
          </a:prstGeom>
          <a:solidFill>
            <a:srgbClr val="0E2A47"/>
          </a:solidFill>
          <a:ln/>
        </p:spPr>
        <p:txBody>
          <a:bodyPr/>
          <a:lstStyle/>
          <a:p>
            <a:endParaRPr lang="en-US"/>
          </a:p>
        </p:txBody>
      </p:sp>
      <p:sp>
        <p:nvSpPr>
          <p:cNvPr id="4" name="Shape 2"/>
          <p:cNvSpPr/>
          <p:nvPr/>
        </p:nvSpPr>
        <p:spPr>
          <a:xfrm>
            <a:off x="12070110" y="0"/>
            <a:ext cx="28575" cy="10287000"/>
          </a:xfrm>
          <a:prstGeom prst="rect">
            <a:avLst/>
          </a:prstGeom>
          <a:solidFill>
            <a:srgbClr val="F26A1B"/>
          </a:solidFill>
          <a:ln/>
        </p:spPr>
        <p:txBody>
          <a:bodyPr/>
          <a:lstStyle/>
          <a:p>
            <a:endParaRPr lang="en-US"/>
          </a:p>
        </p:txBody>
      </p:sp>
      <p:sp>
        <p:nvSpPr>
          <p:cNvPr id="7" name="Text 5"/>
          <p:cNvSpPr/>
          <p:nvPr/>
        </p:nvSpPr>
        <p:spPr>
          <a:xfrm>
            <a:off x="857250" y="3625304"/>
            <a:ext cx="112653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CLASSROOM → PRACTICAL</a:t>
            </a:r>
            <a:endParaRPr lang="en-US" sz="975" dirty="0"/>
          </a:p>
        </p:txBody>
      </p:sp>
      <p:sp>
        <p:nvSpPr>
          <p:cNvPr id="8" name="Text 6"/>
          <p:cNvSpPr/>
          <p:nvPr/>
        </p:nvSpPr>
        <p:spPr>
          <a:xfrm>
            <a:off x="857250" y="3901529"/>
            <a:ext cx="11265359"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Arial" pitchFamily="34" charset="0"/>
                <a:ea typeface="Arial" pitchFamily="34" charset="-122"/>
                <a:cs typeface="Arial" pitchFamily="34" charset="-120"/>
              </a:rPr>
              <a:t>Day 4 Practical Training Plan</a:t>
            </a:r>
            <a:endParaRPr lang="en-US" sz="3300" dirty="0"/>
          </a:p>
        </p:txBody>
      </p:sp>
      <p:sp>
        <p:nvSpPr>
          <p:cNvPr id="9" name="Text 7"/>
          <p:cNvSpPr/>
          <p:nvPr/>
        </p:nvSpPr>
        <p:spPr>
          <a:xfrm>
            <a:off x="857250" y="4668292"/>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081534" y="4654004"/>
            <a:ext cx="395514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Advanced rigging / complex re-anchor exercises</a:t>
            </a:r>
            <a:endParaRPr lang="en-US" sz="1350" dirty="0"/>
          </a:p>
        </p:txBody>
      </p:sp>
      <p:sp>
        <p:nvSpPr>
          <p:cNvPr id="11" name="Text 9"/>
          <p:cNvSpPr/>
          <p:nvPr/>
        </p:nvSpPr>
        <p:spPr>
          <a:xfrm>
            <a:off x="857250" y="502354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2" name="Text 10"/>
          <p:cNvSpPr/>
          <p:nvPr/>
        </p:nvSpPr>
        <p:spPr>
          <a:xfrm>
            <a:off x="1081534" y="5009257"/>
            <a:ext cx="5259378"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Horizontal / tensioned-system or aid-climbing drills as applicable</a:t>
            </a:r>
            <a:endParaRPr lang="en-US" sz="1350" dirty="0"/>
          </a:p>
        </p:txBody>
      </p:sp>
      <p:sp>
        <p:nvSpPr>
          <p:cNvPr id="13" name="Text 11"/>
          <p:cNvSpPr/>
          <p:nvPr/>
        </p:nvSpPr>
        <p:spPr>
          <a:xfrm>
            <a:off x="857250" y="5378797"/>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4" name="Text 12"/>
          <p:cNvSpPr/>
          <p:nvPr/>
        </p:nvSpPr>
        <p:spPr>
          <a:xfrm>
            <a:off x="1081534" y="5364510"/>
            <a:ext cx="2409408"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Complex casualty movement</a:t>
            </a:r>
            <a:endParaRPr lang="en-US" sz="1350" dirty="0"/>
          </a:p>
        </p:txBody>
      </p:sp>
      <p:sp>
        <p:nvSpPr>
          <p:cNvPr id="15" name="Text 13"/>
          <p:cNvSpPr/>
          <p:nvPr/>
        </p:nvSpPr>
        <p:spPr>
          <a:xfrm>
            <a:off x="857250" y="5734050"/>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081534" y="5719763"/>
            <a:ext cx="429847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Team rescue scenario with assigned command roles</a:t>
            </a:r>
            <a:endParaRPr lang="en-US" sz="1350" dirty="0"/>
          </a:p>
        </p:txBody>
      </p:sp>
      <p:sp>
        <p:nvSpPr>
          <p:cNvPr id="17" name="Text 15"/>
          <p:cNvSpPr/>
          <p:nvPr/>
        </p:nvSpPr>
        <p:spPr>
          <a:xfrm>
            <a:off x="857250" y="6089303"/>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1081534" y="6075015"/>
            <a:ext cx="2773592"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Plan A / Plan B scenario changes</a:t>
            </a:r>
            <a:endParaRPr lang="en-US" sz="1350" dirty="0"/>
          </a:p>
        </p:txBody>
      </p:sp>
      <p:sp>
        <p:nvSpPr>
          <p:cNvPr id="19" name="Text 17"/>
          <p:cNvSpPr/>
          <p:nvPr/>
        </p:nvSpPr>
        <p:spPr>
          <a:xfrm>
            <a:off x="857250" y="644455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1081534" y="6430268"/>
            <a:ext cx="3263519"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Mock evaluation + targeted remediation</a:t>
            </a:r>
            <a:endParaRPr lang="en-US" sz="1350" dirty="0"/>
          </a:p>
        </p:txBody>
      </p:sp>
      <p:sp>
        <p:nvSpPr>
          <p:cNvPr id="21" name="Shape 19"/>
          <p:cNvSpPr/>
          <p:nvPr/>
        </p:nvSpPr>
        <p:spPr>
          <a:xfrm>
            <a:off x="0" y="9753600"/>
            <a:ext cx="18288000" cy="9525"/>
          </a:xfrm>
          <a:prstGeom prst="rect">
            <a:avLst/>
          </a:prstGeom>
          <a:solidFill>
            <a:srgbClr val="1C3551"/>
          </a:solidFill>
          <a:ln/>
        </p:spPr>
        <p:txBody>
          <a:bodyPr/>
          <a:lstStyle/>
          <a:p>
            <a:endParaRPr lang="en-US"/>
          </a:p>
        </p:txBody>
      </p:sp>
      <p:sp>
        <p:nvSpPr>
          <p:cNvPr id="22" name="Text 20"/>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3" name="Text 21"/>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DAY 4 · PRACTICAL</a:t>
            </a:r>
            <a:endParaRPr lang="en-US" sz="900" dirty="0"/>
          </a:p>
        </p:txBody>
      </p:sp>
      <p:sp>
        <p:nvSpPr>
          <p:cNvPr id="24" name="Text 22"/>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94</a:t>
            </a:r>
            <a:endParaRPr lang="en-US" sz="900" dirty="0"/>
          </a:p>
        </p:txBody>
      </p:sp>
      <p:sp>
        <p:nvSpPr>
          <p:cNvPr id="902" name="Text 902"/>
          <p:cNvSpPr txBox="1"/>
          <p:nvPr/>
        </p:nvSpPr>
        <p:spPr>
          <a:xfrm>
            <a:off x="12700000" y="3175000"/>
            <a:ext cx="5080000" cy="5334000"/>
          </a:xfrm>
          <a:prstGeom prst="rect">
            <a:avLst/>
          </a:prstGeom>
          <a:noFill/>
        </p:spPr>
        <p:txBody>
          <a:bodyPr wrap="square" lIns="0" tIns="0" rIns="0" bIns="0" anchor="t">
            <a:noAutofit/>
          </a:bodyPr>
          <a:lstStyle/>
          <a:p>
            <a:pPr marL="0" indent="0">
              <a:lnSpc>
                <a:spcPct val="112000"/>
              </a:lnSpc>
              <a:buNone/>
            </a:pPr>
            <a:r>
              <a:rPr lang="en-US" sz="1100" b="1" spc="150" dirty="0">
                <a:solidFill>
                  <a:srgbClr val="F26A1B"/>
                </a:solidFill>
                <a:latin typeface="Courier New"/>
                <a:cs typeface="Courier New"/>
              </a:rPr>
              <a:t>SPRAT TASKS PRACTICED TODAY</a:t>
            </a:r>
          </a:p>
          <a:p>
            <a:pPr marL="0" indent="0">
              <a:lnSpc>
                <a:spcPct val="112000"/>
              </a:lnSpc>
              <a:spcBef>
                <a:spcPts val="2200"/>
              </a:spcBef>
              <a:buNone/>
            </a:pPr>
            <a:r>
              <a:rPr lang="en-US" sz="1700" b="1" dirty="0">
                <a:solidFill>
                  <a:srgbClr val="F26A1B"/>
                </a:solidFill>
                <a:latin typeface="Arial"/>
                <a:cs typeface="Arial"/>
              </a:rPr>
              <a:t>L2  </a:t>
            </a:r>
            <a:r>
              <a:rPr lang="en-US" sz="1700" dirty="0">
                <a:solidFill>
                  <a:srgbClr val="FFFFFF"/>
                </a:solidFill>
                <a:latin typeface="Arial"/>
                <a:cs typeface="Arial"/>
              </a:rPr>
              <a:t>Cross-haul (lateral operations)</a:t>
            </a:r>
          </a:p>
          <a:p>
            <a:pPr marL="0" indent="0">
              <a:lnSpc>
                <a:spcPct val="112000"/>
              </a:lnSpc>
              <a:spcBef>
                <a:spcPts val="1400"/>
              </a:spcBef>
              <a:buNone/>
            </a:pPr>
            <a:r>
              <a:rPr lang="en-US" sz="1700" b="1" dirty="0">
                <a:solidFill>
                  <a:srgbClr val="F26A1B"/>
                </a:solidFill>
                <a:latin typeface="Arial"/>
                <a:cs typeface="Arial"/>
              </a:rPr>
              <a:t>L2  </a:t>
            </a:r>
            <a:r>
              <a:rPr lang="en-US" sz="1700" dirty="0">
                <a:solidFill>
                  <a:srgbClr val="FFFFFF"/>
                </a:solidFill>
                <a:latin typeface="Arial"/>
                <a:cs typeface="Arial"/>
              </a:rPr>
              <a:t>Retrievable two-rope system</a:t>
            </a:r>
          </a:p>
          <a:p>
            <a:pPr marL="0" indent="0">
              <a:lnSpc>
                <a:spcPct val="112000"/>
              </a:lnSpc>
              <a:spcBef>
                <a:spcPts val="1400"/>
              </a:spcBef>
              <a:buNone/>
            </a:pPr>
            <a:r>
              <a:rPr lang="en-US" sz="1700" b="1" dirty="0">
                <a:solidFill>
                  <a:srgbClr val="F26A1B"/>
                </a:solidFill>
                <a:latin typeface="Arial"/>
                <a:cs typeface="Arial"/>
              </a:rPr>
              <a:t>L2  </a:t>
            </a:r>
            <a:r>
              <a:rPr lang="en-US" sz="1700" dirty="0">
                <a:solidFill>
                  <a:srgbClr val="FFFFFF"/>
                </a:solidFill>
                <a:latin typeface="Arial"/>
                <a:cs typeface="Arial"/>
              </a:rPr>
              <a:t>Vertical aid climbing</a:t>
            </a:r>
          </a:p>
          <a:p>
            <a:pPr marL="0" indent="0">
              <a:lnSpc>
                <a:spcPct val="112000"/>
              </a:lnSpc>
              <a:spcBef>
                <a:spcPts val="1400"/>
              </a:spcBef>
              <a:buNone/>
            </a:pPr>
            <a:r>
              <a:rPr lang="en-US" sz="1700" b="1" dirty="0">
                <a:solidFill>
                  <a:srgbClr val="F26A1B"/>
                </a:solidFill>
                <a:latin typeface="Arial"/>
                <a:cs typeface="Arial"/>
              </a:rPr>
              <a:t>L3  </a:t>
            </a:r>
            <a:r>
              <a:rPr lang="en-US" sz="1700" dirty="0">
                <a:solidFill>
                  <a:srgbClr val="FFFFFF"/>
                </a:solidFill>
                <a:latin typeface="Arial"/>
                <a:cs typeface="Arial"/>
              </a:rPr>
              <a:t>Tensioned rope system</a:t>
            </a:r>
          </a:p>
          <a:p>
            <a:pPr marL="0" indent="0">
              <a:lnSpc>
                <a:spcPct val="112000"/>
              </a:lnSpc>
              <a:spcBef>
                <a:spcPts val="1400"/>
              </a:spcBef>
              <a:buNone/>
            </a:pPr>
            <a:r>
              <a:rPr lang="en-US" sz="1700" b="1" dirty="0">
                <a:solidFill>
                  <a:srgbClr val="F26A1B"/>
                </a:solidFill>
                <a:latin typeface="Arial"/>
                <a:cs typeface="Arial"/>
              </a:rPr>
              <a:t>L3  </a:t>
            </a:r>
            <a:r>
              <a:rPr lang="en-US" sz="1700" dirty="0">
                <a:solidFill>
                  <a:srgbClr val="FFFFFF"/>
                </a:solidFill>
                <a:latin typeface="Arial"/>
                <a:cs typeface="Arial"/>
              </a:rPr>
              <a:t>Rig a deviation or re-anchor</a:t>
            </a:r>
          </a:p>
          <a:p>
            <a:pPr marL="0" indent="0">
              <a:lnSpc>
                <a:spcPct val="112000"/>
              </a:lnSpc>
              <a:spcBef>
                <a:spcPts val="1400"/>
              </a:spcBef>
              <a:buNone/>
            </a:pPr>
            <a:r>
              <a:rPr lang="en-US" sz="1700" b="1" dirty="0">
                <a:solidFill>
                  <a:srgbClr val="F26A1B"/>
                </a:solidFill>
                <a:latin typeface="Arial"/>
                <a:cs typeface="Arial"/>
              </a:rPr>
              <a:t>L3  </a:t>
            </a:r>
            <a:r>
              <a:rPr lang="en-US" sz="1700" dirty="0">
                <a:solidFill>
                  <a:srgbClr val="FFFFFF"/>
                </a:solidFill>
                <a:latin typeface="Arial"/>
                <a:cs typeface="Arial"/>
              </a:rPr>
              <a:t>Rescue from two maneuvers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57">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27" b="27"/>
          <a:stretch/>
        </p:blipFill>
        <p:spPr>
          <a:xfrm>
            <a:off x="0" y="0"/>
            <a:ext cx="18288000" cy="10287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4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52450"/>
            <a:ext cx="12440967"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DAY 5 · CLASSROOM</a:t>
            </a:r>
            <a:endParaRPr lang="en-US" sz="975" dirty="0"/>
          </a:p>
        </p:txBody>
      </p:sp>
      <p:sp>
        <p:nvSpPr>
          <p:cNvPr id="3" name="Text 1"/>
          <p:cNvSpPr/>
          <p:nvPr/>
        </p:nvSpPr>
        <p:spPr>
          <a:xfrm>
            <a:off x="857250" y="819150"/>
            <a:ext cx="12930969"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Assessment Day — Briefing, Written Test &amp; Practical Evaluation</a:t>
            </a:r>
            <a:endParaRPr lang="en-US" sz="2700" dirty="0"/>
          </a:p>
        </p:txBody>
      </p:sp>
      <p:sp>
        <p:nvSpPr>
          <p:cNvPr id="52" name="Shape 50"/>
          <p:cNvSpPr/>
          <p:nvPr/>
        </p:nvSpPr>
        <p:spPr>
          <a:xfrm>
            <a:off x="857250" y="9115425"/>
            <a:ext cx="16573500" cy="485775"/>
          </a:xfrm>
          <a:prstGeom prst="roundRect">
            <a:avLst>
              <a:gd name="adj" fmla="val 7843"/>
            </a:avLst>
          </a:prstGeom>
          <a:solidFill>
            <a:srgbClr val="0E2A47"/>
          </a:solidFill>
          <a:ln/>
        </p:spPr>
        <p:txBody>
          <a:bodyPr/>
          <a:lstStyle/>
          <a:p>
            <a:endParaRPr lang="en-US"/>
          </a:p>
        </p:txBody>
      </p:sp>
      <p:sp>
        <p:nvSpPr>
          <p:cNvPr id="53" name="Text 51"/>
          <p:cNvSpPr/>
          <p:nvPr/>
        </p:nvSpPr>
        <p:spPr>
          <a:xfrm>
            <a:off x="1104900" y="9298781"/>
            <a:ext cx="1310155" cy="157163"/>
          </a:xfrm>
          <a:prstGeom prst="rect">
            <a:avLst/>
          </a:prstGeom>
          <a:noFill/>
          <a:ln/>
        </p:spPr>
        <p:txBody>
          <a:bodyPr wrap="non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INSTRUCTOR NOTE</a:t>
            </a:r>
            <a:endParaRPr lang="en-US" sz="825" dirty="0"/>
          </a:p>
        </p:txBody>
      </p:sp>
      <p:sp>
        <p:nvSpPr>
          <p:cNvPr id="54" name="Text 52"/>
          <p:cNvSpPr/>
          <p:nvPr/>
        </p:nvSpPr>
        <p:spPr>
          <a:xfrm>
            <a:off x="2458566" y="9258300"/>
            <a:ext cx="9111823" cy="238125"/>
          </a:xfrm>
          <a:prstGeom prst="rect">
            <a:avLst/>
          </a:prstGeom>
          <a:noFill/>
          <a:ln/>
        </p:spPr>
        <p:txBody>
          <a:bodyPr wrap="square" lIns="25400" tIns="25400" rIns="25400" bIns="25400" rtlCol="0" anchor="t">
            <a:normAutofit/>
          </a:bodyPr>
          <a:lstStyle/>
          <a:p>
            <a:pPr marL="0" indent="0" algn="l">
              <a:lnSpc>
                <a:spcPct val="123529"/>
              </a:lnSpc>
              <a:buNone/>
            </a:pPr>
            <a:r>
              <a:rPr lang="en-US" sz="1125" dirty="0">
                <a:solidFill>
                  <a:srgbClr val="C7D4E1"/>
                </a:solidFill>
                <a:latin typeface="Arial" pitchFamily="34" charset="0"/>
                <a:ea typeface="Arial" pitchFamily="34" charset="-122"/>
                <a:cs typeface="Arial" pitchFamily="34" charset="-120"/>
              </a:rPr>
              <a:t>The evaluator runs the day. Instructors brief, check documents and step back — no coaching once the evaluation starts.</a:t>
            </a:r>
            <a:endParaRPr lang="en-US" sz="1125" dirty="0"/>
          </a:p>
        </p:txBody>
      </p:sp>
      <p:sp>
        <p:nvSpPr>
          <p:cNvPr id="55" name="Shape 53"/>
          <p:cNvSpPr/>
          <p:nvPr/>
        </p:nvSpPr>
        <p:spPr>
          <a:xfrm>
            <a:off x="0" y="9753600"/>
            <a:ext cx="18288000" cy="9525"/>
          </a:xfrm>
          <a:prstGeom prst="rect">
            <a:avLst/>
          </a:prstGeom>
          <a:solidFill>
            <a:srgbClr val="E1E6EC"/>
          </a:solidFill>
          <a:ln/>
        </p:spPr>
        <p:txBody>
          <a:bodyPr/>
          <a:lstStyle/>
          <a:p>
            <a:endParaRPr lang="en-US"/>
          </a:p>
        </p:txBody>
      </p:sp>
      <p:sp>
        <p:nvSpPr>
          <p:cNvPr id="56" name="Text 54"/>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7" name="Text 55"/>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5 · AGENDA</a:t>
            </a:r>
            <a:endParaRPr lang="en-US" sz="900" dirty="0"/>
          </a:p>
        </p:txBody>
      </p:sp>
      <p:sp>
        <p:nvSpPr>
          <p:cNvPr id="58" name="Text 56"/>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96</a:t>
            </a:r>
            <a:endParaRPr lang="en-US" sz="900" dirty="0"/>
          </a:p>
        </p:txBody>
      </p:sp>
      <p:sp>
        <p:nvSpPr>
          <p:cNvPr id="826" name="Shape 826"/>
          <p:cNvSpPr/>
          <p:nvPr/>
        </p:nvSpPr>
        <p:spPr>
          <a:xfrm>
            <a:off x="857250" y="4132527"/>
            <a:ext cx="8159750" cy="19050"/>
          </a:xfrm>
          <a:prstGeom prst="rect">
            <a:avLst/>
          </a:prstGeom>
          <a:solidFill>
            <a:srgbClr val="E2E7ED"/>
          </a:solidFill>
          <a:ln>
            <a:noFill/>
          </a:ln>
        </p:spPr>
        <p:txBody>
          <a:bodyPr/>
          <a:lstStyle/>
          <a:p>
            <a:endParaRPr lang="en-US"/>
          </a:p>
        </p:txBody>
      </p:sp>
      <p:sp>
        <p:nvSpPr>
          <p:cNvPr id="827" name="Shape 827"/>
          <p:cNvSpPr/>
          <p:nvPr/>
        </p:nvSpPr>
        <p:spPr>
          <a:xfrm>
            <a:off x="857250" y="1905000"/>
            <a:ext cx="8159750" cy="2227527"/>
          </a:xfrm>
          <a:prstGeom prst="rect">
            <a:avLst/>
          </a:prstGeom>
          <a:solidFill>
            <a:srgbClr val="FFFFFF"/>
          </a:solidFill>
          <a:ln>
            <a:noFill/>
          </a:ln>
        </p:spPr>
        <p:txBody>
          <a:bodyPr/>
          <a:lstStyle/>
          <a:p>
            <a:endParaRPr lang="en-US"/>
          </a:p>
        </p:txBody>
      </p:sp>
      <p:sp>
        <p:nvSpPr>
          <p:cNvPr id="828" name="Shape 828"/>
          <p:cNvSpPr/>
          <p:nvPr/>
        </p:nvSpPr>
        <p:spPr>
          <a:xfrm>
            <a:off x="857250" y="1905000"/>
            <a:ext cx="76200" cy="2227527"/>
          </a:xfrm>
          <a:prstGeom prst="rect">
            <a:avLst/>
          </a:prstGeom>
          <a:solidFill>
            <a:srgbClr val="F26A1B"/>
          </a:solidFill>
          <a:ln>
            <a:noFill/>
          </a:ln>
        </p:spPr>
        <p:txBody>
          <a:bodyPr/>
          <a:lstStyle/>
          <a:p>
            <a:endParaRPr lang="en-US"/>
          </a:p>
        </p:txBody>
      </p:sp>
      <p:sp>
        <p:nvSpPr>
          <p:cNvPr id="829" name="Text 829"/>
          <p:cNvSpPr txBox="1"/>
          <p:nvPr/>
        </p:nvSpPr>
        <p:spPr>
          <a:xfrm>
            <a:off x="121285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01</a:t>
            </a:r>
          </a:p>
        </p:txBody>
      </p:sp>
      <p:sp>
        <p:nvSpPr>
          <p:cNvPr id="830" name="Text 830"/>
          <p:cNvSpPr txBox="1"/>
          <p:nvPr/>
        </p:nvSpPr>
        <p:spPr>
          <a:xfrm>
            <a:off x="207645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Assessment-day orientation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happens today, in order?</a:t>
            </a:r>
          </a:p>
        </p:txBody>
      </p:sp>
      <p:sp>
        <p:nvSpPr>
          <p:cNvPr id="831" name="Shape 831"/>
          <p:cNvSpPr/>
          <p:nvPr/>
        </p:nvSpPr>
        <p:spPr>
          <a:xfrm>
            <a:off x="9271000" y="4132527"/>
            <a:ext cx="8159750" cy="19050"/>
          </a:xfrm>
          <a:prstGeom prst="rect">
            <a:avLst/>
          </a:prstGeom>
          <a:solidFill>
            <a:srgbClr val="E2E7ED"/>
          </a:solidFill>
          <a:ln>
            <a:noFill/>
          </a:ln>
        </p:spPr>
        <p:txBody>
          <a:bodyPr/>
          <a:lstStyle/>
          <a:p>
            <a:endParaRPr lang="en-US"/>
          </a:p>
        </p:txBody>
      </p:sp>
      <p:sp>
        <p:nvSpPr>
          <p:cNvPr id="832" name="Shape 832"/>
          <p:cNvSpPr/>
          <p:nvPr/>
        </p:nvSpPr>
        <p:spPr>
          <a:xfrm>
            <a:off x="9271000" y="1905000"/>
            <a:ext cx="8159750" cy="2227527"/>
          </a:xfrm>
          <a:prstGeom prst="rect">
            <a:avLst/>
          </a:prstGeom>
          <a:solidFill>
            <a:srgbClr val="FFFFFF"/>
          </a:solidFill>
          <a:ln>
            <a:noFill/>
          </a:ln>
        </p:spPr>
        <p:txBody>
          <a:bodyPr/>
          <a:lstStyle/>
          <a:p>
            <a:endParaRPr lang="en-US"/>
          </a:p>
        </p:txBody>
      </p:sp>
      <p:sp>
        <p:nvSpPr>
          <p:cNvPr id="833" name="Shape 833"/>
          <p:cNvSpPr/>
          <p:nvPr/>
        </p:nvSpPr>
        <p:spPr>
          <a:xfrm>
            <a:off x="9271000" y="1905000"/>
            <a:ext cx="76200" cy="2227527"/>
          </a:xfrm>
          <a:prstGeom prst="rect">
            <a:avLst/>
          </a:prstGeom>
          <a:solidFill>
            <a:srgbClr val="F26A1B"/>
          </a:solidFill>
          <a:ln>
            <a:noFill/>
          </a:ln>
        </p:spPr>
        <p:txBody>
          <a:bodyPr/>
          <a:lstStyle/>
          <a:p>
            <a:endParaRPr lang="en-US"/>
          </a:p>
        </p:txBody>
      </p:sp>
      <p:sp>
        <p:nvSpPr>
          <p:cNvPr id="834" name="Text 834"/>
          <p:cNvSpPr txBox="1"/>
          <p:nvPr/>
        </p:nvSpPr>
        <p:spPr>
          <a:xfrm>
            <a:off x="9626600" y="1905000"/>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02</a:t>
            </a:r>
          </a:p>
        </p:txBody>
      </p:sp>
      <p:sp>
        <p:nvSpPr>
          <p:cNvPr id="835" name="Text 835"/>
          <p:cNvSpPr txBox="1"/>
          <p:nvPr/>
        </p:nvSpPr>
        <p:spPr>
          <a:xfrm>
            <a:off x="10490200" y="2057400"/>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Eligibility &amp; documents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ID, affidavit, logbook — who has what?</a:t>
            </a:r>
          </a:p>
        </p:txBody>
      </p:sp>
      <p:sp>
        <p:nvSpPr>
          <p:cNvPr id="836" name="Shape 836"/>
          <p:cNvSpPr/>
          <p:nvPr/>
        </p:nvSpPr>
        <p:spPr>
          <a:xfrm>
            <a:off x="857250" y="6563254"/>
            <a:ext cx="8159750" cy="19050"/>
          </a:xfrm>
          <a:prstGeom prst="rect">
            <a:avLst/>
          </a:prstGeom>
          <a:solidFill>
            <a:srgbClr val="E2E7ED"/>
          </a:solidFill>
          <a:ln>
            <a:noFill/>
          </a:ln>
        </p:spPr>
        <p:txBody>
          <a:bodyPr/>
          <a:lstStyle/>
          <a:p>
            <a:endParaRPr lang="en-US"/>
          </a:p>
        </p:txBody>
      </p:sp>
      <p:sp>
        <p:nvSpPr>
          <p:cNvPr id="837" name="Shape 837"/>
          <p:cNvSpPr/>
          <p:nvPr/>
        </p:nvSpPr>
        <p:spPr>
          <a:xfrm>
            <a:off x="857250" y="4335727"/>
            <a:ext cx="8159750" cy="2227527"/>
          </a:xfrm>
          <a:prstGeom prst="rect">
            <a:avLst/>
          </a:prstGeom>
          <a:solidFill>
            <a:srgbClr val="FFFFFF"/>
          </a:solidFill>
          <a:ln>
            <a:noFill/>
          </a:ln>
        </p:spPr>
        <p:txBody>
          <a:bodyPr/>
          <a:lstStyle/>
          <a:p>
            <a:endParaRPr lang="en-US"/>
          </a:p>
        </p:txBody>
      </p:sp>
      <p:sp>
        <p:nvSpPr>
          <p:cNvPr id="838" name="Shape 838"/>
          <p:cNvSpPr/>
          <p:nvPr/>
        </p:nvSpPr>
        <p:spPr>
          <a:xfrm>
            <a:off x="857250" y="4335727"/>
            <a:ext cx="76200" cy="2227527"/>
          </a:xfrm>
          <a:prstGeom prst="rect">
            <a:avLst/>
          </a:prstGeom>
          <a:solidFill>
            <a:srgbClr val="F26A1B"/>
          </a:solidFill>
          <a:ln>
            <a:noFill/>
          </a:ln>
        </p:spPr>
        <p:txBody>
          <a:bodyPr/>
          <a:lstStyle/>
          <a:p>
            <a:endParaRPr lang="en-US"/>
          </a:p>
        </p:txBody>
      </p:sp>
      <p:sp>
        <p:nvSpPr>
          <p:cNvPr id="839" name="Text 839"/>
          <p:cNvSpPr txBox="1"/>
          <p:nvPr/>
        </p:nvSpPr>
        <p:spPr>
          <a:xfrm>
            <a:off x="121285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03</a:t>
            </a:r>
          </a:p>
        </p:txBody>
      </p:sp>
      <p:sp>
        <p:nvSpPr>
          <p:cNvPr id="840" name="Text 840"/>
          <p:cNvSpPr txBox="1"/>
          <p:nvPr/>
        </p:nvSpPr>
        <p:spPr>
          <a:xfrm>
            <a:off x="207645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Written test</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Read every question twice</a:t>
            </a:r>
          </a:p>
        </p:txBody>
      </p:sp>
      <p:sp>
        <p:nvSpPr>
          <p:cNvPr id="841" name="Shape 841"/>
          <p:cNvSpPr/>
          <p:nvPr/>
        </p:nvSpPr>
        <p:spPr>
          <a:xfrm>
            <a:off x="9271000" y="6563254"/>
            <a:ext cx="8159750" cy="19050"/>
          </a:xfrm>
          <a:prstGeom prst="rect">
            <a:avLst/>
          </a:prstGeom>
          <a:solidFill>
            <a:srgbClr val="E2E7ED"/>
          </a:solidFill>
          <a:ln>
            <a:noFill/>
          </a:ln>
        </p:spPr>
        <p:txBody>
          <a:bodyPr/>
          <a:lstStyle/>
          <a:p>
            <a:endParaRPr lang="en-US"/>
          </a:p>
        </p:txBody>
      </p:sp>
      <p:sp>
        <p:nvSpPr>
          <p:cNvPr id="842" name="Shape 842"/>
          <p:cNvSpPr/>
          <p:nvPr/>
        </p:nvSpPr>
        <p:spPr>
          <a:xfrm>
            <a:off x="9271000" y="4335727"/>
            <a:ext cx="8159750" cy="2227527"/>
          </a:xfrm>
          <a:prstGeom prst="rect">
            <a:avLst/>
          </a:prstGeom>
          <a:solidFill>
            <a:srgbClr val="FFFFFF"/>
          </a:solidFill>
          <a:ln>
            <a:noFill/>
          </a:ln>
        </p:spPr>
        <p:txBody>
          <a:bodyPr/>
          <a:lstStyle/>
          <a:p>
            <a:endParaRPr lang="en-US"/>
          </a:p>
        </p:txBody>
      </p:sp>
      <p:sp>
        <p:nvSpPr>
          <p:cNvPr id="843" name="Shape 843"/>
          <p:cNvSpPr/>
          <p:nvPr/>
        </p:nvSpPr>
        <p:spPr>
          <a:xfrm>
            <a:off x="9271000" y="4335727"/>
            <a:ext cx="76200" cy="2227527"/>
          </a:xfrm>
          <a:prstGeom prst="rect">
            <a:avLst/>
          </a:prstGeom>
          <a:solidFill>
            <a:srgbClr val="F26A1B"/>
          </a:solidFill>
          <a:ln>
            <a:noFill/>
          </a:ln>
        </p:spPr>
        <p:txBody>
          <a:bodyPr/>
          <a:lstStyle/>
          <a:p>
            <a:endParaRPr lang="en-US"/>
          </a:p>
        </p:txBody>
      </p:sp>
      <p:sp>
        <p:nvSpPr>
          <p:cNvPr id="844" name="Text 844"/>
          <p:cNvSpPr txBox="1"/>
          <p:nvPr/>
        </p:nvSpPr>
        <p:spPr>
          <a:xfrm>
            <a:off x="9626600" y="4335727"/>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04</a:t>
            </a:r>
          </a:p>
        </p:txBody>
      </p:sp>
      <p:sp>
        <p:nvSpPr>
          <p:cNvPr id="845" name="Text 845"/>
          <p:cNvSpPr txBox="1"/>
          <p:nvPr/>
        </p:nvSpPr>
        <p:spPr>
          <a:xfrm>
            <a:off x="10490200" y="4488127"/>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Practical evaluation</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Plan, verify, move, re-verify</a:t>
            </a:r>
          </a:p>
        </p:txBody>
      </p:sp>
      <p:sp>
        <p:nvSpPr>
          <p:cNvPr id="846" name="Shape 846"/>
          <p:cNvSpPr/>
          <p:nvPr/>
        </p:nvSpPr>
        <p:spPr>
          <a:xfrm>
            <a:off x="857250" y="8993981"/>
            <a:ext cx="8159750" cy="19050"/>
          </a:xfrm>
          <a:prstGeom prst="rect">
            <a:avLst/>
          </a:prstGeom>
          <a:solidFill>
            <a:srgbClr val="E2E7ED"/>
          </a:solidFill>
          <a:ln>
            <a:noFill/>
          </a:ln>
        </p:spPr>
        <p:txBody>
          <a:bodyPr/>
          <a:lstStyle/>
          <a:p>
            <a:endParaRPr lang="en-US"/>
          </a:p>
        </p:txBody>
      </p:sp>
      <p:sp>
        <p:nvSpPr>
          <p:cNvPr id="847" name="Shape 847"/>
          <p:cNvSpPr/>
          <p:nvPr/>
        </p:nvSpPr>
        <p:spPr>
          <a:xfrm>
            <a:off x="857250" y="6766454"/>
            <a:ext cx="8159750" cy="2227527"/>
          </a:xfrm>
          <a:prstGeom prst="rect">
            <a:avLst/>
          </a:prstGeom>
          <a:solidFill>
            <a:srgbClr val="FFFFFF"/>
          </a:solidFill>
          <a:ln>
            <a:noFill/>
          </a:ln>
        </p:spPr>
        <p:txBody>
          <a:bodyPr/>
          <a:lstStyle/>
          <a:p>
            <a:endParaRPr lang="en-US"/>
          </a:p>
        </p:txBody>
      </p:sp>
      <p:sp>
        <p:nvSpPr>
          <p:cNvPr id="848" name="Shape 848"/>
          <p:cNvSpPr/>
          <p:nvPr/>
        </p:nvSpPr>
        <p:spPr>
          <a:xfrm>
            <a:off x="857250" y="6766454"/>
            <a:ext cx="76200" cy="2227527"/>
          </a:xfrm>
          <a:prstGeom prst="rect">
            <a:avLst/>
          </a:prstGeom>
          <a:solidFill>
            <a:srgbClr val="F26A1B"/>
          </a:solidFill>
          <a:ln>
            <a:noFill/>
          </a:ln>
        </p:spPr>
        <p:txBody>
          <a:bodyPr/>
          <a:lstStyle/>
          <a:p>
            <a:endParaRPr lang="en-US"/>
          </a:p>
        </p:txBody>
      </p:sp>
      <p:sp>
        <p:nvSpPr>
          <p:cNvPr id="849" name="Text 849"/>
          <p:cNvSpPr txBox="1"/>
          <p:nvPr/>
        </p:nvSpPr>
        <p:spPr>
          <a:xfrm>
            <a:off x="121285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05</a:t>
            </a:r>
          </a:p>
        </p:txBody>
      </p:sp>
      <p:sp>
        <p:nvSpPr>
          <p:cNvPr id="850" name="Text 850"/>
          <p:cNvSpPr txBox="1"/>
          <p:nvPr/>
        </p:nvSpPr>
        <p:spPr>
          <a:xfrm>
            <a:off x="207645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Grading &amp; provisional results</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How are P, D and F given?</a:t>
            </a:r>
          </a:p>
        </p:txBody>
      </p:sp>
      <p:sp>
        <p:nvSpPr>
          <p:cNvPr id="851" name="Shape 851"/>
          <p:cNvSpPr/>
          <p:nvPr/>
        </p:nvSpPr>
        <p:spPr>
          <a:xfrm>
            <a:off x="9271000" y="8993981"/>
            <a:ext cx="8159750" cy="19050"/>
          </a:xfrm>
          <a:prstGeom prst="rect">
            <a:avLst/>
          </a:prstGeom>
          <a:solidFill>
            <a:srgbClr val="E2E7ED"/>
          </a:solidFill>
          <a:ln>
            <a:noFill/>
          </a:ln>
        </p:spPr>
        <p:txBody>
          <a:bodyPr/>
          <a:lstStyle/>
          <a:p>
            <a:endParaRPr lang="en-US"/>
          </a:p>
        </p:txBody>
      </p:sp>
      <p:sp>
        <p:nvSpPr>
          <p:cNvPr id="852" name="Shape 852"/>
          <p:cNvSpPr/>
          <p:nvPr/>
        </p:nvSpPr>
        <p:spPr>
          <a:xfrm>
            <a:off x="9271000" y="6766454"/>
            <a:ext cx="8159750" cy="2227527"/>
          </a:xfrm>
          <a:prstGeom prst="rect">
            <a:avLst/>
          </a:prstGeom>
          <a:solidFill>
            <a:srgbClr val="FFFFFF"/>
          </a:solidFill>
          <a:ln>
            <a:noFill/>
          </a:ln>
        </p:spPr>
        <p:txBody>
          <a:bodyPr/>
          <a:lstStyle/>
          <a:p>
            <a:endParaRPr lang="en-US"/>
          </a:p>
        </p:txBody>
      </p:sp>
      <p:sp>
        <p:nvSpPr>
          <p:cNvPr id="853" name="Shape 853"/>
          <p:cNvSpPr/>
          <p:nvPr/>
        </p:nvSpPr>
        <p:spPr>
          <a:xfrm>
            <a:off x="9271000" y="6766454"/>
            <a:ext cx="76200" cy="2227527"/>
          </a:xfrm>
          <a:prstGeom prst="rect">
            <a:avLst/>
          </a:prstGeom>
          <a:solidFill>
            <a:srgbClr val="F26A1B"/>
          </a:solidFill>
          <a:ln>
            <a:noFill/>
          </a:ln>
        </p:spPr>
        <p:txBody>
          <a:bodyPr/>
          <a:lstStyle/>
          <a:p>
            <a:endParaRPr lang="en-US"/>
          </a:p>
        </p:txBody>
      </p:sp>
      <p:sp>
        <p:nvSpPr>
          <p:cNvPr id="854" name="Text 854"/>
          <p:cNvSpPr txBox="1"/>
          <p:nvPr/>
        </p:nvSpPr>
        <p:spPr>
          <a:xfrm>
            <a:off x="9626600" y="6766454"/>
            <a:ext cx="711200" cy="2227527"/>
          </a:xfrm>
          <a:prstGeom prst="rect">
            <a:avLst/>
          </a:prstGeom>
          <a:noFill/>
        </p:spPr>
        <p:txBody>
          <a:bodyPr wrap="square" lIns="0" tIns="0" rIns="0" bIns="0" anchor="ctr">
            <a:noAutofit/>
          </a:bodyPr>
          <a:lstStyle/>
          <a:p>
            <a:pPr marL="0" indent="0">
              <a:lnSpc>
                <a:spcPct val="110000"/>
              </a:lnSpc>
              <a:buNone/>
            </a:pPr>
            <a:r>
              <a:rPr lang="en-US" sz="3000" b="1" dirty="0">
                <a:solidFill>
                  <a:srgbClr val="F26A1B"/>
                </a:solidFill>
                <a:latin typeface="Arial"/>
                <a:cs typeface="Arial"/>
              </a:rPr>
              <a:t>06</a:t>
            </a:r>
          </a:p>
        </p:txBody>
      </p:sp>
      <p:sp>
        <p:nvSpPr>
          <p:cNvPr id="855" name="Text 855"/>
          <p:cNvSpPr txBox="1"/>
          <p:nvPr/>
        </p:nvSpPr>
        <p:spPr>
          <a:xfrm>
            <a:off x="10490200" y="6918854"/>
            <a:ext cx="6635750" cy="1922727"/>
          </a:xfrm>
          <a:prstGeom prst="rect">
            <a:avLst/>
          </a:prstGeom>
          <a:noFill/>
        </p:spPr>
        <p:txBody>
          <a:bodyPr wrap="square" lIns="0" tIns="0" rIns="0" bIns="0" anchor="ctr">
            <a:noAutofit/>
          </a:bodyPr>
          <a:lstStyle/>
          <a:p>
            <a:pPr marL="0" indent="0">
              <a:lnSpc>
                <a:spcPct val="110000"/>
              </a:lnSpc>
              <a:buNone/>
            </a:pPr>
            <a:r>
              <a:rPr lang="en-US" sz="2100" b="1" dirty="0">
                <a:solidFill>
                  <a:srgbClr val="0E2A47"/>
                </a:solidFill>
                <a:latin typeface="Arial"/>
                <a:cs typeface="Arial"/>
              </a:rPr>
              <a:t>Debrief &amp; logbook closeout</a:t>
            </a:r>
          </a:p>
          <a:p>
            <a:pPr marL="0" indent="0">
              <a:lnSpc>
                <a:spcPct val="110000"/>
              </a:lnSpc>
              <a:spcBef>
                <a:spcPts val="800"/>
              </a:spcBef>
              <a:buNone/>
            </a:pPr>
            <a:r>
              <a:rPr lang="en-US" sz="1100" b="1" dirty="0">
                <a:solidFill>
                  <a:srgbClr val="F26A1B"/>
                </a:solidFill>
                <a:latin typeface="Arial"/>
                <a:cs typeface="Arial"/>
              </a:rPr>
              <a:t>DISCUSS  </a:t>
            </a:r>
            <a:r>
              <a:rPr lang="en-US" sz="1600" dirty="0">
                <a:solidFill>
                  <a:srgbClr val="41505E"/>
                </a:solidFill>
                <a:latin typeface="Arial"/>
                <a:cs typeface="Arial"/>
              </a:rPr>
              <a:t>What gets logged before you leave?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5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70251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950713"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Assessment-Day Orientation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5</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Assessment is independent evaluation</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Verify eligibility and documents, explain assessment boundaries and let the assessor run the process per SPRAT requirements.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training and assessment are separated</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Competence must be demonstrated without the instructor feeding the candidate each step.</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Use the SPRAT process</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Every candidate takes a written test and a practical evaluation set for their SPRAT level.</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Last-minute coaching during assessment</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Prompting can compromise the independence and validity of the evaluation.</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 arrives prepared, understands the rules and demonstrates their own competence.</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“Can my instructor help if I get stuck?”</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During formal independent assessment, follow the evaluator’s rules; do not expect coaching as in training.</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5</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97</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59">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458161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4792311"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Theory &amp; Verbal Knowledge</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5</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Explain — not just recite</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Candidates understand equipment, hazards, standards / SPRAT concepts, rigging, rescue and role responsibilities appropriate to their level.</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verbal reasoning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Safe rope access requires decisions when the exact training setup is not present.</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Answer within your competence</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Know when the correct answer is to stop and escalate.</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Guessing technical limits</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Inventing ratings, anchor capacities or requirements is worse than recognizing that authoritative information is needed.</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Accurate knowledge, sound reasoning and recognition of limits.</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“What if I don’t remember a number?”</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Do not invent it. Explain where you would verify the controlling requirement.</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5</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98</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6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068736"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385277"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Practical Assessment Behavior</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5</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Plan → verify → move → re-verify</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Use deliberate sequencing, connection checks, controlled movement and continuous redundancy.</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safety overrides speed</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Fast completion has no value if the system becomes uncontrolled or unsafe.</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Pause when needed</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A deliberate safe pause to assess the next step beats rushing into a dangerous sequence.</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Panic after a small error</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Candidates compound a minor issue by moving faster or disconnecting the wrong component.</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Independent safe performance, correct technique, judgment and self-correction within SPRAT criteria.</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“Should I restart if I make a mistake?”</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Follow the evaluator’s instructions. The priority is to stay safe and avoid compounding the error.</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5</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99</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61">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495300"/>
            <a:ext cx="514895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DISCUSSION</a:t>
            </a:r>
            <a:endParaRPr lang="en-US" sz="975" dirty="0"/>
          </a:p>
        </p:txBody>
      </p:sp>
      <p:sp>
        <p:nvSpPr>
          <p:cNvPr id="3" name="Text 1"/>
          <p:cNvSpPr/>
          <p:nvPr/>
        </p:nvSpPr>
        <p:spPr>
          <a:xfrm>
            <a:off x="857250" y="762000"/>
            <a:ext cx="5380045" cy="428625"/>
          </a:xfrm>
          <a:prstGeom prst="rect">
            <a:avLst/>
          </a:prstGeom>
          <a:noFill/>
          <a:ln/>
        </p:spPr>
        <p:txBody>
          <a:bodyPr wrap="square" lIns="25400" tIns="25400" rIns="25400" bIns="25400" rtlCol="0" anchor="t">
            <a:normAutofit/>
          </a:bodyPr>
          <a:lstStyle/>
          <a:p>
            <a:pPr marL="0" indent="0" algn="l">
              <a:buNone/>
            </a:pPr>
            <a:r>
              <a:rPr lang="en-US" sz="2700" b="1" kern="0" spc="-27" dirty="0">
                <a:solidFill>
                  <a:srgbClr val="0E2A47"/>
                </a:solidFill>
                <a:latin typeface="Arial" pitchFamily="34" charset="0"/>
                <a:ea typeface="Arial" pitchFamily="34" charset="-122"/>
                <a:cs typeface="Arial" pitchFamily="34" charset="-120"/>
              </a:rPr>
              <a:t>Results, Debrief &amp; Remediation</a:t>
            </a:r>
            <a:endParaRPr lang="en-US" sz="2700" dirty="0"/>
          </a:p>
        </p:txBody>
      </p:sp>
      <p:sp>
        <p:nvSpPr>
          <p:cNvPr id="4" name="Shape 2"/>
          <p:cNvSpPr/>
          <p:nvPr/>
        </p:nvSpPr>
        <p:spPr>
          <a:xfrm>
            <a:off x="16676266" y="533400"/>
            <a:ext cx="754484" cy="300038"/>
          </a:xfrm>
          <a:prstGeom prst="roundRect">
            <a:avLst>
              <a:gd name="adj" fmla="val 12698"/>
            </a:avLst>
          </a:prstGeom>
          <a:solidFill>
            <a:srgbClr val="0E2A47"/>
          </a:solidFill>
          <a:ln/>
        </p:spPr>
        <p:txBody>
          <a:bodyPr/>
          <a:lstStyle/>
          <a:p>
            <a:endParaRPr lang="en-US"/>
          </a:p>
        </p:txBody>
      </p:sp>
      <p:sp>
        <p:nvSpPr>
          <p:cNvPr id="5" name="Text 3"/>
          <p:cNvSpPr/>
          <p:nvPr/>
        </p:nvSpPr>
        <p:spPr>
          <a:xfrm>
            <a:off x="16847716" y="619125"/>
            <a:ext cx="512428" cy="166688"/>
          </a:xfrm>
          <a:prstGeom prst="rect">
            <a:avLst/>
          </a:prstGeom>
          <a:noFill/>
          <a:ln/>
        </p:spPr>
        <p:txBody>
          <a:bodyPr wrap="none" lIns="25400" tIns="25400" rIns="25400" bIns="25400" rtlCol="0" anchor="t">
            <a:normAutofit/>
          </a:bodyPr>
          <a:lstStyle/>
          <a:p>
            <a:pPr marL="0" indent="0" algn="l">
              <a:buNone/>
            </a:pPr>
            <a:r>
              <a:rPr lang="en-US" sz="1100" b="1" kern="0" spc="108" dirty="0">
                <a:solidFill>
                  <a:srgbClr val="FFFFFF"/>
                </a:solidFill>
                <a:latin typeface="Courier New" pitchFamily="34" charset="0"/>
                <a:ea typeface="Courier New" pitchFamily="34" charset="-122"/>
                <a:cs typeface="Courier New" pitchFamily="34" charset="-120"/>
              </a:rPr>
              <a:t>DAY 5</a:t>
            </a:r>
            <a:endParaRPr lang="en-US" sz="900" dirty="0"/>
          </a:p>
        </p:txBody>
      </p:sp>
      <p:sp>
        <p:nvSpPr>
          <p:cNvPr id="6" name="Shape 4"/>
          <p:cNvSpPr/>
          <p:nvPr/>
        </p:nvSpPr>
        <p:spPr>
          <a:xfrm>
            <a:off x="857250" y="1562100"/>
            <a:ext cx="5435575" cy="3990975"/>
          </a:xfrm>
          <a:prstGeom prst="roundRect">
            <a:avLst>
              <a:gd name="adj" fmla="val 955"/>
            </a:avLst>
          </a:prstGeom>
          <a:solidFill>
            <a:srgbClr val="FFFFFF"/>
          </a:solidFill>
          <a:ln/>
        </p:spPr>
        <p:txBody>
          <a:bodyPr/>
          <a:lstStyle/>
          <a:p>
            <a:endParaRPr lang="en-US"/>
          </a:p>
        </p:txBody>
      </p:sp>
      <p:sp>
        <p:nvSpPr>
          <p:cNvPr id="7" name="Shape 5"/>
          <p:cNvSpPr/>
          <p:nvPr/>
        </p:nvSpPr>
        <p:spPr>
          <a:xfrm>
            <a:off x="857250" y="5543550"/>
            <a:ext cx="5435575" cy="9525"/>
          </a:xfrm>
          <a:prstGeom prst="rect">
            <a:avLst/>
          </a:prstGeom>
          <a:solidFill>
            <a:srgbClr val="E2E7ED"/>
          </a:solidFill>
          <a:ln/>
        </p:spPr>
        <p:txBody>
          <a:bodyPr/>
          <a:lstStyle/>
          <a:p>
            <a:endParaRPr lang="en-US"/>
          </a:p>
        </p:txBody>
      </p:sp>
      <p:sp>
        <p:nvSpPr>
          <p:cNvPr id="8" name="Shape 6"/>
          <p:cNvSpPr/>
          <p:nvPr/>
        </p:nvSpPr>
        <p:spPr>
          <a:xfrm>
            <a:off x="857250" y="1562100"/>
            <a:ext cx="5435575" cy="9525"/>
          </a:xfrm>
          <a:prstGeom prst="rect">
            <a:avLst/>
          </a:prstGeom>
          <a:solidFill>
            <a:srgbClr val="E2E7ED"/>
          </a:solidFill>
          <a:ln/>
        </p:spPr>
        <p:txBody>
          <a:bodyPr/>
          <a:lstStyle/>
          <a:p>
            <a:endParaRPr lang="en-US"/>
          </a:p>
        </p:txBody>
      </p:sp>
      <p:sp>
        <p:nvSpPr>
          <p:cNvPr id="9" name="Shape 7"/>
          <p:cNvSpPr/>
          <p:nvPr/>
        </p:nvSpPr>
        <p:spPr>
          <a:xfrm>
            <a:off x="857250" y="1562100"/>
            <a:ext cx="47625" cy="3990975"/>
          </a:xfrm>
          <a:prstGeom prst="rect">
            <a:avLst/>
          </a:prstGeom>
          <a:solidFill>
            <a:srgbClr val="0E2A47"/>
          </a:solidFill>
          <a:ln/>
        </p:spPr>
        <p:txBody>
          <a:bodyPr/>
          <a:lstStyle/>
          <a:p>
            <a:endParaRPr lang="en-US"/>
          </a:p>
        </p:txBody>
      </p:sp>
      <p:sp>
        <p:nvSpPr>
          <p:cNvPr id="10" name="Shape 8"/>
          <p:cNvSpPr/>
          <p:nvPr/>
        </p:nvSpPr>
        <p:spPr>
          <a:xfrm>
            <a:off x="6283300" y="1562100"/>
            <a:ext cx="9525" cy="3990975"/>
          </a:xfrm>
          <a:prstGeom prst="rect">
            <a:avLst/>
          </a:prstGeom>
          <a:solidFill>
            <a:srgbClr val="E2E7ED"/>
          </a:solidFill>
          <a:ln/>
        </p:spPr>
        <p:txBody>
          <a:bodyPr/>
          <a:lstStyle/>
          <a:p>
            <a:endParaRPr lang="en-US"/>
          </a:p>
        </p:txBody>
      </p:sp>
      <p:sp>
        <p:nvSpPr>
          <p:cNvPr id="11" name="Text 9"/>
          <p:cNvSpPr/>
          <p:nvPr/>
        </p:nvSpPr>
        <p:spPr>
          <a:xfrm>
            <a:off x="1111250"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0E2A47"/>
                </a:solidFill>
                <a:latin typeface="Courier New" pitchFamily="34" charset="0"/>
                <a:ea typeface="Courier New" pitchFamily="34" charset="-122"/>
                <a:cs typeface="Courier New" pitchFamily="34" charset="-120"/>
              </a:rPr>
              <a:t>WHAT / HOW</a:t>
            </a:r>
            <a:endParaRPr lang="en-US" sz="1000" dirty="0"/>
          </a:p>
        </p:txBody>
      </p:sp>
      <p:sp>
        <p:nvSpPr>
          <p:cNvPr id="12" name="Text 10"/>
          <p:cNvSpPr/>
          <p:nvPr/>
        </p:nvSpPr>
        <p:spPr>
          <a:xfrm>
            <a:off x="1111250"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Turn the outcome into a development plan</a:t>
            </a:r>
            <a:endParaRPr lang="en-US" sz="1650" dirty="0"/>
          </a:p>
        </p:txBody>
      </p:sp>
      <p:sp>
        <p:nvSpPr>
          <p:cNvPr id="13" name="Text 11"/>
          <p:cNvSpPr/>
          <p:nvPr/>
        </p:nvSpPr>
        <p:spPr>
          <a:xfrm>
            <a:off x="1111250"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Review the result, feedback, strengths, gaps and any SPRAT next steps.</a:t>
            </a:r>
            <a:endParaRPr lang="en-US" sz="1550" dirty="0"/>
          </a:p>
        </p:txBody>
      </p:sp>
      <p:sp>
        <p:nvSpPr>
          <p:cNvPr id="14" name="Shape 12"/>
          <p:cNvSpPr/>
          <p:nvPr/>
        </p:nvSpPr>
        <p:spPr>
          <a:xfrm>
            <a:off x="6426175" y="1562100"/>
            <a:ext cx="5435575" cy="3990975"/>
          </a:xfrm>
          <a:prstGeom prst="roundRect">
            <a:avLst>
              <a:gd name="adj" fmla="val 955"/>
            </a:avLst>
          </a:prstGeom>
          <a:solidFill>
            <a:srgbClr val="FFFFFF"/>
          </a:solidFill>
          <a:ln/>
        </p:spPr>
        <p:txBody>
          <a:bodyPr/>
          <a:lstStyle/>
          <a:p>
            <a:endParaRPr lang="en-US"/>
          </a:p>
        </p:txBody>
      </p:sp>
      <p:sp>
        <p:nvSpPr>
          <p:cNvPr id="15" name="Shape 13"/>
          <p:cNvSpPr/>
          <p:nvPr/>
        </p:nvSpPr>
        <p:spPr>
          <a:xfrm>
            <a:off x="6426175" y="5543550"/>
            <a:ext cx="5435575" cy="9525"/>
          </a:xfrm>
          <a:prstGeom prst="rect">
            <a:avLst/>
          </a:prstGeom>
          <a:solidFill>
            <a:srgbClr val="E2E7ED"/>
          </a:solidFill>
          <a:ln/>
        </p:spPr>
        <p:txBody>
          <a:bodyPr/>
          <a:lstStyle/>
          <a:p>
            <a:endParaRPr lang="en-US"/>
          </a:p>
        </p:txBody>
      </p:sp>
      <p:sp>
        <p:nvSpPr>
          <p:cNvPr id="16" name="Shape 14"/>
          <p:cNvSpPr/>
          <p:nvPr/>
        </p:nvSpPr>
        <p:spPr>
          <a:xfrm>
            <a:off x="6426175" y="1562100"/>
            <a:ext cx="5435575" cy="9525"/>
          </a:xfrm>
          <a:prstGeom prst="rect">
            <a:avLst/>
          </a:prstGeom>
          <a:solidFill>
            <a:srgbClr val="E2E7ED"/>
          </a:solidFill>
          <a:ln/>
        </p:spPr>
        <p:txBody>
          <a:bodyPr/>
          <a:lstStyle/>
          <a:p>
            <a:endParaRPr lang="en-US"/>
          </a:p>
        </p:txBody>
      </p:sp>
      <p:sp>
        <p:nvSpPr>
          <p:cNvPr id="17" name="Shape 15"/>
          <p:cNvSpPr/>
          <p:nvPr/>
        </p:nvSpPr>
        <p:spPr>
          <a:xfrm>
            <a:off x="6426175" y="1562100"/>
            <a:ext cx="47625" cy="3990975"/>
          </a:xfrm>
          <a:prstGeom prst="rect">
            <a:avLst/>
          </a:prstGeom>
          <a:solidFill>
            <a:srgbClr val="2F8FE8"/>
          </a:solidFill>
          <a:ln/>
        </p:spPr>
        <p:txBody>
          <a:bodyPr/>
          <a:lstStyle/>
          <a:p>
            <a:endParaRPr lang="en-US"/>
          </a:p>
        </p:txBody>
      </p:sp>
      <p:sp>
        <p:nvSpPr>
          <p:cNvPr id="18" name="Shape 16"/>
          <p:cNvSpPr/>
          <p:nvPr/>
        </p:nvSpPr>
        <p:spPr>
          <a:xfrm>
            <a:off x="11852225" y="1562100"/>
            <a:ext cx="9525" cy="3990975"/>
          </a:xfrm>
          <a:prstGeom prst="rect">
            <a:avLst/>
          </a:prstGeom>
          <a:solidFill>
            <a:srgbClr val="E2E7ED"/>
          </a:solidFill>
          <a:ln/>
        </p:spPr>
        <p:txBody>
          <a:bodyPr/>
          <a:lstStyle/>
          <a:p>
            <a:endParaRPr lang="en-US"/>
          </a:p>
        </p:txBody>
      </p:sp>
      <p:sp>
        <p:nvSpPr>
          <p:cNvPr id="19" name="Text 17"/>
          <p:cNvSpPr/>
          <p:nvPr/>
        </p:nvSpPr>
        <p:spPr>
          <a:xfrm>
            <a:off x="6680175" y="1765300"/>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2F8FE8"/>
                </a:solidFill>
                <a:latin typeface="Courier New" pitchFamily="34" charset="0"/>
                <a:ea typeface="Courier New" pitchFamily="34" charset="-122"/>
                <a:cs typeface="Courier New" pitchFamily="34" charset="-120"/>
              </a:rPr>
              <a:t>WHY</a:t>
            </a:r>
            <a:endParaRPr lang="en-US" sz="1000" dirty="0"/>
          </a:p>
        </p:txBody>
      </p:sp>
      <p:sp>
        <p:nvSpPr>
          <p:cNvPr id="20" name="Text 18"/>
          <p:cNvSpPr/>
          <p:nvPr/>
        </p:nvSpPr>
        <p:spPr>
          <a:xfrm>
            <a:off x="6680175" y="2019300"/>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Why the debrief matters</a:t>
            </a:r>
            <a:endParaRPr lang="en-US" sz="1650" dirty="0"/>
          </a:p>
        </p:txBody>
      </p:sp>
      <p:sp>
        <p:nvSpPr>
          <p:cNvPr id="21" name="Text 19"/>
          <p:cNvSpPr/>
          <p:nvPr/>
        </p:nvSpPr>
        <p:spPr>
          <a:xfrm>
            <a:off x="6680175" y="2423160"/>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Passing is not mastery of every future scenario; an unsuccessful assessment should produce a focused improvement plan.</a:t>
            </a:r>
            <a:endParaRPr lang="en-US" sz="1550" dirty="0"/>
          </a:p>
        </p:txBody>
      </p:sp>
      <p:sp>
        <p:nvSpPr>
          <p:cNvPr id="22" name="Shape 20"/>
          <p:cNvSpPr/>
          <p:nvPr/>
        </p:nvSpPr>
        <p:spPr>
          <a:xfrm>
            <a:off x="11995100" y="1562100"/>
            <a:ext cx="5435650" cy="3990975"/>
          </a:xfrm>
          <a:prstGeom prst="roundRect">
            <a:avLst>
              <a:gd name="adj" fmla="val 955"/>
            </a:avLst>
          </a:prstGeom>
          <a:solidFill>
            <a:srgbClr val="FFFFFF"/>
          </a:solidFill>
          <a:ln/>
        </p:spPr>
        <p:txBody>
          <a:bodyPr/>
          <a:lstStyle/>
          <a:p>
            <a:endParaRPr lang="en-US"/>
          </a:p>
        </p:txBody>
      </p:sp>
      <p:sp>
        <p:nvSpPr>
          <p:cNvPr id="23" name="Shape 21"/>
          <p:cNvSpPr/>
          <p:nvPr/>
        </p:nvSpPr>
        <p:spPr>
          <a:xfrm>
            <a:off x="11995100" y="5543550"/>
            <a:ext cx="5435650" cy="9525"/>
          </a:xfrm>
          <a:prstGeom prst="rect">
            <a:avLst/>
          </a:prstGeom>
          <a:solidFill>
            <a:srgbClr val="E2E7ED"/>
          </a:solidFill>
          <a:ln/>
        </p:spPr>
        <p:txBody>
          <a:bodyPr/>
          <a:lstStyle/>
          <a:p>
            <a:endParaRPr lang="en-US"/>
          </a:p>
        </p:txBody>
      </p:sp>
      <p:sp>
        <p:nvSpPr>
          <p:cNvPr id="24" name="Shape 22"/>
          <p:cNvSpPr/>
          <p:nvPr/>
        </p:nvSpPr>
        <p:spPr>
          <a:xfrm>
            <a:off x="11995100" y="1562100"/>
            <a:ext cx="5435650" cy="9525"/>
          </a:xfrm>
          <a:prstGeom prst="rect">
            <a:avLst/>
          </a:prstGeom>
          <a:solidFill>
            <a:srgbClr val="E2E7ED"/>
          </a:solidFill>
          <a:ln/>
        </p:spPr>
        <p:txBody>
          <a:bodyPr/>
          <a:lstStyle/>
          <a:p>
            <a:endParaRPr lang="en-US"/>
          </a:p>
        </p:txBody>
      </p:sp>
      <p:sp>
        <p:nvSpPr>
          <p:cNvPr id="25" name="Shape 23"/>
          <p:cNvSpPr/>
          <p:nvPr/>
        </p:nvSpPr>
        <p:spPr>
          <a:xfrm>
            <a:off x="11995100" y="1562100"/>
            <a:ext cx="47625" cy="3990975"/>
          </a:xfrm>
          <a:prstGeom prst="rect">
            <a:avLst/>
          </a:prstGeom>
          <a:solidFill>
            <a:srgbClr val="1F8A5B"/>
          </a:solidFill>
          <a:ln/>
        </p:spPr>
        <p:txBody>
          <a:bodyPr/>
          <a:lstStyle/>
          <a:p>
            <a:endParaRPr lang="en-US"/>
          </a:p>
        </p:txBody>
      </p:sp>
      <p:sp>
        <p:nvSpPr>
          <p:cNvPr id="26" name="Shape 24"/>
          <p:cNvSpPr/>
          <p:nvPr/>
        </p:nvSpPr>
        <p:spPr>
          <a:xfrm>
            <a:off x="17421225" y="1562100"/>
            <a:ext cx="9525" cy="3990975"/>
          </a:xfrm>
          <a:prstGeom prst="rect">
            <a:avLst/>
          </a:prstGeom>
          <a:solidFill>
            <a:srgbClr val="E2E7ED"/>
          </a:solidFill>
          <a:ln/>
        </p:spPr>
        <p:txBody>
          <a:bodyPr/>
          <a:lstStyle/>
          <a:p>
            <a:endParaRPr lang="en-US"/>
          </a:p>
        </p:txBody>
      </p:sp>
      <p:sp>
        <p:nvSpPr>
          <p:cNvPr id="27" name="Text 25"/>
          <p:cNvSpPr/>
          <p:nvPr/>
        </p:nvSpPr>
        <p:spPr>
          <a:xfrm>
            <a:off x="12249100" y="1765300"/>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1F8A5B"/>
                </a:solidFill>
                <a:latin typeface="Courier New" pitchFamily="34" charset="0"/>
                <a:ea typeface="Courier New" pitchFamily="34" charset="-122"/>
                <a:cs typeface="Courier New" pitchFamily="34" charset="-120"/>
              </a:rPr>
              <a:t>WHEN / WHEN NOT</a:t>
            </a:r>
            <a:endParaRPr lang="en-US" sz="1000" dirty="0"/>
          </a:p>
        </p:txBody>
      </p:sp>
      <p:sp>
        <p:nvSpPr>
          <p:cNvPr id="28" name="Text 26"/>
          <p:cNvSpPr/>
          <p:nvPr/>
        </p:nvSpPr>
        <p:spPr>
          <a:xfrm>
            <a:off x="12249100" y="2019300"/>
            <a:ext cx="5003850"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Document accurately</a:t>
            </a:r>
            <a:endParaRPr lang="en-US" sz="1650" dirty="0"/>
          </a:p>
        </p:txBody>
      </p:sp>
      <p:sp>
        <p:nvSpPr>
          <p:cNvPr id="29" name="Text 27"/>
          <p:cNvSpPr/>
          <p:nvPr/>
        </p:nvSpPr>
        <p:spPr>
          <a:xfrm>
            <a:off x="12249100" y="2423160"/>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Maintain training / assessment records and any required logbook entries.</a:t>
            </a:r>
            <a:endParaRPr lang="en-US" sz="1550" dirty="0"/>
          </a:p>
        </p:txBody>
      </p:sp>
      <p:sp>
        <p:nvSpPr>
          <p:cNvPr id="30" name="Shape 28"/>
          <p:cNvSpPr/>
          <p:nvPr/>
        </p:nvSpPr>
        <p:spPr>
          <a:xfrm>
            <a:off x="857250" y="5686425"/>
            <a:ext cx="5435575" cy="3990975"/>
          </a:xfrm>
          <a:prstGeom prst="roundRect">
            <a:avLst>
              <a:gd name="adj" fmla="val 955"/>
            </a:avLst>
          </a:prstGeom>
          <a:solidFill>
            <a:srgbClr val="FDF1EF"/>
          </a:solidFill>
          <a:ln/>
        </p:spPr>
        <p:txBody>
          <a:bodyPr/>
          <a:lstStyle/>
          <a:p>
            <a:endParaRPr lang="en-US"/>
          </a:p>
        </p:txBody>
      </p:sp>
      <p:sp>
        <p:nvSpPr>
          <p:cNvPr id="31" name="Shape 29"/>
          <p:cNvSpPr/>
          <p:nvPr/>
        </p:nvSpPr>
        <p:spPr>
          <a:xfrm>
            <a:off x="857250" y="9667875"/>
            <a:ext cx="5435575" cy="9525"/>
          </a:xfrm>
          <a:prstGeom prst="rect">
            <a:avLst/>
          </a:prstGeom>
          <a:solidFill>
            <a:srgbClr val="F2D5CF"/>
          </a:solidFill>
          <a:ln/>
        </p:spPr>
        <p:txBody>
          <a:bodyPr/>
          <a:lstStyle/>
          <a:p>
            <a:endParaRPr lang="en-US"/>
          </a:p>
        </p:txBody>
      </p:sp>
      <p:sp>
        <p:nvSpPr>
          <p:cNvPr id="32" name="Shape 30"/>
          <p:cNvSpPr/>
          <p:nvPr/>
        </p:nvSpPr>
        <p:spPr>
          <a:xfrm>
            <a:off x="857250" y="5686425"/>
            <a:ext cx="5435575" cy="9525"/>
          </a:xfrm>
          <a:prstGeom prst="rect">
            <a:avLst/>
          </a:prstGeom>
          <a:solidFill>
            <a:srgbClr val="F2D5CF"/>
          </a:solidFill>
          <a:ln/>
        </p:spPr>
        <p:txBody>
          <a:bodyPr/>
          <a:lstStyle/>
          <a:p>
            <a:endParaRPr lang="en-US"/>
          </a:p>
        </p:txBody>
      </p:sp>
      <p:sp>
        <p:nvSpPr>
          <p:cNvPr id="33" name="Shape 31"/>
          <p:cNvSpPr/>
          <p:nvPr/>
        </p:nvSpPr>
        <p:spPr>
          <a:xfrm>
            <a:off x="857250" y="5686425"/>
            <a:ext cx="47625" cy="3990975"/>
          </a:xfrm>
          <a:prstGeom prst="rect">
            <a:avLst/>
          </a:prstGeom>
          <a:solidFill>
            <a:srgbClr val="C8341F"/>
          </a:solidFill>
          <a:ln/>
        </p:spPr>
        <p:txBody>
          <a:bodyPr/>
          <a:lstStyle/>
          <a:p>
            <a:endParaRPr lang="en-US"/>
          </a:p>
        </p:txBody>
      </p:sp>
      <p:sp>
        <p:nvSpPr>
          <p:cNvPr id="34" name="Shape 32"/>
          <p:cNvSpPr/>
          <p:nvPr/>
        </p:nvSpPr>
        <p:spPr>
          <a:xfrm>
            <a:off x="6283300" y="5686425"/>
            <a:ext cx="9525" cy="3990975"/>
          </a:xfrm>
          <a:prstGeom prst="rect">
            <a:avLst/>
          </a:prstGeom>
          <a:solidFill>
            <a:srgbClr val="F2D5CF"/>
          </a:solidFill>
          <a:ln/>
        </p:spPr>
        <p:txBody>
          <a:bodyPr/>
          <a:lstStyle/>
          <a:p>
            <a:endParaRPr lang="en-US"/>
          </a:p>
        </p:txBody>
      </p:sp>
      <p:sp>
        <p:nvSpPr>
          <p:cNvPr id="35" name="Text 33"/>
          <p:cNvSpPr/>
          <p:nvPr/>
        </p:nvSpPr>
        <p:spPr>
          <a:xfrm>
            <a:off x="1111250"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C8341F"/>
                </a:solidFill>
                <a:latin typeface="Courier New" pitchFamily="34" charset="0"/>
                <a:ea typeface="Courier New" pitchFamily="34" charset="-122"/>
                <a:cs typeface="Courier New" pitchFamily="34" charset="-120"/>
              </a:rPr>
              <a:t>WHAT GOES WRONG</a:t>
            </a:r>
            <a:endParaRPr lang="en-US" sz="1000" dirty="0"/>
          </a:p>
        </p:txBody>
      </p:sp>
      <p:sp>
        <p:nvSpPr>
          <p:cNvPr id="36" name="Text 34"/>
          <p:cNvSpPr/>
          <p:nvPr/>
        </p:nvSpPr>
        <p:spPr>
          <a:xfrm>
            <a:off x="1111250"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Treating certification as the finish line</a:t>
            </a:r>
            <a:endParaRPr lang="en-US" sz="1650" dirty="0"/>
          </a:p>
        </p:txBody>
      </p:sp>
      <p:sp>
        <p:nvSpPr>
          <p:cNvPr id="37" name="Text 35"/>
          <p:cNvSpPr/>
          <p:nvPr/>
        </p:nvSpPr>
        <p:spPr>
          <a:xfrm>
            <a:off x="1111250"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Skills decay, and work environments introduce hazards not seen in training.</a:t>
            </a:r>
            <a:endParaRPr lang="en-US" sz="1550" dirty="0"/>
          </a:p>
        </p:txBody>
      </p:sp>
      <p:sp>
        <p:nvSpPr>
          <p:cNvPr id="38" name="Shape 36"/>
          <p:cNvSpPr/>
          <p:nvPr/>
        </p:nvSpPr>
        <p:spPr>
          <a:xfrm>
            <a:off x="6426175" y="5686425"/>
            <a:ext cx="5435575" cy="3990975"/>
          </a:xfrm>
          <a:prstGeom prst="roundRect">
            <a:avLst>
              <a:gd name="adj" fmla="val 955"/>
            </a:avLst>
          </a:prstGeom>
          <a:solidFill>
            <a:srgbClr val="FFF4EC"/>
          </a:solidFill>
          <a:ln/>
        </p:spPr>
        <p:txBody>
          <a:bodyPr/>
          <a:lstStyle/>
          <a:p>
            <a:endParaRPr lang="en-US"/>
          </a:p>
        </p:txBody>
      </p:sp>
      <p:sp>
        <p:nvSpPr>
          <p:cNvPr id="39" name="Shape 37"/>
          <p:cNvSpPr/>
          <p:nvPr/>
        </p:nvSpPr>
        <p:spPr>
          <a:xfrm>
            <a:off x="6426175" y="9667875"/>
            <a:ext cx="5435575" cy="9525"/>
          </a:xfrm>
          <a:prstGeom prst="rect">
            <a:avLst/>
          </a:prstGeom>
          <a:solidFill>
            <a:srgbClr val="F5D9C2"/>
          </a:solidFill>
          <a:ln/>
        </p:spPr>
        <p:txBody>
          <a:bodyPr/>
          <a:lstStyle/>
          <a:p>
            <a:endParaRPr lang="en-US"/>
          </a:p>
        </p:txBody>
      </p:sp>
      <p:sp>
        <p:nvSpPr>
          <p:cNvPr id="40" name="Shape 38"/>
          <p:cNvSpPr/>
          <p:nvPr/>
        </p:nvSpPr>
        <p:spPr>
          <a:xfrm>
            <a:off x="6426175" y="5686425"/>
            <a:ext cx="5435575" cy="9525"/>
          </a:xfrm>
          <a:prstGeom prst="rect">
            <a:avLst/>
          </a:prstGeom>
          <a:solidFill>
            <a:srgbClr val="F5D9C2"/>
          </a:solidFill>
          <a:ln/>
        </p:spPr>
        <p:txBody>
          <a:bodyPr/>
          <a:lstStyle/>
          <a:p>
            <a:endParaRPr lang="en-US"/>
          </a:p>
        </p:txBody>
      </p:sp>
      <p:sp>
        <p:nvSpPr>
          <p:cNvPr id="41" name="Shape 39"/>
          <p:cNvSpPr/>
          <p:nvPr/>
        </p:nvSpPr>
        <p:spPr>
          <a:xfrm>
            <a:off x="6426175" y="5686425"/>
            <a:ext cx="47625" cy="3990975"/>
          </a:xfrm>
          <a:prstGeom prst="rect">
            <a:avLst/>
          </a:prstGeom>
          <a:solidFill>
            <a:srgbClr val="F26A1B"/>
          </a:solidFill>
          <a:ln/>
        </p:spPr>
        <p:txBody>
          <a:bodyPr/>
          <a:lstStyle/>
          <a:p>
            <a:endParaRPr lang="en-US"/>
          </a:p>
        </p:txBody>
      </p:sp>
      <p:sp>
        <p:nvSpPr>
          <p:cNvPr id="42" name="Shape 40"/>
          <p:cNvSpPr/>
          <p:nvPr/>
        </p:nvSpPr>
        <p:spPr>
          <a:xfrm>
            <a:off x="11852225" y="5686425"/>
            <a:ext cx="9525" cy="3990975"/>
          </a:xfrm>
          <a:prstGeom prst="rect">
            <a:avLst/>
          </a:prstGeom>
          <a:solidFill>
            <a:srgbClr val="F5D9C2"/>
          </a:solidFill>
          <a:ln/>
        </p:spPr>
        <p:txBody>
          <a:bodyPr/>
          <a:lstStyle/>
          <a:p>
            <a:endParaRPr lang="en-US"/>
          </a:p>
        </p:txBody>
      </p:sp>
      <p:sp>
        <p:nvSpPr>
          <p:cNvPr id="43" name="Text 41"/>
          <p:cNvSpPr/>
          <p:nvPr/>
        </p:nvSpPr>
        <p:spPr>
          <a:xfrm>
            <a:off x="6680175" y="5889625"/>
            <a:ext cx="5003775"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EVALUATOR'S EYE</a:t>
            </a:r>
            <a:endParaRPr lang="en-US" sz="1000" dirty="0"/>
          </a:p>
        </p:txBody>
      </p:sp>
      <p:sp>
        <p:nvSpPr>
          <p:cNvPr id="44" name="Text 42"/>
          <p:cNvSpPr/>
          <p:nvPr/>
        </p:nvSpPr>
        <p:spPr>
          <a:xfrm>
            <a:off x="6680175" y="6143625"/>
            <a:ext cx="5003775" cy="302260"/>
          </a:xfrm>
          <a:prstGeom prst="rect">
            <a:avLst/>
          </a:prstGeom>
          <a:noFill/>
          <a:ln/>
        </p:spPr>
        <p:txBody>
          <a:bodyPr wrap="square" lIns="25400" tIns="25400" rIns="25400" bIns="25400" rtlCol="0" anchor="t">
            <a:normAutofit/>
          </a:bodyPr>
          <a:lstStyle/>
          <a:p>
            <a:pPr marL="0" indent="0" algn="l">
              <a:lnSpc>
                <a:spcPct val="103784"/>
              </a:lnSpc>
              <a:buNone/>
            </a:pPr>
            <a:r>
              <a:rPr lang="en-US" sz="1650" b="1" dirty="0">
                <a:solidFill>
                  <a:srgbClr val="0E2A47"/>
                </a:solidFill>
                <a:latin typeface="Arial" pitchFamily="34" charset="0"/>
                <a:ea typeface="Arial" pitchFamily="34" charset="-122"/>
                <a:cs typeface="Arial" pitchFamily="34" charset="-120"/>
              </a:rPr>
              <a:t>Evaluator focus</a:t>
            </a:r>
            <a:endParaRPr lang="en-US" sz="1650" dirty="0"/>
          </a:p>
        </p:txBody>
      </p:sp>
      <p:sp>
        <p:nvSpPr>
          <p:cNvPr id="45" name="Text 43"/>
          <p:cNvSpPr/>
          <p:nvPr/>
        </p:nvSpPr>
        <p:spPr>
          <a:xfrm>
            <a:off x="6680175" y="6547485"/>
            <a:ext cx="5003775"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41505E"/>
                </a:solidFill>
                <a:latin typeface="Arial" pitchFamily="34" charset="0"/>
                <a:ea typeface="Arial" pitchFamily="34" charset="-122"/>
                <a:cs typeface="Arial" pitchFamily="34" charset="-120"/>
              </a:rPr>
              <a:t>Professional response to feedback and a clear understanding of limitations and next steps.</a:t>
            </a:r>
            <a:endParaRPr lang="en-US" sz="1550" dirty="0"/>
          </a:p>
        </p:txBody>
      </p:sp>
      <p:sp>
        <p:nvSpPr>
          <p:cNvPr id="46" name="Shape 44"/>
          <p:cNvSpPr/>
          <p:nvPr/>
        </p:nvSpPr>
        <p:spPr>
          <a:xfrm>
            <a:off x="11995100" y="5686425"/>
            <a:ext cx="5435650" cy="3990975"/>
          </a:xfrm>
          <a:prstGeom prst="roundRect">
            <a:avLst>
              <a:gd name="adj" fmla="val 955"/>
            </a:avLst>
          </a:prstGeom>
          <a:solidFill>
            <a:srgbClr val="0E2A47"/>
          </a:solidFill>
          <a:ln/>
        </p:spPr>
        <p:txBody>
          <a:bodyPr/>
          <a:lstStyle/>
          <a:p>
            <a:endParaRPr lang="en-US"/>
          </a:p>
        </p:txBody>
      </p:sp>
      <p:sp>
        <p:nvSpPr>
          <p:cNvPr id="47" name="Text 45"/>
          <p:cNvSpPr/>
          <p:nvPr/>
        </p:nvSpPr>
        <p:spPr>
          <a:xfrm>
            <a:off x="12249100" y="5889625"/>
            <a:ext cx="5003850" cy="203200"/>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7FD3A5"/>
                </a:solidFill>
                <a:latin typeface="Courier New" pitchFamily="34" charset="0"/>
                <a:ea typeface="Courier New" pitchFamily="34" charset="-122"/>
                <a:cs typeface="Courier New" pitchFamily="34" charset="-120"/>
              </a:rPr>
              <a:t>TRAINEE Q&amp;A</a:t>
            </a:r>
            <a:endParaRPr lang="en-US" sz="1000" dirty="0"/>
          </a:p>
        </p:txBody>
      </p:sp>
      <p:sp>
        <p:nvSpPr>
          <p:cNvPr id="48" name="Text 46"/>
          <p:cNvSpPr/>
          <p:nvPr/>
        </p:nvSpPr>
        <p:spPr>
          <a:xfrm>
            <a:off x="12249100" y="6143625"/>
            <a:ext cx="5003850" cy="302260"/>
          </a:xfrm>
          <a:prstGeom prst="rect">
            <a:avLst/>
          </a:prstGeom>
          <a:noFill/>
          <a:ln/>
        </p:spPr>
        <p:txBody>
          <a:bodyPr wrap="square" lIns="25400" tIns="25400" rIns="25400" bIns="25400" rtlCol="0" anchor="t">
            <a:normAutofit/>
          </a:bodyPr>
          <a:lstStyle/>
          <a:p>
            <a:pPr marL="0" indent="0" algn="l">
              <a:lnSpc>
                <a:spcPct val="107639"/>
              </a:lnSpc>
              <a:buNone/>
            </a:pPr>
            <a:r>
              <a:rPr lang="en-US" sz="1650" b="1" dirty="0">
                <a:solidFill>
                  <a:srgbClr val="FFFFFF"/>
                </a:solidFill>
                <a:latin typeface="Arial" pitchFamily="34" charset="0"/>
                <a:ea typeface="Arial" pitchFamily="34" charset="-122"/>
                <a:cs typeface="Arial" pitchFamily="34" charset="-120"/>
              </a:rPr>
              <a:t>“If I pass, can I supervise immediately?”</a:t>
            </a:r>
            <a:endParaRPr lang="en-US" sz="1650" dirty="0"/>
          </a:p>
        </p:txBody>
      </p:sp>
      <p:sp>
        <p:nvSpPr>
          <p:cNvPr id="49" name="Text 47"/>
          <p:cNvSpPr/>
          <p:nvPr/>
        </p:nvSpPr>
        <p:spPr>
          <a:xfrm>
            <a:off x="12249100" y="6547485"/>
            <a:ext cx="5003850" cy="2977515"/>
          </a:xfrm>
          <a:prstGeom prst="rect">
            <a:avLst/>
          </a:prstGeom>
          <a:noFill/>
          <a:ln/>
        </p:spPr>
        <p:txBody>
          <a:bodyPr wrap="square" lIns="25400" tIns="25400" rIns="25400" bIns="25400" rtlCol="0" anchor="t">
            <a:normAutofit/>
          </a:bodyPr>
          <a:lstStyle/>
          <a:p>
            <a:pPr marL="0" indent="0" algn="l">
              <a:lnSpc>
                <a:spcPct val="122500"/>
              </a:lnSpc>
              <a:buNone/>
            </a:pPr>
            <a:r>
              <a:rPr lang="en-US" sz="1550" dirty="0">
                <a:solidFill>
                  <a:srgbClr val="C7D4E1"/>
                </a:solidFill>
                <a:latin typeface="Arial" pitchFamily="34" charset="0"/>
                <a:ea typeface="Arial" pitchFamily="34" charset="-122"/>
                <a:cs typeface="Arial" pitchFamily="34" charset="-120"/>
              </a:rPr>
              <a:t>Only within the authority of your certification level, employer / site requirements and demonstrated competence.</a:t>
            </a:r>
            <a:endParaRPr lang="en-US" sz="1550" dirty="0"/>
          </a:p>
        </p:txBody>
      </p:sp>
      <p:sp>
        <p:nvSpPr>
          <p:cNvPr id="50" name="Shape 48"/>
          <p:cNvSpPr/>
          <p:nvPr/>
        </p:nvSpPr>
        <p:spPr>
          <a:xfrm>
            <a:off x="0" y="9753600"/>
            <a:ext cx="18288000" cy="9525"/>
          </a:xfrm>
          <a:prstGeom prst="rect">
            <a:avLst/>
          </a:prstGeom>
          <a:solidFill>
            <a:srgbClr val="E1E6EC"/>
          </a:solidFill>
          <a:ln/>
        </p:spPr>
        <p:txBody>
          <a:bodyPr/>
          <a:lstStyle/>
          <a:p>
            <a:endParaRPr lang="en-US"/>
          </a:p>
        </p:txBody>
      </p:sp>
      <p:sp>
        <p:nvSpPr>
          <p:cNvPr id="51" name="Text 49"/>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52" name="Text 50"/>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DAY 5</a:t>
            </a:r>
            <a:endParaRPr lang="en-US" sz="900" dirty="0"/>
          </a:p>
        </p:txBody>
      </p:sp>
      <p:sp>
        <p:nvSpPr>
          <p:cNvPr id="53" name="Text 51"/>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100</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62">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Shape 1"/>
          <p:cNvSpPr/>
          <p:nvPr/>
        </p:nvSpPr>
        <p:spPr>
          <a:xfrm>
            <a:off x="12070110" y="0"/>
            <a:ext cx="6217890" cy="10287000"/>
          </a:xfrm>
          <a:prstGeom prst="rect">
            <a:avLst/>
          </a:prstGeom>
          <a:solidFill>
            <a:srgbClr val="0E2A47"/>
          </a:solidFill>
          <a:ln/>
        </p:spPr>
        <p:txBody>
          <a:bodyPr/>
          <a:lstStyle/>
          <a:p>
            <a:endParaRPr lang="en-US"/>
          </a:p>
        </p:txBody>
      </p:sp>
      <p:pic>
        <p:nvPicPr>
          <p:cNvPr id="95" name="Day 5 photo"/>
          <p:cNvPicPr>
            <a:picLocks noChangeAspect="1"/>
          </p:cNvPicPr>
          <p:nvPr/>
        </p:nvPicPr>
        <p:blipFill>
          <a:blip r:embed="rId3"/>
          <a:stretch>
            <a:fillRect/>
          </a:stretch>
        </p:blipFill>
        <p:spPr>
          <a:xfrm>
            <a:off x="12098685" y="0"/>
            <a:ext cx="6189315" cy="10287000"/>
          </a:xfrm>
          <a:prstGeom prst="rect">
            <a:avLst/>
          </a:prstGeom>
        </p:spPr>
      </p:pic>
      <p:sp>
        <p:nvSpPr>
          <p:cNvPr id="4" name="Shape 2"/>
          <p:cNvSpPr/>
          <p:nvPr/>
        </p:nvSpPr>
        <p:spPr>
          <a:xfrm>
            <a:off x="12070110" y="0"/>
            <a:ext cx="28575" cy="10287000"/>
          </a:xfrm>
          <a:prstGeom prst="rect">
            <a:avLst/>
          </a:prstGeom>
          <a:solidFill>
            <a:srgbClr val="F26A1B"/>
          </a:solidFill>
          <a:ln/>
        </p:spPr>
        <p:txBody>
          <a:bodyPr/>
          <a:lstStyle/>
          <a:p>
            <a:endParaRPr lang="en-US"/>
          </a:p>
        </p:txBody>
      </p:sp>
      <p:sp>
        <p:nvSpPr>
          <p:cNvPr id="5" name="Shape 3"/>
          <p:cNvSpPr/>
          <p:nvPr/>
        </p:nvSpPr>
        <p:spPr>
          <a:xfrm>
            <a:off x="12400000" y="8929390"/>
            <a:ext cx="5716000" cy="557510"/>
          </a:xfrm>
          <a:prstGeom prst="rect">
            <a:avLst/>
          </a:prstGeom>
          <a:solidFill>
            <a:srgbClr val="0A1B2E"/>
          </a:solidFill>
          <a:ln/>
        </p:spPr>
        <p:txBody>
          <a:bodyPr/>
          <a:lstStyle/>
          <a:p>
            <a:endParaRPr lang="en-US"/>
          </a:p>
        </p:txBody>
      </p:sp>
      <p:sp>
        <p:nvSpPr>
          <p:cNvPr id="6" name="Text 4"/>
          <p:cNvSpPr/>
          <p:nvPr/>
        </p:nvSpPr>
        <p:spPr>
          <a:xfrm>
            <a:off x="12500000" y="8996065"/>
            <a:ext cx="5516000" cy="462260"/>
          </a:xfrm>
          <a:prstGeom prst="rect">
            <a:avLst/>
          </a:prstGeom>
          <a:noFill/>
          <a:ln/>
        </p:spPr>
        <p:txBody>
          <a:bodyPr wrap="square" lIns="25400" tIns="25400" rIns="25400" bIns="25400" rtlCol="0" anchor="t">
            <a:normAutofit/>
          </a:bodyPr>
          <a:lstStyle/>
          <a:p>
            <a:pPr marL="0" indent="0" algn="l">
              <a:lnSpc>
                <a:spcPct val="118800"/>
              </a:lnSpc>
              <a:buNone/>
            </a:pPr>
            <a:r>
              <a:rPr lang="en-US" sz="1100" kern="0" spc="50" dirty="0">
                <a:solidFill>
                  <a:srgbClr val="86B0DA"/>
                </a:solidFill>
                <a:latin typeface="Courier New" pitchFamily="34" charset="0"/>
                <a:ea typeface="Courier New" pitchFamily="34" charset="-122"/>
                <a:cs typeface="Courier New" pitchFamily="34" charset="-120"/>
              </a:rPr>
              <a:t>Photo: Christian Thiel · CC BY-SA 4.0 · Wikimedia Commons</a:t>
            </a:r>
            <a:endParaRPr lang="en-US" sz="825" dirty="0"/>
          </a:p>
        </p:txBody>
      </p:sp>
      <p:sp>
        <p:nvSpPr>
          <p:cNvPr id="7" name="Text 5"/>
          <p:cNvSpPr/>
          <p:nvPr/>
        </p:nvSpPr>
        <p:spPr>
          <a:xfrm>
            <a:off x="857250" y="3625304"/>
            <a:ext cx="11265359"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CLASSROOM → PRACTICAL</a:t>
            </a:r>
            <a:endParaRPr lang="en-US" sz="975" dirty="0"/>
          </a:p>
        </p:txBody>
      </p:sp>
      <p:sp>
        <p:nvSpPr>
          <p:cNvPr id="8" name="Text 6"/>
          <p:cNvSpPr/>
          <p:nvPr/>
        </p:nvSpPr>
        <p:spPr>
          <a:xfrm>
            <a:off x="857250" y="3901529"/>
            <a:ext cx="11265359" cy="52387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Arial" pitchFamily="34" charset="0"/>
                <a:ea typeface="Arial" pitchFamily="34" charset="-122"/>
                <a:cs typeface="Arial" pitchFamily="34" charset="-120"/>
              </a:rPr>
              <a:t>Day 5 Practical Training Plan</a:t>
            </a:r>
            <a:endParaRPr lang="en-US" sz="3300" dirty="0"/>
          </a:p>
        </p:txBody>
      </p:sp>
      <p:sp>
        <p:nvSpPr>
          <p:cNvPr id="9" name="Text 7"/>
          <p:cNvSpPr/>
          <p:nvPr/>
        </p:nvSpPr>
        <p:spPr>
          <a:xfrm>
            <a:off x="857250" y="4668292"/>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081534" y="4654004"/>
            <a:ext cx="3329471"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Eligibility / equipment check and briefing</a:t>
            </a:r>
            <a:endParaRPr lang="en-US" sz="1350" dirty="0"/>
          </a:p>
        </p:txBody>
      </p:sp>
      <p:sp>
        <p:nvSpPr>
          <p:cNvPr id="11" name="Text 9"/>
          <p:cNvSpPr/>
          <p:nvPr/>
        </p:nvSpPr>
        <p:spPr>
          <a:xfrm>
            <a:off x="857250" y="502354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2" name="Text 10"/>
          <p:cNvSpPr/>
          <p:nvPr/>
        </p:nvSpPr>
        <p:spPr>
          <a:xfrm>
            <a:off x="1081534" y="5009257"/>
            <a:ext cx="3227846"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Theory / verbal knowledge assessment</a:t>
            </a:r>
            <a:endParaRPr lang="en-US" sz="1350" dirty="0"/>
          </a:p>
        </p:txBody>
      </p:sp>
      <p:sp>
        <p:nvSpPr>
          <p:cNvPr id="13" name="Text 11"/>
          <p:cNvSpPr/>
          <p:nvPr/>
        </p:nvSpPr>
        <p:spPr>
          <a:xfrm>
            <a:off x="857250" y="5378797"/>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4" name="Text 12"/>
          <p:cNvSpPr/>
          <p:nvPr/>
        </p:nvSpPr>
        <p:spPr>
          <a:xfrm>
            <a:off x="1081534" y="5364510"/>
            <a:ext cx="3227935"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Practical maneuvers by candidate level</a:t>
            </a:r>
            <a:endParaRPr lang="en-US" sz="1350" dirty="0"/>
          </a:p>
        </p:txBody>
      </p:sp>
      <p:sp>
        <p:nvSpPr>
          <p:cNvPr id="15" name="Text 13"/>
          <p:cNvSpPr/>
          <p:nvPr/>
        </p:nvSpPr>
        <p:spPr>
          <a:xfrm>
            <a:off x="857250" y="5734050"/>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081534" y="5719763"/>
            <a:ext cx="4167678"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Rigging and rescue assessment by candidate level</a:t>
            </a:r>
            <a:endParaRPr lang="en-US" sz="1350" dirty="0"/>
          </a:p>
        </p:txBody>
      </p:sp>
      <p:sp>
        <p:nvSpPr>
          <p:cNvPr id="17" name="Text 15"/>
          <p:cNvSpPr/>
          <p:nvPr/>
        </p:nvSpPr>
        <p:spPr>
          <a:xfrm>
            <a:off x="857250" y="6089303"/>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1081534" y="6075015"/>
            <a:ext cx="1642084"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Results and debrief</a:t>
            </a:r>
            <a:endParaRPr lang="en-US" sz="1350" dirty="0"/>
          </a:p>
        </p:txBody>
      </p:sp>
      <p:sp>
        <p:nvSpPr>
          <p:cNvPr id="19" name="Text 17"/>
          <p:cNvSpPr/>
          <p:nvPr/>
        </p:nvSpPr>
        <p:spPr>
          <a:xfrm>
            <a:off x="857250" y="6444555"/>
            <a:ext cx="172570"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1081534" y="6430268"/>
            <a:ext cx="4008217" cy="269528"/>
          </a:xfrm>
          <a:prstGeom prst="rect">
            <a:avLst/>
          </a:prstGeom>
          <a:noFill/>
          <a:ln/>
        </p:spPr>
        <p:txBody>
          <a:bodyPr wrap="square" lIns="25400" tIns="25400" rIns="25400" bIns="25400" rtlCol="0" anchor="t">
            <a:normAutofit/>
          </a:bodyPr>
          <a:lstStyle/>
          <a:p>
            <a:pPr marL="0" indent="0" algn="l">
              <a:lnSpc>
                <a:spcPct val="115714"/>
              </a:lnSpc>
              <a:buNone/>
            </a:pPr>
            <a:r>
              <a:rPr lang="en-US" sz="1350" dirty="0">
                <a:solidFill>
                  <a:srgbClr val="C7D4E1"/>
                </a:solidFill>
                <a:latin typeface="Arial" pitchFamily="34" charset="0"/>
                <a:ea typeface="Arial" pitchFamily="34" charset="-122"/>
                <a:cs typeface="Arial" pitchFamily="34" charset="-120"/>
              </a:rPr>
              <a:t>Logbook / recertification / development closeout</a:t>
            </a:r>
            <a:endParaRPr lang="en-US" sz="1350" dirty="0"/>
          </a:p>
        </p:txBody>
      </p:sp>
      <p:sp>
        <p:nvSpPr>
          <p:cNvPr id="21" name="Shape 19"/>
          <p:cNvSpPr/>
          <p:nvPr/>
        </p:nvSpPr>
        <p:spPr>
          <a:xfrm>
            <a:off x="0" y="9753600"/>
            <a:ext cx="18288000" cy="9525"/>
          </a:xfrm>
          <a:prstGeom prst="rect">
            <a:avLst/>
          </a:prstGeom>
          <a:solidFill>
            <a:srgbClr val="1C3551"/>
          </a:solidFill>
          <a:ln/>
        </p:spPr>
        <p:txBody>
          <a:bodyPr/>
          <a:lstStyle/>
          <a:p>
            <a:endParaRPr lang="en-US"/>
          </a:p>
        </p:txBody>
      </p:sp>
      <p:sp>
        <p:nvSpPr>
          <p:cNvPr id="22" name="Text 20"/>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3" name="Text 21"/>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DAY 5 · PRACTICAL</a:t>
            </a:r>
            <a:endParaRPr lang="en-US" sz="900" dirty="0"/>
          </a:p>
        </p:txBody>
      </p:sp>
      <p:sp>
        <p:nvSpPr>
          <p:cNvPr id="24" name="Text 22"/>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101</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857250" y="571500"/>
            <a:ext cx="6608274"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APPENDIX</a:t>
            </a:r>
            <a:endParaRPr lang="en-US" sz="975" dirty="0"/>
          </a:p>
        </p:txBody>
      </p:sp>
      <p:sp>
        <p:nvSpPr>
          <p:cNvPr id="3" name="Text 1"/>
          <p:cNvSpPr/>
          <p:nvPr/>
        </p:nvSpPr>
        <p:spPr>
          <a:xfrm>
            <a:off x="857250" y="838200"/>
            <a:ext cx="6972819"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0E2A47"/>
                </a:solidFill>
                <a:latin typeface="Arial" pitchFamily="34" charset="0"/>
                <a:ea typeface="Arial" pitchFamily="34" charset="-122"/>
                <a:cs typeface="Arial" pitchFamily="34" charset="-120"/>
              </a:rPr>
              <a:t>What to Expect From Your Instructor</a:t>
            </a:r>
            <a:endParaRPr lang="en-US" sz="3000" dirty="0"/>
          </a:p>
        </p:txBody>
      </p:sp>
      <p:sp>
        <p:nvSpPr>
          <p:cNvPr id="4" name="Shape 2"/>
          <p:cNvSpPr/>
          <p:nvPr/>
        </p:nvSpPr>
        <p:spPr>
          <a:xfrm>
            <a:off x="857250" y="1676400"/>
            <a:ext cx="5422850" cy="3914775"/>
          </a:xfrm>
          <a:prstGeom prst="roundRect">
            <a:avLst>
              <a:gd name="adj" fmla="val 973"/>
            </a:avLst>
          </a:prstGeom>
          <a:solidFill>
            <a:srgbClr val="FFFFFF"/>
          </a:solidFill>
          <a:ln/>
        </p:spPr>
        <p:txBody>
          <a:bodyPr/>
          <a:lstStyle/>
          <a:p>
            <a:endParaRPr lang="en-US"/>
          </a:p>
        </p:txBody>
      </p:sp>
      <p:sp>
        <p:nvSpPr>
          <p:cNvPr id="5" name="Shape 3"/>
          <p:cNvSpPr/>
          <p:nvPr/>
        </p:nvSpPr>
        <p:spPr>
          <a:xfrm>
            <a:off x="857250" y="5581650"/>
            <a:ext cx="5422850" cy="9525"/>
          </a:xfrm>
          <a:prstGeom prst="rect">
            <a:avLst/>
          </a:prstGeom>
          <a:solidFill>
            <a:srgbClr val="E2E7ED"/>
          </a:solidFill>
          <a:ln/>
        </p:spPr>
        <p:txBody>
          <a:bodyPr/>
          <a:lstStyle/>
          <a:p>
            <a:endParaRPr lang="en-US"/>
          </a:p>
        </p:txBody>
      </p:sp>
      <p:sp>
        <p:nvSpPr>
          <p:cNvPr id="6" name="Shape 4"/>
          <p:cNvSpPr/>
          <p:nvPr/>
        </p:nvSpPr>
        <p:spPr>
          <a:xfrm>
            <a:off x="857250" y="1676400"/>
            <a:ext cx="5422850" cy="38100"/>
          </a:xfrm>
          <a:prstGeom prst="rect">
            <a:avLst/>
          </a:prstGeom>
          <a:solidFill>
            <a:srgbClr val="F26A1B"/>
          </a:solidFill>
          <a:ln/>
        </p:spPr>
        <p:txBody>
          <a:bodyPr/>
          <a:lstStyle/>
          <a:p>
            <a:endParaRPr lang="en-US"/>
          </a:p>
        </p:txBody>
      </p:sp>
      <p:sp>
        <p:nvSpPr>
          <p:cNvPr id="7" name="Shape 5"/>
          <p:cNvSpPr/>
          <p:nvPr/>
        </p:nvSpPr>
        <p:spPr>
          <a:xfrm>
            <a:off x="857250" y="1676400"/>
            <a:ext cx="9525" cy="3914775"/>
          </a:xfrm>
          <a:prstGeom prst="rect">
            <a:avLst/>
          </a:prstGeom>
          <a:solidFill>
            <a:srgbClr val="E2E7ED"/>
          </a:solidFill>
          <a:ln/>
        </p:spPr>
        <p:txBody>
          <a:bodyPr/>
          <a:lstStyle/>
          <a:p>
            <a:endParaRPr lang="en-US"/>
          </a:p>
        </p:txBody>
      </p:sp>
      <p:sp>
        <p:nvSpPr>
          <p:cNvPr id="8" name="Shape 6"/>
          <p:cNvSpPr/>
          <p:nvPr/>
        </p:nvSpPr>
        <p:spPr>
          <a:xfrm>
            <a:off x="6270575" y="1676400"/>
            <a:ext cx="9525" cy="3914775"/>
          </a:xfrm>
          <a:prstGeom prst="rect">
            <a:avLst/>
          </a:prstGeom>
          <a:solidFill>
            <a:srgbClr val="E2E7ED"/>
          </a:solidFill>
          <a:ln/>
        </p:spPr>
        <p:txBody>
          <a:bodyPr/>
          <a:lstStyle/>
          <a:p>
            <a:endParaRPr lang="en-US"/>
          </a:p>
        </p:txBody>
      </p:sp>
      <p:sp>
        <p:nvSpPr>
          <p:cNvPr id="9" name="Text 7"/>
          <p:cNvSpPr/>
          <p:nvPr/>
        </p:nvSpPr>
        <p:spPr>
          <a:xfrm>
            <a:off x="1133475" y="1962150"/>
            <a:ext cx="535744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1 · Explain</a:t>
            </a:r>
            <a:endParaRPr lang="en-US" sz="1800" dirty="0"/>
          </a:p>
        </p:txBody>
      </p:sp>
      <p:sp>
        <p:nvSpPr>
          <p:cNvPr id="10" name="Text 8"/>
          <p:cNvSpPr/>
          <p:nvPr/>
        </p:nvSpPr>
        <p:spPr>
          <a:xfrm>
            <a:off x="1133475" y="2319338"/>
            <a:ext cx="5016512"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Use the six teaching boxes on every lesson: what / how, why, when / when-not, failure modes, evaluator focus and trainee Q&amp;A.</a:t>
            </a:r>
            <a:endParaRPr lang="en-US" sz="1200" dirty="0"/>
          </a:p>
        </p:txBody>
      </p:sp>
      <p:sp>
        <p:nvSpPr>
          <p:cNvPr id="11" name="Shape 9"/>
          <p:cNvSpPr/>
          <p:nvPr/>
        </p:nvSpPr>
        <p:spPr>
          <a:xfrm>
            <a:off x="6432500" y="1676400"/>
            <a:ext cx="5422925" cy="3914775"/>
          </a:xfrm>
          <a:prstGeom prst="roundRect">
            <a:avLst>
              <a:gd name="adj" fmla="val 973"/>
            </a:avLst>
          </a:prstGeom>
          <a:solidFill>
            <a:srgbClr val="FFFFFF"/>
          </a:solidFill>
          <a:ln/>
        </p:spPr>
        <p:txBody>
          <a:bodyPr/>
          <a:lstStyle/>
          <a:p>
            <a:endParaRPr lang="en-US"/>
          </a:p>
        </p:txBody>
      </p:sp>
      <p:sp>
        <p:nvSpPr>
          <p:cNvPr id="12" name="Shape 10"/>
          <p:cNvSpPr/>
          <p:nvPr/>
        </p:nvSpPr>
        <p:spPr>
          <a:xfrm>
            <a:off x="6432500" y="5581650"/>
            <a:ext cx="5422925" cy="9525"/>
          </a:xfrm>
          <a:prstGeom prst="rect">
            <a:avLst/>
          </a:prstGeom>
          <a:solidFill>
            <a:srgbClr val="E2E7ED"/>
          </a:solidFill>
          <a:ln/>
        </p:spPr>
        <p:txBody>
          <a:bodyPr/>
          <a:lstStyle/>
          <a:p>
            <a:endParaRPr lang="en-US"/>
          </a:p>
        </p:txBody>
      </p:sp>
      <p:sp>
        <p:nvSpPr>
          <p:cNvPr id="13" name="Shape 11"/>
          <p:cNvSpPr/>
          <p:nvPr/>
        </p:nvSpPr>
        <p:spPr>
          <a:xfrm>
            <a:off x="6432500" y="1676400"/>
            <a:ext cx="5422925" cy="38100"/>
          </a:xfrm>
          <a:prstGeom prst="rect">
            <a:avLst/>
          </a:prstGeom>
          <a:solidFill>
            <a:srgbClr val="F26A1B"/>
          </a:solidFill>
          <a:ln/>
        </p:spPr>
        <p:txBody>
          <a:bodyPr/>
          <a:lstStyle/>
          <a:p>
            <a:endParaRPr lang="en-US"/>
          </a:p>
        </p:txBody>
      </p:sp>
      <p:sp>
        <p:nvSpPr>
          <p:cNvPr id="14" name="Shape 12"/>
          <p:cNvSpPr/>
          <p:nvPr/>
        </p:nvSpPr>
        <p:spPr>
          <a:xfrm>
            <a:off x="6432500" y="1676400"/>
            <a:ext cx="9525" cy="3914775"/>
          </a:xfrm>
          <a:prstGeom prst="rect">
            <a:avLst/>
          </a:prstGeom>
          <a:solidFill>
            <a:srgbClr val="E2E7ED"/>
          </a:solidFill>
          <a:ln/>
        </p:spPr>
        <p:txBody>
          <a:bodyPr/>
          <a:lstStyle/>
          <a:p>
            <a:endParaRPr lang="en-US"/>
          </a:p>
        </p:txBody>
      </p:sp>
      <p:sp>
        <p:nvSpPr>
          <p:cNvPr id="15" name="Shape 13"/>
          <p:cNvSpPr/>
          <p:nvPr/>
        </p:nvSpPr>
        <p:spPr>
          <a:xfrm>
            <a:off x="11845900" y="1676400"/>
            <a:ext cx="9525" cy="3914775"/>
          </a:xfrm>
          <a:prstGeom prst="rect">
            <a:avLst/>
          </a:prstGeom>
          <a:solidFill>
            <a:srgbClr val="E2E7ED"/>
          </a:solidFill>
          <a:ln/>
        </p:spPr>
        <p:txBody>
          <a:bodyPr/>
          <a:lstStyle/>
          <a:p>
            <a:endParaRPr lang="en-US"/>
          </a:p>
        </p:txBody>
      </p:sp>
      <p:sp>
        <p:nvSpPr>
          <p:cNvPr id="16" name="Text 14"/>
          <p:cNvSpPr/>
          <p:nvPr/>
        </p:nvSpPr>
        <p:spPr>
          <a:xfrm>
            <a:off x="6708725" y="1962150"/>
            <a:ext cx="535752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2 · Demonstrate</a:t>
            </a:r>
            <a:endParaRPr lang="en-US" sz="1800" dirty="0"/>
          </a:p>
        </p:txBody>
      </p:sp>
      <p:sp>
        <p:nvSpPr>
          <p:cNvPr id="17" name="Text 15"/>
          <p:cNvSpPr/>
          <p:nvPr/>
        </p:nvSpPr>
        <p:spPr>
          <a:xfrm>
            <a:off x="6708725" y="2319338"/>
            <a:ext cx="5016589"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Show the complete technique once, then break it into decision points and safety checks.</a:t>
            </a:r>
            <a:endParaRPr lang="en-US" sz="1200" dirty="0"/>
          </a:p>
        </p:txBody>
      </p:sp>
      <p:sp>
        <p:nvSpPr>
          <p:cNvPr id="18" name="Shape 16"/>
          <p:cNvSpPr/>
          <p:nvPr/>
        </p:nvSpPr>
        <p:spPr>
          <a:xfrm>
            <a:off x="12007825" y="1676400"/>
            <a:ext cx="5422850" cy="3914775"/>
          </a:xfrm>
          <a:prstGeom prst="roundRect">
            <a:avLst>
              <a:gd name="adj" fmla="val 973"/>
            </a:avLst>
          </a:prstGeom>
          <a:solidFill>
            <a:srgbClr val="FFFFFF"/>
          </a:solidFill>
          <a:ln/>
        </p:spPr>
        <p:txBody>
          <a:bodyPr/>
          <a:lstStyle/>
          <a:p>
            <a:endParaRPr lang="en-US"/>
          </a:p>
        </p:txBody>
      </p:sp>
      <p:sp>
        <p:nvSpPr>
          <p:cNvPr id="19" name="Shape 17"/>
          <p:cNvSpPr/>
          <p:nvPr/>
        </p:nvSpPr>
        <p:spPr>
          <a:xfrm>
            <a:off x="12007825" y="5581650"/>
            <a:ext cx="5422850" cy="9525"/>
          </a:xfrm>
          <a:prstGeom prst="rect">
            <a:avLst/>
          </a:prstGeom>
          <a:solidFill>
            <a:srgbClr val="E2E7ED"/>
          </a:solidFill>
          <a:ln/>
        </p:spPr>
        <p:txBody>
          <a:bodyPr/>
          <a:lstStyle/>
          <a:p>
            <a:endParaRPr lang="en-US"/>
          </a:p>
        </p:txBody>
      </p:sp>
      <p:sp>
        <p:nvSpPr>
          <p:cNvPr id="20" name="Shape 18"/>
          <p:cNvSpPr/>
          <p:nvPr/>
        </p:nvSpPr>
        <p:spPr>
          <a:xfrm>
            <a:off x="12007825" y="1676400"/>
            <a:ext cx="5422850" cy="38100"/>
          </a:xfrm>
          <a:prstGeom prst="rect">
            <a:avLst/>
          </a:prstGeom>
          <a:solidFill>
            <a:srgbClr val="F26A1B"/>
          </a:solidFill>
          <a:ln/>
        </p:spPr>
        <p:txBody>
          <a:bodyPr/>
          <a:lstStyle/>
          <a:p>
            <a:endParaRPr lang="en-US"/>
          </a:p>
        </p:txBody>
      </p:sp>
      <p:sp>
        <p:nvSpPr>
          <p:cNvPr id="21" name="Shape 19"/>
          <p:cNvSpPr/>
          <p:nvPr/>
        </p:nvSpPr>
        <p:spPr>
          <a:xfrm>
            <a:off x="12007825" y="1676400"/>
            <a:ext cx="9525" cy="3914775"/>
          </a:xfrm>
          <a:prstGeom prst="rect">
            <a:avLst/>
          </a:prstGeom>
          <a:solidFill>
            <a:srgbClr val="E2E7ED"/>
          </a:solidFill>
          <a:ln/>
        </p:spPr>
        <p:txBody>
          <a:bodyPr/>
          <a:lstStyle/>
          <a:p>
            <a:endParaRPr lang="en-US"/>
          </a:p>
        </p:txBody>
      </p:sp>
      <p:sp>
        <p:nvSpPr>
          <p:cNvPr id="22" name="Shape 20"/>
          <p:cNvSpPr/>
          <p:nvPr/>
        </p:nvSpPr>
        <p:spPr>
          <a:xfrm>
            <a:off x="17421151" y="1676400"/>
            <a:ext cx="9525" cy="3914775"/>
          </a:xfrm>
          <a:prstGeom prst="rect">
            <a:avLst/>
          </a:prstGeom>
          <a:solidFill>
            <a:srgbClr val="E2E7ED"/>
          </a:solidFill>
          <a:ln/>
        </p:spPr>
        <p:txBody>
          <a:bodyPr/>
          <a:lstStyle/>
          <a:p>
            <a:endParaRPr lang="en-US"/>
          </a:p>
        </p:txBody>
      </p:sp>
      <p:sp>
        <p:nvSpPr>
          <p:cNvPr id="23" name="Text 21"/>
          <p:cNvSpPr/>
          <p:nvPr/>
        </p:nvSpPr>
        <p:spPr>
          <a:xfrm>
            <a:off x="12284050" y="1962150"/>
            <a:ext cx="535744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3 · Coach</a:t>
            </a:r>
            <a:endParaRPr lang="en-US" sz="1800" dirty="0"/>
          </a:p>
        </p:txBody>
      </p:sp>
      <p:sp>
        <p:nvSpPr>
          <p:cNvPr id="24" name="Text 22"/>
          <p:cNvSpPr/>
          <p:nvPr/>
        </p:nvSpPr>
        <p:spPr>
          <a:xfrm>
            <a:off x="12284050" y="2319338"/>
            <a:ext cx="5016512"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Correct unsafe sequence immediately; use questions so trainees explain the reason for the correction.</a:t>
            </a:r>
            <a:endParaRPr lang="en-US" sz="1200" dirty="0"/>
          </a:p>
        </p:txBody>
      </p:sp>
      <p:sp>
        <p:nvSpPr>
          <p:cNvPr id="25" name="Shape 23"/>
          <p:cNvSpPr/>
          <p:nvPr/>
        </p:nvSpPr>
        <p:spPr>
          <a:xfrm>
            <a:off x="857250" y="5743575"/>
            <a:ext cx="5422850" cy="3914775"/>
          </a:xfrm>
          <a:prstGeom prst="roundRect">
            <a:avLst>
              <a:gd name="adj" fmla="val 973"/>
            </a:avLst>
          </a:prstGeom>
          <a:solidFill>
            <a:srgbClr val="FFFFFF"/>
          </a:solidFill>
          <a:ln/>
        </p:spPr>
        <p:txBody>
          <a:bodyPr/>
          <a:lstStyle/>
          <a:p>
            <a:endParaRPr lang="en-US"/>
          </a:p>
        </p:txBody>
      </p:sp>
      <p:sp>
        <p:nvSpPr>
          <p:cNvPr id="26" name="Shape 24"/>
          <p:cNvSpPr/>
          <p:nvPr/>
        </p:nvSpPr>
        <p:spPr>
          <a:xfrm>
            <a:off x="857250" y="9648825"/>
            <a:ext cx="5422850" cy="9525"/>
          </a:xfrm>
          <a:prstGeom prst="rect">
            <a:avLst/>
          </a:prstGeom>
          <a:solidFill>
            <a:srgbClr val="E2E7ED"/>
          </a:solidFill>
          <a:ln/>
        </p:spPr>
        <p:txBody>
          <a:bodyPr/>
          <a:lstStyle/>
          <a:p>
            <a:endParaRPr lang="en-US"/>
          </a:p>
        </p:txBody>
      </p:sp>
      <p:sp>
        <p:nvSpPr>
          <p:cNvPr id="27" name="Shape 25"/>
          <p:cNvSpPr/>
          <p:nvPr/>
        </p:nvSpPr>
        <p:spPr>
          <a:xfrm>
            <a:off x="857250" y="5743575"/>
            <a:ext cx="5422850" cy="38100"/>
          </a:xfrm>
          <a:prstGeom prst="rect">
            <a:avLst/>
          </a:prstGeom>
          <a:solidFill>
            <a:srgbClr val="F26A1B"/>
          </a:solidFill>
          <a:ln/>
        </p:spPr>
        <p:txBody>
          <a:bodyPr/>
          <a:lstStyle/>
          <a:p>
            <a:endParaRPr lang="en-US"/>
          </a:p>
        </p:txBody>
      </p:sp>
      <p:sp>
        <p:nvSpPr>
          <p:cNvPr id="28" name="Shape 26"/>
          <p:cNvSpPr/>
          <p:nvPr/>
        </p:nvSpPr>
        <p:spPr>
          <a:xfrm>
            <a:off x="857250" y="5743575"/>
            <a:ext cx="9525" cy="3914775"/>
          </a:xfrm>
          <a:prstGeom prst="rect">
            <a:avLst/>
          </a:prstGeom>
          <a:solidFill>
            <a:srgbClr val="E2E7ED"/>
          </a:solidFill>
          <a:ln/>
        </p:spPr>
        <p:txBody>
          <a:bodyPr/>
          <a:lstStyle/>
          <a:p>
            <a:endParaRPr lang="en-US"/>
          </a:p>
        </p:txBody>
      </p:sp>
      <p:sp>
        <p:nvSpPr>
          <p:cNvPr id="29" name="Shape 27"/>
          <p:cNvSpPr/>
          <p:nvPr/>
        </p:nvSpPr>
        <p:spPr>
          <a:xfrm>
            <a:off x="6270575" y="5743575"/>
            <a:ext cx="9525" cy="3914775"/>
          </a:xfrm>
          <a:prstGeom prst="rect">
            <a:avLst/>
          </a:prstGeom>
          <a:solidFill>
            <a:srgbClr val="E2E7ED"/>
          </a:solidFill>
          <a:ln/>
        </p:spPr>
        <p:txBody>
          <a:bodyPr/>
          <a:lstStyle/>
          <a:p>
            <a:endParaRPr lang="en-US"/>
          </a:p>
        </p:txBody>
      </p:sp>
      <p:sp>
        <p:nvSpPr>
          <p:cNvPr id="30" name="Text 28"/>
          <p:cNvSpPr/>
          <p:nvPr/>
        </p:nvSpPr>
        <p:spPr>
          <a:xfrm>
            <a:off x="1133475" y="6029325"/>
            <a:ext cx="535744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4 · Repeat</a:t>
            </a:r>
            <a:endParaRPr lang="en-US" sz="1800" dirty="0"/>
          </a:p>
        </p:txBody>
      </p:sp>
      <p:sp>
        <p:nvSpPr>
          <p:cNvPr id="31" name="Text 29"/>
          <p:cNvSpPr/>
          <p:nvPr/>
        </p:nvSpPr>
        <p:spPr>
          <a:xfrm>
            <a:off x="1133475" y="6386513"/>
            <a:ext cx="5016512"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Progress from assisted practice to independent repetition without sacrificing redundancy or control.</a:t>
            </a:r>
            <a:endParaRPr lang="en-US" sz="1200" dirty="0"/>
          </a:p>
        </p:txBody>
      </p:sp>
      <p:sp>
        <p:nvSpPr>
          <p:cNvPr id="32" name="Shape 30"/>
          <p:cNvSpPr/>
          <p:nvPr/>
        </p:nvSpPr>
        <p:spPr>
          <a:xfrm>
            <a:off x="6432500" y="5743575"/>
            <a:ext cx="5422925" cy="3914775"/>
          </a:xfrm>
          <a:prstGeom prst="roundRect">
            <a:avLst>
              <a:gd name="adj" fmla="val 973"/>
            </a:avLst>
          </a:prstGeom>
          <a:solidFill>
            <a:srgbClr val="FFFFFF"/>
          </a:solidFill>
          <a:ln/>
        </p:spPr>
        <p:txBody>
          <a:bodyPr/>
          <a:lstStyle/>
          <a:p>
            <a:endParaRPr lang="en-US"/>
          </a:p>
        </p:txBody>
      </p:sp>
      <p:sp>
        <p:nvSpPr>
          <p:cNvPr id="33" name="Shape 31"/>
          <p:cNvSpPr/>
          <p:nvPr/>
        </p:nvSpPr>
        <p:spPr>
          <a:xfrm>
            <a:off x="6432500" y="9648825"/>
            <a:ext cx="5422925" cy="9525"/>
          </a:xfrm>
          <a:prstGeom prst="rect">
            <a:avLst/>
          </a:prstGeom>
          <a:solidFill>
            <a:srgbClr val="E2E7ED"/>
          </a:solidFill>
          <a:ln/>
        </p:spPr>
        <p:txBody>
          <a:bodyPr/>
          <a:lstStyle/>
          <a:p>
            <a:endParaRPr lang="en-US"/>
          </a:p>
        </p:txBody>
      </p:sp>
      <p:sp>
        <p:nvSpPr>
          <p:cNvPr id="34" name="Shape 32"/>
          <p:cNvSpPr/>
          <p:nvPr/>
        </p:nvSpPr>
        <p:spPr>
          <a:xfrm>
            <a:off x="6432500" y="5743575"/>
            <a:ext cx="5422925" cy="38100"/>
          </a:xfrm>
          <a:prstGeom prst="rect">
            <a:avLst/>
          </a:prstGeom>
          <a:solidFill>
            <a:srgbClr val="F26A1B"/>
          </a:solidFill>
          <a:ln/>
        </p:spPr>
        <p:txBody>
          <a:bodyPr/>
          <a:lstStyle/>
          <a:p>
            <a:endParaRPr lang="en-US"/>
          </a:p>
        </p:txBody>
      </p:sp>
      <p:sp>
        <p:nvSpPr>
          <p:cNvPr id="35" name="Shape 33"/>
          <p:cNvSpPr/>
          <p:nvPr/>
        </p:nvSpPr>
        <p:spPr>
          <a:xfrm>
            <a:off x="6432500" y="5743575"/>
            <a:ext cx="9525" cy="3914775"/>
          </a:xfrm>
          <a:prstGeom prst="rect">
            <a:avLst/>
          </a:prstGeom>
          <a:solidFill>
            <a:srgbClr val="E2E7ED"/>
          </a:solidFill>
          <a:ln/>
        </p:spPr>
        <p:txBody>
          <a:bodyPr/>
          <a:lstStyle/>
          <a:p>
            <a:endParaRPr lang="en-US"/>
          </a:p>
        </p:txBody>
      </p:sp>
      <p:sp>
        <p:nvSpPr>
          <p:cNvPr id="36" name="Shape 34"/>
          <p:cNvSpPr/>
          <p:nvPr/>
        </p:nvSpPr>
        <p:spPr>
          <a:xfrm>
            <a:off x="11845900" y="5743575"/>
            <a:ext cx="9525" cy="3914775"/>
          </a:xfrm>
          <a:prstGeom prst="rect">
            <a:avLst/>
          </a:prstGeom>
          <a:solidFill>
            <a:srgbClr val="E2E7ED"/>
          </a:solidFill>
          <a:ln/>
        </p:spPr>
        <p:txBody>
          <a:bodyPr/>
          <a:lstStyle/>
          <a:p>
            <a:endParaRPr lang="en-US"/>
          </a:p>
        </p:txBody>
      </p:sp>
      <p:sp>
        <p:nvSpPr>
          <p:cNvPr id="37" name="Text 35"/>
          <p:cNvSpPr/>
          <p:nvPr/>
        </p:nvSpPr>
        <p:spPr>
          <a:xfrm>
            <a:off x="6708725" y="6029325"/>
            <a:ext cx="5357522"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5 · Evaluate</a:t>
            </a:r>
            <a:endParaRPr lang="en-US" sz="1800" dirty="0"/>
          </a:p>
        </p:txBody>
      </p:sp>
      <p:sp>
        <p:nvSpPr>
          <p:cNvPr id="38" name="Text 36"/>
          <p:cNvSpPr/>
          <p:nvPr/>
        </p:nvSpPr>
        <p:spPr>
          <a:xfrm>
            <a:off x="6708725" y="6386513"/>
            <a:ext cx="5016589"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Observe the whole process — planning, setup, movement, self-checking, communication and recovery — not just the final position.</a:t>
            </a:r>
            <a:endParaRPr lang="en-US" sz="1200" dirty="0"/>
          </a:p>
        </p:txBody>
      </p:sp>
      <p:sp>
        <p:nvSpPr>
          <p:cNvPr id="39" name="Shape 37"/>
          <p:cNvSpPr/>
          <p:nvPr/>
        </p:nvSpPr>
        <p:spPr>
          <a:xfrm>
            <a:off x="12007825" y="5743575"/>
            <a:ext cx="5422850" cy="3914775"/>
          </a:xfrm>
          <a:prstGeom prst="roundRect">
            <a:avLst>
              <a:gd name="adj" fmla="val 973"/>
            </a:avLst>
          </a:prstGeom>
          <a:solidFill>
            <a:srgbClr val="FFFFFF"/>
          </a:solidFill>
          <a:ln/>
        </p:spPr>
        <p:txBody>
          <a:bodyPr/>
          <a:lstStyle/>
          <a:p>
            <a:endParaRPr lang="en-US"/>
          </a:p>
        </p:txBody>
      </p:sp>
      <p:sp>
        <p:nvSpPr>
          <p:cNvPr id="40" name="Shape 38"/>
          <p:cNvSpPr/>
          <p:nvPr/>
        </p:nvSpPr>
        <p:spPr>
          <a:xfrm>
            <a:off x="12007825" y="9648825"/>
            <a:ext cx="5422850" cy="9525"/>
          </a:xfrm>
          <a:prstGeom prst="rect">
            <a:avLst/>
          </a:prstGeom>
          <a:solidFill>
            <a:srgbClr val="E2E7ED"/>
          </a:solidFill>
          <a:ln/>
        </p:spPr>
        <p:txBody>
          <a:bodyPr/>
          <a:lstStyle/>
          <a:p>
            <a:endParaRPr lang="en-US"/>
          </a:p>
        </p:txBody>
      </p:sp>
      <p:sp>
        <p:nvSpPr>
          <p:cNvPr id="41" name="Shape 39"/>
          <p:cNvSpPr/>
          <p:nvPr/>
        </p:nvSpPr>
        <p:spPr>
          <a:xfrm>
            <a:off x="12007825" y="5743575"/>
            <a:ext cx="5422850" cy="38100"/>
          </a:xfrm>
          <a:prstGeom prst="rect">
            <a:avLst/>
          </a:prstGeom>
          <a:solidFill>
            <a:srgbClr val="F26A1B"/>
          </a:solidFill>
          <a:ln/>
        </p:spPr>
        <p:txBody>
          <a:bodyPr/>
          <a:lstStyle/>
          <a:p>
            <a:endParaRPr lang="en-US"/>
          </a:p>
        </p:txBody>
      </p:sp>
      <p:sp>
        <p:nvSpPr>
          <p:cNvPr id="42" name="Shape 40"/>
          <p:cNvSpPr/>
          <p:nvPr/>
        </p:nvSpPr>
        <p:spPr>
          <a:xfrm>
            <a:off x="12007825" y="5743575"/>
            <a:ext cx="9525" cy="3914775"/>
          </a:xfrm>
          <a:prstGeom prst="rect">
            <a:avLst/>
          </a:prstGeom>
          <a:solidFill>
            <a:srgbClr val="E2E7ED"/>
          </a:solidFill>
          <a:ln/>
        </p:spPr>
        <p:txBody>
          <a:bodyPr/>
          <a:lstStyle/>
          <a:p>
            <a:endParaRPr lang="en-US"/>
          </a:p>
        </p:txBody>
      </p:sp>
      <p:sp>
        <p:nvSpPr>
          <p:cNvPr id="43" name="Shape 41"/>
          <p:cNvSpPr/>
          <p:nvPr/>
        </p:nvSpPr>
        <p:spPr>
          <a:xfrm>
            <a:off x="17421151" y="5743575"/>
            <a:ext cx="9525" cy="3914775"/>
          </a:xfrm>
          <a:prstGeom prst="rect">
            <a:avLst/>
          </a:prstGeom>
          <a:solidFill>
            <a:srgbClr val="E2E7ED"/>
          </a:solidFill>
          <a:ln/>
        </p:spPr>
        <p:txBody>
          <a:bodyPr/>
          <a:lstStyle/>
          <a:p>
            <a:endParaRPr lang="en-US"/>
          </a:p>
        </p:txBody>
      </p:sp>
      <p:sp>
        <p:nvSpPr>
          <p:cNvPr id="44" name="Text 42"/>
          <p:cNvSpPr/>
          <p:nvPr/>
        </p:nvSpPr>
        <p:spPr>
          <a:xfrm>
            <a:off x="12284050" y="6029325"/>
            <a:ext cx="5357440" cy="300038"/>
          </a:xfrm>
          <a:prstGeom prst="rect">
            <a:avLst/>
          </a:prstGeom>
          <a:noFill/>
          <a:ln/>
        </p:spPr>
        <p:txBody>
          <a:bodyPr wrap="square" lIns="25400" tIns="25400" rIns="25400" bIns="25400" rtlCol="0" anchor="t">
            <a:normAutofit/>
          </a:bodyPr>
          <a:lstStyle/>
          <a:p>
            <a:pPr marL="0" indent="0" algn="l">
              <a:buNone/>
            </a:pPr>
            <a:r>
              <a:rPr lang="en-US" sz="1800" b="1" dirty="0">
                <a:solidFill>
                  <a:srgbClr val="0E2A47"/>
                </a:solidFill>
                <a:latin typeface="Arial" pitchFamily="34" charset="0"/>
                <a:ea typeface="Arial" pitchFamily="34" charset="-122"/>
                <a:cs typeface="Arial" pitchFamily="34" charset="-120"/>
              </a:rPr>
              <a:t>6 · Document</a:t>
            </a:r>
            <a:endParaRPr lang="en-US" sz="1800" dirty="0"/>
          </a:p>
        </p:txBody>
      </p:sp>
      <p:sp>
        <p:nvSpPr>
          <p:cNvPr id="45" name="Text 43"/>
          <p:cNvSpPr/>
          <p:nvPr/>
        </p:nvSpPr>
        <p:spPr>
          <a:xfrm>
            <a:off x="12284050" y="6386513"/>
            <a:ext cx="5016512" cy="495300"/>
          </a:xfrm>
          <a:prstGeom prst="rect">
            <a:avLst/>
          </a:prstGeom>
          <a:noFill/>
          <a:ln/>
        </p:spPr>
        <p:txBody>
          <a:bodyPr wrap="square" lIns="25400" tIns="25400" rIns="25400" bIns="25400" rtlCol="0" anchor="t">
            <a:normAutofit/>
          </a:bodyPr>
          <a:lstStyle/>
          <a:p>
            <a:pPr marL="0" indent="0" algn="l">
              <a:lnSpc>
                <a:spcPct val="129730"/>
              </a:lnSpc>
              <a:buNone/>
            </a:pPr>
            <a:r>
              <a:rPr lang="en-US" sz="1200" dirty="0">
                <a:solidFill>
                  <a:srgbClr val="5B6B7B"/>
                </a:solidFill>
                <a:latin typeface="Arial" pitchFamily="34" charset="0"/>
                <a:ea typeface="Arial" pitchFamily="34" charset="-122"/>
                <a:cs typeface="Arial" pitchFamily="34" charset="-120"/>
              </a:rPr>
              <a:t>Record attendance, JSA participation, skill progression, remediation and readiness for assessment.</a:t>
            </a:r>
            <a:endParaRPr lang="en-US" sz="1200" dirty="0"/>
          </a:p>
        </p:txBody>
      </p:sp>
      <p:sp>
        <p:nvSpPr>
          <p:cNvPr id="46" name="Shape 44"/>
          <p:cNvSpPr/>
          <p:nvPr/>
        </p:nvSpPr>
        <p:spPr>
          <a:xfrm>
            <a:off x="0" y="9753600"/>
            <a:ext cx="18288000" cy="9525"/>
          </a:xfrm>
          <a:prstGeom prst="rect">
            <a:avLst/>
          </a:prstGeom>
          <a:solidFill>
            <a:srgbClr val="E1E6EC"/>
          </a:solidFill>
          <a:ln/>
        </p:spPr>
        <p:txBody>
          <a:bodyPr/>
          <a:lstStyle/>
          <a:p>
            <a:endParaRPr lang="en-US"/>
          </a:p>
        </p:txBody>
      </p:sp>
      <p:sp>
        <p:nvSpPr>
          <p:cNvPr id="47" name="Text 45"/>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0E2A47"/>
                </a:solidFill>
                <a:latin typeface="Courier New" pitchFamily="34" charset="0"/>
                <a:ea typeface="Courier New" pitchFamily="34" charset="-122"/>
                <a:cs typeface="Courier New" pitchFamily="34" charset="-120"/>
              </a:rPr>
              <a:t>SKYTECH ACADEMY</a:t>
            </a:r>
            <a:endParaRPr lang="en-US" sz="900" dirty="0"/>
          </a:p>
        </p:txBody>
      </p:sp>
      <p:sp>
        <p:nvSpPr>
          <p:cNvPr id="48" name="Text 46"/>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8593A2"/>
                </a:solidFill>
                <a:latin typeface="Courier New" pitchFamily="34" charset="0"/>
                <a:ea typeface="Courier New" pitchFamily="34" charset="-122"/>
                <a:cs typeface="Courier New" pitchFamily="34" charset="-120"/>
              </a:rPr>
              <a:t>INSTRUCTOR APPENDIX</a:t>
            </a:r>
            <a:endParaRPr lang="en-US" sz="900" dirty="0"/>
          </a:p>
        </p:txBody>
      </p:sp>
      <p:sp>
        <p:nvSpPr>
          <p:cNvPr id="49" name="Text 47"/>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8593A2"/>
                </a:solidFill>
                <a:latin typeface="Courier New" pitchFamily="34" charset="0"/>
                <a:ea typeface="Courier New" pitchFamily="34" charset="-122"/>
                <a:cs typeface="Courier New" pitchFamily="34" charset="-120"/>
              </a:rPr>
              <a:t>102</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63">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1B2E">
              <a:alpha val="45000"/>
            </a:srgbClr>
          </a:solidFill>
          <a:ln/>
        </p:spPr>
        <p:txBody>
          <a:bodyPr/>
          <a:lstStyle/>
          <a:p>
            <a:endParaRPr lang="en-US"/>
          </a:p>
        </p:txBody>
      </p:sp>
      <p:sp>
        <p:nvSpPr>
          <p:cNvPr id="3" name="Text 1"/>
          <p:cNvSpPr/>
          <p:nvPr/>
        </p:nvSpPr>
        <p:spPr>
          <a:xfrm>
            <a:off x="857250" y="571500"/>
            <a:ext cx="10172015" cy="219075"/>
          </a:xfrm>
          <a:prstGeom prst="rect">
            <a:avLst/>
          </a:prstGeom>
          <a:noFill/>
          <a:ln/>
        </p:spPr>
        <p:txBody>
          <a:bodyPr wrap="square" lIns="25400" tIns="25400" rIns="25400" bIns="25400" rtlCol="0" anchor="t">
            <a:normAutofit/>
          </a:bodyPr>
          <a:lstStyle/>
          <a:p>
            <a:pPr marL="0" indent="0" algn="l">
              <a:buNone/>
            </a:pPr>
            <a:r>
              <a:rPr lang="en-US" sz="1100" kern="0" spc="273" dirty="0">
                <a:solidFill>
                  <a:srgbClr val="F26A1B"/>
                </a:solidFill>
                <a:latin typeface="Courier New" pitchFamily="34" charset="0"/>
                <a:ea typeface="Courier New" pitchFamily="34" charset="-122"/>
                <a:cs typeface="Courier New" pitchFamily="34" charset="-120"/>
              </a:rPr>
              <a:t>INSTRUCTOR APPENDIX</a:t>
            </a:r>
            <a:endParaRPr lang="en-US" sz="975" dirty="0"/>
          </a:p>
        </p:txBody>
      </p:sp>
      <p:sp>
        <p:nvSpPr>
          <p:cNvPr id="4" name="Text 2"/>
          <p:cNvSpPr/>
          <p:nvPr/>
        </p:nvSpPr>
        <p:spPr>
          <a:xfrm>
            <a:off x="857250" y="838200"/>
            <a:ext cx="10593527" cy="476250"/>
          </a:xfrm>
          <a:prstGeom prst="rect">
            <a:avLst/>
          </a:prstGeom>
          <a:noFill/>
          <a:ln/>
        </p:spPr>
        <p:txBody>
          <a:bodyPr wrap="square" lIns="25400" tIns="25400" rIns="25400" bIns="25400" rtlCol="0" anchor="t">
            <a:normAutofit/>
          </a:bodyPr>
          <a:lstStyle/>
          <a:p>
            <a:pPr marL="0" indent="0" algn="l">
              <a:buNone/>
            </a:pPr>
            <a:r>
              <a:rPr lang="en-US" sz="3000" b="1" kern="0" spc="-30" dirty="0">
                <a:solidFill>
                  <a:srgbClr val="FFFFFF"/>
                </a:solidFill>
                <a:latin typeface="Arial" pitchFamily="34" charset="0"/>
                <a:ea typeface="Arial" pitchFamily="34" charset="-122"/>
                <a:cs typeface="Arial" pitchFamily="34" charset="-120"/>
              </a:rPr>
              <a:t>Document &amp; Standards Verification Before Each Course</a:t>
            </a:r>
            <a:endParaRPr lang="en-US" sz="3000" dirty="0"/>
          </a:p>
        </p:txBody>
      </p:sp>
      <p:sp>
        <p:nvSpPr>
          <p:cNvPr id="5" name="Shape 3"/>
          <p:cNvSpPr/>
          <p:nvPr/>
        </p:nvSpPr>
        <p:spPr>
          <a:xfrm>
            <a:off x="857250" y="1714500"/>
            <a:ext cx="16573500" cy="531465"/>
          </a:xfrm>
          <a:prstGeom prst="roundRect">
            <a:avLst>
              <a:gd name="adj" fmla="val 7169"/>
            </a:avLst>
          </a:prstGeom>
          <a:solidFill>
            <a:srgbClr val="0E2A47"/>
          </a:solidFill>
          <a:ln/>
        </p:spPr>
        <p:txBody>
          <a:bodyPr/>
          <a:lstStyle/>
          <a:p>
            <a:endParaRPr lang="en-US"/>
          </a:p>
        </p:txBody>
      </p:sp>
      <p:sp>
        <p:nvSpPr>
          <p:cNvPr id="6" name="Text 4"/>
          <p:cNvSpPr/>
          <p:nvPr/>
        </p:nvSpPr>
        <p:spPr>
          <a:xfrm>
            <a:off x="1085850" y="1876425"/>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7" name="Text 5"/>
          <p:cNvSpPr/>
          <p:nvPr/>
        </p:nvSpPr>
        <p:spPr>
          <a:xfrm>
            <a:off x="1350243" y="1866900"/>
            <a:ext cx="8761973"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Verify the current SPRAT syllabus and certification documents applicable to the candidates being trained.</a:t>
            </a:r>
            <a:endParaRPr lang="en-US" sz="1275" dirty="0"/>
          </a:p>
        </p:txBody>
      </p:sp>
      <p:sp>
        <p:nvSpPr>
          <p:cNvPr id="8" name="Shape 6"/>
          <p:cNvSpPr/>
          <p:nvPr/>
        </p:nvSpPr>
        <p:spPr>
          <a:xfrm>
            <a:off x="857250" y="2360265"/>
            <a:ext cx="16573500" cy="531465"/>
          </a:xfrm>
          <a:prstGeom prst="roundRect">
            <a:avLst>
              <a:gd name="adj" fmla="val 7169"/>
            </a:avLst>
          </a:prstGeom>
          <a:solidFill>
            <a:srgbClr val="0E2A47"/>
          </a:solidFill>
          <a:ln/>
        </p:spPr>
        <p:txBody>
          <a:bodyPr/>
          <a:lstStyle/>
          <a:p>
            <a:endParaRPr lang="en-US"/>
          </a:p>
        </p:txBody>
      </p:sp>
      <p:sp>
        <p:nvSpPr>
          <p:cNvPr id="9" name="Text 7"/>
          <p:cNvSpPr/>
          <p:nvPr/>
        </p:nvSpPr>
        <p:spPr>
          <a:xfrm>
            <a:off x="1085850" y="2522190"/>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0" name="Text 8"/>
          <p:cNvSpPr/>
          <p:nvPr/>
        </p:nvSpPr>
        <p:spPr>
          <a:xfrm>
            <a:off x="1350243" y="2512665"/>
            <a:ext cx="9855267"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Verify applicable OSHA requirements for the actual work environment — do not present scheme guidance as a substitute for law.</a:t>
            </a:r>
            <a:endParaRPr lang="en-US" sz="1275" dirty="0"/>
          </a:p>
        </p:txBody>
      </p:sp>
      <p:sp>
        <p:nvSpPr>
          <p:cNvPr id="11" name="Shape 9"/>
          <p:cNvSpPr/>
          <p:nvPr/>
        </p:nvSpPr>
        <p:spPr>
          <a:xfrm>
            <a:off x="857250" y="3006030"/>
            <a:ext cx="16573500" cy="531465"/>
          </a:xfrm>
          <a:prstGeom prst="roundRect">
            <a:avLst>
              <a:gd name="adj" fmla="val 7169"/>
            </a:avLst>
          </a:prstGeom>
          <a:solidFill>
            <a:srgbClr val="0E2A47"/>
          </a:solidFill>
          <a:ln/>
        </p:spPr>
        <p:txBody>
          <a:bodyPr/>
          <a:lstStyle/>
          <a:p>
            <a:endParaRPr lang="en-US"/>
          </a:p>
        </p:txBody>
      </p:sp>
      <p:sp>
        <p:nvSpPr>
          <p:cNvPr id="12" name="Text 10"/>
          <p:cNvSpPr/>
          <p:nvPr/>
        </p:nvSpPr>
        <p:spPr>
          <a:xfrm>
            <a:off x="1085850" y="3167955"/>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3" name="Text 11"/>
          <p:cNvSpPr/>
          <p:nvPr/>
        </p:nvSpPr>
        <p:spPr>
          <a:xfrm>
            <a:off x="1350243" y="3158430"/>
            <a:ext cx="10412261"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Verify manufacturer instructions for every harness, connector, rope, descender, ascender, backup device, pulley and rescue component.</a:t>
            </a:r>
            <a:endParaRPr lang="en-US" sz="1275" dirty="0"/>
          </a:p>
        </p:txBody>
      </p:sp>
      <p:sp>
        <p:nvSpPr>
          <p:cNvPr id="14" name="Shape 12"/>
          <p:cNvSpPr/>
          <p:nvPr/>
        </p:nvSpPr>
        <p:spPr>
          <a:xfrm>
            <a:off x="857250" y="3651796"/>
            <a:ext cx="16573500" cy="531465"/>
          </a:xfrm>
          <a:prstGeom prst="roundRect">
            <a:avLst>
              <a:gd name="adj" fmla="val 7169"/>
            </a:avLst>
          </a:prstGeom>
          <a:solidFill>
            <a:srgbClr val="0E2A47"/>
          </a:solidFill>
          <a:ln/>
        </p:spPr>
        <p:txBody>
          <a:bodyPr/>
          <a:lstStyle/>
          <a:p>
            <a:endParaRPr lang="en-US"/>
          </a:p>
        </p:txBody>
      </p:sp>
      <p:sp>
        <p:nvSpPr>
          <p:cNvPr id="15" name="Text 13"/>
          <p:cNvSpPr/>
          <p:nvPr/>
        </p:nvSpPr>
        <p:spPr>
          <a:xfrm>
            <a:off x="1085850" y="3813721"/>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6" name="Text 14"/>
          <p:cNvSpPr/>
          <p:nvPr/>
        </p:nvSpPr>
        <p:spPr>
          <a:xfrm>
            <a:off x="1350243" y="3804196"/>
            <a:ext cx="8624785"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Confirm training structures, anchors and engineered systems are approved for the intended loads and exercises.</a:t>
            </a:r>
            <a:endParaRPr lang="en-US" sz="1275" dirty="0"/>
          </a:p>
        </p:txBody>
      </p:sp>
      <p:sp>
        <p:nvSpPr>
          <p:cNvPr id="17" name="Shape 15"/>
          <p:cNvSpPr/>
          <p:nvPr/>
        </p:nvSpPr>
        <p:spPr>
          <a:xfrm>
            <a:off x="857250" y="4297561"/>
            <a:ext cx="16573500" cy="531465"/>
          </a:xfrm>
          <a:prstGeom prst="roundRect">
            <a:avLst>
              <a:gd name="adj" fmla="val 7169"/>
            </a:avLst>
          </a:prstGeom>
          <a:solidFill>
            <a:srgbClr val="0E2A47"/>
          </a:solidFill>
          <a:ln/>
        </p:spPr>
        <p:txBody>
          <a:bodyPr/>
          <a:lstStyle/>
          <a:p>
            <a:endParaRPr lang="en-US"/>
          </a:p>
        </p:txBody>
      </p:sp>
      <p:sp>
        <p:nvSpPr>
          <p:cNvPr id="18" name="Text 16"/>
          <p:cNvSpPr/>
          <p:nvPr/>
        </p:nvSpPr>
        <p:spPr>
          <a:xfrm>
            <a:off x="1085850" y="4459486"/>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19" name="Text 17"/>
          <p:cNvSpPr/>
          <p:nvPr/>
        </p:nvSpPr>
        <p:spPr>
          <a:xfrm>
            <a:off x="1350243" y="4449961"/>
            <a:ext cx="8783747"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Update lesson plans when official scheme documents, standards, manufacturer instructions or equipment change.</a:t>
            </a:r>
            <a:endParaRPr lang="en-US" sz="1275" dirty="0"/>
          </a:p>
        </p:txBody>
      </p:sp>
      <p:sp>
        <p:nvSpPr>
          <p:cNvPr id="20" name="Shape 18"/>
          <p:cNvSpPr/>
          <p:nvPr/>
        </p:nvSpPr>
        <p:spPr>
          <a:xfrm>
            <a:off x="857250" y="4943326"/>
            <a:ext cx="16573500" cy="531465"/>
          </a:xfrm>
          <a:prstGeom prst="roundRect">
            <a:avLst>
              <a:gd name="adj" fmla="val 7169"/>
            </a:avLst>
          </a:prstGeom>
          <a:solidFill>
            <a:srgbClr val="0E2A47"/>
          </a:solidFill>
          <a:ln/>
        </p:spPr>
        <p:txBody>
          <a:bodyPr/>
          <a:lstStyle/>
          <a:p>
            <a:endParaRPr lang="en-US"/>
          </a:p>
        </p:txBody>
      </p:sp>
      <p:sp>
        <p:nvSpPr>
          <p:cNvPr id="21" name="Text 19"/>
          <p:cNvSpPr/>
          <p:nvPr/>
        </p:nvSpPr>
        <p:spPr>
          <a:xfrm>
            <a:off x="1085850" y="5105251"/>
            <a:ext cx="215076" cy="247650"/>
          </a:xfrm>
          <a:prstGeom prst="rect">
            <a:avLst/>
          </a:prstGeom>
          <a:noFill/>
          <a:ln/>
        </p:spPr>
        <p:txBody>
          <a:bodyPr wrap="square" lIns="25400" tIns="25400" rIns="25400" bIns="25400" rtlCol="0" anchor="t">
            <a:normAutofit/>
          </a:bodyPr>
          <a:lstStyle/>
          <a:p>
            <a:pPr marL="0" indent="0" algn="l">
              <a:buNone/>
            </a:pPr>
            <a:r>
              <a:rPr lang="en-US" sz="1350" b="1" dirty="0">
                <a:solidFill>
                  <a:srgbClr val="F26A1B"/>
                </a:solidFill>
                <a:latin typeface="Arial" pitchFamily="34" charset="0"/>
                <a:ea typeface="Arial" pitchFamily="34" charset="-122"/>
                <a:cs typeface="Arial" pitchFamily="34" charset="-120"/>
              </a:rPr>
              <a:t>✓</a:t>
            </a:r>
            <a:endParaRPr lang="en-US" sz="1350" dirty="0"/>
          </a:p>
        </p:txBody>
      </p:sp>
      <p:sp>
        <p:nvSpPr>
          <p:cNvPr id="22" name="Text 20"/>
          <p:cNvSpPr/>
          <p:nvPr/>
        </p:nvSpPr>
        <p:spPr>
          <a:xfrm>
            <a:off x="1350243" y="5095726"/>
            <a:ext cx="9339627" cy="264765"/>
          </a:xfrm>
          <a:prstGeom prst="rect">
            <a:avLst/>
          </a:prstGeom>
          <a:noFill/>
          <a:ln/>
        </p:spPr>
        <p:txBody>
          <a:bodyPr wrap="square" lIns="25400" tIns="25400" rIns="25400" bIns="25400" rtlCol="0" anchor="t">
            <a:normAutofit/>
          </a:bodyPr>
          <a:lstStyle/>
          <a:p>
            <a:pPr marL="0" indent="0" algn="l">
              <a:lnSpc>
                <a:spcPct val="122051"/>
              </a:lnSpc>
              <a:buNone/>
            </a:pPr>
            <a:r>
              <a:rPr lang="en-US" sz="1275" dirty="0">
                <a:solidFill>
                  <a:srgbClr val="C7D4E1"/>
                </a:solidFill>
                <a:latin typeface="Arial" pitchFamily="34" charset="0"/>
                <a:ea typeface="Arial" pitchFamily="34" charset="-122"/>
                <a:cs typeface="Arial" pitchFamily="34" charset="-120"/>
              </a:rPr>
              <a:t>Maintain a revision number, effective date, reviewer / approver and list of controlling documents for this instructor edition.</a:t>
            </a:r>
            <a:endParaRPr lang="en-US" sz="1275" dirty="0"/>
          </a:p>
        </p:txBody>
      </p:sp>
      <p:sp>
        <p:nvSpPr>
          <p:cNvPr id="23" name="Shape 21"/>
          <p:cNvSpPr/>
          <p:nvPr/>
        </p:nvSpPr>
        <p:spPr>
          <a:xfrm>
            <a:off x="857250" y="8913019"/>
            <a:ext cx="16573500" cy="688181"/>
          </a:xfrm>
          <a:prstGeom prst="roundRect">
            <a:avLst>
              <a:gd name="adj" fmla="val 5536"/>
            </a:avLst>
          </a:prstGeom>
          <a:solidFill>
            <a:srgbClr val="0E2A47"/>
          </a:solidFill>
          <a:ln/>
        </p:spPr>
        <p:txBody>
          <a:bodyPr/>
          <a:lstStyle/>
          <a:p>
            <a:endParaRPr lang="en-US"/>
          </a:p>
        </p:txBody>
      </p:sp>
      <p:sp>
        <p:nvSpPr>
          <p:cNvPr id="24" name="Shape 22"/>
          <p:cNvSpPr/>
          <p:nvPr/>
        </p:nvSpPr>
        <p:spPr>
          <a:xfrm>
            <a:off x="857250" y="8913019"/>
            <a:ext cx="38100" cy="688181"/>
          </a:xfrm>
          <a:prstGeom prst="rect">
            <a:avLst/>
          </a:prstGeom>
          <a:solidFill>
            <a:srgbClr val="F26A1B"/>
          </a:solidFill>
          <a:ln/>
        </p:spPr>
        <p:txBody>
          <a:bodyPr/>
          <a:lstStyle/>
          <a:p>
            <a:endParaRPr lang="en-US"/>
          </a:p>
        </p:txBody>
      </p:sp>
      <p:sp>
        <p:nvSpPr>
          <p:cNvPr id="25" name="Text 23"/>
          <p:cNvSpPr/>
          <p:nvPr/>
        </p:nvSpPr>
        <p:spPr>
          <a:xfrm>
            <a:off x="1143000" y="9065419"/>
            <a:ext cx="17644110" cy="157163"/>
          </a:xfrm>
          <a:prstGeom prst="rect">
            <a:avLst/>
          </a:prstGeom>
          <a:noFill/>
          <a:ln/>
        </p:spPr>
        <p:txBody>
          <a:bodyPr wrap="square" lIns="25400" tIns="25400" rIns="25400" bIns="25400" rtlCol="0" anchor="t">
            <a:normAutofit/>
          </a:bodyPr>
          <a:lstStyle/>
          <a:p>
            <a:pPr marL="0" indent="0" algn="l">
              <a:buNone/>
            </a:pPr>
            <a:r>
              <a:rPr lang="en-US" sz="1100" b="1" kern="0" spc="116" dirty="0">
                <a:solidFill>
                  <a:srgbClr val="F26A1B"/>
                </a:solidFill>
                <a:latin typeface="Courier New" pitchFamily="34" charset="0"/>
                <a:ea typeface="Courier New" pitchFamily="34" charset="-122"/>
                <a:cs typeface="Courier New" pitchFamily="34" charset="-120"/>
              </a:rPr>
              <a:t>SOURCE NOTE</a:t>
            </a:r>
            <a:endParaRPr lang="en-US" sz="825" dirty="0"/>
          </a:p>
        </p:txBody>
      </p:sp>
      <p:sp>
        <p:nvSpPr>
          <p:cNvPr id="26" name="Text 24"/>
          <p:cNvSpPr/>
          <p:nvPr/>
        </p:nvSpPr>
        <p:spPr>
          <a:xfrm>
            <a:off x="1143000" y="9241631"/>
            <a:ext cx="17644110" cy="245269"/>
          </a:xfrm>
          <a:prstGeom prst="rect">
            <a:avLst/>
          </a:prstGeom>
          <a:noFill/>
          <a:ln/>
        </p:spPr>
        <p:txBody>
          <a:bodyPr wrap="square" lIns="25400" tIns="25400" rIns="25400" bIns="25400" rtlCol="0" anchor="t">
            <a:normAutofit/>
          </a:bodyPr>
          <a:lstStyle/>
          <a:p>
            <a:pPr marL="0" indent="0" algn="l">
              <a:lnSpc>
                <a:spcPct val="127941"/>
              </a:lnSpc>
              <a:buNone/>
            </a:pPr>
            <a:r>
              <a:rPr lang="en-US" sz="1125" dirty="0">
                <a:solidFill>
                  <a:srgbClr val="C7D4E1"/>
                </a:solidFill>
                <a:latin typeface="Arial" pitchFamily="34" charset="0"/>
                <a:ea typeface="Arial" pitchFamily="34" charset="-122"/>
                <a:cs typeface="Arial" pitchFamily="34" charset="-120"/>
              </a:rPr>
              <a:t>SPRAT content checked against Rope Access Certification Requirements CRC-01, v25A (January 2025). Re-verify at sprat.org before each course cycle.</a:t>
            </a:r>
            <a:endParaRPr lang="en-US" sz="1125" dirty="0"/>
          </a:p>
        </p:txBody>
      </p:sp>
      <p:sp>
        <p:nvSpPr>
          <p:cNvPr id="27" name="Shape 25"/>
          <p:cNvSpPr/>
          <p:nvPr/>
        </p:nvSpPr>
        <p:spPr>
          <a:xfrm>
            <a:off x="0" y="9753600"/>
            <a:ext cx="18288000" cy="9525"/>
          </a:xfrm>
          <a:prstGeom prst="rect">
            <a:avLst/>
          </a:prstGeom>
          <a:solidFill>
            <a:srgbClr val="1C3551"/>
          </a:solidFill>
          <a:ln/>
        </p:spPr>
        <p:txBody>
          <a:bodyPr/>
          <a:lstStyle/>
          <a:p>
            <a:endParaRPr lang="en-US"/>
          </a:p>
        </p:txBody>
      </p:sp>
      <p:sp>
        <p:nvSpPr>
          <p:cNvPr id="28" name="Text 26"/>
          <p:cNvSpPr/>
          <p:nvPr/>
        </p:nvSpPr>
        <p:spPr>
          <a:xfrm>
            <a:off x="571500" y="9960769"/>
            <a:ext cx="1421231" cy="166688"/>
          </a:xfrm>
          <a:prstGeom prst="rect">
            <a:avLst/>
          </a:prstGeom>
          <a:noFill/>
          <a:ln/>
        </p:spPr>
        <p:txBody>
          <a:bodyPr wrap="square" lIns="25400" tIns="25400" rIns="25400" bIns="25400" rtlCol="0" anchor="t">
            <a:normAutofit/>
          </a:bodyPr>
          <a:lstStyle/>
          <a:p>
            <a:pPr marL="0" indent="0" algn="l">
              <a:buNone/>
            </a:pPr>
            <a:r>
              <a:rPr lang="en-US" sz="1100" b="1" kern="0" spc="126" dirty="0">
                <a:solidFill>
                  <a:srgbClr val="FFFFFF"/>
                </a:solidFill>
                <a:latin typeface="Courier New" pitchFamily="34" charset="0"/>
                <a:ea typeface="Courier New" pitchFamily="34" charset="-122"/>
                <a:cs typeface="Courier New" pitchFamily="34" charset="-120"/>
              </a:rPr>
              <a:t>SKYTECH ACADEMY</a:t>
            </a:r>
            <a:endParaRPr lang="en-US" sz="900" dirty="0"/>
          </a:p>
        </p:txBody>
      </p:sp>
      <p:sp>
        <p:nvSpPr>
          <p:cNvPr id="29" name="Text 27"/>
          <p:cNvSpPr/>
          <p:nvPr/>
        </p:nvSpPr>
        <p:spPr>
          <a:xfrm>
            <a:off x="4064000" y="9939338"/>
            <a:ext cx="10160000" cy="209550"/>
          </a:xfrm>
          <a:prstGeom prst="rect">
            <a:avLst/>
          </a:prstGeom>
          <a:noFill/>
          <a:ln/>
        </p:spPr>
        <p:txBody>
          <a:bodyPr wrap="none" lIns="25400" tIns="25400" rIns="25400" bIns="25400" rtlCol="0" anchor="t">
            <a:normAutofit/>
          </a:bodyPr>
          <a:lstStyle/>
          <a:p>
            <a:pPr marL="0" indent="0" algn="ctr">
              <a:buNone/>
            </a:pPr>
            <a:r>
              <a:rPr lang="en-US" sz="1100" kern="0" spc="126" dirty="0">
                <a:solidFill>
                  <a:srgbClr val="6E8195"/>
                </a:solidFill>
                <a:latin typeface="Courier New" pitchFamily="34" charset="0"/>
                <a:ea typeface="Courier New" pitchFamily="34" charset="-122"/>
                <a:cs typeface="Courier New" pitchFamily="34" charset="-120"/>
              </a:rPr>
              <a:t>INSTRUCTOR APPENDIX</a:t>
            </a:r>
            <a:endParaRPr lang="en-US" sz="900" dirty="0"/>
          </a:p>
        </p:txBody>
      </p:sp>
      <p:sp>
        <p:nvSpPr>
          <p:cNvPr id="30" name="Text 28"/>
          <p:cNvSpPr/>
          <p:nvPr/>
        </p:nvSpPr>
        <p:spPr>
          <a:xfrm>
            <a:off x="17544529" y="9939338"/>
            <a:ext cx="248171" cy="209550"/>
          </a:xfrm>
          <a:prstGeom prst="rect">
            <a:avLst/>
          </a:prstGeom>
          <a:noFill/>
          <a:ln/>
        </p:spPr>
        <p:txBody>
          <a:bodyPr wrap="square" lIns="25400" tIns="25400" rIns="25400" bIns="25400" rtlCol="0" anchor="t">
            <a:normAutofit/>
          </a:bodyPr>
          <a:lstStyle/>
          <a:p>
            <a:pPr marL="0" indent="0" algn="l">
              <a:buNone/>
            </a:pPr>
            <a:r>
              <a:rPr lang="en-US" sz="1100" kern="0" spc="126" dirty="0">
                <a:solidFill>
                  <a:srgbClr val="6E8195"/>
                </a:solidFill>
                <a:latin typeface="Courier New" pitchFamily="34" charset="0"/>
                <a:ea typeface="Courier New" pitchFamily="34" charset="-122"/>
                <a:cs typeface="Courier New" pitchFamily="34" charset="-120"/>
              </a:rPr>
              <a:t>103</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64">
    <p:bg>
      <p:bgPr>
        <a:solidFill>
          <a:srgbClr val="0A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0cb1e24-a0e2-4a4c-9340-733297c9cd7c}" enabled="1" method="Privileged" siteId="{db1e96a8-a3da-442a-930b-235cac24cd5c}" contentBits="0" removed="0"/>
</clbl:labelList>
</file>

<file path=docProps/app.xml><?xml version="1.0" encoding="utf-8"?>
<Properties xmlns="http://schemas.openxmlformats.org/officeDocument/2006/extended-properties" xmlns:vt="http://schemas.openxmlformats.org/officeDocument/2006/docPropsVTypes">
  <TotalTime>11</TotalTime>
  <Words>21103</Words>
  <Application>Microsoft Office PowerPoint</Application>
  <PresentationFormat>Custom</PresentationFormat>
  <Paragraphs>2545</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Sodikov, Akmaljon SEPCO-SEPCO-IUD/P/</cp:lastModifiedBy>
  <cp:revision>2</cp:revision>
  <dcterms:created xsi:type="dcterms:W3CDTF">2026-07-24T15:04:46Z</dcterms:created>
  <dcterms:modified xsi:type="dcterms:W3CDTF">2026-10-03T01:46:04Z</dcterms:modified>
</cp:coreProperties>
</file>